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media/image4.jpg" ContentType="image/png"/>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autoCompressPictures="0">
  <p:sldMasterIdLst>
    <p:sldMasterId id="2147483648" r:id="rId1"/>
  </p:sldMasterIdLst>
  <p:notesMasterIdLst>
    <p:notesMasterId r:id="rId17"/>
  </p:notesMasterIdLst>
  <p:sldIdLst>
    <p:sldId id="256" r:id="rId2"/>
    <p:sldId id="257" r:id="rId3"/>
    <p:sldId id="258" r:id="rId4"/>
    <p:sldId id="259" r:id="rId5"/>
    <p:sldId id="263" r:id="rId6"/>
    <p:sldId id="261" r:id="rId7"/>
    <p:sldId id="262" r:id="rId8"/>
    <p:sldId id="260" r:id="rId9"/>
    <p:sldId id="264" r:id="rId10"/>
    <p:sldId id="265" r:id="rId11"/>
    <p:sldId id="266" r:id="rId12"/>
    <p:sldId id="267" r:id="rId13"/>
    <p:sldId id="268" r:id="rId14"/>
    <p:sldId id="269" r:id="rId15"/>
    <p:sldId id="270"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2" pos="347" userDrawn="1">
          <p15:clr>
            <a:srgbClr val="000000"/>
          </p15:clr>
        </p15:guide>
        <p15:guide id="3" orient="horz" pos="1344" userDrawn="1">
          <p15:clr>
            <a:srgbClr val="A4A3A4"/>
          </p15:clr>
        </p15:guide>
        <p15:guide id="4" orient="horz" pos="981" userDrawn="1">
          <p15:clr>
            <a:srgbClr val="A4A3A4"/>
          </p15:clr>
        </p15:guide>
      </p15:sldGuideLst>
    </p:ext>
    <p:ext uri="{2D200454-40CA-4A62-9FC3-DE9A4176ACB9}">
      <p15:notes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g2fLzW2NWhC2ejww7VA5lENbgL/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3" clrIdx="0">
    <p:extLst>
      <p:ext uri="{19B8F6BF-5375-455C-9EA6-DF929625EA0E}">
        <p15:presenceInfo xmlns:p15="http://schemas.microsoft.com/office/powerpoint/2012/main" userId="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5CAB"/>
    <a:srgbClr val="0046A2"/>
    <a:srgbClr val="D1D1D1"/>
    <a:srgbClr val="F1BE29"/>
    <a:srgbClr val="7BC6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76095" autoAdjust="0"/>
  </p:normalViewPr>
  <p:slideViewPr>
    <p:cSldViewPr snapToGrid="0">
      <p:cViewPr varScale="1">
        <p:scale>
          <a:sx n="66" d="100"/>
          <a:sy n="66" d="100"/>
        </p:scale>
        <p:origin x="1303" y="22"/>
      </p:cViewPr>
      <p:guideLst>
        <p:guide pos="347"/>
        <p:guide orient="horz" pos="1344"/>
        <p:guide orient="horz" pos="981"/>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7" d="100"/>
          <a:sy n="87" d="100"/>
        </p:scale>
        <p:origin x="3840"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26"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lang="ru-RU">
                <a:latin typeface="Arial" panose="020B0604020202020204" pitchFamily="34" charset="0"/>
              </a:rPr>
              <a:t>Здравствуйте. Тема моей работы – прогнозирование конечных свойств композиционных материалов. Я покажу весь путь решения: что имеем, зачем выполняем каждый шаг, что узнаём и почему идём дальше – от цели и данных до приложения и выводов.
Источники: РПЗ, введение.</a:t>
            </a:r>
            <a:endParaRPr>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lang="ru-RU">
                <a:latin typeface="Arial" panose="020B0604020202020204" pitchFamily="34" charset="0"/>
              </a:rPr>
              <a:t>Композиционный материал состоит из нескольких компонентов. Связующее, или матрица, удерживает их вместе и передаёт нагрузку. Наполнитель влияет на свойства материала и может его усиливать.
В работе нужно оценить два свойства. Модуль упругости при растяжении характеризует жёсткость при растяжении, после которого материал возвращается к исходной форме. Прочность при растяжении – предельная нагрузка на единицу площади перед разрушением.
Цель прогноза – заранее получить ориентировочную оценку по известным характеристикам состава и изготовления. Она помогает сравнивать варианты, но не заменяет физическое испытание. Для обучения нужны примеры с известными характеристиками и конечными свойствами. Происхождение этих значений в исходных файлах не описано.
Источники: РПЗ, введение.</a:t>
            </a:r>
            <a:endParaRPr>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lang="ru-RU">
                <a:latin typeface="Arial" panose="020B0604020202020204" pitchFamily="34" charset="0"/>
              </a:rPr>
              <a:t>Исходные примеры находились в двух таблицах Excel. Их сопоставили по исходному индексу и оставили строки, имеющиеся в обеих таблицах. После объединения получилось 1023 строки и 13 показателей. Семнадцать строк второй таблицы не имели пары. Пропусков и полных дубликатов нет.
Одна строка описывает один материал или пример: его характеристики и известные конечные свойства. В исходных материалах не указаны происхождение строк, группы, партии и часть единиц измерения. Это ограничивает выводы и не позволяет называть каждую строку лабораторно проверенным образцом. Теперь можно зафиксировать весь дальнейший процесс.
Источники: РПЗ, раздел 1.1 и таблица исходных данных; словарь данных репозитория.</a:t>
            </a:r>
            <a:endParaRPr>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lang="ru-RU">
                <a:latin typeface="Arial" panose="020B0604020202020204" pitchFamily="34" charset="0"/>
              </a:rPr>
              <a:t>Работа выполнена в восемь шагов. Таблицы проверили и объединили. Затем отделили данные для обучения и итоговой проверки. Данные для обучения изучили и подготовили, на них методы обучили и сравнили в десяти проверках. Выбранные модели один раз проверили на отложенных строках, подключили к приложению, а данные, код и результаты сохранили в репозитории.
Главное правило: данные для итоговой проверки не участвуют в изучении и выборе метода. Это защищает итог от подбора решения под заранее увиденные ответы. Далее разберу шаги по порядку.
Источники: РПЗ, разделы 1.2 и 2.1–2.6.</a:t>
            </a:r>
            <a:endParaRPr>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lang="ru-RU">
                <a:latin typeface="Arial" panose="020B0604020202020204" pitchFamily="34" charset="0"/>
              </a:rPr>
              <a:t>Из 1023 строк 716, или 70 процентов, использованы для обучения. Остальные 307 отложены для одной итоговой проверки на ранее не виденных примерах.
В наборе 13 содержательных показателей. Для двух прямых прогнозов из входов исключены два конечных свойства, поэтому остаётся 11 характеристик: 13 минус 2 равно 11. По новому набору из 11 известных значений модель должна выдать две оценки – модуль и прочность. Прежде чем выбирать метод, нужно понять данные для обучения.
Источники: РПЗ, разделы 1.1, 1.2 и 2.1.</a:t>
            </a:r>
            <a:endParaRPr>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lang="ru-RU">
                <a:latin typeface="Arial" panose="020B0604020202020204" pitchFamily="34" charset="0"/>
              </a:rPr>
              <a:t>Разведочный анализ выполнен только на 716 обучающих строках. Он показывает распределения, возможные необычные наблюдения и связи между показателями до обучения моделей.
Наибольшая абсолютная парная корреляция составила около 0,119. Близкое к нулю значение означает слабую простую линейную связь отдельных пар, но не исключает совместного влияния нескольких характеристик или нелинейных зависимостей. Необычные значения здесь лишь отмечают для проверки, а не объявляют ошибками и не удаляют автоматически. Теперь данные можно подготовить.
Источники: РПЗ, раздел разведочного анализа и рисунок с распределениями.</a:t>
            </a:r>
            <a:endParaRPr>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lang="ru-RU">
                <a:latin typeface="Arial" panose="020B0604020202020204" pitchFamily="34" charset="0"/>
              </a:rPr>
              <a:t>Пропусков нет, поэтому заполнять их не пришлось. Угол нашивки принимает два направления: 0 и 90 градусов. Их записали как 0 и 1, сохранив это различие. Для линейной модели, метода опорных векторов и нейросети числовые характеристики приводили к сопоставимому масштабу внутри каждой проверки.
Отдельно проверили удаление необычных строк по квартильному правилу. Это был эксперимент только внутри обучающих данных. Десять проверок показали, что удаление не улучшает результат. Поэтому для итоговых моделей выбран вариант без удаления строк. Теперь методы можно сравнивать по одинаковым правилам.
Источники: РПЗ, раздел предобработки; reports/modeling/preprocessing_audit.json.</a:t>
            </a:r>
            <a:endParaRPr>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lang="ru-RU">
                <a:latin typeface="Arial" panose="020B0604020202020204" pitchFamily="34" charset="0"/>
              </a:rPr>
              <a:t>Машинное обучение ищет правило по примерам с известными ответами. Для двух свойств сравнивались пять подходов, а выбраны две прямые модели – по одной для каждого свойства. Прогноз среднего выдаёт одно среднее значение. Гребневая регрессия, или Ridge, складывает линейные вклады характеристик и ограничивает слишком большие коэффициенты. Случайный лес усредняет ответы многих деревьев. Градиентный бустинг строит деревья по очереди, исправляя прежние ошибки. Метод опорных векторов, или SVR, описывает гладкую нелинейную зависимость.
Все методы сравнивали десять раз внутри обучающих данных: девять частей использовали для обучения, одну – для проверки. Масштабирование и модель каждый раз настраивались заново. Выбор делали по RMSE – среднеквадратичной ошибке в единицах свойства; большие промахи увеличивают её сильнее. Лишь после выбора открыли 307 строк.
Источники: РПЗ, разделы о методах и проверке моделей; reports/modeling/cv_summary.csv.</a:t>
            </a:r>
            <a:endParaRPr>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lang="ru-RU">
                <a:latin typeface="Arial" panose="020B0604020202020204" pitchFamily="34" charset="0"/>
              </a:rPr>
              <a:t>Ещё два показателя качества: MAE – средняя абсолютная ошибка, то есть средний размер промаха без учёта знака. R² показывает, насколько модель лучше или хуже прогноза среднего; это не процент точности.
Для модуля ни один сложный метод не улучшил прогноз среднего. На итоговой проверке RMSE равна 3,178 ГПа, MAE – 2,556 ГПа, R² – минус 0,016. На графике по горизонтали находится фактическое значение, по вертикали – прогноз. Диагональ соответствует идеальному ответу: чем ближе к ней точка, тем меньше ошибка. Горизонтальная полоса означает одинаковое среднее значение для всех строк. Для прочности десять проверок выбрали более сложный метод.
Источники: РПЗ, рисунок с фактическими и прогнозными значениями; reports/evaluation/metrics.csv.</a:t>
            </a:r>
            <a:endParaRPr>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lang="ru-RU">
                <a:latin typeface="Arial" panose="020B0604020202020204" pitchFamily="34" charset="0"/>
              </a:rPr>
              <a:t>Для прочности выбран градиентный бустинг, хотя он был лучше прогноза среднего лишь в четырёх проверках из десяти.
На 307 строках его RMSE равна 471,410 МПа против 473,288 МПа у среднего: выигрыш 1,878 МПа. Но MAE у бустинга хуже: 380,152 против 378,984 МПа. R² равен 0,008, то есть модель почти не объясняет различия между примерами. Точки на графике далеко от диагонали и сильно рассеяны, поэтому небольшое улучшение одной меры не подтверждает практически значимое преимущество. Далее – отдельная задача с нейросетью.
Источники: РПЗ, рисунок с фактическими и прогнозными значениями; reports/evaluation/metrics.csv.</a:t>
            </a:r>
            <a:endParaRPr>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lang="ru-RU">
                <a:latin typeface="Arial" panose="020B0604020202020204" pitchFamily="34" charset="0"/>
              </a:rPr>
              <a:t>Нейросеть тоже относится к машинному обучению, но здесь решает отдельную задачу: оценивает соотношение матрица–наполнитель. Из 13 показателей исключён только прогнозируемый, поэтому остаётся 12 входов, включая известные модуль и прочность. Это восстановление одного столбца по другим характеристикам, а не подбор рецептуры. В приложение с двумя прямыми прогнозами сеть не входит.
Архитектура 12–32–16–1 означает 12 входов, два внутренних слоя на 32 и 16 нейронов и один результат. Часть обучающих строк помогала вовремя остановить обучение. Внешние 307 строк до окончательной проверки оставались закрытыми. Теперь сравним сеть с простым ориентиром.
Источники: РПЗ, раздел о нейросети.</a:t>
            </a:r>
            <a:endParaRPr>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lang="ru-RU">
                <a:latin typeface="Arial" panose="020B0604020202020204" pitchFamily="34" charset="0"/>
              </a:rPr>
              <a:t>На итоговой проверке ошибка RMSE нейросети равна 0,944, а у прогноза среднего меньше – 0,926. Поэтому сеть проиграла простому ориентиру. Её MAE равна 0,777, а R² – минус 0,040.
Сложный метод сам по себе не гарантирует лучший прогноз. При таком качестве важно объяснить, какие характеристики использует модель, и не принимать это за физический закон.
Источники: РПЗ, таблица результатов нейросети; reports/evaluation/metrics.csv.</a:t>
            </a:r>
            <a:endParaRPr>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lang="ru-RU">
                <a:latin typeface="Arial" panose="020B0604020202020204" pitchFamily="34" charset="0"/>
              </a:rPr>
              <a:t>Чтобы понять поведение модели прочности, один столбец случайно перемешивали, остальные оставляли без изменений и снова измеряли ошибку. Если она возрастала, модель опиралась на эту характеристику. По горизонтали показано изменение RMSE, линии отражают разброс десяти повторов.
Этот опыт описывает поведение конкретной модели на этих данных, но не доказывает физическую причину и не определяет лучшую рецептуру. Для модели модуля значения равны нулю, поскольку она всегда выдаёт среднее. Технический путь показан в приложении.
Источники: РПЗ, рисунок с важностью характеристик; reports/evaluation/permutation_importance.csv.</a:t>
            </a:r>
            <a:endParaRPr>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lang="ru-RU">
                <a:latin typeface="Arial" panose="020B0604020202020204" pitchFamily="34" charset="0"/>
              </a:rPr>
              <a:t>Учебное приложение принимает 11 известных характеристик нового примера. Оно проверяет формат и предупреждает о выходе за диапазон обучающих данных, затем передаёт значения двум сохранённым прямым моделям. Нейросеть для соотношения сюда не входит. Результат – прогноз модуля и прогноз прочности.
Для демонстрационного профиля приложение показывает 73,2073 ГПа и 2502,06 МПа. Это расчёт моделей, а не лабораторное измерение. Репозиторий содержит данные, код, разделение и результаты, поэтому расчёт можно повторить. Теперь можно ответить на исходную цель.
Источники: РПЗ, раздел о приложении и репозитории; docs/application.md.</a:t>
            </a:r>
            <a:endParaRPr>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lang="ru-RU">
                <a:latin typeface="Arial" panose="020B0604020202020204" pitchFamily="34" charset="0"/>
              </a:rPr>
              <a:t>Построен воспроизводимый процесс от двух таблиц до итоговой проверки и приложения. Методы выбирались только на данных для обучения, а 307 строк использовались один раз в конце.
Предсказательная способность оказалась слабой. Для модуля лучшим остался прогноз среднего. Для прочности бустинг почти не отличается от среднего. Нейросеть для соотношения хуже среднего. Процесс реализован, но промышленная точность и подбор рецептуры не подтверждены. Для продолжения нужны данные с известным происхождением, внешняя выборка и лабораторная проверка. Спасибо за внимание.
Источники: reports/evaluation/metrics.csv; РПЗ, заключение.</a:t>
            </a:r>
            <a:endParaRPr>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Титульный слайд" userDrawn="1">
  <p:cSld name="TITLE">
    <p:bg>
      <p:bgRef idx="1001">
        <a:schemeClr val="bg1"/>
      </p:bgRef>
    </p:bg>
    <p:spTree>
      <p:nvGrpSpPr>
        <p:cNvPr id="1" name="Shape 10"/>
        <p:cNvGrpSpPr/>
        <p:nvPr/>
      </p:nvGrpSpPr>
      <p:grpSpPr>
        <a:xfrm>
          <a:off x="0" y="0"/>
          <a:ext cx="0" cy="0"/>
          <a:chOff x="0" y="0"/>
          <a:chExt cx="0" cy="0"/>
        </a:xfrm>
      </p:grpSpPr>
      <p:pic>
        <p:nvPicPr>
          <p:cNvPr id="6" name="Google Shape;88;p1">
            <a:extLst>
              <a:ext uri="{FF2B5EF4-FFF2-40B4-BE49-F238E27FC236}">
                <a16:creationId xmlns:a16="http://schemas.microsoft.com/office/drawing/2014/main" id="{2D925FD8-DECC-4CD6-B8C0-B1ADCC5FA20A}"/>
              </a:ext>
            </a:extLst>
          </p:cNvPr>
          <p:cNvPicPr preferRelativeResize="0"/>
          <p:nvPr userDrawn="1"/>
        </p:nvPicPr>
        <p:blipFill rotWithShape="1">
          <a:blip r:embed="rId2">
            <a:alphaModFix/>
          </a:blip>
          <a:srcRect t="16270" b="8845"/>
          <a:stretch/>
        </p:blipFill>
        <p:spPr>
          <a:xfrm>
            <a:off x="0" y="0"/>
            <a:ext cx="12192000" cy="6858000"/>
          </a:xfrm>
          <a:prstGeom prst="rect">
            <a:avLst/>
          </a:prstGeom>
          <a:noFill/>
          <a:ln>
            <a:noFill/>
          </a:ln>
        </p:spPr>
      </p:pic>
      <p:grpSp>
        <p:nvGrpSpPr>
          <p:cNvPr id="7" name="Группа 6">
            <a:extLst>
              <a:ext uri="{FF2B5EF4-FFF2-40B4-BE49-F238E27FC236}">
                <a16:creationId xmlns:a16="http://schemas.microsoft.com/office/drawing/2014/main" id="{B0283559-7C69-4037-A5DE-025458FA127C}"/>
              </a:ext>
            </a:extLst>
          </p:cNvPr>
          <p:cNvGrpSpPr/>
          <p:nvPr userDrawn="1"/>
        </p:nvGrpSpPr>
        <p:grpSpPr>
          <a:xfrm>
            <a:off x="694478" y="633067"/>
            <a:ext cx="9502816" cy="4706741"/>
            <a:chOff x="694478" y="633067"/>
            <a:chExt cx="9502816" cy="4706741"/>
          </a:xfrm>
        </p:grpSpPr>
        <p:pic>
          <p:nvPicPr>
            <p:cNvPr id="9" name="Google Shape;13;p5">
              <a:extLst>
                <a:ext uri="{FF2B5EF4-FFF2-40B4-BE49-F238E27FC236}">
                  <a16:creationId xmlns:a16="http://schemas.microsoft.com/office/drawing/2014/main" id="{2F2230A9-DF50-482B-98EE-86D3A472B57F}"/>
                </a:ext>
              </a:extLst>
            </p:cNvPr>
            <p:cNvPicPr preferRelativeResize="0"/>
            <p:nvPr userDrawn="1"/>
          </p:nvPicPr>
          <p:blipFill rotWithShape="1">
            <a:blip r:embed="rId3">
              <a:alphaModFix/>
            </a:blip>
            <a:srcRect/>
            <a:stretch/>
          </p:blipFill>
          <p:spPr>
            <a:xfrm>
              <a:off x="694481" y="633067"/>
              <a:ext cx="9502813" cy="4706741"/>
            </a:xfrm>
            <a:prstGeom prst="rect">
              <a:avLst/>
            </a:prstGeom>
            <a:noFill/>
            <a:ln>
              <a:noFill/>
            </a:ln>
          </p:spPr>
        </p:pic>
        <p:sp>
          <p:nvSpPr>
            <p:cNvPr id="10" name="Прямоугольник 9">
              <a:extLst>
                <a:ext uri="{FF2B5EF4-FFF2-40B4-BE49-F238E27FC236}">
                  <a16:creationId xmlns:a16="http://schemas.microsoft.com/office/drawing/2014/main" id="{8967D30A-87B4-4421-A52A-46DC79DD78AC}"/>
                </a:ext>
              </a:extLst>
            </p:cNvPr>
            <p:cNvSpPr/>
            <p:nvPr userDrawn="1"/>
          </p:nvSpPr>
          <p:spPr>
            <a:xfrm>
              <a:off x="694478" y="5306991"/>
              <a:ext cx="9502813" cy="28800"/>
            </a:xfrm>
            <a:prstGeom prst="rect">
              <a:avLst/>
            </a:prstGeom>
            <a:solidFill>
              <a:srgbClr val="E6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grpSp>
      <p:pic>
        <p:nvPicPr>
          <p:cNvPr id="3" name="Рисунок 2">
            <a:extLst>
              <a:ext uri="{FF2B5EF4-FFF2-40B4-BE49-F238E27FC236}">
                <a16:creationId xmlns:a16="http://schemas.microsoft.com/office/drawing/2014/main" id="{D20BDE73-1EE8-4C18-91ED-1CD26511FE5F}"/>
              </a:ext>
            </a:extLst>
          </p:cNvPr>
          <p:cNvPicPr>
            <a:picLocks noChangeAspect="1"/>
          </p:cNvPicPr>
          <p:nvPr userDrawn="1"/>
        </p:nvPicPr>
        <p:blipFill>
          <a:blip r:embed="rId4"/>
          <a:stretch>
            <a:fillRect/>
          </a:stretch>
        </p:blipFill>
        <p:spPr>
          <a:xfrm>
            <a:off x="9157539" y="611835"/>
            <a:ext cx="2361600" cy="721959"/>
          </a:xfrm>
          <a:prstGeom prst="rect">
            <a:avLst/>
          </a:prstGeom>
        </p:spPr>
      </p:pic>
      <p:sp>
        <p:nvSpPr>
          <p:cNvPr id="4" name="Google Shape;11;p5">
            <a:extLst>
              <a:ext uri="{FF2B5EF4-FFF2-40B4-BE49-F238E27FC236}">
                <a16:creationId xmlns:a16="http://schemas.microsoft.com/office/drawing/2014/main" id="{E3BFA7FB-261D-418C-AB36-0AE52A4CC41D}"/>
              </a:ext>
            </a:extLst>
          </p:cNvPr>
          <p:cNvSpPr txBox="1">
            <a:spLocks noGrp="1"/>
          </p:cNvSpPr>
          <p:nvPr>
            <p:ph type="ctrTitle" hasCustomPrompt="1"/>
          </p:nvPr>
        </p:nvSpPr>
        <p:spPr>
          <a:xfrm>
            <a:off x="1078287" y="831273"/>
            <a:ext cx="9119010" cy="3416636"/>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400"/>
              <a:buFont typeface="Arial"/>
              <a:buNone/>
              <a:defRPr sz="4400" b="0">
                <a:solidFill>
                  <a:schemeClr val="lt1"/>
                </a:solidFill>
                <a:latin typeface="Arial" panose="020B0604020202020204" pitchFamily="34" charset="0"/>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ru-RU" dirty="0"/>
              <a:t>Заголовок слайда</a:t>
            </a:r>
            <a:endParaRPr dirty="0"/>
          </a:p>
        </p:txBody>
      </p:sp>
      <p:sp>
        <p:nvSpPr>
          <p:cNvPr id="5" name="Google Shape;12;p5">
            <a:extLst>
              <a:ext uri="{FF2B5EF4-FFF2-40B4-BE49-F238E27FC236}">
                <a16:creationId xmlns:a16="http://schemas.microsoft.com/office/drawing/2014/main" id="{84D6A78E-BD41-4E16-8DD7-8CD3958FF54B}"/>
              </a:ext>
            </a:extLst>
          </p:cNvPr>
          <p:cNvSpPr txBox="1">
            <a:spLocks noGrp="1"/>
          </p:cNvSpPr>
          <p:nvPr>
            <p:ph type="subTitle" idx="1" hasCustomPrompt="1"/>
          </p:nvPr>
        </p:nvSpPr>
        <p:spPr>
          <a:xfrm>
            <a:off x="1078286" y="4363657"/>
            <a:ext cx="9119010" cy="968117"/>
          </a:xfrm>
          <a:prstGeom prst="rect">
            <a:avLst/>
          </a:prstGeom>
          <a:noFill/>
          <a:ln>
            <a:noFill/>
          </a:ln>
        </p:spPr>
        <p:txBody>
          <a:bodyPr spcFirstLastPara="1" wrap="square" lIns="91425" tIns="45700" rIns="91425" bIns="45700" anchor="t" anchorCtr="0">
            <a:noAutofit/>
          </a:bodyPr>
          <a:lstStyle>
            <a:lvl1pPr lvl="0" algn="l">
              <a:lnSpc>
                <a:spcPct val="90000"/>
              </a:lnSpc>
              <a:spcBef>
                <a:spcPts val="750"/>
              </a:spcBef>
              <a:spcAft>
                <a:spcPts val="0"/>
              </a:spcAft>
              <a:buSzPts val="2800"/>
              <a:buNone/>
              <a:defRPr sz="2800">
                <a:solidFill>
                  <a:schemeClr val="lt1"/>
                </a:solidFill>
                <a:latin typeface="Arial" panose="020B0604020202020204" pitchFamily="34" charset="0"/>
                <a:ea typeface="Arial" panose="020B0606030504020204" pitchFamily="34" charset="0"/>
                <a:cs typeface="Arial" panose="020B0606030504020204" pitchFamily="34" charset="0"/>
                <a:sym typeface="Arial"/>
              </a:defRPr>
            </a:lvl1pPr>
            <a:lvl2pPr lvl="1" algn="ctr">
              <a:lnSpc>
                <a:spcPct val="90000"/>
              </a:lnSpc>
              <a:spcBef>
                <a:spcPts val="375"/>
              </a:spcBef>
              <a:spcAft>
                <a:spcPts val="0"/>
              </a:spcAft>
              <a:buSzPts val="1500"/>
              <a:buNone/>
              <a:defRPr sz="1500"/>
            </a:lvl2pPr>
            <a:lvl3pPr lvl="2" algn="ctr">
              <a:lnSpc>
                <a:spcPct val="90000"/>
              </a:lnSpc>
              <a:spcBef>
                <a:spcPts val="375"/>
              </a:spcBef>
              <a:spcAft>
                <a:spcPts val="0"/>
              </a:spcAft>
              <a:buSzPts val="1350"/>
              <a:buNone/>
              <a:defRPr sz="1350"/>
            </a:lvl3pPr>
            <a:lvl4pPr lvl="3" algn="ctr">
              <a:lnSpc>
                <a:spcPct val="90000"/>
              </a:lnSpc>
              <a:spcBef>
                <a:spcPts val="375"/>
              </a:spcBef>
              <a:spcAft>
                <a:spcPts val="0"/>
              </a:spcAft>
              <a:buSzPts val="1200"/>
              <a:buNone/>
              <a:defRPr sz="1200"/>
            </a:lvl4pPr>
            <a:lvl5pPr lvl="4" algn="ctr">
              <a:lnSpc>
                <a:spcPct val="90000"/>
              </a:lnSpc>
              <a:spcBef>
                <a:spcPts val="375"/>
              </a:spcBef>
              <a:spcAft>
                <a:spcPts val="0"/>
              </a:spcAft>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r>
              <a:rPr lang="ru-RU" dirty="0"/>
              <a:t>Подзаголовок слайда</a:t>
            </a:r>
            <a:endParaRPr dirty="0"/>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Заголовок, подзаголовок и объект" userDrawn="1">
  <p:cSld name="Заголовок, подзаголовок и объект">
    <p:bg>
      <p:bgRef idx="1001">
        <a:schemeClr val="bg1"/>
      </p:bgRef>
    </p:bg>
    <p:spTree>
      <p:nvGrpSpPr>
        <p:cNvPr id="1" name="Shape 26"/>
        <p:cNvGrpSpPr/>
        <p:nvPr/>
      </p:nvGrpSpPr>
      <p:grpSpPr>
        <a:xfrm>
          <a:off x="0" y="0"/>
          <a:ext cx="0" cy="0"/>
          <a:chOff x="0" y="0"/>
          <a:chExt cx="0" cy="0"/>
        </a:xfrm>
      </p:grpSpPr>
      <p:sp>
        <p:nvSpPr>
          <p:cNvPr id="28" name="Google Shape;28;p8"/>
          <p:cNvSpPr txBox="1">
            <a:spLocks noGrp="1"/>
          </p:cNvSpPr>
          <p:nvPr>
            <p:ph type="body" idx="1" hasCustomPrompt="1"/>
          </p:nvPr>
        </p:nvSpPr>
        <p:spPr>
          <a:xfrm>
            <a:off x="558782" y="1778092"/>
            <a:ext cx="11196533" cy="4473239"/>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accent1"/>
              </a:buClr>
              <a:buSzPts val="2400"/>
              <a:buChar char="▪"/>
              <a:defRPr sz="2300">
                <a:latin typeface="Arial" panose="020B0604020202020204" pitchFamily="34" charset="0"/>
                <a:ea typeface="Arial"/>
                <a:cs typeface="Arial" panose="02000000000000000000" pitchFamily="2" charset="0"/>
                <a:sym typeface="Arial"/>
              </a:defRPr>
            </a:lvl1pPr>
            <a:lvl2pPr marL="914400" lvl="1" indent="-355600" algn="l">
              <a:lnSpc>
                <a:spcPct val="90000"/>
              </a:lnSpc>
              <a:spcBef>
                <a:spcPts val="375"/>
              </a:spcBef>
              <a:spcAft>
                <a:spcPts val="0"/>
              </a:spcAft>
              <a:buClr>
                <a:schemeClr val="accent1"/>
              </a:buClr>
              <a:buSzPts val="2000"/>
              <a:buChar char="▪"/>
              <a:defRPr>
                <a:latin typeface="Arial"/>
                <a:ea typeface="Arial"/>
                <a:cs typeface="Arial"/>
                <a:sym typeface="Arial"/>
              </a:defRPr>
            </a:lvl2pPr>
            <a:lvl3pPr marL="1371600" lvl="2" indent="-330200" algn="l">
              <a:lnSpc>
                <a:spcPct val="90000"/>
              </a:lnSpc>
              <a:spcBef>
                <a:spcPts val="375"/>
              </a:spcBef>
              <a:spcAft>
                <a:spcPts val="0"/>
              </a:spcAft>
              <a:buClr>
                <a:schemeClr val="accent1"/>
              </a:buClr>
              <a:buSzPts val="1600"/>
              <a:buChar char="▪"/>
              <a:defRPr>
                <a:latin typeface="Arial"/>
                <a:ea typeface="Arial"/>
                <a:cs typeface="Arial"/>
                <a:sym typeface="Arial"/>
              </a:defRPr>
            </a:lvl3pPr>
            <a:lvl4pPr marL="1828800" lvl="3" indent="-317500" algn="l">
              <a:lnSpc>
                <a:spcPct val="90000"/>
              </a:lnSpc>
              <a:spcBef>
                <a:spcPts val="375"/>
              </a:spcBef>
              <a:spcAft>
                <a:spcPts val="0"/>
              </a:spcAft>
              <a:buClr>
                <a:schemeClr val="accent1"/>
              </a:buClr>
              <a:buSzPts val="1400"/>
              <a:buChar char="▪"/>
              <a:defRPr>
                <a:latin typeface="Arial"/>
                <a:ea typeface="Arial"/>
                <a:cs typeface="Arial"/>
                <a:sym typeface="Arial"/>
              </a:defRPr>
            </a:lvl4pPr>
            <a:lvl5pPr marL="2286000" lvl="4" indent="-317500" algn="l">
              <a:lnSpc>
                <a:spcPct val="90000"/>
              </a:lnSpc>
              <a:spcBef>
                <a:spcPts val="375"/>
              </a:spcBef>
              <a:spcAft>
                <a:spcPts val="0"/>
              </a:spcAft>
              <a:buClr>
                <a:schemeClr val="accent1"/>
              </a:buClr>
              <a:buSzPts val="1400"/>
              <a:buChar char="▪"/>
              <a:defRPr>
                <a:latin typeface="Arial"/>
                <a:ea typeface="Arial"/>
                <a:cs typeface="Arial"/>
                <a:sym typeface="Aria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r>
              <a:rPr lang="ru-RU" dirty="0"/>
              <a:t>Текст слайда</a:t>
            </a:r>
            <a:endParaRPr dirty="0"/>
          </a:p>
        </p:txBody>
      </p:sp>
      <p:sp>
        <p:nvSpPr>
          <p:cNvPr id="30" name="Google Shape;30;p8"/>
          <p:cNvSpPr txBox="1">
            <a:spLocks noGrp="1"/>
          </p:cNvSpPr>
          <p:nvPr>
            <p:ph type="body" idx="2" hasCustomPrompt="1"/>
          </p:nvPr>
        </p:nvSpPr>
        <p:spPr>
          <a:xfrm>
            <a:off x="558782" y="1185979"/>
            <a:ext cx="11196533" cy="584686"/>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SzPts val="3200"/>
              <a:buNone/>
              <a:defRPr sz="2700">
                <a:solidFill>
                  <a:srgbClr val="F1BE29"/>
                </a:solidFill>
                <a:latin typeface="Arial" panose="020B0604020202020204" pitchFamily="34" charset="0"/>
                <a:ea typeface="Arial"/>
                <a:cs typeface="Arial" panose="02000000000000000000" pitchFamily="2" charset="0"/>
                <a:sym typeface="Arial"/>
              </a:defRPr>
            </a:lvl1pPr>
            <a:lvl2pPr marL="914400" lvl="1" indent="-228600" algn="l">
              <a:lnSpc>
                <a:spcPct val="90000"/>
              </a:lnSpc>
              <a:spcBef>
                <a:spcPts val="375"/>
              </a:spcBef>
              <a:spcAft>
                <a:spcPts val="0"/>
              </a:spcAft>
              <a:buSzPts val="2000"/>
              <a:buNone/>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r>
              <a:rPr lang="ru-RU" dirty="0"/>
              <a:t>Текст слайда</a:t>
            </a:r>
          </a:p>
          <a:p>
            <a:endParaRPr dirty="0"/>
          </a:p>
        </p:txBody>
      </p:sp>
      <p:sp>
        <p:nvSpPr>
          <p:cNvPr id="6" name="Google Shape;83;p17">
            <a:extLst>
              <a:ext uri="{FF2B5EF4-FFF2-40B4-BE49-F238E27FC236}">
                <a16:creationId xmlns:a16="http://schemas.microsoft.com/office/drawing/2014/main" id="{464BD804-D61C-41D4-836A-3F0D5620725E}"/>
              </a:ext>
            </a:extLst>
          </p:cNvPr>
          <p:cNvSpPr txBox="1">
            <a:spLocks noGrp="1"/>
          </p:cNvSpPr>
          <p:nvPr>
            <p:ph type="sldNum" idx="12"/>
          </p:nvPr>
        </p:nvSpPr>
        <p:spPr>
          <a:xfrm>
            <a:off x="273628" y="6434051"/>
            <a:ext cx="570309" cy="27525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atin typeface="Arial" panose="020B0604020202020204" pitchFamily="34" charset="0"/>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fld id="{00000000-1234-1234-1234-123412341234}" type="slidenum">
              <a:rPr lang="ru-RU" smtClean="0"/>
              <a:pPr/>
              <a:t>‹#›</a:t>
            </a:fld>
            <a:endParaRPr lang="ru-RU" dirty="0"/>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Подзаголовок и Сравнение" userDrawn="1">
  <p:cSld name="Подзаголовок и Сравнение">
    <p:spTree>
      <p:nvGrpSpPr>
        <p:cNvPr id="1" name="Shape 63"/>
        <p:cNvGrpSpPr/>
        <p:nvPr/>
      </p:nvGrpSpPr>
      <p:grpSpPr>
        <a:xfrm>
          <a:off x="0" y="0"/>
          <a:ext cx="0" cy="0"/>
          <a:chOff x="0" y="0"/>
          <a:chExt cx="0" cy="0"/>
        </a:xfrm>
      </p:grpSpPr>
      <p:sp>
        <p:nvSpPr>
          <p:cNvPr id="7" name="Google Shape;83;p17">
            <a:extLst>
              <a:ext uri="{FF2B5EF4-FFF2-40B4-BE49-F238E27FC236}">
                <a16:creationId xmlns:a16="http://schemas.microsoft.com/office/drawing/2014/main" id="{A3BCCEBD-8EA8-458F-9BC3-430C03DA2D83}"/>
              </a:ext>
            </a:extLst>
          </p:cNvPr>
          <p:cNvSpPr txBox="1">
            <a:spLocks noGrp="1"/>
          </p:cNvSpPr>
          <p:nvPr>
            <p:ph type="sldNum" idx="12"/>
          </p:nvPr>
        </p:nvSpPr>
        <p:spPr>
          <a:xfrm>
            <a:off x="273628" y="6434051"/>
            <a:ext cx="632459" cy="27525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atin typeface="Arial" panose="020B0604020202020204" pitchFamily="34" charset="0"/>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fld id="{00000000-1234-1234-1234-123412341234}" type="slidenum">
              <a:rPr lang="ru-RU" smtClean="0"/>
              <a:pPr/>
              <a:t>‹#›</a:t>
            </a:fld>
            <a:endParaRPr lang="ru-RU" dirty="0"/>
          </a:p>
        </p:txBody>
      </p:sp>
      <p:sp>
        <p:nvSpPr>
          <p:cNvPr id="8" name="Google Shape;47;p11">
            <a:extLst>
              <a:ext uri="{FF2B5EF4-FFF2-40B4-BE49-F238E27FC236}">
                <a16:creationId xmlns:a16="http://schemas.microsoft.com/office/drawing/2014/main" id="{BE73FDE2-AD6D-4536-979A-DFD5A5A120FB}"/>
              </a:ext>
            </a:extLst>
          </p:cNvPr>
          <p:cNvSpPr txBox="1">
            <a:spLocks noGrp="1"/>
          </p:cNvSpPr>
          <p:nvPr>
            <p:ph type="body" idx="13" hasCustomPrompt="1"/>
          </p:nvPr>
        </p:nvSpPr>
        <p:spPr>
          <a:xfrm>
            <a:off x="558781" y="1770664"/>
            <a:ext cx="5508000" cy="4507045"/>
          </a:xfrm>
          <a:prstGeom prst="rect">
            <a:avLst/>
          </a:prstGeom>
          <a:noFill/>
          <a:ln>
            <a:noFill/>
          </a:ln>
        </p:spPr>
        <p:txBody>
          <a:bodyPr spcFirstLastPara="1" wrap="square" lIns="91425" tIns="45700" rIns="91425" bIns="45700" anchor="t" anchorCtr="0">
            <a:normAutofit/>
          </a:bodyPr>
          <a:lstStyle>
            <a:lvl1pPr marL="76200" lvl="0" indent="0" algn="l">
              <a:lnSpc>
                <a:spcPct val="90000"/>
              </a:lnSpc>
              <a:spcBef>
                <a:spcPts val="750"/>
              </a:spcBef>
              <a:spcAft>
                <a:spcPts val="0"/>
              </a:spcAft>
              <a:buClr>
                <a:schemeClr val="accent1"/>
              </a:buClr>
              <a:buSzPts val="2400"/>
              <a:buNone/>
              <a:defRPr sz="2300">
                <a:latin typeface="Arial" panose="020B0604020202020204" pitchFamily="34" charset="0"/>
                <a:ea typeface="Arial"/>
                <a:cs typeface="Arial" panose="02000000000000000000" pitchFamily="2" charset="0"/>
                <a:sym typeface="Arial"/>
              </a:defRPr>
            </a:lvl1pPr>
            <a:lvl2pPr marL="914400" lvl="1" indent="-355600" algn="l">
              <a:lnSpc>
                <a:spcPct val="90000"/>
              </a:lnSpc>
              <a:spcBef>
                <a:spcPts val="375"/>
              </a:spcBef>
              <a:spcAft>
                <a:spcPts val="0"/>
              </a:spcAft>
              <a:buClr>
                <a:schemeClr val="accent1"/>
              </a:buClr>
              <a:buSzPts val="2000"/>
              <a:buChar char="▪"/>
              <a:defRPr>
                <a:latin typeface="Arial"/>
                <a:ea typeface="Arial"/>
                <a:cs typeface="Arial"/>
                <a:sym typeface="Arial"/>
              </a:defRPr>
            </a:lvl2pPr>
            <a:lvl3pPr marL="1371600" lvl="2" indent="-330200" algn="l">
              <a:lnSpc>
                <a:spcPct val="90000"/>
              </a:lnSpc>
              <a:spcBef>
                <a:spcPts val="375"/>
              </a:spcBef>
              <a:spcAft>
                <a:spcPts val="0"/>
              </a:spcAft>
              <a:buClr>
                <a:schemeClr val="accent1"/>
              </a:buClr>
              <a:buSzPts val="1600"/>
              <a:buChar char="▪"/>
              <a:defRPr>
                <a:latin typeface="Arial"/>
                <a:ea typeface="Arial"/>
                <a:cs typeface="Arial"/>
                <a:sym typeface="Arial"/>
              </a:defRPr>
            </a:lvl3pPr>
            <a:lvl4pPr marL="1828800" lvl="3" indent="-317500" algn="l">
              <a:lnSpc>
                <a:spcPct val="90000"/>
              </a:lnSpc>
              <a:spcBef>
                <a:spcPts val="375"/>
              </a:spcBef>
              <a:spcAft>
                <a:spcPts val="0"/>
              </a:spcAft>
              <a:buClr>
                <a:schemeClr val="accent1"/>
              </a:buClr>
              <a:buSzPts val="1400"/>
              <a:buChar char="▪"/>
              <a:defRPr>
                <a:latin typeface="Arial"/>
                <a:ea typeface="Arial"/>
                <a:cs typeface="Arial"/>
                <a:sym typeface="Arial"/>
              </a:defRPr>
            </a:lvl4pPr>
            <a:lvl5pPr marL="2286000" lvl="4" indent="-317500" algn="l">
              <a:lnSpc>
                <a:spcPct val="90000"/>
              </a:lnSpc>
              <a:spcBef>
                <a:spcPts val="375"/>
              </a:spcBef>
              <a:spcAft>
                <a:spcPts val="0"/>
              </a:spcAft>
              <a:buClr>
                <a:schemeClr val="accent1"/>
              </a:buClr>
              <a:buSzPts val="1400"/>
              <a:buChar char="▪"/>
              <a:defRPr>
                <a:latin typeface="Arial"/>
                <a:ea typeface="Arial"/>
                <a:cs typeface="Arial"/>
                <a:sym typeface="Aria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r>
              <a:rPr lang="ru-RU" dirty="0"/>
              <a:t>Текст слайда</a:t>
            </a:r>
            <a:endParaRPr dirty="0"/>
          </a:p>
        </p:txBody>
      </p:sp>
      <p:sp>
        <p:nvSpPr>
          <p:cNvPr id="9" name="Google Shape;48;p11">
            <a:extLst>
              <a:ext uri="{FF2B5EF4-FFF2-40B4-BE49-F238E27FC236}">
                <a16:creationId xmlns:a16="http://schemas.microsoft.com/office/drawing/2014/main" id="{CDC7DB9F-D126-4C0F-900F-3ED455B7D4B6}"/>
              </a:ext>
            </a:extLst>
          </p:cNvPr>
          <p:cNvSpPr txBox="1">
            <a:spLocks noGrp="1"/>
          </p:cNvSpPr>
          <p:nvPr>
            <p:ph type="body" idx="2" hasCustomPrompt="1"/>
          </p:nvPr>
        </p:nvSpPr>
        <p:spPr>
          <a:xfrm>
            <a:off x="6241899" y="1770664"/>
            <a:ext cx="5508000" cy="4507045"/>
          </a:xfrm>
          <a:prstGeom prst="rect">
            <a:avLst/>
          </a:prstGeom>
          <a:noFill/>
          <a:ln>
            <a:noFill/>
          </a:ln>
        </p:spPr>
        <p:txBody>
          <a:bodyPr spcFirstLastPara="1" wrap="square" lIns="91425" tIns="45700" rIns="91425" bIns="45700" anchor="t" anchorCtr="0">
            <a:normAutofit/>
          </a:bodyPr>
          <a:lstStyle>
            <a:lvl1pPr marL="76200" lvl="0" indent="0" algn="l">
              <a:lnSpc>
                <a:spcPct val="90000"/>
              </a:lnSpc>
              <a:spcBef>
                <a:spcPts val="750"/>
              </a:spcBef>
              <a:spcAft>
                <a:spcPts val="0"/>
              </a:spcAft>
              <a:buClr>
                <a:schemeClr val="accent1"/>
              </a:buClr>
              <a:buSzPts val="2400"/>
              <a:buNone/>
              <a:defRPr sz="2300">
                <a:latin typeface="Arial" panose="020B0604020202020204" pitchFamily="34" charset="0"/>
                <a:ea typeface="Arial"/>
                <a:cs typeface="Arial" panose="02000000000000000000" pitchFamily="2" charset="0"/>
                <a:sym typeface="Arial"/>
              </a:defRPr>
            </a:lvl1pPr>
            <a:lvl2pPr marL="914400" lvl="1" indent="-355600" algn="l">
              <a:lnSpc>
                <a:spcPct val="90000"/>
              </a:lnSpc>
              <a:spcBef>
                <a:spcPts val="375"/>
              </a:spcBef>
              <a:spcAft>
                <a:spcPts val="0"/>
              </a:spcAft>
              <a:buClr>
                <a:schemeClr val="accent1"/>
              </a:buClr>
              <a:buSzPts val="2000"/>
              <a:buChar char="▪"/>
              <a:defRPr>
                <a:latin typeface="Arial"/>
                <a:ea typeface="Arial"/>
                <a:cs typeface="Arial"/>
                <a:sym typeface="Arial"/>
              </a:defRPr>
            </a:lvl2pPr>
            <a:lvl3pPr marL="1371600" lvl="2" indent="-330200" algn="l">
              <a:lnSpc>
                <a:spcPct val="90000"/>
              </a:lnSpc>
              <a:spcBef>
                <a:spcPts val="375"/>
              </a:spcBef>
              <a:spcAft>
                <a:spcPts val="0"/>
              </a:spcAft>
              <a:buClr>
                <a:schemeClr val="accent1"/>
              </a:buClr>
              <a:buSzPts val="1600"/>
              <a:buChar char="▪"/>
              <a:defRPr>
                <a:latin typeface="Arial"/>
                <a:ea typeface="Arial"/>
                <a:cs typeface="Arial"/>
                <a:sym typeface="Arial"/>
              </a:defRPr>
            </a:lvl3pPr>
            <a:lvl4pPr marL="1828800" lvl="3" indent="-317500" algn="l">
              <a:lnSpc>
                <a:spcPct val="90000"/>
              </a:lnSpc>
              <a:spcBef>
                <a:spcPts val="375"/>
              </a:spcBef>
              <a:spcAft>
                <a:spcPts val="0"/>
              </a:spcAft>
              <a:buClr>
                <a:schemeClr val="accent1"/>
              </a:buClr>
              <a:buSzPts val="1400"/>
              <a:buChar char="▪"/>
              <a:defRPr>
                <a:latin typeface="Arial"/>
                <a:ea typeface="Arial"/>
                <a:cs typeface="Arial"/>
                <a:sym typeface="Arial"/>
              </a:defRPr>
            </a:lvl4pPr>
            <a:lvl5pPr marL="2286000" lvl="4" indent="-317500" algn="l">
              <a:lnSpc>
                <a:spcPct val="90000"/>
              </a:lnSpc>
              <a:spcBef>
                <a:spcPts val="375"/>
              </a:spcBef>
              <a:spcAft>
                <a:spcPts val="0"/>
              </a:spcAft>
              <a:buClr>
                <a:schemeClr val="accent1"/>
              </a:buClr>
              <a:buSzPts val="1400"/>
              <a:buChar char="▪"/>
              <a:defRPr>
                <a:latin typeface="Arial"/>
                <a:ea typeface="Arial"/>
                <a:cs typeface="Arial"/>
                <a:sym typeface="Aria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r>
              <a:rPr lang="ru-RU" dirty="0"/>
              <a:t>Текст слайда</a:t>
            </a:r>
            <a:endParaRPr dirty="0"/>
          </a:p>
        </p:txBody>
      </p:sp>
      <p:sp>
        <p:nvSpPr>
          <p:cNvPr id="6" name="Google Shape;30;p8">
            <a:extLst>
              <a:ext uri="{FF2B5EF4-FFF2-40B4-BE49-F238E27FC236}">
                <a16:creationId xmlns:a16="http://schemas.microsoft.com/office/drawing/2014/main" id="{0A0C615F-D144-44C1-91C6-0FB98026FAD0}"/>
              </a:ext>
            </a:extLst>
          </p:cNvPr>
          <p:cNvSpPr txBox="1">
            <a:spLocks noGrp="1"/>
          </p:cNvSpPr>
          <p:nvPr>
            <p:ph type="body" idx="14" hasCustomPrompt="1"/>
          </p:nvPr>
        </p:nvSpPr>
        <p:spPr>
          <a:xfrm>
            <a:off x="558782" y="1185979"/>
            <a:ext cx="11196533" cy="584686"/>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SzPts val="3200"/>
              <a:buNone/>
              <a:defRPr sz="2700">
                <a:solidFill>
                  <a:srgbClr val="F1BE29"/>
                </a:solidFill>
                <a:latin typeface="Arial" panose="020B0604020202020204" pitchFamily="34" charset="0"/>
                <a:ea typeface="Arial"/>
                <a:cs typeface="Arial" panose="02000000000000000000" pitchFamily="2" charset="0"/>
                <a:sym typeface="Arial"/>
              </a:defRPr>
            </a:lvl1pPr>
            <a:lvl2pPr marL="914400" lvl="1" indent="-228600" algn="l">
              <a:lnSpc>
                <a:spcPct val="90000"/>
              </a:lnSpc>
              <a:spcBef>
                <a:spcPts val="375"/>
              </a:spcBef>
              <a:spcAft>
                <a:spcPts val="0"/>
              </a:spcAft>
              <a:buSzPts val="2000"/>
              <a:buNone/>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r>
              <a:rPr lang="ru-RU" dirty="0"/>
              <a:t>Подзаголовок слайда</a:t>
            </a:r>
          </a:p>
        </p:txBody>
      </p:sp>
    </p:spTree>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Только заголовок" userDrawn="1">
  <p:cSld name="TITLE_ONLY">
    <p:spTree>
      <p:nvGrpSpPr>
        <p:cNvPr id="1" name="Shape 69"/>
        <p:cNvGrpSpPr/>
        <p:nvPr/>
      </p:nvGrpSpPr>
      <p:grpSpPr>
        <a:xfrm>
          <a:off x="0" y="0"/>
          <a:ext cx="0" cy="0"/>
          <a:chOff x="0" y="0"/>
          <a:chExt cx="0" cy="0"/>
        </a:xfrm>
      </p:grpSpPr>
      <p:sp>
        <p:nvSpPr>
          <p:cNvPr id="4" name="Google Shape;83;p17">
            <a:extLst>
              <a:ext uri="{FF2B5EF4-FFF2-40B4-BE49-F238E27FC236}">
                <a16:creationId xmlns:a16="http://schemas.microsoft.com/office/drawing/2014/main" id="{3C33CCE7-3AA5-4E4A-9FB4-1EE49FE9D890}"/>
              </a:ext>
            </a:extLst>
          </p:cNvPr>
          <p:cNvSpPr txBox="1">
            <a:spLocks noGrp="1"/>
          </p:cNvSpPr>
          <p:nvPr>
            <p:ph type="sldNum" idx="12"/>
          </p:nvPr>
        </p:nvSpPr>
        <p:spPr>
          <a:xfrm>
            <a:off x="273628" y="6434051"/>
            <a:ext cx="570309" cy="27525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atin typeface="Arial" panose="020B0604020202020204" pitchFamily="34" charset="0"/>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fld id="{00000000-1234-1234-1234-123412341234}" type="slidenum">
              <a:rPr lang="ru-RU" smtClean="0"/>
              <a:pPr/>
              <a:t>‹#›</a:t>
            </a:fld>
            <a:endParaRPr lang="ru-RU" dirty="0"/>
          </a:p>
        </p:txBody>
      </p:sp>
    </p:spTree>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Пустой слайд" type="blank">
  <p:cSld name="BLANK">
    <p:spTree>
      <p:nvGrpSpPr>
        <p:cNvPr id="1" name="Shape 72"/>
        <p:cNvGrpSpPr/>
        <p:nvPr/>
      </p:nvGrpSpPr>
      <p:grpSpPr>
        <a:xfrm>
          <a:off x="0" y="0"/>
          <a:ext cx="0" cy="0"/>
          <a:chOff x="0" y="0"/>
          <a:chExt cx="0" cy="0"/>
        </a:xfrm>
      </p:grpSpPr>
      <p:sp>
        <p:nvSpPr>
          <p:cNvPr id="3" name="Google Shape;83;p17">
            <a:extLst>
              <a:ext uri="{FF2B5EF4-FFF2-40B4-BE49-F238E27FC236}">
                <a16:creationId xmlns:a16="http://schemas.microsoft.com/office/drawing/2014/main" id="{0CA1A5D0-6F6B-4B83-84EB-024B06E2BB76}"/>
              </a:ext>
            </a:extLst>
          </p:cNvPr>
          <p:cNvSpPr txBox="1">
            <a:spLocks noGrp="1"/>
          </p:cNvSpPr>
          <p:nvPr>
            <p:ph type="sldNum" idx="12"/>
          </p:nvPr>
        </p:nvSpPr>
        <p:spPr>
          <a:xfrm>
            <a:off x="273628" y="6434051"/>
            <a:ext cx="570309" cy="27525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atin typeface="Arial" panose="020B0604020202020204" pitchFamily="34" charset="0"/>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fld id="{00000000-1234-1234-1234-123412341234}" type="slidenum">
              <a:rPr lang="ru-RU" smtClean="0"/>
              <a:pPr/>
              <a:t>‹#›</a:t>
            </a:fld>
            <a:endParaRPr lang="ru-RU" dirty="0"/>
          </a:p>
        </p:txBody>
      </p:sp>
    </p:spTree>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Заголовок, текст и объект" userDrawn="1">
  <p:cSld name="Заголовок, текст и объект">
    <p:spTree>
      <p:nvGrpSpPr>
        <p:cNvPr id="1" name="Shape 79"/>
        <p:cNvGrpSpPr/>
        <p:nvPr/>
      </p:nvGrpSpPr>
      <p:grpSpPr>
        <a:xfrm>
          <a:off x="0" y="0"/>
          <a:ext cx="0" cy="0"/>
          <a:chOff x="0" y="0"/>
          <a:chExt cx="0" cy="0"/>
        </a:xfrm>
      </p:grpSpPr>
      <p:sp>
        <p:nvSpPr>
          <p:cNvPr id="81" name="Google Shape;81;p17"/>
          <p:cNvSpPr txBox="1">
            <a:spLocks noGrp="1"/>
          </p:cNvSpPr>
          <p:nvPr>
            <p:ph type="body" idx="1" hasCustomPrompt="1"/>
          </p:nvPr>
        </p:nvSpPr>
        <p:spPr>
          <a:xfrm>
            <a:off x="5183187" y="1301263"/>
            <a:ext cx="6735185" cy="4908344"/>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accent1"/>
              </a:buClr>
              <a:buSzPts val="2400"/>
              <a:buChar char="▪"/>
              <a:defRPr sz="2300">
                <a:latin typeface="Arial" panose="020B0604020202020204" pitchFamily="34" charset="0"/>
                <a:ea typeface="Arial"/>
                <a:cs typeface="Arial" panose="02000000000000000000" pitchFamily="2" charset="0"/>
                <a:sym typeface="Arial"/>
              </a:defRPr>
            </a:lvl1pPr>
            <a:lvl2pPr marL="914400" lvl="1" indent="-361950" algn="l">
              <a:lnSpc>
                <a:spcPct val="90000"/>
              </a:lnSpc>
              <a:spcBef>
                <a:spcPts val="375"/>
              </a:spcBef>
              <a:spcAft>
                <a:spcPts val="0"/>
              </a:spcAft>
              <a:buClr>
                <a:schemeClr val="accent1"/>
              </a:buClr>
              <a:buSzPts val="2100"/>
              <a:buChar char="▪"/>
              <a:defRPr sz="2100">
                <a:latin typeface="Arial"/>
                <a:ea typeface="Arial"/>
                <a:cs typeface="Arial"/>
                <a:sym typeface="Arial"/>
              </a:defRPr>
            </a:lvl2pPr>
            <a:lvl3pPr marL="1371600" lvl="2" indent="-342900" algn="l">
              <a:lnSpc>
                <a:spcPct val="90000"/>
              </a:lnSpc>
              <a:spcBef>
                <a:spcPts val="375"/>
              </a:spcBef>
              <a:spcAft>
                <a:spcPts val="0"/>
              </a:spcAft>
              <a:buClr>
                <a:schemeClr val="accent1"/>
              </a:buClr>
              <a:buSzPts val="1800"/>
              <a:buChar char="▪"/>
              <a:defRPr sz="1800">
                <a:latin typeface="Arial"/>
                <a:ea typeface="Arial"/>
                <a:cs typeface="Arial"/>
                <a:sym typeface="Arial"/>
              </a:defRPr>
            </a:lvl3pPr>
            <a:lvl4pPr marL="1828800" lvl="3" indent="-323850" algn="l">
              <a:lnSpc>
                <a:spcPct val="90000"/>
              </a:lnSpc>
              <a:spcBef>
                <a:spcPts val="375"/>
              </a:spcBef>
              <a:spcAft>
                <a:spcPts val="0"/>
              </a:spcAft>
              <a:buClr>
                <a:schemeClr val="accent1"/>
              </a:buClr>
              <a:buSzPts val="1500"/>
              <a:buChar char="▪"/>
              <a:defRPr sz="1500">
                <a:latin typeface="Arial"/>
                <a:ea typeface="Arial"/>
                <a:cs typeface="Arial"/>
                <a:sym typeface="Arial"/>
              </a:defRPr>
            </a:lvl4pPr>
            <a:lvl5pPr marL="2286000" lvl="4" indent="-323850" algn="l">
              <a:lnSpc>
                <a:spcPct val="90000"/>
              </a:lnSpc>
              <a:spcBef>
                <a:spcPts val="375"/>
              </a:spcBef>
              <a:spcAft>
                <a:spcPts val="0"/>
              </a:spcAft>
              <a:buClr>
                <a:schemeClr val="accent1"/>
              </a:buClr>
              <a:buSzPts val="1500"/>
              <a:buChar char="▪"/>
              <a:defRPr sz="1500">
                <a:latin typeface="Arial"/>
                <a:ea typeface="Arial"/>
                <a:cs typeface="Arial"/>
                <a:sym typeface="Arial"/>
              </a:defRPr>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r>
              <a:rPr lang="ru-RU" dirty="0"/>
              <a:t>Текст слайда</a:t>
            </a:r>
            <a:endParaRPr dirty="0"/>
          </a:p>
        </p:txBody>
      </p:sp>
      <p:sp>
        <p:nvSpPr>
          <p:cNvPr id="82" name="Google Shape;82;p17"/>
          <p:cNvSpPr txBox="1">
            <a:spLocks noGrp="1"/>
          </p:cNvSpPr>
          <p:nvPr>
            <p:ph type="body" idx="2" hasCustomPrompt="1"/>
          </p:nvPr>
        </p:nvSpPr>
        <p:spPr>
          <a:xfrm>
            <a:off x="273628" y="1301263"/>
            <a:ext cx="4784147" cy="4908344"/>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accent1"/>
              </a:buClr>
              <a:buSzPts val="2400"/>
              <a:buFont typeface="Arial"/>
              <a:buChar char="▪"/>
              <a:defRPr sz="2300">
                <a:latin typeface="Arial" panose="020B0604020202020204" pitchFamily="34" charset="0"/>
                <a:ea typeface="Arial"/>
                <a:cs typeface="Arial" panose="02000000000000000000" pitchFamily="2" charset="0"/>
                <a:sym typeface="Arial"/>
              </a:defRPr>
            </a:lvl1pPr>
            <a:lvl2pPr marL="914400" lvl="1" indent="-342900" algn="l">
              <a:lnSpc>
                <a:spcPct val="90000"/>
              </a:lnSpc>
              <a:spcBef>
                <a:spcPts val="375"/>
              </a:spcBef>
              <a:spcAft>
                <a:spcPts val="0"/>
              </a:spcAft>
              <a:buClr>
                <a:schemeClr val="accent1"/>
              </a:buClr>
              <a:buSzPts val="1800"/>
              <a:buFont typeface="Arial"/>
              <a:buChar char="▪"/>
              <a:defRPr sz="1800">
                <a:latin typeface="Arial"/>
                <a:ea typeface="Arial"/>
                <a:cs typeface="Arial"/>
                <a:sym typeface="Arial"/>
              </a:defRPr>
            </a:lvl2pPr>
            <a:lvl3pPr marL="1371600" lvl="2" indent="-317500" algn="l">
              <a:lnSpc>
                <a:spcPct val="90000"/>
              </a:lnSpc>
              <a:spcBef>
                <a:spcPts val="375"/>
              </a:spcBef>
              <a:spcAft>
                <a:spcPts val="0"/>
              </a:spcAft>
              <a:buClr>
                <a:schemeClr val="accent1"/>
              </a:buClr>
              <a:buSzPts val="1400"/>
              <a:buFont typeface="Arial"/>
              <a:buChar char="▪"/>
              <a:defRPr sz="1400">
                <a:latin typeface="Arial"/>
                <a:ea typeface="Arial"/>
                <a:cs typeface="Arial"/>
                <a:sym typeface="Arial"/>
              </a:defRPr>
            </a:lvl3pPr>
            <a:lvl4pPr marL="1828800" lvl="3" indent="-298450" algn="l">
              <a:lnSpc>
                <a:spcPct val="90000"/>
              </a:lnSpc>
              <a:spcBef>
                <a:spcPts val="375"/>
              </a:spcBef>
              <a:spcAft>
                <a:spcPts val="0"/>
              </a:spcAft>
              <a:buClr>
                <a:schemeClr val="accent1"/>
              </a:buClr>
              <a:buSzPts val="1100"/>
              <a:buFont typeface="Arial"/>
              <a:buChar char="▪"/>
              <a:defRPr sz="1100">
                <a:latin typeface="Arial"/>
                <a:ea typeface="Arial"/>
                <a:cs typeface="Arial"/>
                <a:sym typeface="Arial"/>
              </a:defRPr>
            </a:lvl4pPr>
            <a:lvl5pPr marL="2286000" lvl="4" indent="-298450" algn="l">
              <a:lnSpc>
                <a:spcPct val="90000"/>
              </a:lnSpc>
              <a:spcBef>
                <a:spcPts val="375"/>
              </a:spcBef>
              <a:spcAft>
                <a:spcPts val="0"/>
              </a:spcAft>
              <a:buClr>
                <a:schemeClr val="accent1"/>
              </a:buClr>
              <a:buSzPts val="1100"/>
              <a:buFont typeface="Arial"/>
              <a:buChar char="▪"/>
              <a:defRPr sz="1100">
                <a:latin typeface="Arial"/>
                <a:ea typeface="Arial"/>
                <a:cs typeface="Arial"/>
                <a:sym typeface="Arial"/>
              </a:defRPr>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r>
              <a:rPr lang="ru-RU" dirty="0"/>
              <a:t>Текст слайда</a:t>
            </a:r>
            <a:endParaRPr dirty="0"/>
          </a:p>
        </p:txBody>
      </p:sp>
      <p:sp>
        <p:nvSpPr>
          <p:cNvPr id="83" name="Google Shape;83;p17"/>
          <p:cNvSpPr txBox="1">
            <a:spLocks noGrp="1"/>
          </p:cNvSpPr>
          <p:nvPr>
            <p:ph type="sldNum" idx="12"/>
          </p:nvPr>
        </p:nvSpPr>
        <p:spPr>
          <a:xfrm>
            <a:off x="273628" y="6434051"/>
            <a:ext cx="570309" cy="27525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atin typeface="Arial" panose="020B0604020202020204" pitchFamily="34" charset="0"/>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fld id="{00000000-1234-1234-1234-123412341234}" type="slidenum">
              <a:rPr lang="ru-RU" smtClean="0"/>
              <a:pPr/>
              <a:t>‹#›</a:t>
            </a:fld>
            <a:endParaRPr lang="ru-RU" dirty="0"/>
          </a:p>
        </p:txBody>
      </p:sp>
    </p:spTree>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Объект с подписью" type="objTx">
  <p:cSld name="OBJECT_WITH_CAPTION_TEXT">
    <p:spTree>
      <p:nvGrpSpPr>
        <p:cNvPr id="1" name="Shape 74"/>
        <p:cNvGrpSpPr/>
        <p:nvPr/>
      </p:nvGrpSpPr>
      <p:grpSpPr>
        <a:xfrm>
          <a:off x="0" y="0"/>
          <a:ext cx="0" cy="0"/>
          <a:chOff x="0" y="0"/>
          <a:chExt cx="0" cy="0"/>
        </a:xfrm>
      </p:grpSpPr>
      <p:sp>
        <p:nvSpPr>
          <p:cNvPr id="75" name="Google Shape;75;p16"/>
          <p:cNvSpPr txBox="1">
            <a:spLocks noGrp="1"/>
          </p:cNvSpPr>
          <p:nvPr>
            <p:ph type="title" hasCustomPrompt="1"/>
          </p:nvPr>
        </p:nvSpPr>
        <p:spPr>
          <a:xfrm>
            <a:off x="273628" y="1213658"/>
            <a:ext cx="4702029" cy="84374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1"/>
              </a:buClr>
              <a:buSzPts val="3200"/>
              <a:buFont typeface="Arial"/>
              <a:buNone/>
              <a:defRPr sz="2700">
                <a:latin typeface="Arial" panose="020B0604020202020204" pitchFamily="34" charset="0"/>
                <a:ea typeface="Arial"/>
                <a:cs typeface="Arial" pitchFamily="2" charset="0"/>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ru-RU" sz="2700" dirty="0"/>
              <a:t>Заголовок слайда</a:t>
            </a:r>
            <a:endParaRPr dirty="0"/>
          </a:p>
        </p:txBody>
      </p:sp>
      <p:sp>
        <p:nvSpPr>
          <p:cNvPr id="76" name="Google Shape;76;p16"/>
          <p:cNvSpPr txBox="1">
            <a:spLocks noGrp="1"/>
          </p:cNvSpPr>
          <p:nvPr>
            <p:ph type="body" idx="1" hasCustomPrompt="1"/>
          </p:nvPr>
        </p:nvSpPr>
        <p:spPr>
          <a:xfrm>
            <a:off x="5183187" y="311727"/>
            <a:ext cx="6735185" cy="5549327"/>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accent1"/>
              </a:buClr>
              <a:buSzPts val="2400"/>
              <a:buChar char="▪"/>
              <a:defRPr sz="2700">
                <a:latin typeface="Arial" panose="020B0604020202020204" pitchFamily="34" charset="0"/>
                <a:cs typeface="Arial" panose="02000000000000000000" pitchFamily="2" charset="0"/>
              </a:defRPr>
            </a:lvl1pPr>
            <a:lvl2pPr marL="914400" lvl="1" indent="-361950" algn="l">
              <a:lnSpc>
                <a:spcPct val="90000"/>
              </a:lnSpc>
              <a:spcBef>
                <a:spcPts val="375"/>
              </a:spcBef>
              <a:spcAft>
                <a:spcPts val="0"/>
              </a:spcAft>
              <a:buClr>
                <a:schemeClr val="accent1"/>
              </a:buClr>
              <a:buSzPts val="2100"/>
              <a:buChar char="▪"/>
              <a:defRPr sz="2100"/>
            </a:lvl2pPr>
            <a:lvl3pPr marL="1371600" lvl="2" indent="-342900" algn="l">
              <a:lnSpc>
                <a:spcPct val="90000"/>
              </a:lnSpc>
              <a:spcBef>
                <a:spcPts val="375"/>
              </a:spcBef>
              <a:spcAft>
                <a:spcPts val="0"/>
              </a:spcAft>
              <a:buClr>
                <a:schemeClr val="accent1"/>
              </a:buClr>
              <a:buSzPts val="1800"/>
              <a:buChar char="▪"/>
              <a:defRPr sz="1800"/>
            </a:lvl3pPr>
            <a:lvl4pPr marL="1828800" lvl="3" indent="-323850" algn="l">
              <a:lnSpc>
                <a:spcPct val="90000"/>
              </a:lnSpc>
              <a:spcBef>
                <a:spcPts val="375"/>
              </a:spcBef>
              <a:spcAft>
                <a:spcPts val="0"/>
              </a:spcAft>
              <a:buClr>
                <a:schemeClr val="accent1"/>
              </a:buClr>
              <a:buSzPts val="1500"/>
              <a:buChar char="▪"/>
              <a:defRPr sz="1500"/>
            </a:lvl4pPr>
            <a:lvl5pPr marL="2286000" lvl="4" indent="-323850" algn="l">
              <a:lnSpc>
                <a:spcPct val="90000"/>
              </a:lnSpc>
              <a:spcBef>
                <a:spcPts val="375"/>
              </a:spcBef>
              <a:spcAft>
                <a:spcPts val="0"/>
              </a:spcAft>
              <a:buClr>
                <a:schemeClr val="accent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r>
              <a:rPr lang="ru-RU" dirty="0"/>
              <a:t>Текст слайда</a:t>
            </a:r>
            <a:endParaRPr dirty="0"/>
          </a:p>
        </p:txBody>
      </p:sp>
      <p:sp>
        <p:nvSpPr>
          <p:cNvPr id="77" name="Google Shape;77;p16"/>
          <p:cNvSpPr txBox="1">
            <a:spLocks noGrp="1"/>
          </p:cNvSpPr>
          <p:nvPr>
            <p:ph type="body" idx="2" hasCustomPrompt="1"/>
          </p:nvPr>
        </p:nvSpPr>
        <p:spPr>
          <a:xfrm>
            <a:off x="273628" y="2057400"/>
            <a:ext cx="4702029" cy="3811588"/>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accent1"/>
              </a:buClr>
              <a:buSzPts val="2400"/>
              <a:buFont typeface="Arial"/>
              <a:buChar char="▪"/>
              <a:defRPr sz="1300">
                <a:latin typeface="Arial" panose="020B0604020202020204" pitchFamily="34" charset="0"/>
                <a:ea typeface="Arial"/>
                <a:cs typeface="Arial" panose="02000000000000000000" pitchFamily="2" charset="0"/>
                <a:sym typeface="Arial"/>
              </a:defRPr>
            </a:lvl1pPr>
            <a:lvl2pPr marL="914400" lvl="1" indent="-342900" algn="l">
              <a:lnSpc>
                <a:spcPct val="90000"/>
              </a:lnSpc>
              <a:spcBef>
                <a:spcPts val="375"/>
              </a:spcBef>
              <a:spcAft>
                <a:spcPts val="0"/>
              </a:spcAft>
              <a:buClr>
                <a:schemeClr val="accent1"/>
              </a:buClr>
              <a:buSzPts val="1800"/>
              <a:buFont typeface="Arial"/>
              <a:buChar char="▪"/>
              <a:defRPr sz="1800">
                <a:latin typeface="Arial"/>
                <a:ea typeface="Arial"/>
                <a:cs typeface="Arial"/>
                <a:sym typeface="Arial"/>
              </a:defRPr>
            </a:lvl2pPr>
            <a:lvl3pPr marL="1371600" lvl="2" indent="-317500" algn="l">
              <a:lnSpc>
                <a:spcPct val="90000"/>
              </a:lnSpc>
              <a:spcBef>
                <a:spcPts val="375"/>
              </a:spcBef>
              <a:spcAft>
                <a:spcPts val="0"/>
              </a:spcAft>
              <a:buClr>
                <a:schemeClr val="accent1"/>
              </a:buClr>
              <a:buSzPts val="1400"/>
              <a:buFont typeface="Arial"/>
              <a:buChar char="▪"/>
              <a:defRPr sz="1400">
                <a:latin typeface="Arial"/>
                <a:ea typeface="Arial"/>
                <a:cs typeface="Arial"/>
                <a:sym typeface="Arial"/>
              </a:defRPr>
            </a:lvl3pPr>
            <a:lvl4pPr marL="1828800" lvl="3" indent="-298450" algn="l">
              <a:lnSpc>
                <a:spcPct val="90000"/>
              </a:lnSpc>
              <a:spcBef>
                <a:spcPts val="375"/>
              </a:spcBef>
              <a:spcAft>
                <a:spcPts val="0"/>
              </a:spcAft>
              <a:buClr>
                <a:schemeClr val="accent1"/>
              </a:buClr>
              <a:buSzPts val="1100"/>
              <a:buFont typeface="Arial"/>
              <a:buChar char="▪"/>
              <a:defRPr sz="1100">
                <a:latin typeface="Arial"/>
                <a:ea typeface="Arial"/>
                <a:cs typeface="Arial"/>
                <a:sym typeface="Arial"/>
              </a:defRPr>
            </a:lvl4pPr>
            <a:lvl5pPr marL="2286000" lvl="4" indent="-298450" algn="l">
              <a:lnSpc>
                <a:spcPct val="90000"/>
              </a:lnSpc>
              <a:spcBef>
                <a:spcPts val="375"/>
              </a:spcBef>
              <a:spcAft>
                <a:spcPts val="0"/>
              </a:spcAft>
              <a:buClr>
                <a:schemeClr val="accent1"/>
              </a:buClr>
              <a:buSzPts val="1100"/>
              <a:buFont typeface="Arial"/>
              <a:buChar char="▪"/>
              <a:defRPr sz="1100">
                <a:latin typeface="Arial"/>
                <a:ea typeface="Arial"/>
                <a:cs typeface="Arial"/>
                <a:sym typeface="Arial"/>
              </a:defRPr>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r>
              <a:rPr lang="ru-RU" dirty="0"/>
              <a:t>Текст слайда</a:t>
            </a:r>
            <a:endParaRPr dirty="0"/>
          </a:p>
        </p:txBody>
      </p:sp>
      <p:sp>
        <p:nvSpPr>
          <p:cNvPr id="6" name="Google Shape;83;p17">
            <a:extLst>
              <a:ext uri="{FF2B5EF4-FFF2-40B4-BE49-F238E27FC236}">
                <a16:creationId xmlns:a16="http://schemas.microsoft.com/office/drawing/2014/main" id="{375ED264-9BE6-45D1-BEF5-3485B756C4E8}"/>
              </a:ext>
            </a:extLst>
          </p:cNvPr>
          <p:cNvSpPr txBox="1">
            <a:spLocks noGrp="1"/>
          </p:cNvSpPr>
          <p:nvPr>
            <p:ph type="sldNum" idx="12"/>
          </p:nvPr>
        </p:nvSpPr>
        <p:spPr>
          <a:xfrm>
            <a:off x="273628" y="6434051"/>
            <a:ext cx="570309" cy="27525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atin typeface="Arial" panose="020B0604020202020204" pitchFamily="34" charset="0"/>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fld id="{00000000-1234-1234-1234-123412341234}" type="slidenum">
              <a:rPr lang="ru-RU" smtClean="0"/>
              <a:pPr/>
              <a:t>‹#›</a:t>
            </a:fld>
            <a:endParaRPr lang="ru-RU" dirty="0"/>
          </a:p>
        </p:txBody>
      </p:sp>
    </p:spTree>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Рисунок с подписью" type="picTx">
  <p:cSld name="PICTURE_WITH_CAPTION_TEXT">
    <p:spTree>
      <p:nvGrpSpPr>
        <p:cNvPr id="1" name="Shape 84"/>
        <p:cNvGrpSpPr/>
        <p:nvPr/>
      </p:nvGrpSpPr>
      <p:grpSpPr>
        <a:xfrm>
          <a:off x="0" y="0"/>
          <a:ext cx="0" cy="0"/>
          <a:chOff x="0" y="0"/>
          <a:chExt cx="0" cy="0"/>
        </a:xfrm>
      </p:grpSpPr>
      <p:sp>
        <p:nvSpPr>
          <p:cNvPr id="85" name="Google Shape;85;p18"/>
          <p:cNvSpPr txBox="1">
            <a:spLocks noGrp="1"/>
          </p:cNvSpPr>
          <p:nvPr>
            <p:ph type="title" hasCustomPrompt="1"/>
          </p:nvPr>
        </p:nvSpPr>
        <p:spPr>
          <a:xfrm>
            <a:off x="322118" y="1197033"/>
            <a:ext cx="4449907" cy="86036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1"/>
              </a:buClr>
              <a:buSzPts val="3600"/>
              <a:buFont typeface="Arial"/>
              <a:buNone/>
              <a:defRPr sz="2700">
                <a:latin typeface="Arial" panose="020B0604020202020204" pitchFamily="34" charset="0"/>
                <a:ea typeface="Arial"/>
                <a:cs typeface="Arial" pitchFamily="2" charset="0"/>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ru-RU" sz="2700" dirty="0"/>
              <a:t>Заголовок слайда</a:t>
            </a:r>
            <a:endParaRPr dirty="0"/>
          </a:p>
        </p:txBody>
      </p:sp>
      <p:sp>
        <p:nvSpPr>
          <p:cNvPr id="86" name="Google Shape;86;p18"/>
          <p:cNvSpPr>
            <a:spLocks noGrp="1"/>
          </p:cNvSpPr>
          <p:nvPr>
            <p:ph type="pic" idx="2" hasCustomPrompt="1"/>
          </p:nvPr>
        </p:nvSpPr>
        <p:spPr>
          <a:xfrm>
            <a:off x="5287096" y="238509"/>
            <a:ext cx="6582785" cy="5627304"/>
          </a:xfrm>
          <a:prstGeom prst="rect">
            <a:avLst/>
          </a:prstGeom>
          <a:noFill/>
          <a:ln>
            <a:noFill/>
          </a:ln>
          <a:effectLst>
            <a:outerShdw blurRad="190500" dist="228600" dir="2700000" algn="ctr">
              <a:srgbClr val="000000">
                <a:alpha val="29803"/>
              </a:srgbClr>
            </a:outerShdw>
          </a:effectLst>
        </p:spPr>
        <p:txBody>
          <a:bodyPr>
            <a:normAutofit/>
          </a:bodyPr>
          <a:lstStyle>
            <a:lvl1pPr>
              <a:defRPr sz="2300">
                <a:latin typeface="Arial" panose="020B0604020202020204" pitchFamily="34" charset="0"/>
                <a:cs typeface="Arial" panose="02000000000000000000" pitchFamily="2" charset="0"/>
              </a:defRPr>
            </a:lvl1pPr>
          </a:lstStyle>
          <a:p>
            <a:r>
              <a:rPr lang="ru-RU" dirty="0"/>
              <a:t>Рисунок</a:t>
            </a:r>
          </a:p>
        </p:txBody>
      </p:sp>
      <p:sp>
        <p:nvSpPr>
          <p:cNvPr id="87" name="Google Shape;87;p18"/>
          <p:cNvSpPr txBox="1">
            <a:spLocks noGrp="1"/>
          </p:cNvSpPr>
          <p:nvPr>
            <p:ph type="body" idx="1" hasCustomPrompt="1"/>
          </p:nvPr>
        </p:nvSpPr>
        <p:spPr>
          <a:xfrm>
            <a:off x="322118" y="2057400"/>
            <a:ext cx="4449907" cy="3811588"/>
          </a:xfrm>
          <a:prstGeom prst="rect">
            <a:avLst/>
          </a:prstGeom>
          <a:noFill/>
          <a:ln>
            <a:noFill/>
          </a:ln>
        </p:spPr>
        <p:txBody>
          <a:bodyPr spcFirstLastPara="1" wrap="square" lIns="91425" tIns="45700" rIns="91425" bIns="45700" anchor="t" anchorCtr="0">
            <a:normAutofit/>
          </a:bodyPr>
          <a:lstStyle>
            <a:lvl1pPr marL="76200" lvl="0" indent="0" algn="l">
              <a:lnSpc>
                <a:spcPct val="90000"/>
              </a:lnSpc>
              <a:spcBef>
                <a:spcPts val="750"/>
              </a:spcBef>
              <a:spcAft>
                <a:spcPts val="0"/>
              </a:spcAft>
              <a:buClr>
                <a:schemeClr val="accent1"/>
              </a:buClr>
              <a:buSzPts val="2400"/>
              <a:buFont typeface="Arial"/>
              <a:buNone/>
              <a:defRPr sz="1300">
                <a:latin typeface="Arial" panose="020B0604020202020204" pitchFamily="34" charset="0"/>
                <a:ea typeface="Arial"/>
                <a:cs typeface="Arial" panose="02000000000000000000" pitchFamily="2" charset="0"/>
                <a:sym typeface="Arial"/>
              </a:defRPr>
            </a:lvl1pPr>
            <a:lvl2pPr marL="914400" lvl="1" indent="-342900" algn="l">
              <a:lnSpc>
                <a:spcPct val="90000"/>
              </a:lnSpc>
              <a:spcBef>
                <a:spcPts val="375"/>
              </a:spcBef>
              <a:spcAft>
                <a:spcPts val="0"/>
              </a:spcAft>
              <a:buClr>
                <a:schemeClr val="accent1"/>
              </a:buClr>
              <a:buSzPts val="1800"/>
              <a:buFont typeface="Arial"/>
              <a:buChar char="▪"/>
              <a:defRPr sz="1800">
                <a:latin typeface="Arial"/>
                <a:ea typeface="Arial"/>
                <a:cs typeface="Arial"/>
                <a:sym typeface="Arial"/>
              </a:defRPr>
            </a:lvl2pPr>
            <a:lvl3pPr marL="1371600" lvl="2" indent="-317500" algn="l">
              <a:lnSpc>
                <a:spcPct val="90000"/>
              </a:lnSpc>
              <a:spcBef>
                <a:spcPts val="375"/>
              </a:spcBef>
              <a:spcAft>
                <a:spcPts val="0"/>
              </a:spcAft>
              <a:buClr>
                <a:schemeClr val="accent1"/>
              </a:buClr>
              <a:buSzPts val="1400"/>
              <a:buFont typeface="Arial"/>
              <a:buChar char="▪"/>
              <a:defRPr sz="1400">
                <a:latin typeface="Arial"/>
                <a:ea typeface="Arial"/>
                <a:cs typeface="Arial"/>
                <a:sym typeface="Arial"/>
              </a:defRPr>
            </a:lvl3pPr>
            <a:lvl4pPr marL="1828800" lvl="3" indent="-298450" algn="l">
              <a:lnSpc>
                <a:spcPct val="90000"/>
              </a:lnSpc>
              <a:spcBef>
                <a:spcPts val="375"/>
              </a:spcBef>
              <a:spcAft>
                <a:spcPts val="0"/>
              </a:spcAft>
              <a:buClr>
                <a:schemeClr val="accent1"/>
              </a:buClr>
              <a:buSzPts val="1100"/>
              <a:buFont typeface="Arial"/>
              <a:buChar char="▪"/>
              <a:defRPr sz="1100">
                <a:latin typeface="Arial"/>
                <a:ea typeface="Arial"/>
                <a:cs typeface="Arial"/>
                <a:sym typeface="Arial"/>
              </a:defRPr>
            </a:lvl4pPr>
            <a:lvl5pPr marL="2286000" lvl="4" indent="-298450" algn="l">
              <a:lnSpc>
                <a:spcPct val="90000"/>
              </a:lnSpc>
              <a:spcBef>
                <a:spcPts val="375"/>
              </a:spcBef>
              <a:spcAft>
                <a:spcPts val="0"/>
              </a:spcAft>
              <a:buClr>
                <a:schemeClr val="accent1"/>
              </a:buClr>
              <a:buSzPts val="1100"/>
              <a:buFont typeface="Arial"/>
              <a:buChar char="▪"/>
              <a:defRPr sz="1100">
                <a:latin typeface="Arial"/>
                <a:ea typeface="Arial"/>
                <a:cs typeface="Arial"/>
                <a:sym typeface="Arial"/>
              </a:defRPr>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r>
              <a:rPr lang="ru-RU" dirty="0"/>
              <a:t>Текст слайда</a:t>
            </a:r>
            <a:endParaRPr dirty="0"/>
          </a:p>
        </p:txBody>
      </p:sp>
      <p:sp>
        <p:nvSpPr>
          <p:cNvPr id="6" name="Google Shape;83;p17">
            <a:extLst>
              <a:ext uri="{FF2B5EF4-FFF2-40B4-BE49-F238E27FC236}">
                <a16:creationId xmlns:a16="http://schemas.microsoft.com/office/drawing/2014/main" id="{BB71C74F-A570-498D-A002-6D7C372C65B0}"/>
              </a:ext>
            </a:extLst>
          </p:cNvPr>
          <p:cNvSpPr txBox="1">
            <a:spLocks noGrp="1"/>
          </p:cNvSpPr>
          <p:nvPr>
            <p:ph type="sldNum" idx="12"/>
          </p:nvPr>
        </p:nvSpPr>
        <p:spPr>
          <a:xfrm>
            <a:off x="273628" y="6434051"/>
            <a:ext cx="570309" cy="27525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atin typeface="Arial" panose="020B0604020202020204" pitchFamily="34" charset="0"/>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fld id="{00000000-1234-1234-1234-123412341234}" type="slidenum">
              <a:rPr lang="ru-RU" smtClean="0"/>
              <a:pPr/>
              <a:t>‹#›</a:t>
            </a:fld>
            <a:endParaRPr lang="ru-RU" dirty="0"/>
          </a:p>
        </p:txBody>
      </p:sp>
    </p:spTree>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Закрывающий слайд пустой" userDrawn="1">
  <p:cSld name="Закрывающий слайд пустой">
    <p:spTree>
      <p:nvGrpSpPr>
        <p:cNvPr id="1" name="Shape 19"/>
        <p:cNvGrpSpPr/>
        <p:nvPr/>
      </p:nvGrpSpPr>
      <p:grpSpPr>
        <a:xfrm>
          <a:off x="0" y="0"/>
          <a:ext cx="0" cy="0"/>
          <a:chOff x="0" y="0"/>
          <a:chExt cx="0" cy="0"/>
        </a:xfrm>
      </p:grpSpPr>
      <p:pic>
        <p:nvPicPr>
          <p:cNvPr id="28" name="Google Shape;88;p1">
            <a:extLst>
              <a:ext uri="{FF2B5EF4-FFF2-40B4-BE49-F238E27FC236}">
                <a16:creationId xmlns:a16="http://schemas.microsoft.com/office/drawing/2014/main" id="{12BBAE2F-1E25-4B32-9650-086D0CA2FEB3}"/>
              </a:ext>
            </a:extLst>
          </p:cNvPr>
          <p:cNvPicPr preferRelativeResize="0"/>
          <p:nvPr userDrawn="1"/>
        </p:nvPicPr>
        <p:blipFill rotWithShape="1">
          <a:blip r:embed="rId2">
            <a:alphaModFix/>
          </a:blip>
          <a:srcRect t="16270" b="8845"/>
          <a:stretch/>
        </p:blipFill>
        <p:spPr>
          <a:xfrm>
            <a:off x="1" y="0"/>
            <a:ext cx="12192000" cy="6858000"/>
          </a:xfrm>
          <a:prstGeom prst="rect">
            <a:avLst/>
          </a:prstGeom>
          <a:noFill/>
          <a:ln>
            <a:noFill/>
          </a:ln>
        </p:spPr>
      </p:pic>
      <p:pic>
        <p:nvPicPr>
          <p:cNvPr id="5" name="Рисунок 4">
            <a:extLst>
              <a:ext uri="{FF2B5EF4-FFF2-40B4-BE49-F238E27FC236}">
                <a16:creationId xmlns:a16="http://schemas.microsoft.com/office/drawing/2014/main" id="{2B857A83-5237-42B9-BA8A-BF8F445C1D41}"/>
              </a:ext>
            </a:extLst>
          </p:cNvPr>
          <p:cNvPicPr>
            <a:picLocks noChangeAspect="1"/>
          </p:cNvPicPr>
          <p:nvPr userDrawn="1"/>
        </p:nvPicPr>
        <p:blipFill>
          <a:blip r:embed="rId3"/>
          <a:stretch>
            <a:fillRect/>
          </a:stretch>
        </p:blipFill>
        <p:spPr>
          <a:xfrm>
            <a:off x="6575410" y="2096584"/>
            <a:ext cx="1332000" cy="1332000"/>
          </a:xfrm>
          <a:prstGeom prst="rect">
            <a:avLst/>
          </a:prstGeom>
        </p:spPr>
      </p:pic>
      <p:pic>
        <p:nvPicPr>
          <p:cNvPr id="4" name="Рисунок 3">
            <a:extLst>
              <a:ext uri="{FF2B5EF4-FFF2-40B4-BE49-F238E27FC236}">
                <a16:creationId xmlns:a16="http://schemas.microsoft.com/office/drawing/2014/main" id="{FDF32500-0827-4423-A3B8-9538CB7A7CD1}"/>
              </a:ext>
            </a:extLst>
          </p:cNvPr>
          <p:cNvPicPr>
            <a:picLocks noChangeAspect="1"/>
          </p:cNvPicPr>
          <p:nvPr userDrawn="1"/>
        </p:nvPicPr>
        <p:blipFill>
          <a:blip r:embed="rId4"/>
          <a:stretch>
            <a:fillRect/>
          </a:stretch>
        </p:blipFill>
        <p:spPr>
          <a:xfrm>
            <a:off x="1278526" y="2042584"/>
            <a:ext cx="4710383" cy="1440000"/>
          </a:xfrm>
          <a:prstGeom prst="rect">
            <a:avLst/>
          </a:prstGeom>
        </p:spPr>
      </p:pic>
      <p:sp>
        <p:nvSpPr>
          <p:cNvPr id="29" name="TextBox 28">
            <a:extLst>
              <a:ext uri="{FF2B5EF4-FFF2-40B4-BE49-F238E27FC236}">
                <a16:creationId xmlns:a16="http://schemas.microsoft.com/office/drawing/2014/main" id="{D5D1BD65-59E0-46AC-BC24-1B28D1FA30E4}"/>
              </a:ext>
            </a:extLst>
          </p:cNvPr>
          <p:cNvSpPr txBox="1"/>
          <p:nvPr userDrawn="1"/>
        </p:nvSpPr>
        <p:spPr>
          <a:xfrm>
            <a:off x="7849902" y="2522519"/>
            <a:ext cx="3048512" cy="480131"/>
          </a:xfrm>
          <a:prstGeom prst="rect">
            <a:avLst/>
          </a:prstGeom>
          <a:noFill/>
          <a:effectLst/>
        </p:spPr>
        <p:txBody>
          <a:bodyPr wrap="square">
            <a:spAutoFit/>
          </a:bodyPr>
          <a:lstStyle/>
          <a:p>
            <a:pPr algn="ctr">
              <a:lnSpc>
                <a:spcPct val="90000"/>
              </a:lnSpc>
            </a:pPr>
            <a:r>
              <a:rPr lang="en-US" sz="2800" dirty="0">
                <a:solidFill>
                  <a:schemeClr val="bg1"/>
                </a:solidFill>
                <a:latin typeface="Arial" panose="020B0604020202020204" pitchFamily="34" charset="0"/>
                <a:ea typeface="Arial" panose="02000000000000000000" pitchFamily="2" charset="0"/>
              </a:rPr>
              <a:t>do.bmstu.ru</a:t>
            </a:r>
            <a:endParaRPr lang="ru-RU" sz="2800" dirty="0">
              <a:solidFill>
                <a:schemeClr val="bg1"/>
              </a:solidFill>
              <a:latin typeface="Arial" panose="020B0604020202020204" pitchFamily="34" charset="0"/>
              <a:ea typeface="Arial" panose="02000000000000000000" pitchFamily="2" charset="0"/>
            </a:endParaRPr>
          </a:p>
        </p:txBody>
      </p:sp>
      <p:sp>
        <p:nvSpPr>
          <p:cNvPr id="32" name="Прямоугольник 58">
            <a:extLst>
              <a:ext uri="{FF2B5EF4-FFF2-40B4-BE49-F238E27FC236}">
                <a16:creationId xmlns:a16="http://schemas.microsoft.com/office/drawing/2014/main" id="{046CF162-1BBC-4CF7-9474-D6A32C635F92}"/>
              </a:ext>
            </a:extLst>
          </p:cNvPr>
          <p:cNvSpPr/>
          <p:nvPr userDrawn="1"/>
        </p:nvSpPr>
        <p:spPr>
          <a:xfrm flipH="1">
            <a:off x="10711835" y="2096584"/>
            <a:ext cx="130790" cy="1332000"/>
          </a:xfrm>
          <a:custGeom>
            <a:avLst/>
            <a:gdLst>
              <a:gd name="connsiteX0" fmla="*/ 0 w 424732"/>
              <a:gd name="connsiteY0" fmla="*/ 0 h 424732"/>
              <a:gd name="connsiteX1" fmla="*/ 424732 w 424732"/>
              <a:gd name="connsiteY1" fmla="*/ 0 h 424732"/>
              <a:gd name="connsiteX2" fmla="*/ 424732 w 424732"/>
              <a:gd name="connsiteY2" fmla="*/ 424732 h 424732"/>
              <a:gd name="connsiteX3" fmla="*/ 0 w 424732"/>
              <a:gd name="connsiteY3" fmla="*/ 424732 h 424732"/>
              <a:gd name="connsiteX4" fmla="*/ 0 w 424732"/>
              <a:gd name="connsiteY4" fmla="*/ 0 h 424732"/>
              <a:gd name="connsiteX0" fmla="*/ 0 w 425450"/>
              <a:gd name="connsiteY0" fmla="*/ 0 h 424732"/>
              <a:gd name="connsiteX1" fmla="*/ 424732 w 425450"/>
              <a:gd name="connsiteY1" fmla="*/ 0 h 424732"/>
              <a:gd name="connsiteX2" fmla="*/ 425450 w 425450"/>
              <a:gd name="connsiteY2" fmla="*/ 238890 h 424732"/>
              <a:gd name="connsiteX3" fmla="*/ 424732 w 425450"/>
              <a:gd name="connsiteY3" fmla="*/ 424732 h 424732"/>
              <a:gd name="connsiteX4" fmla="*/ 0 w 425450"/>
              <a:gd name="connsiteY4" fmla="*/ 424732 h 424732"/>
              <a:gd name="connsiteX5" fmla="*/ 0 w 425450"/>
              <a:gd name="connsiteY5" fmla="*/ 0 h 424732"/>
              <a:gd name="connsiteX0" fmla="*/ 425450 w 516890"/>
              <a:gd name="connsiteY0" fmla="*/ 238890 h 424732"/>
              <a:gd name="connsiteX1" fmla="*/ 424732 w 516890"/>
              <a:gd name="connsiteY1" fmla="*/ 424732 h 424732"/>
              <a:gd name="connsiteX2" fmla="*/ 0 w 516890"/>
              <a:gd name="connsiteY2" fmla="*/ 424732 h 424732"/>
              <a:gd name="connsiteX3" fmla="*/ 0 w 516890"/>
              <a:gd name="connsiteY3" fmla="*/ 0 h 424732"/>
              <a:gd name="connsiteX4" fmla="*/ 424732 w 516890"/>
              <a:gd name="connsiteY4" fmla="*/ 0 h 424732"/>
              <a:gd name="connsiteX5" fmla="*/ 516890 w 516890"/>
              <a:gd name="connsiteY5" fmla="*/ 330330 h 424732"/>
              <a:gd name="connsiteX0" fmla="*/ 424732 w 516890"/>
              <a:gd name="connsiteY0" fmla="*/ 424732 h 424732"/>
              <a:gd name="connsiteX1" fmla="*/ 0 w 516890"/>
              <a:gd name="connsiteY1" fmla="*/ 424732 h 424732"/>
              <a:gd name="connsiteX2" fmla="*/ 0 w 516890"/>
              <a:gd name="connsiteY2" fmla="*/ 0 h 424732"/>
              <a:gd name="connsiteX3" fmla="*/ 424732 w 516890"/>
              <a:gd name="connsiteY3" fmla="*/ 0 h 424732"/>
              <a:gd name="connsiteX4" fmla="*/ 516890 w 516890"/>
              <a:gd name="connsiteY4" fmla="*/ 330330 h 424732"/>
              <a:gd name="connsiteX0" fmla="*/ 424732 w 424732"/>
              <a:gd name="connsiteY0" fmla="*/ 424732 h 424732"/>
              <a:gd name="connsiteX1" fmla="*/ 0 w 424732"/>
              <a:gd name="connsiteY1" fmla="*/ 424732 h 424732"/>
              <a:gd name="connsiteX2" fmla="*/ 0 w 424732"/>
              <a:gd name="connsiteY2" fmla="*/ 0 h 424732"/>
              <a:gd name="connsiteX3" fmla="*/ 424732 w 424732"/>
              <a:gd name="connsiteY3" fmla="*/ 0 h 424732"/>
            </a:gdLst>
            <a:ahLst/>
            <a:cxnLst>
              <a:cxn ang="0">
                <a:pos x="connsiteX0" y="connsiteY0"/>
              </a:cxn>
              <a:cxn ang="0">
                <a:pos x="connsiteX1" y="connsiteY1"/>
              </a:cxn>
              <a:cxn ang="0">
                <a:pos x="connsiteX2" y="connsiteY2"/>
              </a:cxn>
              <a:cxn ang="0">
                <a:pos x="connsiteX3" y="connsiteY3"/>
              </a:cxn>
            </a:cxnLst>
            <a:rect l="l" t="t" r="r" b="b"/>
            <a:pathLst>
              <a:path w="424732" h="424732">
                <a:moveTo>
                  <a:pt x="424732" y="424732"/>
                </a:moveTo>
                <a:lnTo>
                  <a:pt x="0" y="424732"/>
                </a:lnTo>
                <a:lnTo>
                  <a:pt x="0" y="0"/>
                </a:lnTo>
                <a:lnTo>
                  <a:pt x="424732" y="0"/>
                </a:lnTo>
              </a:path>
            </a:pathLst>
          </a:custGeom>
          <a:ln w="2857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
        <p:cNvGrpSpPr/>
        <p:nvPr/>
      </p:nvGrpSpPr>
      <p:grpSpPr>
        <a:xfrm>
          <a:off x="0" y="0"/>
          <a:ext cx="0" cy="0"/>
          <a:chOff x="0" y="0"/>
          <a:chExt cx="0" cy="0"/>
        </a:xfrm>
      </p:grpSpPr>
      <p:pic>
        <p:nvPicPr>
          <p:cNvPr id="3" name="Рисунок 2">
            <a:extLst>
              <a:ext uri="{FF2B5EF4-FFF2-40B4-BE49-F238E27FC236}">
                <a16:creationId xmlns:a16="http://schemas.microsoft.com/office/drawing/2014/main" id="{9E8EEF78-8EFF-47ED-8447-A3A1F67B89B9}"/>
              </a:ext>
            </a:extLst>
          </p:cNvPr>
          <p:cNvPicPr>
            <a:picLocks noChangeAspect="1"/>
          </p:cNvPicPr>
          <p:nvPr userDrawn="1"/>
        </p:nvPicPr>
        <p:blipFill>
          <a:blip r:embed="rId11"/>
          <a:stretch>
            <a:fillRect/>
          </a:stretch>
        </p:blipFill>
        <p:spPr>
          <a:xfrm>
            <a:off x="420566" y="446017"/>
            <a:ext cx="2361600" cy="722882"/>
          </a:xfrm>
          <a:prstGeom prst="rect">
            <a:avLst/>
          </a:prstGeom>
        </p:spPr>
      </p:pic>
      <p:sp>
        <p:nvSpPr>
          <p:cNvPr id="7" name="Google Shape;7;p4"/>
          <p:cNvSpPr txBox="1">
            <a:spLocks noGrp="1"/>
          </p:cNvSpPr>
          <p:nvPr>
            <p:ph type="body" idx="1"/>
          </p:nvPr>
        </p:nvSpPr>
        <p:spPr>
          <a:xfrm>
            <a:off x="420566" y="1301777"/>
            <a:ext cx="11350868" cy="4924709"/>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90000"/>
              </a:lnSpc>
              <a:spcBef>
                <a:spcPts val="750"/>
              </a:spcBef>
              <a:spcAft>
                <a:spcPts val="0"/>
              </a:spcAft>
              <a:buClr>
                <a:schemeClr val="accent1"/>
              </a:buClr>
              <a:buSzPts val="2400"/>
              <a:buFont typeface="Arial"/>
              <a:buChar char="▪"/>
              <a:defRPr sz="2400" b="0" i="0" u="none" strike="noStrike" cap="none">
                <a:solidFill>
                  <a:srgbClr val="262626"/>
                </a:solidFill>
                <a:latin typeface="Arial"/>
                <a:ea typeface="Arial"/>
                <a:cs typeface="Arial"/>
                <a:sym typeface="Arial"/>
              </a:defRPr>
            </a:lvl1pPr>
            <a:lvl2pPr marL="914400" marR="0" lvl="1" indent="-355600" algn="l" rtl="0">
              <a:lnSpc>
                <a:spcPct val="90000"/>
              </a:lnSpc>
              <a:spcBef>
                <a:spcPts val="375"/>
              </a:spcBef>
              <a:spcAft>
                <a:spcPts val="0"/>
              </a:spcAft>
              <a:buClr>
                <a:schemeClr val="accent1"/>
              </a:buClr>
              <a:buSzPts val="2000"/>
              <a:buFont typeface="Arial"/>
              <a:buChar char="▪"/>
              <a:defRPr sz="2000" b="0" i="0" u="none" strike="noStrike" cap="none">
                <a:solidFill>
                  <a:srgbClr val="262626"/>
                </a:solidFill>
                <a:latin typeface="Arial"/>
                <a:ea typeface="Arial"/>
                <a:cs typeface="Arial"/>
                <a:sym typeface="Arial"/>
              </a:defRPr>
            </a:lvl2pPr>
            <a:lvl3pPr marL="1371600" marR="0" lvl="2" indent="-330200" algn="l" rtl="0">
              <a:lnSpc>
                <a:spcPct val="90000"/>
              </a:lnSpc>
              <a:spcBef>
                <a:spcPts val="375"/>
              </a:spcBef>
              <a:spcAft>
                <a:spcPts val="0"/>
              </a:spcAft>
              <a:buClr>
                <a:schemeClr val="accent1"/>
              </a:buClr>
              <a:buSzPts val="1600"/>
              <a:buFont typeface="Arial"/>
              <a:buChar char="▪"/>
              <a:defRPr sz="1600" b="0" i="0" u="none" strike="noStrike" cap="none">
                <a:solidFill>
                  <a:srgbClr val="262626"/>
                </a:solidFill>
                <a:latin typeface="Arial"/>
                <a:ea typeface="Arial"/>
                <a:cs typeface="Arial"/>
                <a:sym typeface="Arial"/>
              </a:defRPr>
            </a:lvl3pPr>
            <a:lvl4pPr marL="1828800" marR="0" lvl="3" indent="-317500" algn="l" rtl="0">
              <a:lnSpc>
                <a:spcPct val="90000"/>
              </a:lnSpc>
              <a:spcBef>
                <a:spcPts val="375"/>
              </a:spcBef>
              <a:spcAft>
                <a:spcPts val="0"/>
              </a:spcAft>
              <a:buClr>
                <a:schemeClr val="accent1"/>
              </a:buClr>
              <a:buSzPts val="1400"/>
              <a:buFont typeface="Arial"/>
              <a:buChar char="▪"/>
              <a:defRPr sz="1400" b="0" i="0" u="none" strike="noStrike" cap="none">
                <a:solidFill>
                  <a:srgbClr val="262626"/>
                </a:solidFill>
                <a:latin typeface="Arial"/>
                <a:ea typeface="Arial"/>
                <a:cs typeface="Arial"/>
                <a:sym typeface="Arial"/>
              </a:defRPr>
            </a:lvl4pPr>
            <a:lvl5pPr marL="2286000" marR="0" lvl="4" indent="-317500" algn="l" rtl="0">
              <a:lnSpc>
                <a:spcPct val="90000"/>
              </a:lnSpc>
              <a:spcBef>
                <a:spcPts val="375"/>
              </a:spcBef>
              <a:spcAft>
                <a:spcPts val="0"/>
              </a:spcAft>
              <a:buClr>
                <a:schemeClr val="accent1"/>
              </a:buClr>
              <a:buSzPts val="1400"/>
              <a:buFont typeface="Arial"/>
              <a:buChar char="▪"/>
              <a:defRPr sz="1400" b="0" i="0" u="none" strike="noStrike" cap="none">
                <a:solidFill>
                  <a:srgbClr val="262626"/>
                </a:solidFill>
                <a:latin typeface="Arial"/>
                <a:ea typeface="Arial"/>
                <a:cs typeface="Arial"/>
                <a:sym typeface="Arial"/>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9pPr>
          </a:lstStyle>
          <a:p>
            <a:r>
              <a:rPr lang="ru-RU" dirty="0"/>
              <a:t>Текст слайда</a:t>
            </a:r>
            <a:endParaRPr lang="en-US" sz="2300" dirty="0">
              <a:latin typeface="Arial" panose="02000000000000000000" pitchFamily="2" charset="0"/>
              <a:cs typeface="Arial" panose="02000000000000000000" pitchFamily="2" charset="0"/>
            </a:endParaRPr>
          </a:p>
          <a:p>
            <a:endParaRPr dirty="0"/>
          </a:p>
        </p:txBody>
      </p:sp>
      <p:sp>
        <p:nvSpPr>
          <p:cNvPr id="8" name="Google Shape;8;p4"/>
          <p:cNvSpPr txBox="1">
            <a:spLocks noGrp="1"/>
          </p:cNvSpPr>
          <p:nvPr>
            <p:ph type="sldNum" idx="12"/>
          </p:nvPr>
        </p:nvSpPr>
        <p:spPr>
          <a:xfrm>
            <a:off x="668287" y="6360806"/>
            <a:ext cx="838198" cy="365125"/>
          </a:xfrm>
          <a:prstGeom prst="rect">
            <a:avLst/>
          </a:prstGeom>
          <a:noFill/>
          <a:ln>
            <a:noFill/>
          </a:ln>
        </p:spPr>
        <p:txBody>
          <a:bodyPr spcFirstLastPara="1" wrap="square" lIns="91425" tIns="45700" rIns="91425" bIns="45700" anchor="ctr" anchorCtr="0">
            <a:noAutofit/>
          </a:bodyPr>
          <a:lstStyle>
            <a:lvl1pPr marL="0" marR="0" lvl="0" indent="0" algn="l" rtl="0">
              <a:spcBef>
                <a:spcPts val="0"/>
              </a:spcBef>
              <a:buNone/>
              <a:defRPr sz="2400" b="0" i="0" u="none" strike="noStrike" cap="none">
                <a:solidFill>
                  <a:srgbClr val="898989"/>
                </a:solidFill>
                <a:latin typeface="Arial" panose="020B0604020202020204" pitchFamily="34" charset="0"/>
                <a:ea typeface="Arial"/>
                <a:cs typeface="Arial"/>
                <a:sym typeface="Arial"/>
              </a:defRPr>
            </a:lvl1pPr>
            <a:lvl2pPr marL="0" marR="0" lvl="1" indent="0" algn="l" rtl="0">
              <a:spcBef>
                <a:spcPts val="0"/>
              </a:spcBef>
              <a:buNone/>
              <a:defRPr sz="2400" b="0" i="0" u="none" strike="noStrike" cap="none">
                <a:solidFill>
                  <a:srgbClr val="898989"/>
                </a:solidFill>
                <a:latin typeface="Arial"/>
                <a:ea typeface="Arial"/>
                <a:cs typeface="Arial"/>
                <a:sym typeface="Arial"/>
              </a:defRPr>
            </a:lvl2pPr>
            <a:lvl3pPr marL="0" marR="0" lvl="2" indent="0" algn="l" rtl="0">
              <a:spcBef>
                <a:spcPts val="0"/>
              </a:spcBef>
              <a:buNone/>
              <a:defRPr sz="2400" b="0" i="0" u="none" strike="noStrike" cap="none">
                <a:solidFill>
                  <a:srgbClr val="898989"/>
                </a:solidFill>
                <a:latin typeface="Arial"/>
                <a:ea typeface="Arial"/>
                <a:cs typeface="Arial"/>
                <a:sym typeface="Arial"/>
              </a:defRPr>
            </a:lvl3pPr>
            <a:lvl4pPr marL="0" marR="0" lvl="3" indent="0" algn="l" rtl="0">
              <a:spcBef>
                <a:spcPts val="0"/>
              </a:spcBef>
              <a:buNone/>
              <a:defRPr sz="2400" b="0" i="0" u="none" strike="noStrike" cap="none">
                <a:solidFill>
                  <a:srgbClr val="898989"/>
                </a:solidFill>
                <a:latin typeface="Arial"/>
                <a:ea typeface="Arial"/>
                <a:cs typeface="Arial"/>
                <a:sym typeface="Arial"/>
              </a:defRPr>
            </a:lvl4pPr>
            <a:lvl5pPr marL="0" marR="0" lvl="4" indent="0" algn="l" rtl="0">
              <a:spcBef>
                <a:spcPts val="0"/>
              </a:spcBef>
              <a:buNone/>
              <a:defRPr sz="2400" b="0" i="0" u="none" strike="noStrike" cap="none">
                <a:solidFill>
                  <a:srgbClr val="898989"/>
                </a:solidFill>
                <a:latin typeface="Arial"/>
                <a:ea typeface="Arial"/>
                <a:cs typeface="Arial"/>
                <a:sym typeface="Arial"/>
              </a:defRPr>
            </a:lvl5pPr>
            <a:lvl6pPr marL="0" marR="0" lvl="5" indent="0" algn="l" rtl="0">
              <a:spcBef>
                <a:spcPts val="0"/>
              </a:spcBef>
              <a:buNone/>
              <a:defRPr sz="2400" b="0" i="0" u="none" strike="noStrike" cap="none">
                <a:solidFill>
                  <a:srgbClr val="898989"/>
                </a:solidFill>
                <a:latin typeface="Arial"/>
                <a:ea typeface="Arial"/>
                <a:cs typeface="Arial"/>
                <a:sym typeface="Arial"/>
              </a:defRPr>
            </a:lvl6pPr>
            <a:lvl7pPr marL="0" marR="0" lvl="6" indent="0" algn="l" rtl="0">
              <a:spcBef>
                <a:spcPts val="0"/>
              </a:spcBef>
              <a:buNone/>
              <a:defRPr sz="2400" b="0" i="0" u="none" strike="noStrike" cap="none">
                <a:solidFill>
                  <a:srgbClr val="898989"/>
                </a:solidFill>
                <a:latin typeface="Arial"/>
                <a:ea typeface="Arial"/>
                <a:cs typeface="Arial"/>
                <a:sym typeface="Arial"/>
              </a:defRPr>
            </a:lvl7pPr>
            <a:lvl8pPr marL="0" marR="0" lvl="7" indent="0" algn="l" rtl="0">
              <a:spcBef>
                <a:spcPts val="0"/>
              </a:spcBef>
              <a:buNone/>
              <a:defRPr sz="2400" b="0" i="0" u="none" strike="noStrike" cap="none">
                <a:solidFill>
                  <a:srgbClr val="898989"/>
                </a:solidFill>
                <a:latin typeface="Arial"/>
                <a:ea typeface="Arial"/>
                <a:cs typeface="Arial"/>
                <a:sym typeface="Arial"/>
              </a:defRPr>
            </a:lvl8pPr>
            <a:lvl9pPr marL="0" marR="0" lvl="8" indent="0" algn="l" rtl="0">
              <a:spcBef>
                <a:spcPts val="0"/>
              </a:spcBef>
              <a:buNone/>
              <a:defRPr sz="2400" b="0" i="0" u="none" strike="noStrike" cap="none">
                <a:solidFill>
                  <a:srgbClr val="898989"/>
                </a:solidFill>
                <a:latin typeface="Arial"/>
                <a:ea typeface="Arial"/>
                <a:cs typeface="Arial"/>
                <a:sym typeface="Arial"/>
              </a:defRPr>
            </a:lvl9pPr>
          </a:lstStyle>
          <a:p>
            <a:fld id="{00000000-1234-1234-1234-123412341234}" type="slidenum">
              <a:rPr lang="ru-RU" smtClean="0"/>
              <a:pPr/>
              <a:t>‹#›</a:t>
            </a:fld>
            <a:endParaRPr lang="ru-RU" dirty="0"/>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 id="2147483657" r:id="rId3"/>
    <p:sldLayoutId id="2147483658" r:id="rId4"/>
    <p:sldLayoutId id="2147483659" r:id="rId5"/>
    <p:sldLayoutId id="2147483661" r:id="rId6"/>
    <p:sldLayoutId id="2147483660" r:id="rId7"/>
    <p:sldLayoutId id="2147483662" r:id="rId8"/>
    <p:sldLayoutId id="2147483651" r:id="rId9"/>
  </p:sldLayoutIdLst>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76200" marR="0" lvl="0" indent="0" algn="l" rtl="0">
        <a:lnSpc>
          <a:spcPct val="100000"/>
        </a:lnSpc>
        <a:spcBef>
          <a:spcPts val="0"/>
        </a:spcBef>
        <a:spcAft>
          <a:spcPts val="0"/>
        </a:spcAft>
        <a:buClr>
          <a:srgbClr val="000000"/>
        </a:buClr>
        <a:buFont typeface="Arial"/>
        <a:buNone/>
        <a:defRPr sz="2300" b="0" i="0" u="none" strike="noStrike" cap="none" baseline="0">
          <a:solidFill>
            <a:srgbClr val="000000"/>
          </a:solidFill>
          <a:latin typeface="Arial" panose="020B0604020202020204" pitchFamily="34" charset="0"/>
          <a:ea typeface="Arial" panose="02000000000000000000" pitchFamily="2" charset="0"/>
          <a:cs typeface="Arial" panose="02000000000000000000" pitchFamily="2"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marL="0" indent="0" algn="l">
              <a:lnSpc>
                <a:spcPct val="100000"/>
              </a:lnSpc>
              <a:buNone/>
            </a:pPr>
            <a:r>
              <a:rPr sz="4000" b="0" i="0" dirty="0" err="1">
                <a:solidFill>
                  <a:srgbClr val="FFFFFF"/>
                </a:solidFill>
                <a:cs typeface="Arial"/>
              </a:rPr>
              <a:t>Прогнозирование</a:t>
            </a:r>
            <a:r>
              <a:rPr sz="4000" b="0" i="0" dirty="0">
                <a:solidFill>
                  <a:srgbClr val="FFFFFF"/>
                </a:solidFill>
                <a:cs typeface="Arial"/>
              </a:rPr>
              <a:t> </a:t>
            </a:r>
            <a:r>
              <a:rPr sz="4000" b="0" i="0" dirty="0" err="1">
                <a:solidFill>
                  <a:srgbClr val="FFFFFF"/>
                </a:solidFill>
                <a:cs typeface="Arial"/>
              </a:rPr>
              <a:t>конечных</a:t>
            </a:r>
            <a:r>
              <a:rPr sz="4000" b="0" i="0" dirty="0">
                <a:solidFill>
                  <a:srgbClr val="FFFFFF"/>
                </a:solidFill>
                <a:cs typeface="Arial"/>
              </a:rPr>
              <a:t> </a:t>
            </a:r>
            <a:r>
              <a:rPr sz="4000" b="0" i="0" dirty="0" err="1">
                <a:solidFill>
                  <a:srgbClr val="FFFFFF"/>
                </a:solidFill>
                <a:cs typeface="Arial"/>
              </a:rPr>
              <a:t>свойств</a:t>
            </a:r>
            <a:r>
              <a:rPr sz="4000" b="0" i="0" dirty="0">
                <a:solidFill>
                  <a:srgbClr val="FFFFFF"/>
                </a:solidFill>
                <a:cs typeface="Arial"/>
              </a:rPr>
              <a:t> </a:t>
            </a:r>
            <a:r>
              <a:rPr sz="4000" b="0" i="0" dirty="0" err="1">
                <a:solidFill>
                  <a:srgbClr val="FFFFFF"/>
                </a:solidFill>
                <a:cs typeface="Arial"/>
              </a:rPr>
              <a:t>новых</a:t>
            </a:r>
            <a:r>
              <a:rPr sz="4000" b="0" i="0" dirty="0">
                <a:solidFill>
                  <a:srgbClr val="FFFFFF"/>
                </a:solidFill>
                <a:cs typeface="Arial"/>
              </a:rPr>
              <a:t> </a:t>
            </a:r>
            <a:r>
              <a:rPr sz="4000" b="0" i="0" dirty="0" err="1">
                <a:solidFill>
                  <a:srgbClr val="FFFFFF"/>
                </a:solidFill>
                <a:cs typeface="Arial"/>
              </a:rPr>
              <a:t>материалов</a:t>
            </a:r>
            <a:r>
              <a:rPr sz="4000" b="0" i="0" dirty="0">
                <a:solidFill>
                  <a:srgbClr val="FFFFFF"/>
                </a:solidFill>
                <a:cs typeface="Arial"/>
              </a:rPr>
              <a:t> (</a:t>
            </a:r>
            <a:r>
              <a:rPr sz="4000" b="0" i="0" dirty="0" err="1">
                <a:solidFill>
                  <a:srgbClr val="FFFFFF"/>
                </a:solidFill>
                <a:cs typeface="Arial"/>
              </a:rPr>
              <a:t>композиционных</a:t>
            </a:r>
            <a:r>
              <a:rPr sz="4000" b="0" i="0" dirty="0">
                <a:solidFill>
                  <a:srgbClr val="FFFFFF"/>
                </a:solidFill>
                <a:cs typeface="Arial"/>
              </a:rPr>
              <a:t> </a:t>
            </a:r>
            <a:r>
              <a:rPr sz="4000" b="0" i="0" dirty="0" err="1">
                <a:solidFill>
                  <a:srgbClr val="FFFFFF"/>
                </a:solidFill>
                <a:cs typeface="Arial"/>
              </a:rPr>
              <a:t>материалов</a:t>
            </a:r>
            <a:r>
              <a:rPr sz="4000" b="0" i="0" dirty="0">
                <a:solidFill>
                  <a:srgbClr val="FFFFFF"/>
                </a:solidFill>
                <a:cs typeface="Arial"/>
              </a:rPr>
              <a:t>)</a:t>
            </a:r>
          </a:p>
        </p:txBody>
      </p:sp>
      <p:sp>
        <p:nvSpPr>
          <p:cNvPr id="3" name="Subtitle 2"/>
          <p:cNvSpPr>
            <a:spLocks noGrp="1"/>
          </p:cNvSpPr>
          <p:nvPr>
            <p:ph type="subTitle" idx="1"/>
          </p:nvPr>
        </p:nvSpPr>
        <p:spPr/>
        <p:txBody>
          <a:bodyPr wrap="square"/>
          <a:lstStyle/>
          <a:p>
            <a:pPr marL="0" indent="0" algn="l">
              <a:buNone/>
            </a:pPr>
            <a:r>
              <a:rPr lang="ru-RU" sz="2400" i="0">
                <a:solidFill>
                  <a:srgbClr val="FFFFFF"/>
                </a:solidFill>
                <a:cs typeface="Arial"/>
              </a:rPr>
              <a:t>Фролов П.В.</a:t>
            </a:r>
            <a:endParaRPr sz="2400" i="0" dirty="0">
              <a:solidFill>
                <a:srgbClr val="FFFFFF"/>
              </a:solidFil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2"/>
          </p:nvPr>
        </p:nvSpPr>
        <p:spPr>
          <a:xfrm>
            <a:off x="557784" y="1325880"/>
            <a:ext cx="7315200" cy="822960"/>
          </a:xfrm>
        </p:spPr>
        <p:txBody>
          <a:bodyPr wrap="square">
            <a:normAutofit/>
          </a:bodyPr>
          <a:lstStyle/>
          <a:p>
            <a:pPr marL="0" indent="0" algn="l">
              <a:buNone/>
            </a:pPr>
            <a:r>
              <a:rPr lang="ru-RU" sz="2100" b="1" i="0">
                <a:solidFill>
                  <a:srgbClr val="F1BE29"/>
                </a:solidFill>
                <a:cs typeface="Arial"/>
              </a:rPr>
              <a:t>Прогноз даёт предварительную оценку до физического испытания</a:t>
            </a:r>
            <a:endParaRPr sz="2100" b="1" i="0">
              <a:solidFill>
                <a:srgbClr val="F1BE29"/>
              </a:solidFill>
              <a:cs typeface="Arial"/>
            </a:endParaRPr>
          </a:p>
        </p:txBody>
      </p:sp>
      <p:grpSp>
        <p:nvGrpSpPr>
          <p:cNvPr id="65" name="Заголовок слайда">
            <a:extLst>
              <a:ext uri="{FF2B5EF4-FFF2-40B4-BE49-F238E27FC236}">
                <a16:creationId xmlns:a16="http://schemas.microsoft.com/office/drawing/2014/main" id="{9280711C-2262-4089-92EE-9BEACCC60C4C}"/>
              </a:ext>
            </a:extLst>
          </p:cNvPr>
          <p:cNvGrpSpPr/>
          <p:nvPr/>
        </p:nvGrpSpPr>
        <p:grpSpPr>
          <a:xfrm>
            <a:off x="3167880" y="469293"/>
            <a:ext cx="5420963" cy="666000"/>
            <a:chOff x="0" y="0"/>
            <a:chExt cx="5420963" cy="666000"/>
          </a:xfrm>
        </p:grpSpPr>
        <p:sp>
          <p:nvSpPr>
            <p:cNvPr id="68" name="Прямоугольник 67">
              <a:extLst>
                <a:ext uri="{FF2B5EF4-FFF2-40B4-BE49-F238E27FC236}">
                  <a16:creationId xmlns:a16="http://schemas.microsoft.com/office/drawing/2014/main" id="{E2535886-3476-4B40-9706-6797B77905C0}"/>
                </a:ext>
              </a:extLst>
            </p:cNvPr>
            <p:cNvSpPr/>
            <p:nvPr/>
          </p:nvSpPr>
          <p:spPr>
            <a:xfrm>
              <a:off x="0" y="0"/>
              <a:ext cx="5420963" cy="666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201168" tIns="0" rIns="201168" bIns="0" rtlCol="0" anchor="ctr"/>
            <a:lstStyle/>
            <a:p>
              <a:pPr algn="l"/>
              <a:r>
                <a:rPr lang="ru-RU" sz="2600" b="1" spc="0">
                  <a:solidFill>
                    <a:srgbClr val="065CAB"/>
                  </a:solidFill>
                  <a:latin typeface="Arial" panose="020B0604020202020204" pitchFamily="34" charset="0"/>
                  <a:cs typeface="Arial" pitchFamily="2" charset="0"/>
                </a:rPr>
                <a:t>Материал и два прогнозируемых свойства</a:t>
              </a:r>
              <a:endParaRPr lang="ru-RU" sz="2600" b="1" spc="0" dirty="0">
                <a:solidFill>
                  <a:srgbClr val="065CAB"/>
                </a:solidFill>
                <a:latin typeface="Arial" panose="020B0604020202020204" pitchFamily="34" charset="0"/>
                <a:cs typeface="Arial" pitchFamily="2" charset="0"/>
              </a:endParaRPr>
            </a:p>
          </p:txBody>
        </p:sp>
        <p:sp>
          <p:nvSpPr>
            <p:cNvPr id="69" name="Прямоугольник 58">
              <a:extLst>
                <a:ext uri="{FF2B5EF4-FFF2-40B4-BE49-F238E27FC236}">
                  <a16:creationId xmlns:a16="http://schemas.microsoft.com/office/drawing/2014/main" id="{96789138-2397-49AA-BF3A-A6B5B90E8840}"/>
                </a:ext>
              </a:extLst>
            </p:cNvPr>
            <p:cNvSpPr/>
            <p:nvPr/>
          </p:nvSpPr>
          <p:spPr>
            <a:xfrm rot="10800000" flipH="1">
              <a:off x="0" y="0"/>
              <a:ext cx="76579" cy="666000"/>
            </a:xfrm>
            <a:custGeom>
              <a:avLst/>
              <a:gdLst>
                <a:gd name="connsiteX0" fmla="*/ 0 w 424732"/>
                <a:gd name="connsiteY0" fmla="*/ 0 h 424732"/>
                <a:gd name="connsiteX1" fmla="*/ 424732 w 424732"/>
                <a:gd name="connsiteY1" fmla="*/ 0 h 424732"/>
                <a:gd name="connsiteX2" fmla="*/ 424732 w 424732"/>
                <a:gd name="connsiteY2" fmla="*/ 424732 h 424732"/>
                <a:gd name="connsiteX3" fmla="*/ 0 w 424732"/>
                <a:gd name="connsiteY3" fmla="*/ 424732 h 424732"/>
                <a:gd name="connsiteX4" fmla="*/ 0 w 424732"/>
                <a:gd name="connsiteY4" fmla="*/ 0 h 424732"/>
                <a:gd name="connsiteX0" fmla="*/ 0 w 425450"/>
                <a:gd name="connsiteY0" fmla="*/ 0 h 424732"/>
                <a:gd name="connsiteX1" fmla="*/ 424732 w 425450"/>
                <a:gd name="connsiteY1" fmla="*/ 0 h 424732"/>
                <a:gd name="connsiteX2" fmla="*/ 425450 w 425450"/>
                <a:gd name="connsiteY2" fmla="*/ 238890 h 424732"/>
                <a:gd name="connsiteX3" fmla="*/ 424732 w 425450"/>
                <a:gd name="connsiteY3" fmla="*/ 424732 h 424732"/>
                <a:gd name="connsiteX4" fmla="*/ 0 w 425450"/>
                <a:gd name="connsiteY4" fmla="*/ 424732 h 424732"/>
                <a:gd name="connsiteX5" fmla="*/ 0 w 425450"/>
                <a:gd name="connsiteY5" fmla="*/ 0 h 424732"/>
                <a:gd name="connsiteX0" fmla="*/ 425450 w 516890"/>
                <a:gd name="connsiteY0" fmla="*/ 238890 h 424732"/>
                <a:gd name="connsiteX1" fmla="*/ 424732 w 516890"/>
                <a:gd name="connsiteY1" fmla="*/ 424732 h 424732"/>
                <a:gd name="connsiteX2" fmla="*/ 0 w 516890"/>
                <a:gd name="connsiteY2" fmla="*/ 424732 h 424732"/>
                <a:gd name="connsiteX3" fmla="*/ 0 w 516890"/>
                <a:gd name="connsiteY3" fmla="*/ 0 h 424732"/>
                <a:gd name="connsiteX4" fmla="*/ 424732 w 516890"/>
                <a:gd name="connsiteY4" fmla="*/ 0 h 424732"/>
                <a:gd name="connsiteX5" fmla="*/ 516890 w 516890"/>
                <a:gd name="connsiteY5" fmla="*/ 330330 h 424732"/>
                <a:gd name="connsiteX0" fmla="*/ 424732 w 516890"/>
                <a:gd name="connsiteY0" fmla="*/ 424732 h 424732"/>
                <a:gd name="connsiteX1" fmla="*/ 0 w 516890"/>
                <a:gd name="connsiteY1" fmla="*/ 424732 h 424732"/>
                <a:gd name="connsiteX2" fmla="*/ 0 w 516890"/>
                <a:gd name="connsiteY2" fmla="*/ 0 h 424732"/>
                <a:gd name="connsiteX3" fmla="*/ 424732 w 516890"/>
                <a:gd name="connsiteY3" fmla="*/ 0 h 424732"/>
                <a:gd name="connsiteX4" fmla="*/ 516890 w 516890"/>
                <a:gd name="connsiteY4" fmla="*/ 330330 h 424732"/>
                <a:gd name="connsiteX0" fmla="*/ 424732 w 424732"/>
                <a:gd name="connsiteY0" fmla="*/ 424732 h 424732"/>
                <a:gd name="connsiteX1" fmla="*/ 0 w 424732"/>
                <a:gd name="connsiteY1" fmla="*/ 424732 h 424732"/>
                <a:gd name="connsiteX2" fmla="*/ 0 w 424732"/>
                <a:gd name="connsiteY2" fmla="*/ 0 h 424732"/>
                <a:gd name="connsiteX3" fmla="*/ 424732 w 424732"/>
                <a:gd name="connsiteY3" fmla="*/ 0 h 424732"/>
              </a:gdLst>
              <a:ahLst/>
              <a:cxnLst>
                <a:cxn ang="0">
                  <a:pos x="connsiteX0" y="connsiteY0"/>
                </a:cxn>
                <a:cxn ang="0">
                  <a:pos x="connsiteX1" y="connsiteY1"/>
                </a:cxn>
                <a:cxn ang="0">
                  <a:pos x="connsiteX2" y="connsiteY2"/>
                </a:cxn>
                <a:cxn ang="0">
                  <a:pos x="connsiteX3" y="connsiteY3"/>
                </a:cxn>
              </a:cxnLst>
              <a:rect l="l" t="t" r="r" b="b"/>
              <a:pathLst>
                <a:path w="424732" h="424732">
                  <a:moveTo>
                    <a:pt x="424732" y="424732"/>
                  </a:moveTo>
                  <a:lnTo>
                    <a:pt x="0" y="424732"/>
                  </a:lnTo>
                  <a:lnTo>
                    <a:pt x="0" y="0"/>
                  </a:lnTo>
                  <a:lnTo>
                    <a:pt x="424732" y="0"/>
                  </a:lnTo>
                </a:path>
              </a:pathLst>
            </a:custGeom>
            <a:ln w="16510">
              <a:solidFill>
                <a:srgbClr val="065CA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latin typeface="Arial" pitchFamily="2" charset="0"/>
              </a:endParaRPr>
            </a:p>
          </p:txBody>
        </p:sp>
        <p:sp>
          <p:nvSpPr>
            <p:cNvPr id="70" name="Прямоугольник 58">
              <a:extLst>
                <a:ext uri="{FF2B5EF4-FFF2-40B4-BE49-F238E27FC236}">
                  <a16:creationId xmlns:a16="http://schemas.microsoft.com/office/drawing/2014/main" id="{DA239952-60E1-45EB-BDF0-422CC4CF7E42}"/>
                </a:ext>
              </a:extLst>
            </p:cNvPr>
            <p:cNvSpPr/>
            <p:nvPr/>
          </p:nvSpPr>
          <p:spPr>
            <a:xfrm flipH="1">
              <a:off x="5330914" y="0"/>
              <a:ext cx="90049" cy="666000"/>
            </a:xfrm>
            <a:custGeom>
              <a:avLst/>
              <a:gdLst>
                <a:gd name="connsiteX0" fmla="*/ 0 w 424732"/>
                <a:gd name="connsiteY0" fmla="*/ 0 h 424732"/>
                <a:gd name="connsiteX1" fmla="*/ 424732 w 424732"/>
                <a:gd name="connsiteY1" fmla="*/ 0 h 424732"/>
                <a:gd name="connsiteX2" fmla="*/ 424732 w 424732"/>
                <a:gd name="connsiteY2" fmla="*/ 424732 h 424732"/>
                <a:gd name="connsiteX3" fmla="*/ 0 w 424732"/>
                <a:gd name="connsiteY3" fmla="*/ 424732 h 424732"/>
                <a:gd name="connsiteX4" fmla="*/ 0 w 424732"/>
                <a:gd name="connsiteY4" fmla="*/ 0 h 424732"/>
                <a:gd name="connsiteX0" fmla="*/ 0 w 425450"/>
                <a:gd name="connsiteY0" fmla="*/ 0 h 424732"/>
                <a:gd name="connsiteX1" fmla="*/ 424732 w 425450"/>
                <a:gd name="connsiteY1" fmla="*/ 0 h 424732"/>
                <a:gd name="connsiteX2" fmla="*/ 425450 w 425450"/>
                <a:gd name="connsiteY2" fmla="*/ 238890 h 424732"/>
                <a:gd name="connsiteX3" fmla="*/ 424732 w 425450"/>
                <a:gd name="connsiteY3" fmla="*/ 424732 h 424732"/>
                <a:gd name="connsiteX4" fmla="*/ 0 w 425450"/>
                <a:gd name="connsiteY4" fmla="*/ 424732 h 424732"/>
                <a:gd name="connsiteX5" fmla="*/ 0 w 425450"/>
                <a:gd name="connsiteY5" fmla="*/ 0 h 424732"/>
                <a:gd name="connsiteX0" fmla="*/ 425450 w 516890"/>
                <a:gd name="connsiteY0" fmla="*/ 238890 h 424732"/>
                <a:gd name="connsiteX1" fmla="*/ 424732 w 516890"/>
                <a:gd name="connsiteY1" fmla="*/ 424732 h 424732"/>
                <a:gd name="connsiteX2" fmla="*/ 0 w 516890"/>
                <a:gd name="connsiteY2" fmla="*/ 424732 h 424732"/>
                <a:gd name="connsiteX3" fmla="*/ 0 w 516890"/>
                <a:gd name="connsiteY3" fmla="*/ 0 h 424732"/>
                <a:gd name="connsiteX4" fmla="*/ 424732 w 516890"/>
                <a:gd name="connsiteY4" fmla="*/ 0 h 424732"/>
                <a:gd name="connsiteX5" fmla="*/ 516890 w 516890"/>
                <a:gd name="connsiteY5" fmla="*/ 330330 h 424732"/>
                <a:gd name="connsiteX0" fmla="*/ 424732 w 516890"/>
                <a:gd name="connsiteY0" fmla="*/ 424732 h 424732"/>
                <a:gd name="connsiteX1" fmla="*/ 0 w 516890"/>
                <a:gd name="connsiteY1" fmla="*/ 424732 h 424732"/>
                <a:gd name="connsiteX2" fmla="*/ 0 w 516890"/>
                <a:gd name="connsiteY2" fmla="*/ 0 h 424732"/>
                <a:gd name="connsiteX3" fmla="*/ 424732 w 516890"/>
                <a:gd name="connsiteY3" fmla="*/ 0 h 424732"/>
                <a:gd name="connsiteX4" fmla="*/ 516890 w 516890"/>
                <a:gd name="connsiteY4" fmla="*/ 330330 h 424732"/>
                <a:gd name="connsiteX0" fmla="*/ 424732 w 424732"/>
                <a:gd name="connsiteY0" fmla="*/ 424732 h 424732"/>
                <a:gd name="connsiteX1" fmla="*/ 0 w 424732"/>
                <a:gd name="connsiteY1" fmla="*/ 424732 h 424732"/>
                <a:gd name="connsiteX2" fmla="*/ 0 w 424732"/>
                <a:gd name="connsiteY2" fmla="*/ 0 h 424732"/>
                <a:gd name="connsiteX3" fmla="*/ 424732 w 424732"/>
                <a:gd name="connsiteY3" fmla="*/ 0 h 424732"/>
              </a:gdLst>
              <a:ahLst/>
              <a:cxnLst>
                <a:cxn ang="0">
                  <a:pos x="connsiteX0" y="connsiteY0"/>
                </a:cxn>
                <a:cxn ang="0">
                  <a:pos x="connsiteX1" y="connsiteY1"/>
                </a:cxn>
                <a:cxn ang="0">
                  <a:pos x="connsiteX2" y="connsiteY2"/>
                </a:cxn>
                <a:cxn ang="0">
                  <a:pos x="connsiteX3" y="connsiteY3"/>
                </a:cxn>
              </a:cxnLst>
              <a:rect l="l" t="t" r="r" b="b"/>
              <a:pathLst>
                <a:path w="424732" h="424732">
                  <a:moveTo>
                    <a:pt x="424732" y="424732"/>
                  </a:moveTo>
                  <a:lnTo>
                    <a:pt x="0" y="424732"/>
                  </a:lnTo>
                  <a:lnTo>
                    <a:pt x="0" y="0"/>
                  </a:lnTo>
                  <a:lnTo>
                    <a:pt x="424732" y="0"/>
                  </a:lnTo>
                </a:path>
              </a:pathLst>
            </a:custGeom>
            <a:ln w="16510">
              <a:solidFill>
                <a:srgbClr val="0046A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solidFill>
                  <a:srgbClr val="065CAB"/>
                </a:solidFill>
                <a:latin typeface="Arial" pitchFamily="2" charset="0"/>
              </a:endParaRPr>
            </a:p>
          </p:txBody>
        </p:sp>
      </p:grpSp>
      <p:cxnSp>
        <p:nvCxnSpPr>
          <p:cNvPr id="71" name="Connector 70"/>
          <p:cNvCxnSpPr/>
          <p:nvPr/>
        </p:nvCxnSpPr>
        <p:spPr>
          <a:xfrm>
            <a:off x="557784" y="2377440"/>
            <a:ext cx="0" cy="868680"/>
          </a:xfrm>
          <a:prstGeom prst="line">
            <a:avLst/>
          </a:prstGeom>
          <a:ln w="28575">
            <a:solidFill>
              <a:srgbClr val="065CAB"/>
            </a:solidFill>
          </a:ln>
        </p:spPr>
      </p:cxnSp>
      <p:cxnSp>
        <p:nvCxnSpPr>
          <p:cNvPr id="72" name="Connector 71"/>
          <p:cNvCxnSpPr/>
          <p:nvPr/>
        </p:nvCxnSpPr>
        <p:spPr>
          <a:xfrm>
            <a:off x="557784" y="2377440"/>
            <a:ext cx="384048" cy="0"/>
          </a:xfrm>
          <a:prstGeom prst="line">
            <a:avLst/>
          </a:prstGeom>
          <a:ln w="28575">
            <a:solidFill>
              <a:srgbClr val="065CAB"/>
            </a:solidFill>
          </a:ln>
        </p:spPr>
      </p:cxnSp>
      <p:cxnSp>
        <p:nvCxnSpPr>
          <p:cNvPr id="73" name="Connector 72"/>
          <p:cNvCxnSpPr/>
          <p:nvPr/>
        </p:nvCxnSpPr>
        <p:spPr>
          <a:xfrm>
            <a:off x="557784" y="3246120"/>
            <a:ext cx="384048" cy="0"/>
          </a:xfrm>
          <a:prstGeom prst="line">
            <a:avLst/>
          </a:prstGeom>
          <a:ln w="28575">
            <a:solidFill>
              <a:srgbClr val="065CAB"/>
            </a:solidFill>
          </a:ln>
        </p:spPr>
      </p:cxnSp>
      <p:sp>
        <p:nvSpPr>
          <p:cNvPr id="74" name="TextBox 73"/>
          <p:cNvSpPr txBox="1"/>
          <p:nvPr/>
        </p:nvSpPr>
        <p:spPr>
          <a:xfrm>
            <a:off x="713232" y="2395728"/>
            <a:ext cx="548640" cy="731520"/>
          </a:xfrm>
          <a:prstGeom prst="rect">
            <a:avLst/>
          </a:prstGeom>
          <a:noFill/>
        </p:spPr>
        <p:txBody>
          <a:bodyPr wrap="square" lIns="0" tIns="0" rIns="0" bIns="0" anchor="t"/>
          <a:lstStyle/>
          <a:p>
            <a:pPr marL="0" indent="0" algn="l">
              <a:buNone/>
            </a:pPr>
            <a:r>
              <a:rPr sz="3600" b="1" i="0">
                <a:solidFill>
                  <a:srgbClr val="065CAB"/>
                </a:solidFill>
                <a:latin typeface="Arial" panose="020B0604020202020204" pitchFamily="34" charset="0"/>
                <a:cs typeface="Arial"/>
              </a:rPr>
              <a:t>1</a:t>
            </a:r>
          </a:p>
        </p:txBody>
      </p:sp>
      <p:sp>
        <p:nvSpPr>
          <p:cNvPr id="75" name="TextBox 74"/>
          <p:cNvSpPr txBox="1"/>
          <p:nvPr/>
        </p:nvSpPr>
        <p:spPr>
          <a:xfrm>
            <a:off x="1417320" y="2395728"/>
            <a:ext cx="6309360" cy="868680"/>
          </a:xfrm>
          <a:prstGeom prst="rect">
            <a:avLst/>
          </a:prstGeom>
          <a:noFill/>
        </p:spPr>
        <p:txBody>
          <a:bodyPr wrap="square" lIns="0" tIns="0" rIns="0" bIns="0" anchor="t"/>
          <a:lstStyle/>
          <a:p>
            <a:pPr marL="0" indent="0" algn="l">
              <a:lnSpc>
                <a:spcPct val="100000"/>
              </a:lnSpc>
              <a:buNone/>
            </a:pPr>
            <a:r>
              <a:rPr lang="ru-RU" sz="1800" i="0">
                <a:solidFill>
                  <a:srgbClr val="595959"/>
                </a:solidFill>
                <a:latin typeface="Arial" panose="020B0604020202020204" pitchFamily="34" charset="0"/>
                <a:cs typeface="Arial"/>
              </a:rPr>
              <a:t>Связующее (матрица)
удерживает компоненты и передаёт нагрузку</a:t>
            </a:r>
            <a:endParaRPr sz="1800" i="0">
              <a:solidFill>
                <a:srgbClr val="262626"/>
              </a:solidFill>
              <a:latin typeface="Arial" panose="020B0604020202020204" pitchFamily="34" charset="0"/>
              <a:cs typeface="Arial"/>
            </a:endParaRPr>
          </a:p>
        </p:txBody>
      </p:sp>
      <p:cxnSp>
        <p:nvCxnSpPr>
          <p:cNvPr id="76" name="Connector 75"/>
          <p:cNvCxnSpPr/>
          <p:nvPr/>
        </p:nvCxnSpPr>
        <p:spPr>
          <a:xfrm>
            <a:off x="557784" y="3547872"/>
            <a:ext cx="0" cy="868680"/>
          </a:xfrm>
          <a:prstGeom prst="line">
            <a:avLst/>
          </a:prstGeom>
          <a:ln w="28575">
            <a:solidFill>
              <a:srgbClr val="065CAB"/>
            </a:solidFill>
          </a:ln>
        </p:spPr>
      </p:cxnSp>
      <p:cxnSp>
        <p:nvCxnSpPr>
          <p:cNvPr id="77" name="Connector 76"/>
          <p:cNvCxnSpPr/>
          <p:nvPr/>
        </p:nvCxnSpPr>
        <p:spPr>
          <a:xfrm>
            <a:off x="557784" y="3547872"/>
            <a:ext cx="384048" cy="0"/>
          </a:xfrm>
          <a:prstGeom prst="line">
            <a:avLst/>
          </a:prstGeom>
          <a:ln w="28575">
            <a:solidFill>
              <a:srgbClr val="065CAB"/>
            </a:solidFill>
          </a:ln>
        </p:spPr>
      </p:cxnSp>
      <p:cxnSp>
        <p:nvCxnSpPr>
          <p:cNvPr id="78" name="Connector 77"/>
          <p:cNvCxnSpPr/>
          <p:nvPr/>
        </p:nvCxnSpPr>
        <p:spPr>
          <a:xfrm>
            <a:off x="557784" y="4416552"/>
            <a:ext cx="384048" cy="0"/>
          </a:xfrm>
          <a:prstGeom prst="line">
            <a:avLst/>
          </a:prstGeom>
          <a:ln w="28575">
            <a:solidFill>
              <a:srgbClr val="065CAB"/>
            </a:solidFill>
          </a:ln>
        </p:spPr>
      </p:cxnSp>
      <p:sp>
        <p:nvSpPr>
          <p:cNvPr id="79" name="TextBox 78"/>
          <p:cNvSpPr txBox="1"/>
          <p:nvPr/>
        </p:nvSpPr>
        <p:spPr>
          <a:xfrm>
            <a:off x="713232" y="3566160"/>
            <a:ext cx="548640" cy="731520"/>
          </a:xfrm>
          <a:prstGeom prst="rect">
            <a:avLst/>
          </a:prstGeom>
          <a:noFill/>
        </p:spPr>
        <p:txBody>
          <a:bodyPr wrap="square" lIns="0" tIns="0" rIns="0" bIns="0" anchor="t"/>
          <a:lstStyle/>
          <a:p>
            <a:pPr marL="0" indent="0" algn="l">
              <a:buNone/>
            </a:pPr>
            <a:r>
              <a:rPr sz="3600" b="1" i="0">
                <a:solidFill>
                  <a:srgbClr val="065CAB"/>
                </a:solidFill>
                <a:latin typeface="Arial" panose="020B0604020202020204" pitchFamily="34" charset="0"/>
                <a:cs typeface="Arial"/>
              </a:rPr>
              <a:t>2</a:t>
            </a:r>
          </a:p>
        </p:txBody>
      </p:sp>
      <p:sp>
        <p:nvSpPr>
          <p:cNvPr id="80" name="TextBox 79"/>
          <p:cNvSpPr txBox="1"/>
          <p:nvPr/>
        </p:nvSpPr>
        <p:spPr>
          <a:xfrm>
            <a:off x="1417320" y="3566160"/>
            <a:ext cx="6309360" cy="868680"/>
          </a:xfrm>
          <a:prstGeom prst="rect">
            <a:avLst/>
          </a:prstGeom>
          <a:noFill/>
        </p:spPr>
        <p:txBody>
          <a:bodyPr wrap="square" lIns="0" tIns="0" rIns="0" bIns="0" anchor="t"/>
          <a:lstStyle/>
          <a:p>
            <a:pPr marL="0" indent="0" algn="l">
              <a:lnSpc>
                <a:spcPct val="100000"/>
              </a:lnSpc>
              <a:buNone/>
            </a:pPr>
            <a:r>
              <a:rPr lang="ru-RU" sz="1800" i="0">
                <a:solidFill>
                  <a:srgbClr val="595959"/>
                </a:solidFill>
                <a:latin typeface="Arial" panose="020B0604020202020204" pitchFamily="34" charset="0"/>
                <a:cs typeface="Arial"/>
              </a:rPr>
              <a:t>Наполнитель
влияет на свойства и может усиливать материал</a:t>
            </a:r>
            <a:endParaRPr sz="1800" i="0">
              <a:solidFill>
                <a:srgbClr val="262626"/>
              </a:solidFill>
              <a:latin typeface="Arial" panose="020B0604020202020204" pitchFamily="34" charset="0"/>
              <a:cs typeface="Arial"/>
            </a:endParaRPr>
          </a:p>
        </p:txBody>
      </p:sp>
      <p:cxnSp>
        <p:nvCxnSpPr>
          <p:cNvPr id="81" name="Connector 80"/>
          <p:cNvCxnSpPr/>
          <p:nvPr/>
        </p:nvCxnSpPr>
        <p:spPr>
          <a:xfrm>
            <a:off x="557784" y="4718304"/>
            <a:ext cx="0" cy="868680"/>
          </a:xfrm>
          <a:prstGeom prst="line">
            <a:avLst/>
          </a:prstGeom>
          <a:ln w="28575">
            <a:solidFill>
              <a:srgbClr val="065CAB"/>
            </a:solidFill>
          </a:ln>
        </p:spPr>
      </p:cxnSp>
      <p:cxnSp>
        <p:nvCxnSpPr>
          <p:cNvPr id="82" name="Connector 81"/>
          <p:cNvCxnSpPr/>
          <p:nvPr/>
        </p:nvCxnSpPr>
        <p:spPr>
          <a:xfrm>
            <a:off x="557784" y="4718304"/>
            <a:ext cx="384048" cy="0"/>
          </a:xfrm>
          <a:prstGeom prst="line">
            <a:avLst/>
          </a:prstGeom>
          <a:ln w="28575">
            <a:solidFill>
              <a:srgbClr val="065CAB"/>
            </a:solidFill>
          </a:ln>
        </p:spPr>
      </p:cxnSp>
      <p:cxnSp>
        <p:nvCxnSpPr>
          <p:cNvPr id="83" name="Connector 82"/>
          <p:cNvCxnSpPr/>
          <p:nvPr/>
        </p:nvCxnSpPr>
        <p:spPr>
          <a:xfrm>
            <a:off x="557784" y="5586984"/>
            <a:ext cx="384048" cy="0"/>
          </a:xfrm>
          <a:prstGeom prst="line">
            <a:avLst/>
          </a:prstGeom>
          <a:ln w="28575">
            <a:solidFill>
              <a:srgbClr val="065CAB"/>
            </a:solidFill>
          </a:ln>
        </p:spPr>
      </p:cxnSp>
      <p:sp>
        <p:nvSpPr>
          <p:cNvPr id="84" name="TextBox 83"/>
          <p:cNvSpPr txBox="1"/>
          <p:nvPr/>
        </p:nvSpPr>
        <p:spPr>
          <a:xfrm>
            <a:off x="713232" y="4736592"/>
            <a:ext cx="548640" cy="731520"/>
          </a:xfrm>
          <a:prstGeom prst="rect">
            <a:avLst/>
          </a:prstGeom>
          <a:noFill/>
        </p:spPr>
        <p:txBody>
          <a:bodyPr wrap="square" lIns="0" tIns="0" rIns="0" bIns="0" anchor="t"/>
          <a:lstStyle/>
          <a:p>
            <a:pPr marL="0" indent="0" algn="l">
              <a:buNone/>
            </a:pPr>
            <a:r>
              <a:rPr sz="3600" b="1" i="0">
                <a:solidFill>
                  <a:srgbClr val="065CAB"/>
                </a:solidFill>
                <a:latin typeface="Arial" panose="020B0604020202020204" pitchFamily="34" charset="0"/>
                <a:cs typeface="Arial"/>
              </a:rPr>
              <a:t>3</a:t>
            </a:r>
          </a:p>
        </p:txBody>
      </p:sp>
      <p:sp>
        <p:nvSpPr>
          <p:cNvPr id="85" name="TextBox 84"/>
          <p:cNvSpPr txBox="1"/>
          <p:nvPr/>
        </p:nvSpPr>
        <p:spPr>
          <a:xfrm>
            <a:off x="1417320" y="4736592"/>
            <a:ext cx="6309360" cy="868680"/>
          </a:xfrm>
          <a:prstGeom prst="rect">
            <a:avLst/>
          </a:prstGeom>
          <a:noFill/>
        </p:spPr>
        <p:txBody>
          <a:bodyPr wrap="square" lIns="0" tIns="0" rIns="0" bIns="0" anchor="t"/>
          <a:lstStyle/>
          <a:p>
            <a:pPr marL="0" indent="0" algn="l">
              <a:lnSpc>
                <a:spcPct val="100000"/>
              </a:lnSpc>
              <a:buNone/>
            </a:pPr>
            <a:r>
              <a:rPr lang="ru-RU" sz="1800" i="0">
                <a:solidFill>
                  <a:srgbClr val="595959"/>
                </a:solidFill>
                <a:latin typeface="Arial" panose="020B0604020202020204" pitchFamily="34" charset="0"/>
                <a:cs typeface="Arial"/>
              </a:rPr>
              <a:t>Цель
оценить свойства по известным характеристикам</a:t>
            </a:r>
            <a:endParaRPr sz="1800" i="0">
              <a:solidFill>
                <a:srgbClr val="262626"/>
              </a:solidFill>
              <a:latin typeface="Arial" panose="020B0604020202020204" pitchFamily="34" charset="0"/>
              <a:cs typeface="Arial"/>
            </a:endParaRPr>
          </a:p>
        </p:txBody>
      </p:sp>
      <p:sp>
        <p:nvSpPr>
          <p:cNvPr id="86" name="Цель"/>
          <p:cNvSpPr/>
          <p:nvPr/>
        </p:nvSpPr>
        <p:spPr>
          <a:xfrm>
            <a:off x="8183879" y="1417320"/>
            <a:ext cx="3584448" cy="4663440"/>
          </a:xfrm>
          <a:prstGeom prst="rect">
            <a:avLst/>
          </a:prstGeom>
          <a:solidFill>
            <a:srgbClr val="F1BE29"/>
          </a:solidFill>
          <a:ln>
            <a:noFill/>
          </a:ln>
        </p:spPr>
        <p:txBody>
          <a:bodyPr rtlCol="0" anchor="ctr"/>
          <a:lstStyle/>
          <a:p>
            <a:pPr algn="ctr"/>
            <a:endParaRPr/>
          </a:p>
        </p:txBody>
      </p:sp>
      <p:sp>
        <p:nvSpPr>
          <p:cNvPr id="87" name="TextBox 86"/>
          <p:cNvSpPr txBox="1"/>
          <p:nvPr/>
        </p:nvSpPr>
        <p:spPr>
          <a:xfrm>
            <a:off x="8412480" y="1645920"/>
            <a:ext cx="3154680" cy="4297680"/>
          </a:xfrm>
          <a:prstGeom prst="rect">
            <a:avLst/>
          </a:prstGeom>
          <a:noFill/>
        </p:spPr>
        <p:txBody>
          <a:bodyPr wrap="square" lIns="0" tIns="0" rIns="0" bIns="0" anchor="t"/>
          <a:lstStyle/>
          <a:p>
            <a:pPr marL="0" indent="0" algn="l">
              <a:lnSpc>
                <a:spcPct val="105000"/>
              </a:lnSpc>
              <a:buNone/>
            </a:pPr>
            <a:r>
              <a:rPr lang="ru-RU" sz="1700" i="0">
                <a:solidFill>
                  <a:srgbClr val="262626"/>
                </a:solidFill>
                <a:latin typeface="Arial" panose="020B0604020202020204" pitchFamily="34" charset="0"/>
                <a:cs typeface="Arial"/>
              </a:rPr>
              <a:t>Что оцениваем
Модуль упругости при растяжении
сопротивление обратимому растяжению
Прочность при растяжении
предел перед разрушением</a:t>
            </a:r>
            <a:endParaRPr sz="1700" i="0">
              <a:solidFill>
                <a:srgbClr val="262626"/>
              </a:solidFill>
              <a:latin typeface="Arial" panose="020B0604020202020204" pitchFamily="34" charset="0"/>
              <a:cs typeface="Arial"/>
            </a:endParaRPr>
          </a:p>
        </p:txBody>
      </p:sp>
      <p:sp>
        <p:nvSpPr>
          <p:cNvPr id="88" name="Источник"/>
          <p:cNvSpPr txBox="1"/>
          <p:nvPr/>
        </p:nvSpPr>
        <p:spPr>
          <a:xfrm>
            <a:off x="960120" y="6336792"/>
            <a:ext cx="10808208" cy="365760"/>
          </a:xfrm>
          <a:prstGeom prst="rect">
            <a:avLst/>
          </a:prstGeom>
          <a:noFill/>
        </p:spPr>
        <p:txBody>
          <a:bodyPr wrap="square" lIns="0" tIns="0" rIns="0" bIns="0" anchor="ctr"/>
          <a:lstStyle/>
          <a:p>
            <a:pPr marL="0" indent="0" algn="l">
              <a:buNone/>
            </a:pPr>
            <a:r>
              <a:rPr lang="ru-RU" i="0">
                <a:solidFill>
                  <a:srgbClr val="595959"/>
                </a:solidFill>
                <a:latin typeface="Arial" panose="020B0604020202020204" pitchFamily="34" charset="0"/>
                <a:cs typeface="Arial"/>
              </a:rPr>
              <a:t>Источник: РПЗ, введение</a:t>
            </a:r>
            <a:endParaRPr i="0">
              <a:solidFill>
                <a:srgbClr val="595959"/>
              </a:solidFill>
              <a:latin typeface="Arial" panose="020B0604020202020204" pitchFamily="34" charset="0"/>
              <a:cs typeface="Arial"/>
            </a:endParaRPr>
          </a:p>
        </p:txBody>
      </p:sp>
      <p:sp>
        <p:nvSpPr>
          <p:cNvPr id="4" name="Номер слайда 3">
            <a:extLst>
              <a:ext uri="{FF2B5EF4-FFF2-40B4-BE49-F238E27FC236}">
                <a16:creationId xmlns:a16="http://schemas.microsoft.com/office/drawing/2014/main" id="{06555008-558A-4705-ADA6-A99A535D9A1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ru-RU" smtClean="0">
                <a:cs typeface="Arial"/>
              </a:rPr>
              <a:t>2</a:t>
            </a:fld>
            <a:endParaRPr lang="ru-RU" dirty="0">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Заголовок слайда">
            <a:extLst>
              <a:ext uri="{FF2B5EF4-FFF2-40B4-BE49-F238E27FC236}">
                <a16:creationId xmlns:a16="http://schemas.microsoft.com/office/drawing/2014/main" id="{9280711C-2262-4089-92EE-9BEACCC60C4C}"/>
              </a:ext>
            </a:extLst>
          </p:cNvPr>
          <p:cNvGrpSpPr/>
          <p:nvPr/>
        </p:nvGrpSpPr>
        <p:grpSpPr>
          <a:xfrm>
            <a:off x="3167880" y="469293"/>
            <a:ext cx="7527369" cy="666000"/>
            <a:chOff x="0" y="0"/>
            <a:chExt cx="7527369" cy="666000"/>
          </a:xfrm>
        </p:grpSpPr>
        <p:sp>
          <p:nvSpPr>
            <p:cNvPr id="68" name="Прямоугольник 67">
              <a:extLst>
                <a:ext uri="{FF2B5EF4-FFF2-40B4-BE49-F238E27FC236}">
                  <a16:creationId xmlns:a16="http://schemas.microsoft.com/office/drawing/2014/main" id="{E2535886-3476-4B40-9706-6797B77905C0}"/>
                </a:ext>
              </a:extLst>
            </p:cNvPr>
            <p:cNvSpPr/>
            <p:nvPr/>
          </p:nvSpPr>
          <p:spPr>
            <a:xfrm>
              <a:off x="0" y="0"/>
              <a:ext cx="7527369" cy="666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201168" tIns="0" rIns="201168" bIns="0" rtlCol="0" anchor="ctr"/>
            <a:lstStyle/>
            <a:p>
              <a:pPr algn="l"/>
              <a:r>
                <a:rPr lang="ru-RU" sz="2600" b="1" spc="0">
                  <a:solidFill>
                    <a:srgbClr val="065CAB"/>
                  </a:solidFill>
                  <a:latin typeface="Arial" panose="020B0604020202020204" pitchFamily="34" charset="0"/>
                  <a:cs typeface="Arial" pitchFamily="2" charset="0"/>
                </a:rPr>
                <a:t>Две таблицы образуют один набор данных</a:t>
              </a:r>
              <a:endParaRPr lang="ru-RU" sz="2600" b="1" spc="0" dirty="0">
                <a:solidFill>
                  <a:srgbClr val="065CAB"/>
                </a:solidFill>
                <a:latin typeface="Arial" panose="020B0604020202020204" pitchFamily="34" charset="0"/>
                <a:cs typeface="Arial" pitchFamily="2" charset="0"/>
              </a:endParaRPr>
            </a:p>
          </p:txBody>
        </p:sp>
        <p:sp>
          <p:nvSpPr>
            <p:cNvPr id="69" name="Прямоугольник 58">
              <a:extLst>
                <a:ext uri="{FF2B5EF4-FFF2-40B4-BE49-F238E27FC236}">
                  <a16:creationId xmlns:a16="http://schemas.microsoft.com/office/drawing/2014/main" id="{96789138-2397-49AA-BF3A-A6B5B90E8840}"/>
                </a:ext>
              </a:extLst>
            </p:cNvPr>
            <p:cNvSpPr/>
            <p:nvPr/>
          </p:nvSpPr>
          <p:spPr>
            <a:xfrm rot="10800000" flipH="1">
              <a:off x="0" y="0"/>
              <a:ext cx="76579" cy="666000"/>
            </a:xfrm>
            <a:custGeom>
              <a:avLst/>
              <a:gdLst>
                <a:gd name="connsiteX0" fmla="*/ 0 w 424732"/>
                <a:gd name="connsiteY0" fmla="*/ 0 h 424732"/>
                <a:gd name="connsiteX1" fmla="*/ 424732 w 424732"/>
                <a:gd name="connsiteY1" fmla="*/ 0 h 424732"/>
                <a:gd name="connsiteX2" fmla="*/ 424732 w 424732"/>
                <a:gd name="connsiteY2" fmla="*/ 424732 h 424732"/>
                <a:gd name="connsiteX3" fmla="*/ 0 w 424732"/>
                <a:gd name="connsiteY3" fmla="*/ 424732 h 424732"/>
                <a:gd name="connsiteX4" fmla="*/ 0 w 424732"/>
                <a:gd name="connsiteY4" fmla="*/ 0 h 424732"/>
                <a:gd name="connsiteX0" fmla="*/ 0 w 425450"/>
                <a:gd name="connsiteY0" fmla="*/ 0 h 424732"/>
                <a:gd name="connsiteX1" fmla="*/ 424732 w 425450"/>
                <a:gd name="connsiteY1" fmla="*/ 0 h 424732"/>
                <a:gd name="connsiteX2" fmla="*/ 425450 w 425450"/>
                <a:gd name="connsiteY2" fmla="*/ 238890 h 424732"/>
                <a:gd name="connsiteX3" fmla="*/ 424732 w 425450"/>
                <a:gd name="connsiteY3" fmla="*/ 424732 h 424732"/>
                <a:gd name="connsiteX4" fmla="*/ 0 w 425450"/>
                <a:gd name="connsiteY4" fmla="*/ 424732 h 424732"/>
                <a:gd name="connsiteX5" fmla="*/ 0 w 425450"/>
                <a:gd name="connsiteY5" fmla="*/ 0 h 424732"/>
                <a:gd name="connsiteX0" fmla="*/ 425450 w 516890"/>
                <a:gd name="connsiteY0" fmla="*/ 238890 h 424732"/>
                <a:gd name="connsiteX1" fmla="*/ 424732 w 516890"/>
                <a:gd name="connsiteY1" fmla="*/ 424732 h 424732"/>
                <a:gd name="connsiteX2" fmla="*/ 0 w 516890"/>
                <a:gd name="connsiteY2" fmla="*/ 424732 h 424732"/>
                <a:gd name="connsiteX3" fmla="*/ 0 w 516890"/>
                <a:gd name="connsiteY3" fmla="*/ 0 h 424732"/>
                <a:gd name="connsiteX4" fmla="*/ 424732 w 516890"/>
                <a:gd name="connsiteY4" fmla="*/ 0 h 424732"/>
                <a:gd name="connsiteX5" fmla="*/ 516890 w 516890"/>
                <a:gd name="connsiteY5" fmla="*/ 330330 h 424732"/>
                <a:gd name="connsiteX0" fmla="*/ 424732 w 516890"/>
                <a:gd name="connsiteY0" fmla="*/ 424732 h 424732"/>
                <a:gd name="connsiteX1" fmla="*/ 0 w 516890"/>
                <a:gd name="connsiteY1" fmla="*/ 424732 h 424732"/>
                <a:gd name="connsiteX2" fmla="*/ 0 w 516890"/>
                <a:gd name="connsiteY2" fmla="*/ 0 h 424732"/>
                <a:gd name="connsiteX3" fmla="*/ 424732 w 516890"/>
                <a:gd name="connsiteY3" fmla="*/ 0 h 424732"/>
                <a:gd name="connsiteX4" fmla="*/ 516890 w 516890"/>
                <a:gd name="connsiteY4" fmla="*/ 330330 h 424732"/>
                <a:gd name="connsiteX0" fmla="*/ 424732 w 424732"/>
                <a:gd name="connsiteY0" fmla="*/ 424732 h 424732"/>
                <a:gd name="connsiteX1" fmla="*/ 0 w 424732"/>
                <a:gd name="connsiteY1" fmla="*/ 424732 h 424732"/>
                <a:gd name="connsiteX2" fmla="*/ 0 w 424732"/>
                <a:gd name="connsiteY2" fmla="*/ 0 h 424732"/>
                <a:gd name="connsiteX3" fmla="*/ 424732 w 424732"/>
                <a:gd name="connsiteY3" fmla="*/ 0 h 424732"/>
              </a:gdLst>
              <a:ahLst/>
              <a:cxnLst>
                <a:cxn ang="0">
                  <a:pos x="connsiteX0" y="connsiteY0"/>
                </a:cxn>
                <a:cxn ang="0">
                  <a:pos x="connsiteX1" y="connsiteY1"/>
                </a:cxn>
                <a:cxn ang="0">
                  <a:pos x="connsiteX2" y="connsiteY2"/>
                </a:cxn>
                <a:cxn ang="0">
                  <a:pos x="connsiteX3" y="connsiteY3"/>
                </a:cxn>
              </a:cxnLst>
              <a:rect l="l" t="t" r="r" b="b"/>
              <a:pathLst>
                <a:path w="424732" h="424732">
                  <a:moveTo>
                    <a:pt x="424732" y="424732"/>
                  </a:moveTo>
                  <a:lnTo>
                    <a:pt x="0" y="424732"/>
                  </a:lnTo>
                  <a:lnTo>
                    <a:pt x="0" y="0"/>
                  </a:lnTo>
                  <a:lnTo>
                    <a:pt x="424732" y="0"/>
                  </a:lnTo>
                </a:path>
              </a:pathLst>
            </a:custGeom>
            <a:ln w="16510">
              <a:solidFill>
                <a:srgbClr val="065CA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latin typeface="Arial" pitchFamily="2" charset="0"/>
              </a:endParaRPr>
            </a:p>
          </p:txBody>
        </p:sp>
        <p:sp>
          <p:nvSpPr>
            <p:cNvPr id="70" name="Прямоугольник 58">
              <a:extLst>
                <a:ext uri="{FF2B5EF4-FFF2-40B4-BE49-F238E27FC236}">
                  <a16:creationId xmlns:a16="http://schemas.microsoft.com/office/drawing/2014/main" id="{DA239952-60E1-45EB-BDF0-422CC4CF7E42}"/>
                </a:ext>
              </a:extLst>
            </p:cNvPr>
            <p:cNvSpPr/>
            <p:nvPr/>
          </p:nvSpPr>
          <p:spPr>
            <a:xfrm flipH="1">
              <a:off x="7437320" y="0"/>
              <a:ext cx="90049" cy="666000"/>
            </a:xfrm>
            <a:custGeom>
              <a:avLst/>
              <a:gdLst>
                <a:gd name="connsiteX0" fmla="*/ 0 w 424732"/>
                <a:gd name="connsiteY0" fmla="*/ 0 h 424732"/>
                <a:gd name="connsiteX1" fmla="*/ 424732 w 424732"/>
                <a:gd name="connsiteY1" fmla="*/ 0 h 424732"/>
                <a:gd name="connsiteX2" fmla="*/ 424732 w 424732"/>
                <a:gd name="connsiteY2" fmla="*/ 424732 h 424732"/>
                <a:gd name="connsiteX3" fmla="*/ 0 w 424732"/>
                <a:gd name="connsiteY3" fmla="*/ 424732 h 424732"/>
                <a:gd name="connsiteX4" fmla="*/ 0 w 424732"/>
                <a:gd name="connsiteY4" fmla="*/ 0 h 424732"/>
                <a:gd name="connsiteX0" fmla="*/ 0 w 425450"/>
                <a:gd name="connsiteY0" fmla="*/ 0 h 424732"/>
                <a:gd name="connsiteX1" fmla="*/ 424732 w 425450"/>
                <a:gd name="connsiteY1" fmla="*/ 0 h 424732"/>
                <a:gd name="connsiteX2" fmla="*/ 425450 w 425450"/>
                <a:gd name="connsiteY2" fmla="*/ 238890 h 424732"/>
                <a:gd name="connsiteX3" fmla="*/ 424732 w 425450"/>
                <a:gd name="connsiteY3" fmla="*/ 424732 h 424732"/>
                <a:gd name="connsiteX4" fmla="*/ 0 w 425450"/>
                <a:gd name="connsiteY4" fmla="*/ 424732 h 424732"/>
                <a:gd name="connsiteX5" fmla="*/ 0 w 425450"/>
                <a:gd name="connsiteY5" fmla="*/ 0 h 424732"/>
                <a:gd name="connsiteX0" fmla="*/ 425450 w 516890"/>
                <a:gd name="connsiteY0" fmla="*/ 238890 h 424732"/>
                <a:gd name="connsiteX1" fmla="*/ 424732 w 516890"/>
                <a:gd name="connsiteY1" fmla="*/ 424732 h 424732"/>
                <a:gd name="connsiteX2" fmla="*/ 0 w 516890"/>
                <a:gd name="connsiteY2" fmla="*/ 424732 h 424732"/>
                <a:gd name="connsiteX3" fmla="*/ 0 w 516890"/>
                <a:gd name="connsiteY3" fmla="*/ 0 h 424732"/>
                <a:gd name="connsiteX4" fmla="*/ 424732 w 516890"/>
                <a:gd name="connsiteY4" fmla="*/ 0 h 424732"/>
                <a:gd name="connsiteX5" fmla="*/ 516890 w 516890"/>
                <a:gd name="connsiteY5" fmla="*/ 330330 h 424732"/>
                <a:gd name="connsiteX0" fmla="*/ 424732 w 516890"/>
                <a:gd name="connsiteY0" fmla="*/ 424732 h 424732"/>
                <a:gd name="connsiteX1" fmla="*/ 0 w 516890"/>
                <a:gd name="connsiteY1" fmla="*/ 424732 h 424732"/>
                <a:gd name="connsiteX2" fmla="*/ 0 w 516890"/>
                <a:gd name="connsiteY2" fmla="*/ 0 h 424732"/>
                <a:gd name="connsiteX3" fmla="*/ 424732 w 516890"/>
                <a:gd name="connsiteY3" fmla="*/ 0 h 424732"/>
                <a:gd name="connsiteX4" fmla="*/ 516890 w 516890"/>
                <a:gd name="connsiteY4" fmla="*/ 330330 h 424732"/>
                <a:gd name="connsiteX0" fmla="*/ 424732 w 424732"/>
                <a:gd name="connsiteY0" fmla="*/ 424732 h 424732"/>
                <a:gd name="connsiteX1" fmla="*/ 0 w 424732"/>
                <a:gd name="connsiteY1" fmla="*/ 424732 h 424732"/>
                <a:gd name="connsiteX2" fmla="*/ 0 w 424732"/>
                <a:gd name="connsiteY2" fmla="*/ 0 h 424732"/>
                <a:gd name="connsiteX3" fmla="*/ 424732 w 424732"/>
                <a:gd name="connsiteY3" fmla="*/ 0 h 424732"/>
              </a:gdLst>
              <a:ahLst/>
              <a:cxnLst>
                <a:cxn ang="0">
                  <a:pos x="connsiteX0" y="connsiteY0"/>
                </a:cxn>
                <a:cxn ang="0">
                  <a:pos x="connsiteX1" y="connsiteY1"/>
                </a:cxn>
                <a:cxn ang="0">
                  <a:pos x="connsiteX2" y="connsiteY2"/>
                </a:cxn>
                <a:cxn ang="0">
                  <a:pos x="connsiteX3" y="connsiteY3"/>
                </a:cxn>
              </a:cxnLst>
              <a:rect l="l" t="t" r="r" b="b"/>
              <a:pathLst>
                <a:path w="424732" h="424732">
                  <a:moveTo>
                    <a:pt x="424732" y="424732"/>
                  </a:moveTo>
                  <a:lnTo>
                    <a:pt x="0" y="424732"/>
                  </a:lnTo>
                  <a:lnTo>
                    <a:pt x="0" y="0"/>
                  </a:lnTo>
                  <a:lnTo>
                    <a:pt x="424732" y="0"/>
                  </a:lnTo>
                </a:path>
              </a:pathLst>
            </a:custGeom>
            <a:ln w="16510">
              <a:solidFill>
                <a:srgbClr val="0046A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solidFill>
                  <a:srgbClr val="065CAB"/>
                </a:solidFill>
                <a:latin typeface="Arial" pitchFamily="2" charset="0"/>
              </a:endParaRPr>
            </a:p>
          </p:txBody>
        </p:sp>
      </p:grpSp>
      <p:graphicFrame>
        <p:nvGraphicFramePr>
          <p:cNvPr id="71" name="Таблица объединения"/>
          <p:cNvGraphicFramePr>
            <a:graphicFrameLocks noGrp="1"/>
          </p:cNvGraphicFramePr>
          <p:nvPr>
            <p:extLst>
              <p:ext uri="{D42A27DB-BD31-4B8C-83A1-F6EECF244321}">
                <p14:modId xmlns:p14="http://schemas.microsoft.com/office/powerpoint/2010/main" val="1265352088"/>
              </p:ext>
            </p:extLst>
          </p:nvPr>
        </p:nvGraphicFramePr>
        <p:xfrm>
          <a:off x="557784" y="1600200"/>
          <a:ext cx="6766560" cy="2267712"/>
        </p:xfrm>
        <a:graphic>
          <a:graphicData uri="http://schemas.openxmlformats.org/drawingml/2006/table">
            <a:tbl>
              <a:tblPr>
                <a:tableStyleId>{2D5ABB26-0587-4C30-8999-92F81FD0307C}</a:tableStyleId>
              </a:tblPr>
              <a:tblGrid>
                <a:gridCol w="34747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566928">
                <a:tc>
                  <a:txBody>
                    <a:bodyPr/>
                    <a:lstStyle/>
                    <a:p>
                      <a:pPr marL="0" indent="0" algn="l">
                        <a:buNone/>
                      </a:pPr>
                      <a:r>
                        <a:rPr sz="2000" b="1" i="0">
                          <a:solidFill>
                            <a:srgbClr val="FFFFFF"/>
                          </a:solidFill>
                          <a:latin typeface="Arial" panose="020B0604020202020204" pitchFamily="34" charset="0"/>
                          <a:cs typeface="Arial"/>
                        </a:rPr>
                        <a:t>Источник</a:t>
                      </a:r>
                    </a:p>
                  </a:txBody>
                  <a:tcPr marT="27432" marB="27432" anchor="ctr">
                    <a:lnL w="0">
                      <a:noFill/>
                    </a:lnL>
                    <a:lnR w="0">
                      <a:noFill/>
                    </a:lnR>
                    <a:lnT w="0">
                      <a:noFill/>
                    </a:lnT>
                    <a:lnB w="19050">
                      <a:solidFill>
                        <a:srgbClr val="065CAB"/>
                      </a:solidFill>
                    </a:lnB>
                    <a:solidFill>
                      <a:srgbClr val="065CAB"/>
                    </a:solidFill>
                  </a:tcPr>
                </a:tc>
                <a:tc>
                  <a:txBody>
                    <a:bodyPr/>
                    <a:lstStyle/>
                    <a:p>
                      <a:pPr marL="0" indent="0" algn="r">
                        <a:buNone/>
                      </a:pPr>
                      <a:r>
                        <a:rPr sz="2000" b="1" i="0">
                          <a:solidFill>
                            <a:srgbClr val="FFFFFF"/>
                          </a:solidFill>
                          <a:latin typeface="Arial" panose="020B0604020202020204" pitchFamily="34" charset="0"/>
                          <a:cs typeface="Arial"/>
                        </a:rPr>
                        <a:t>Строк</a:t>
                      </a:r>
                    </a:p>
                  </a:txBody>
                  <a:tcPr marT="27432" marB="27432" anchor="ctr">
                    <a:lnL w="0">
                      <a:noFill/>
                    </a:lnL>
                    <a:lnR w="0">
                      <a:noFill/>
                    </a:lnR>
                    <a:lnT w="0">
                      <a:noFill/>
                    </a:lnT>
                    <a:lnB w="19050">
                      <a:solidFill>
                        <a:srgbClr val="065CAB"/>
                      </a:solidFill>
                    </a:lnB>
                    <a:solidFill>
                      <a:srgbClr val="065CAB"/>
                    </a:solidFill>
                  </a:tcPr>
                </a:tc>
                <a:tc>
                  <a:txBody>
                    <a:bodyPr/>
                    <a:lstStyle/>
                    <a:p>
                      <a:pPr marL="0" indent="0" algn="r">
                        <a:buNone/>
                      </a:pPr>
                      <a:r>
                        <a:rPr sz="2000" b="1" i="0">
                          <a:solidFill>
                            <a:srgbClr val="FFFFFF"/>
                          </a:solidFill>
                          <a:latin typeface="Arial" panose="020B0604020202020204" pitchFamily="34" charset="0"/>
                          <a:cs typeface="Arial"/>
                        </a:rPr>
                        <a:t>Полей</a:t>
                      </a:r>
                    </a:p>
                  </a:txBody>
                  <a:tcPr marT="27432" marB="27432" anchor="ctr">
                    <a:lnL w="0">
                      <a:noFill/>
                    </a:lnL>
                    <a:lnR w="0">
                      <a:noFill/>
                    </a:lnR>
                    <a:lnT w="0">
                      <a:noFill/>
                    </a:lnT>
                    <a:lnB w="19050">
                      <a:solidFill>
                        <a:srgbClr val="065CAB"/>
                      </a:solidFill>
                    </a:lnB>
                    <a:solidFill>
                      <a:srgbClr val="065CAB"/>
                    </a:solidFill>
                  </a:tcPr>
                </a:tc>
                <a:extLst>
                  <a:ext uri="{0D108BD9-81ED-4DB2-BD59-A6C34878D82A}">
                    <a16:rowId xmlns:a16="http://schemas.microsoft.com/office/drawing/2014/main" val="10000"/>
                  </a:ext>
                </a:extLst>
              </a:tr>
              <a:tr h="566928">
                <a:tc>
                  <a:txBody>
                    <a:bodyPr/>
                    <a:lstStyle/>
                    <a:p>
                      <a:pPr marL="0" indent="0" algn="l">
                        <a:buNone/>
                      </a:pPr>
                      <a:r>
                        <a:rPr sz="2200" b="0" i="0">
                          <a:solidFill>
                            <a:srgbClr val="262626"/>
                          </a:solidFill>
                          <a:latin typeface="Arial" panose="020B0604020202020204" pitchFamily="34" charset="0"/>
                          <a:cs typeface="Arial"/>
                        </a:rPr>
                        <a:t>X_bp.xlsx</a:t>
                      </a:r>
                    </a:p>
                  </a:txBody>
                  <a:tcPr marT="27432" marB="27432" anchor="ctr">
                    <a:lnT w="19050" cap="flat" cmpd="sng" algn="ctr">
                      <a:solidFill>
                        <a:srgbClr val="065CAB"/>
                      </a:solidFill>
                      <a:prstDash val="solid"/>
                      <a:round/>
                      <a:headEnd type="none" w="med" len="med"/>
                      <a:tailEnd type="none" w="med" len="med"/>
                    </a:lnT>
                    <a:noFill/>
                  </a:tcPr>
                </a:tc>
                <a:tc>
                  <a:txBody>
                    <a:bodyPr/>
                    <a:lstStyle/>
                    <a:p>
                      <a:pPr marL="0" indent="0" algn="r">
                        <a:buNone/>
                      </a:pPr>
                      <a:r>
                        <a:rPr sz="2200" b="0" i="0">
                          <a:solidFill>
                            <a:srgbClr val="262626"/>
                          </a:solidFill>
                          <a:latin typeface="Arial" panose="020B0604020202020204" pitchFamily="34" charset="0"/>
                          <a:cs typeface="Arial"/>
                        </a:rPr>
                        <a:t>1023</a:t>
                      </a:r>
                    </a:p>
                  </a:txBody>
                  <a:tcPr marT="27432" marB="27432" anchor="ctr">
                    <a:lnT w="19050" cap="flat" cmpd="sng" algn="ctr">
                      <a:solidFill>
                        <a:srgbClr val="065CAB"/>
                      </a:solidFill>
                      <a:prstDash val="solid"/>
                      <a:round/>
                      <a:headEnd type="none" w="med" len="med"/>
                      <a:tailEnd type="none" w="med" len="med"/>
                    </a:lnT>
                    <a:noFill/>
                  </a:tcPr>
                </a:tc>
                <a:tc>
                  <a:txBody>
                    <a:bodyPr/>
                    <a:lstStyle/>
                    <a:p>
                      <a:pPr marL="0" indent="0" algn="r">
                        <a:buNone/>
                      </a:pPr>
                      <a:r>
                        <a:rPr sz="2200" b="0" i="0">
                          <a:solidFill>
                            <a:srgbClr val="262626"/>
                          </a:solidFill>
                          <a:latin typeface="Arial" panose="020B0604020202020204" pitchFamily="34" charset="0"/>
                          <a:cs typeface="Arial"/>
                        </a:rPr>
                        <a:t>10</a:t>
                      </a:r>
                    </a:p>
                  </a:txBody>
                  <a:tcPr marT="27432" marB="27432" anchor="ctr">
                    <a:lnT w="19050" cap="flat" cmpd="sng" algn="ctr">
                      <a:solidFill>
                        <a:srgbClr val="065CAB"/>
                      </a:solidFill>
                      <a:prstDash val="solid"/>
                      <a:round/>
                      <a:headEnd type="none" w="med" len="med"/>
                      <a:tailEnd type="none" w="med" len="med"/>
                    </a:lnT>
                    <a:noFill/>
                  </a:tcPr>
                </a:tc>
                <a:extLst>
                  <a:ext uri="{0D108BD9-81ED-4DB2-BD59-A6C34878D82A}">
                    <a16:rowId xmlns:a16="http://schemas.microsoft.com/office/drawing/2014/main" val="10001"/>
                  </a:ext>
                </a:extLst>
              </a:tr>
              <a:tr h="566928">
                <a:tc>
                  <a:txBody>
                    <a:bodyPr/>
                    <a:lstStyle/>
                    <a:p>
                      <a:pPr marL="0" indent="0" algn="l">
                        <a:buNone/>
                      </a:pPr>
                      <a:r>
                        <a:rPr sz="2200" b="0" i="0">
                          <a:solidFill>
                            <a:srgbClr val="262626"/>
                          </a:solidFill>
                          <a:latin typeface="Arial" panose="020B0604020202020204" pitchFamily="34" charset="0"/>
                          <a:cs typeface="Arial"/>
                        </a:rPr>
                        <a:t>X_nup.xlsx</a:t>
                      </a:r>
                    </a:p>
                  </a:txBody>
                  <a:tcPr marT="27432" marB="27432" anchor="ctr">
                    <a:noFill/>
                  </a:tcPr>
                </a:tc>
                <a:tc>
                  <a:txBody>
                    <a:bodyPr/>
                    <a:lstStyle/>
                    <a:p>
                      <a:pPr marL="0" indent="0" algn="r">
                        <a:buNone/>
                      </a:pPr>
                      <a:r>
                        <a:rPr sz="2200" b="0" i="0">
                          <a:solidFill>
                            <a:srgbClr val="262626"/>
                          </a:solidFill>
                          <a:latin typeface="Arial" panose="020B0604020202020204" pitchFamily="34" charset="0"/>
                          <a:cs typeface="Arial"/>
                        </a:rPr>
                        <a:t>1040</a:t>
                      </a:r>
                    </a:p>
                  </a:txBody>
                  <a:tcPr marT="27432" marB="27432" anchor="ctr">
                    <a:noFill/>
                  </a:tcPr>
                </a:tc>
                <a:tc>
                  <a:txBody>
                    <a:bodyPr/>
                    <a:lstStyle/>
                    <a:p>
                      <a:pPr marL="0" indent="0" algn="r">
                        <a:buNone/>
                      </a:pPr>
                      <a:r>
                        <a:rPr sz="2200" b="0" i="0">
                          <a:solidFill>
                            <a:srgbClr val="262626"/>
                          </a:solidFill>
                          <a:latin typeface="Arial" panose="020B0604020202020204" pitchFamily="34" charset="0"/>
                          <a:cs typeface="Arial"/>
                        </a:rPr>
                        <a:t>3</a:t>
                      </a:r>
                    </a:p>
                  </a:txBody>
                  <a:tcPr marT="27432" marB="27432" anchor="ctr">
                    <a:noFill/>
                  </a:tcPr>
                </a:tc>
                <a:extLst>
                  <a:ext uri="{0D108BD9-81ED-4DB2-BD59-A6C34878D82A}">
                    <a16:rowId xmlns:a16="http://schemas.microsoft.com/office/drawing/2014/main" val="10002"/>
                  </a:ext>
                </a:extLst>
              </a:tr>
              <a:tr h="566928">
                <a:tc>
                  <a:txBody>
                    <a:bodyPr/>
                    <a:lstStyle/>
                    <a:p>
                      <a:pPr marL="0" indent="0" algn="l">
                        <a:buNone/>
                      </a:pPr>
                      <a:r>
                        <a:rPr lang="ru-RU" sz="1600" b="1" i="0">
                          <a:solidFill>
                            <a:srgbClr val="262626"/>
                          </a:solidFill>
                          <a:latin typeface="Arial" panose="020B0604020202020204" pitchFamily="34" charset="0"/>
                          <a:cs typeface="Arial"/>
                        </a:rPr>
                        <a:t>Совпавшие строки</a:t>
                      </a:r>
                      <a:endParaRPr sz="1600" b="1" i="0">
                        <a:solidFill>
                          <a:srgbClr val="262626"/>
                        </a:solidFill>
                        <a:latin typeface="Arial" panose="020B0604020202020204" pitchFamily="34" charset="0"/>
                        <a:cs typeface="Arial"/>
                      </a:endParaRPr>
                    </a:p>
                  </a:txBody>
                  <a:tcPr marT="27432" marB="27432" anchor="ctr">
                    <a:solidFill>
                      <a:srgbClr val="FFFFFF"/>
                    </a:solidFill>
                  </a:tcPr>
                </a:tc>
                <a:tc>
                  <a:txBody>
                    <a:bodyPr/>
                    <a:lstStyle/>
                    <a:p>
                      <a:pPr marL="0" indent="0" algn="r">
                        <a:buNone/>
                      </a:pPr>
                      <a:r>
                        <a:rPr sz="2200" b="1" i="0">
                          <a:solidFill>
                            <a:srgbClr val="065CAB"/>
                          </a:solidFill>
                          <a:latin typeface="Arial" panose="020B0604020202020204" pitchFamily="34" charset="0"/>
                          <a:cs typeface="Arial"/>
                        </a:rPr>
                        <a:t>1023</a:t>
                      </a:r>
                    </a:p>
                  </a:txBody>
                  <a:tcPr marT="27432" marB="27432" anchor="ctr">
                    <a:noFill/>
                  </a:tcPr>
                </a:tc>
                <a:tc>
                  <a:txBody>
                    <a:bodyPr/>
                    <a:lstStyle/>
                    <a:p>
                      <a:pPr marL="0" indent="0" algn="r">
                        <a:buNone/>
                      </a:pPr>
                      <a:r>
                        <a:rPr sz="2200" b="1" i="0">
                          <a:solidFill>
                            <a:srgbClr val="065CAB"/>
                          </a:solidFill>
                          <a:latin typeface="Arial" panose="020B0604020202020204" pitchFamily="34" charset="0"/>
                          <a:cs typeface="Arial"/>
                        </a:rPr>
                        <a:t>13</a:t>
                      </a:r>
                    </a:p>
                  </a:txBody>
                  <a:tcPr marT="27432" marB="27432" anchor="ctr">
                    <a:noFill/>
                  </a:tcPr>
                </a:tc>
                <a:extLst>
                  <a:ext uri="{0D108BD9-81ED-4DB2-BD59-A6C34878D82A}">
                    <a16:rowId xmlns:a16="http://schemas.microsoft.com/office/drawing/2014/main" val="10003"/>
                  </a:ext>
                </a:extLst>
              </a:tr>
            </a:tbl>
          </a:graphicData>
        </a:graphic>
      </p:graphicFrame>
      <p:sp>
        <p:nvSpPr>
          <p:cNvPr id="72" name="TextBox 71"/>
          <p:cNvSpPr txBox="1"/>
          <p:nvPr/>
        </p:nvSpPr>
        <p:spPr>
          <a:xfrm>
            <a:off x="557784" y="3977639"/>
            <a:ext cx="6766560" cy="635000"/>
          </a:xfrm>
          <a:prstGeom prst="rect">
            <a:avLst/>
          </a:prstGeom>
          <a:noFill/>
        </p:spPr>
        <p:txBody>
          <a:bodyPr wrap="square" lIns="0" tIns="0" rIns="0" bIns="0" anchor="t"/>
          <a:lstStyle/>
          <a:p>
            <a:pPr marL="0" indent="0" algn="l">
              <a:buNone/>
            </a:pPr>
            <a:r>
              <a:rPr lang="ru-RU" sz="1700" i="0">
                <a:solidFill>
                  <a:srgbClr val="595959"/>
                </a:solidFill>
                <a:latin typeface="Arial" panose="020B0604020202020204" pitchFamily="34" charset="0"/>
                <a:cs typeface="Arial"/>
              </a:rPr>
              <a:t>Таблицы сопоставлены по исходному индексу.
Результат: 1023 строки × 13 показателей.</a:t>
            </a:r>
            <a:endParaRPr sz="1700" i="0">
              <a:solidFill>
                <a:srgbClr val="595959"/>
              </a:solidFill>
              <a:latin typeface="Arial" panose="020B0604020202020204" pitchFamily="34" charset="0"/>
              <a:cs typeface="Arial"/>
            </a:endParaRPr>
          </a:p>
        </p:txBody>
      </p:sp>
      <p:cxnSp>
        <p:nvCxnSpPr>
          <p:cNvPr id="73" name="Connector 72"/>
          <p:cNvCxnSpPr/>
          <p:nvPr/>
        </p:nvCxnSpPr>
        <p:spPr>
          <a:xfrm>
            <a:off x="8001000" y="1600200"/>
            <a:ext cx="0" cy="2377439"/>
          </a:xfrm>
          <a:prstGeom prst="line">
            <a:avLst/>
          </a:prstGeom>
          <a:ln w="28575">
            <a:solidFill>
              <a:srgbClr val="065CAB"/>
            </a:solidFill>
          </a:ln>
        </p:spPr>
      </p:cxnSp>
      <p:cxnSp>
        <p:nvCxnSpPr>
          <p:cNvPr id="74" name="Connector 73"/>
          <p:cNvCxnSpPr/>
          <p:nvPr/>
        </p:nvCxnSpPr>
        <p:spPr>
          <a:xfrm>
            <a:off x="8001000" y="1600200"/>
            <a:ext cx="457200" cy="0"/>
          </a:xfrm>
          <a:prstGeom prst="line">
            <a:avLst/>
          </a:prstGeom>
          <a:ln w="28575">
            <a:solidFill>
              <a:srgbClr val="065CAB"/>
            </a:solidFill>
          </a:ln>
        </p:spPr>
      </p:cxnSp>
      <p:cxnSp>
        <p:nvCxnSpPr>
          <p:cNvPr id="75" name="Connector 74"/>
          <p:cNvCxnSpPr/>
          <p:nvPr/>
        </p:nvCxnSpPr>
        <p:spPr>
          <a:xfrm>
            <a:off x="8001000" y="3977639"/>
            <a:ext cx="457200" cy="0"/>
          </a:xfrm>
          <a:prstGeom prst="line">
            <a:avLst/>
          </a:prstGeom>
          <a:ln w="28575">
            <a:solidFill>
              <a:srgbClr val="065CAB"/>
            </a:solidFill>
          </a:ln>
        </p:spPr>
      </p:cxnSp>
      <p:sp>
        <p:nvSpPr>
          <p:cNvPr id="76" name="TextBox 75"/>
          <p:cNvSpPr txBox="1"/>
          <p:nvPr/>
        </p:nvSpPr>
        <p:spPr>
          <a:xfrm>
            <a:off x="8275320" y="1645920"/>
            <a:ext cx="3474720" cy="1280160"/>
          </a:xfrm>
          <a:prstGeom prst="rect">
            <a:avLst/>
          </a:prstGeom>
          <a:noFill/>
        </p:spPr>
        <p:txBody>
          <a:bodyPr wrap="square" lIns="0" tIns="0" rIns="0" bIns="0" anchor="t"/>
          <a:lstStyle/>
          <a:p>
            <a:pPr marL="0" indent="0" algn="l">
              <a:lnSpc>
                <a:spcPct val="90000"/>
              </a:lnSpc>
              <a:buNone/>
            </a:pPr>
            <a:r>
              <a:rPr sz="8000" b="1" i="0">
                <a:solidFill>
                  <a:srgbClr val="065CAB"/>
                </a:solidFill>
                <a:latin typeface="Arial" panose="020B0604020202020204" pitchFamily="34" charset="0"/>
                <a:cs typeface="Arial"/>
              </a:rPr>
              <a:t>17</a:t>
            </a:r>
          </a:p>
        </p:txBody>
      </p:sp>
      <p:sp>
        <p:nvSpPr>
          <p:cNvPr id="77" name="TextBox 76"/>
          <p:cNvSpPr txBox="1"/>
          <p:nvPr/>
        </p:nvSpPr>
        <p:spPr>
          <a:xfrm>
            <a:off x="8275320" y="2834640"/>
            <a:ext cx="3474720" cy="1097280"/>
          </a:xfrm>
          <a:prstGeom prst="rect">
            <a:avLst/>
          </a:prstGeom>
          <a:noFill/>
        </p:spPr>
        <p:txBody>
          <a:bodyPr wrap="square" lIns="0" tIns="0" rIns="0" bIns="0" anchor="t"/>
          <a:lstStyle/>
          <a:p>
            <a:pPr marL="0" indent="0" algn="l">
              <a:buNone/>
            </a:pPr>
            <a:r>
              <a:rPr lang="ru-RU" sz="1800" i="0">
                <a:solidFill>
                  <a:srgbClr val="262626"/>
                </a:solidFill>
                <a:latin typeface="Arial" panose="020B0604020202020204" pitchFamily="34" charset="0"/>
                <a:cs typeface="Arial"/>
              </a:rPr>
              <a:t>строк без пары
не вошли в набор</a:t>
            </a:r>
            <a:endParaRPr sz="1800" i="0">
              <a:solidFill>
                <a:srgbClr val="595959"/>
              </a:solidFill>
              <a:latin typeface="Arial" panose="020B0604020202020204" pitchFamily="34" charset="0"/>
              <a:cs typeface="Arial"/>
            </a:endParaRPr>
          </a:p>
        </p:txBody>
      </p:sp>
      <p:sp>
        <p:nvSpPr>
          <p:cNvPr id="78" name="Rectangle 77"/>
          <p:cNvSpPr/>
          <p:nvPr/>
        </p:nvSpPr>
        <p:spPr>
          <a:xfrm>
            <a:off x="557784" y="4754880"/>
            <a:ext cx="2468880" cy="1234440"/>
          </a:xfrm>
          <a:prstGeom prst="rect">
            <a:avLst/>
          </a:prstGeom>
          <a:solidFill>
            <a:srgbClr val="E3F0FD"/>
          </a:solidFill>
          <a:ln>
            <a:noFill/>
          </a:ln>
        </p:spPr>
        <p:txBody>
          <a:bodyPr rtlCol="0" anchor="ctr"/>
          <a:lstStyle/>
          <a:p>
            <a:pPr algn="ctr"/>
            <a:endParaRPr/>
          </a:p>
        </p:txBody>
      </p:sp>
      <p:sp>
        <p:nvSpPr>
          <p:cNvPr id="79" name="TextBox 78"/>
          <p:cNvSpPr txBox="1"/>
          <p:nvPr/>
        </p:nvSpPr>
        <p:spPr>
          <a:xfrm>
            <a:off x="740664" y="4754880"/>
            <a:ext cx="731520" cy="1234440"/>
          </a:xfrm>
          <a:prstGeom prst="rect">
            <a:avLst/>
          </a:prstGeom>
          <a:noFill/>
        </p:spPr>
        <p:txBody>
          <a:bodyPr wrap="square" lIns="0" tIns="0" rIns="0" bIns="0" anchor="ctr"/>
          <a:lstStyle/>
          <a:p>
            <a:pPr marL="0" indent="0" algn="l">
              <a:buNone/>
            </a:pPr>
            <a:r>
              <a:rPr sz="4000" b="1" i="0">
                <a:solidFill>
                  <a:srgbClr val="065CAB"/>
                </a:solidFill>
                <a:latin typeface="Arial" panose="020B0604020202020204" pitchFamily="34" charset="0"/>
                <a:cs typeface="Arial"/>
              </a:rPr>
              <a:t>0</a:t>
            </a:r>
          </a:p>
        </p:txBody>
      </p:sp>
      <p:sp>
        <p:nvSpPr>
          <p:cNvPr id="80" name="TextBox 79"/>
          <p:cNvSpPr txBox="1"/>
          <p:nvPr/>
        </p:nvSpPr>
        <p:spPr>
          <a:xfrm>
            <a:off x="1472184" y="4754880"/>
            <a:ext cx="1417320" cy="1234440"/>
          </a:xfrm>
          <a:prstGeom prst="rect">
            <a:avLst/>
          </a:prstGeom>
          <a:noFill/>
        </p:spPr>
        <p:txBody>
          <a:bodyPr wrap="square" lIns="0" tIns="0" rIns="0" bIns="0" anchor="ctr"/>
          <a:lstStyle/>
          <a:p>
            <a:pPr marL="0" indent="0" algn="l">
              <a:buNone/>
            </a:pPr>
            <a:r>
              <a:rPr sz="2000" b="0" i="0">
                <a:solidFill>
                  <a:srgbClr val="262626"/>
                </a:solidFill>
                <a:latin typeface="Arial" panose="020B0604020202020204" pitchFamily="34" charset="0"/>
                <a:cs typeface="Arial"/>
              </a:rPr>
              <a:t>пропусков</a:t>
            </a:r>
          </a:p>
        </p:txBody>
      </p:sp>
      <p:sp>
        <p:nvSpPr>
          <p:cNvPr id="81" name="Rectangle 80"/>
          <p:cNvSpPr/>
          <p:nvPr/>
        </p:nvSpPr>
        <p:spPr>
          <a:xfrm>
            <a:off x="3191256" y="4754880"/>
            <a:ext cx="3383280" cy="1234440"/>
          </a:xfrm>
          <a:prstGeom prst="rect">
            <a:avLst/>
          </a:prstGeom>
          <a:solidFill>
            <a:srgbClr val="E3F0FD"/>
          </a:solidFill>
          <a:ln>
            <a:noFill/>
          </a:ln>
        </p:spPr>
        <p:txBody>
          <a:bodyPr rtlCol="0" anchor="ctr"/>
          <a:lstStyle/>
          <a:p>
            <a:pPr algn="ctr"/>
            <a:endParaRPr/>
          </a:p>
        </p:txBody>
      </p:sp>
      <p:sp>
        <p:nvSpPr>
          <p:cNvPr id="82" name="TextBox 81"/>
          <p:cNvSpPr txBox="1"/>
          <p:nvPr/>
        </p:nvSpPr>
        <p:spPr>
          <a:xfrm>
            <a:off x="3374136" y="4754880"/>
            <a:ext cx="731520" cy="1234440"/>
          </a:xfrm>
          <a:prstGeom prst="rect">
            <a:avLst/>
          </a:prstGeom>
          <a:noFill/>
        </p:spPr>
        <p:txBody>
          <a:bodyPr wrap="square" lIns="0" tIns="0" rIns="0" bIns="0" anchor="ctr"/>
          <a:lstStyle/>
          <a:p>
            <a:pPr marL="0" indent="0" algn="l">
              <a:buNone/>
            </a:pPr>
            <a:r>
              <a:rPr sz="4000" b="1" i="0">
                <a:solidFill>
                  <a:srgbClr val="065CAB"/>
                </a:solidFill>
                <a:latin typeface="Arial" panose="020B0604020202020204" pitchFamily="34" charset="0"/>
                <a:cs typeface="Arial"/>
              </a:rPr>
              <a:t>0</a:t>
            </a:r>
          </a:p>
        </p:txBody>
      </p:sp>
      <p:sp>
        <p:nvSpPr>
          <p:cNvPr id="83" name="TextBox 82"/>
          <p:cNvSpPr txBox="1"/>
          <p:nvPr/>
        </p:nvSpPr>
        <p:spPr>
          <a:xfrm>
            <a:off x="4105656" y="4754880"/>
            <a:ext cx="2331720" cy="1234440"/>
          </a:xfrm>
          <a:prstGeom prst="rect">
            <a:avLst/>
          </a:prstGeom>
          <a:noFill/>
        </p:spPr>
        <p:txBody>
          <a:bodyPr wrap="square" lIns="0" tIns="0" rIns="0" bIns="0" anchor="ctr"/>
          <a:lstStyle/>
          <a:p>
            <a:pPr marL="0" indent="0" algn="l">
              <a:buNone/>
            </a:pPr>
            <a:r>
              <a:rPr sz="2000" b="0" i="0">
                <a:solidFill>
                  <a:srgbClr val="262626"/>
                </a:solidFill>
                <a:latin typeface="Arial" panose="020B0604020202020204" pitchFamily="34" charset="0"/>
                <a:cs typeface="Arial"/>
              </a:rPr>
              <a:t>полных дубликатов</a:t>
            </a:r>
          </a:p>
        </p:txBody>
      </p:sp>
      <p:sp>
        <p:nvSpPr>
          <p:cNvPr id="84" name="Rectangle 83"/>
          <p:cNvSpPr/>
          <p:nvPr/>
        </p:nvSpPr>
        <p:spPr>
          <a:xfrm>
            <a:off x="6739128" y="4754880"/>
            <a:ext cx="5029200" cy="1234440"/>
          </a:xfrm>
          <a:prstGeom prst="rect">
            <a:avLst/>
          </a:prstGeom>
          <a:solidFill>
            <a:srgbClr val="E3F0FD"/>
          </a:solidFill>
          <a:ln>
            <a:noFill/>
          </a:ln>
        </p:spPr>
        <p:txBody>
          <a:bodyPr rtlCol="0" anchor="ctr"/>
          <a:lstStyle/>
          <a:p>
            <a:pPr algn="ctr"/>
            <a:endParaRPr/>
          </a:p>
        </p:txBody>
      </p:sp>
      <p:sp>
        <p:nvSpPr>
          <p:cNvPr id="85" name="TextBox 84"/>
          <p:cNvSpPr txBox="1"/>
          <p:nvPr/>
        </p:nvSpPr>
        <p:spPr>
          <a:xfrm>
            <a:off x="6922008" y="4754880"/>
            <a:ext cx="731520" cy="1234440"/>
          </a:xfrm>
          <a:prstGeom prst="rect">
            <a:avLst/>
          </a:prstGeom>
          <a:noFill/>
        </p:spPr>
        <p:txBody>
          <a:bodyPr wrap="square" lIns="0" tIns="0" rIns="0" bIns="0" anchor="ctr"/>
          <a:lstStyle/>
          <a:p>
            <a:pPr marL="0" indent="0" algn="l">
              <a:buNone/>
            </a:pPr>
            <a:r>
              <a:rPr sz="4000" b="1" i="0">
                <a:solidFill>
                  <a:srgbClr val="065CAB"/>
                </a:solidFill>
                <a:latin typeface="Arial" panose="020B0604020202020204" pitchFamily="34" charset="0"/>
                <a:cs typeface="Arial"/>
              </a:rPr>
              <a:t>?</a:t>
            </a:r>
          </a:p>
        </p:txBody>
      </p:sp>
      <p:sp>
        <p:nvSpPr>
          <p:cNvPr id="86" name="TextBox 85"/>
          <p:cNvSpPr txBox="1"/>
          <p:nvPr/>
        </p:nvSpPr>
        <p:spPr>
          <a:xfrm>
            <a:off x="7653528" y="4754880"/>
            <a:ext cx="3977639" cy="1234440"/>
          </a:xfrm>
          <a:prstGeom prst="rect">
            <a:avLst/>
          </a:prstGeom>
          <a:noFill/>
        </p:spPr>
        <p:txBody>
          <a:bodyPr wrap="square" lIns="0" tIns="0" rIns="0" bIns="0" anchor="ctr"/>
          <a:lstStyle/>
          <a:p>
            <a:pPr marL="0" indent="0" algn="l">
              <a:buNone/>
            </a:pPr>
            <a:r>
              <a:rPr lang="ru-RU" sz="1500" i="0">
                <a:solidFill>
                  <a:srgbClr val="262626"/>
                </a:solidFill>
                <a:latin typeface="Arial" panose="020B0604020202020204" pitchFamily="34" charset="0"/>
                <a:cs typeface="Arial"/>
              </a:rPr>
              <a:t>происхождение строк, группы, партии и часть единиц не описаны</a:t>
            </a:r>
            <a:endParaRPr sz="1500" i="0">
              <a:solidFill>
                <a:srgbClr val="262626"/>
              </a:solidFill>
              <a:latin typeface="Arial" panose="020B0604020202020204" pitchFamily="34" charset="0"/>
              <a:cs typeface="Arial"/>
            </a:endParaRPr>
          </a:p>
        </p:txBody>
      </p:sp>
      <p:sp>
        <p:nvSpPr>
          <p:cNvPr id="87" name="Источник"/>
          <p:cNvSpPr txBox="1"/>
          <p:nvPr/>
        </p:nvSpPr>
        <p:spPr>
          <a:xfrm>
            <a:off x="960120" y="6336792"/>
            <a:ext cx="10808208" cy="365760"/>
          </a:xfrm>
          <a:prstGeom prst="rect">
            <a:avLst/>
          </a:prstGeom>
          <a:noFill/>
        </p:spPr>
        <p:txBody>
          <a:bodyPr wrap="square" lIns="0" tIns="0" rIns="0" bIns="0" anchor="ctr"/>
          <a:lstStyle/>
          <a:p>
            <a:pPr marL="0" indent="0" algn="l">
              <a:buNone/>
            </a:pPr>
            <a:r>
              <a:rPr lang="ru-RU" sz="1300" i="0">
                <a:solidFill>
                  <a:srgbClr val="595959"/>
                </a:solidFill>
                <a:latin typeface="Arial" panose="020B0604020202020204" pitchFamily="34" charset="0"/>
                <a:cs typeface="Arial"/>
              </a:rPr>
              <a:t>Источник: РПЗ, раздел 1.1 и таблица исходных данных; словарь данных репозитория</a:t>
            </a:r>
            <a:endParaRPr sz="1300" i="0">
              <a:solidFill>
                <a:srgbClr val="595959"/>
              </a:solidFill>
              <a:latin typeface="Arial" panose="020B0604020202020204" pitchFamily="34" charset="0"/>
              <a:cs typeface="Arial"/>
            </a:endParaRPr>
          </a:p>
        </p:txBody>
      </p:sp>
      <p:sp>
        <p:nvSpPr>
          <p:cNvPr id="4" name="Номер слайда 3">
            <a:extLst>
              <a:ext uri="{FF2B5EF4-FFF2-40B4-BE49-F238E27FC236}">
                <a16:creationId xmlns:a16="http://schemas.microsoft.com/office/drawing/2014/main" id="{06555008-558A-4705-ADA6-A99A535D9A1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ru-RU" smtClean="0">
                <a:cs typeface="Arial"/>
              </a:rPr>
              <a:t>3</a:t>
            </a:fld>
            <a:endParaRPr lang="ru-RU" dirty="0">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Заголовок слайда">
            <a:extLst>
              <a:ext uri="{FF2B5EF4-FFF2-40B4-BE49-F238E27FC236}">
                <a16:creationId xmlns:a16="http://schemas.microsoft.com/office/drawing/2014/main" id="{9280711C-2262-4089-92EE-9BEACCC60C4C}"/>
              </a:ext>
            </a:extLst>
          </p:cNvPr>
          <p:cNvGrpSpPr/>
          <p:nvPr/>
        </p:nvGrpSpPr>
        <p:grpSpPr>
          <a:xfrm>
            <a:off x="3167880" y="469293"/>
            <a:ext cx="7977044" cy="666000"/>
            <a:chOff x="0" y="0"/>
            <a:chExt cx="7977044" cy="666000"/>
          </a:xfrm>
        </p:grpSpPr>
        <p:sp>
          <p:nvSpPr>
            <p:cNvPr id="68" name="Прямоугольник 67">
              <a:extLst>
                <a:ext uri="{FF2B5EF4-FFF2-40B4-BE49-F238E27FC236}">
                  <a16:creationId xmlns:a16="http://schemas.microsoft.com/office/drawing/2014/main" id="{E2535886-3476-4B40-9706-6797B77905C0}"/>
                </a:ext>
              </a:extLst>
            </p:cNvPr>
            <p:cNvSpPr/>
            <p:nvPr/>
          </p:nvSpPr>
          <p:spPr>
            <a:xfrm>
              <a:off x="0" y="0"/>
              <a:ext cx="7977044" cy="666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201168" tIns="0" rIns="201168" bIns="0" rtlCol="0" anchor="ctr"/>
            <a:lstStyle/>
            <a:p>
              <a:pPr algn="l"/>
              <a:r>
                <a:rPr lang="ru-RU" sz="2600" b="1" spc="0">
                  <a:solidFill>
                    <a:srgbClr val="065CAB"/>
                  </a:solidFill>
                  <a:latin typeface="Arial" panose="020B0604020202020204" pitchFamily="34" charset="0"/>
                  <a:cs typeface="Arial" pitchFamily="2" charset="0"/>
                </a:rPr>
                <a:t>Восемь шагов от данных до приложения</a:t>
              </a:r>
              <a:endParaRPr lang="ru-RU" sz="2600" b="1" spc="0" dirty="0">
                <a:solidFill>
                  <a:srgbClr val="065CAB"/>
                </a:solidFill>
                <a:latin typeface="Arial" panose="020B0604020202020204" pitchFamily="34" charset="0"/>
                <a:cs typeface="Arial" pitchFamily="2" charset="0"/>
              </a:endParaRPr>
            </a:p>
          </p:txBody>
        </p:sp>
        <p:sp>
          <p:nvSpPr>
            <p:cNvPr id="69" name="Прямоугольник 58">
              <a:extLst>
                <a:ext uri="{FF2B5EF4-FFF2-40B4-BE49-F238E27FC236}">
                  <a16:creationId xmlns:a16="http://schemas.microsoft.com/office/drawing/2014/main" id="{96789138-2397-49AA-BF3A-A6B5B90E8840}"/>
                </a:ext>
              </a:extLst>
            </p:cNvPr>
            <p:cNvSpPr/>
            <p:nvPr/>
          </p:nvSpPr>
          <p:spPr>
            <a:xfrm rot="10800000" flipH="1">
              <a:off x="0" y="0"/>
              <a:ext cx="76579" cy="666000"/>
            </a:xfrm>
            <a:custGeom>
              <a:avLst/>
              <a:gdLst>
                <a:gd name="connsiteX0" fmla="*/ 0 w 424732"/>
                <a:gd name="connsiteY0" fmla="*/ 0 h 424732"/>
                <a:gd name="connsiteX1" fmla="*/ 424732 w 424732"/>
                <a:gd name="connsiteY1" fmla="*/ 0 h 424732"/>
                <a:gd name="connsiteX2" fmla="*/ 424732 w 424732"/>
                <a:gd name="connsiteY2" fmla="*/ 424732 h 424732"/>
                <a:gd name="connsiteX3" fmla="*/ 0 w 424732"/>
                <a:gd name="connsiteY3" fmla="*/ 424732 h 424732"/>
                <a:gd name="connsiteX4" fmla="*/ 0 w 424732"/>
                <a:gd name="connsiteY4" fmla="*/ 0 h 424732"/>
                <a:gd name="connsiteX0" fmla="*/ 0 w 425450"/>
                <a:gd name="connsiteY0" fmla="*/ 0 h 424732"/>
                <a:gd name="connsiteX1" fmla="*/ 424732 w 425450"/>
                <a:gd name="connsiteY1" fmla="*/ 0 h 424732"/>
                <a:gd name="connsiteX2" fmla="*/ 425450 w 425450"/>
                <a:gd name="connsiteY2" fmla="*/ 238890 h 424732"/>
                <a:gd name="connsiteX3" fmla="*/ 424732 w 425450"/>
                <a:gd name="connsiteY3" fmla="*/ 424732 h 424732"/>
                <a:gd name="connsiteX4" fmla="*/ 0 w 425450"/>
                <a:gd name="connsiteY4" fmla="*/ 424732 h 424732"/>
                <a:gd name="connsiteX5" fmla="*/ 0 w 425450"/>
                <a:gd name="connsiteY5" fmla="*/ 0 h 424732"/>
                <a:gd name="connsiteX0" fmla="*/ 425450 w 516890"/>
                <a:gd name="connsiteY0" fmla="*/ 238890 h 424732"/>
                <a:gd name="connsiteX1" fmla="*/ 424732 w 516890"/>
                <a:gd name="connsiteY1" fmla="*/ 424732 h 424732"/>
                <a:gd name="connsiteX2" fmla="*/ 0 w 516890"/>
                <a:gd name="connsiteY2" fmla="*/ 424732 h 424732"/>
                <a:gd name="connsiteX3" fmla="*/ 0 w 516890"/>
                <a:gd name="connsiteY3" fmla="*/ 0 h 424732"/>
                <a:gd name="connsiteX4" fmla="*/ 424732 w 516890"/>
                <a:gd name="connsiteY4" fmla="*/ 0 h 424732"/>
                <a:gd name="connsiteX5" fmla="*/ 516890 w 516890"/>
                <a:gd name="connsiteY5" fmla="*/ 330330 h 424732"/>
                <a:gd name="connsiteX0" fmla="*/ 424732 w 516890"/>
                <a:gd name="connsiteY0" fmla="*/ 424732 h 424732"/>
                <a:gd name="connsiteX1" fmla="*/ 0 w 516890"/>
                <a:gd name="connsiteY1" fmla="*/ 424732 h 424732"/>
                <a:gd name="connsiteX2" fmla="*/ 0 w 516890"/>
                <a:gd name="connsiteY2" fmla="*/ 0 h 424732"/>
                <a:gd name="connsiteX3" fmla="*/ 424732 w 516890"/>
                <a:gd name="connsiteY3" fmla="*/ 0 h 424732"/>
                <a:gd name="connsiteX4" fmla="*/ 516890 w 516890"/>
                <a:gd name="connsiteY4" fmla="*/ 330330 h 424732"/>
                <a:gd name="connsiteX0" fmla="*/ 424732 w 424732"/>
                <a:gd name="connsiteY0" fmla="*/ 424732 h 424732"/>
                <a:gd name="connsiteX1" fmla="*/ 0 w 424732"/>
                <a:gd name="connsiteY1" fmla="*/ 424732 h 424732"/>
                <a:gd name="connsiteX2" fmla="*/ 0 w 424732"/>
                <a:gd name="connsiteY2" fmla="*/ 0 h 424732"/>
                <a:gd name="connsiteX3" fmla="*/ 424732 w 424732"/>
                <a:gd name="connsiteY3" fmla="*/ 0 h 424732"/>
              </a:gdLst>
              <a:ahLst/>
              <a:cxnLst>
                <a:cxn ang="0">
                  <a:pos x="connsiteX0" y="connsiteY0"/>
                </a:cxn>
                <a:cxn ang="0">
                  <a:pos x="connsiteX1" y="connsiteY1"/>
                </a:cxn>
                <a:cxn ang="0">
                  <a:pos x="connsiteX2" y="connsiteY2"/>
                </a:cxn>
                <a:cxn ang="0">
                  <a:pos x="connsiteX3" y="connsiteY3"/>
                </a:cxn>
              </a:cxnLst>
              <a:rect l="l" t="t" r="r" b="b"/>
              <a:pathLst>
                <a:path w="424732" h="424732">
                  <a:moveTo>
                    <a:pt x="424732" y="424732"/>
                  </a:moveTo>
                  <a:lnTo>
                    <a:pt x="0" y="424732"/>
                  </a:lnTo>
                  <a:lnTo>
                    <a:pt x="0" y="0"/>
                  </a:lnTo>
                  <a:lnTo>
                    <a:pt x="424732" y="0"/>
                  </a:lnTo>
                </a:path>
              </a:pathLst>
            </a:custGeom>
            <a:ln w="16510">
              <a:solidFill>
                <a:srgbClr val="065CA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latin typeface="Arial" pitchFamily="2" charset="0"/>
              </a:endParaRPr>
            </a:p>
          </p:txBody>
        </p:sp>
        <p:sp>
          <p:nvSpPr>
            <p:cNvPr id="70" name="Прямоугольник 58">
              <a:extLst>
                <a:ext uri="{FF2B5EF4-FFF2-40B4-BE49-F238E27FC236}">
                  <a16:creationId xmlns:a16="http://schemas.microsoft.com/office/drawing/2014/main" id="{DA239952-60E1-45EB-BDF0-422CC4CF7E42}"/>
                </a:ext>
              </a:extLst>
            </p:cNvPr>
            <p:cNvSpPr/>
            <p:nvPr/>
          </p:nvSpPr>
          <p:spPr>
            <a:xfrm flipH="1">
              <a:off x="7886995" y="0"/>
              <a:ext cx="90049" cy="666000"/>
            </a:xfrm>
            <a:custGeom>
              <a:avLst/>
              <a:gdLst>
                <a:gd name="connsiteX0" fmla="*/ 0 w 424732"/>
                <a:gd name="connsiteY0" fmla="*/ 0 h 424732"/>
                <a:gd name="connsiteX1" fmla="*/ 424732 w 424732"/>
                <a:gd name="connsiteY1" fmla="*/ 0 h 424732"/>
                <a:gd name="connsiteX2" fmla="*/ 424732 w 424732"/>
                <a:gd name="connsiteY2" fmla="*/ 424732 h 424732"/>
                <a:gd name="connsiteX3" fmla="*/ 0 w 424732"/>
                <a:gd name="connsiteY3" fmla="*/ 424732 h 424732"/>
                <a:gd name="connsiteX4" fmla="*/ 0 w 424732"/>
                <a:gd name="connsiteY4" fmla="*/ 0 h 424732"/>
                <a:gd name="connsiteX0" fmla="*/ 0 w 425450"/>
                <a:gd name="connsiteY0" fmla="*/ 0 h 424732"/>
                <a:gd name="connsiteX1" fmla="*/ 424732 w 425450"/>
                <a:gd name="connsiteY1" fmla="*/ 0 h 424732"/>
                <a:gd name="connsiteX2" fmla="*/ 425450 w 425450"/>
                <a:gd name="connsiteY2" fmla="*/ 238890 h 424732"/>
                <a:gd name="connsiteX3" fmla="*/ 424732 w 425450"/>
                <a:gd name="connsiteY3" fmla="*/ 424732 h 424732"/>
                <a:gd name="connsiteX4" fmla="*/ 0 w 425450"/>
                <a:gd name="connsiteY4" fmla="*/ 424732 h 424732"/>
                <a:gd name="connsiteX5" fmla="*/ 0 w 425450"/>
                <a:gd name="connsiteY5" fmla="*/ 0 h 424732"/>
                <a:gd name="connsiteX0" fmla="*/ 425450 w 516890"/>
                <a:gd name="connsiteY0" fmla="*/ 238890 h 424732"/>
                <a:gd name="connsiteX1" fmla="*/ 424732 w 516890"/>
                <a:gd name="connsiteY1" fmla="*/ 424732 h 424732"/>
                <a:gd name="connsiteX2" fmla="*/ 0 w 516890"/>
                <a:gd name="connsiteY2" fmla="*/ 424732 h 424732"/>
                <a:gd name="connsiteX3" fmla="*/ 0 w 516890"/>
                <a:gd name="connsiteY3" fmla="*/ 0 h 424732"/>
                <a:gd name="connsiteX4" fmla="*/ 424732 w 516890"/>
                <a:gd name="connsiteY4" fmla="*/ 0 h 424732"/>
                <a:gd name="connsiteX5" fmla="*/ 516890 w 516890"/>
                <a:gd name="connsiteY5" fmla="*/ 330330 h 424732"/>
                <a:gd name="connsiteX0" fmla="*/ 424732 w 516890"/>
                <a:gd name="connsiteY0" fmla="*/ 424732 h 424732"/>
                <a:gd name="connsiteX1" fmla="*/ 0 w 516890"/>
                <a:gd name="connsiteY1" fmla="*/ 424732 h 424732"/>
                <a:gd name="connsiteX2" fmla="*/ 0 w 516890"/>
                <a:gd name="connsiteY2" fmla="*/ 0 h 424732"/>
                <a:gd name="connsiteX3" fmla="*/ 424732 w 516890"/>
                <a:gd name="connsiteY3" fmla="*/ 0 h 424732"/>
                <a:gd name="connsiteX4" fmla="*/ 516890 w 516890"/>
                <a:gd name="connsiteY4" fmla="*/ 330330 h 424732"/>
                <a:gd name="connsiteX0" fmla="*/ 424732 w 424732"/>
                <a:gd name="connsiteY0" fmla="*/ 424732 h 424732"/>
                <a:gd name="connsiteX1" fmla="*/ 0 w 424732"/>
                <a:gd name="connsiteY1" fmla="*/ 424732 h 424732"/>
                <a:gd name="connsiteX2" fmla="*/ 0 w 424732"/>
                <a:gd name="connsiteY2" fmla="*/ 0 h 424732"/>
                <a:gd name="connsiteX3" fmla="*/ 424732 w 424732"/>
                <a:gd name="connsiteY3" fmla="*/ 0 h 424732"/>
              </a:gdLst>
              <a:ahLst/>
              <a:cxnLst>
                <a:cxn ang="0">
                  <a:pos x="connsiteX0" y="connsiteY0"/>
                </a:cxn>
                <a:cxn ang="0">
                  <a:pos x="connsiteX1" y="connsiteY1"/>
                </a:cxn>
                <a:cxn ang="0">
                  <a:pos x="connsiteX2" y="connsiteY2"/>
                </a:cxn>
                <a:cxn ang="0">
                  <a:pos x="connsiteX3" y="connsiteY3"/>
                </a:cxn>
              </a:cxnLst>
              <a:rect l="l" t="t" r="r" b="b"/>
              <a:pathLst>
                <a:path w="424732" h="424732">
                  <a:moveTo>
                    <a:pt x="424732" y="424732"/>
                  </a:moveTo>
                  <a:lnTo>
                    <a:pt x="0" y="424732"/>
                  </a:lnTo>
                  <a:lnTo>
                    <a:pt x="0" y="0"/>
                  </a:lnTo>
                  <a:lnTo>
                    <a:pt x="424732" y="0"/>
                  </a:lnTo>
                </a:path>
              </a:pathLst>
            </a:custGeom>
            <a:ln w="16510">
              <a:solidFill>
                <a:srgbClr val="0046A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solidFill>
                  <a:srgbClr val="065CAB"/>
                </a:solidFill>
                <a:latin typeface="Arial" pitchFamily="2" charset="0"/>
              </a:endParaRPr>
            </a:p>
          </p:txBody>
        </p:sp>
      </p:grpSp>
      <p:sp>
        <p:nvSpPr>
          <p:cNvPr id="76" name="Источник"/>
          <p:cNvSpPr txBox="1"/>
          <p:nvPr/>
        </p:nvSpPr>
        <p:spPr>
          <a:xfrm>
            <a:off x="960120" y="6336792"/>
            <a:ext cx="10808208" cy="365760"/>
          </a:xfrm>
          <a:prstGeom prst="rect">
            <a:avLst/>
          </a:prstGeom>
          <a:noFill/>
        </p:spPr>
        <p:txBody>
          <a:bodyPr wrap="square" lIns="0" tIns="0" rIns="0" bIns="0" anchor="ctr"/>
          <a:lstStyle/>
          <a:p>
            <a:pPr marL="0" indent="0" algn="l">
              <a:buNone/>
            </a:pPr>
            <a:r>
              <a:rPr lang="ru-RU" sz="1300" i="0">
                <a:solidFill>
                  <a:srgbClr val="595959"/>
                </a:solidFill>
                <a:latin typeface="Arial" panose="020B0604020202020204" pitchFamily="34" charset="0"/>
                <a:cs typeface="Arial"/>
              </a:rPr>
              <a:t>Источник: РПЗ, разделы 1.2 и 2.1–2.6</a:t>
            </a:r>
            <a:endParaRPr sz="1300" i="0">
              <a:solidFill>
                <a:srgbClr val="595959"/>
              </a:solidFill>
              <a:latin typeface="Arial" panose="020B0604020202020204" pitchFamily="34" charset="0"/>
              <a:cs typeface="Arial"/>
            </a:endParaRPr>
          </a:p>
        </p:txBody>
      </p:sp>
      <p:sp>
        <p:nvSpPr>
          <p:cNvPr id="5" name="Номер слайда 3">
            <a:extLst>
              <a:ext uri="{FF2B5EF4-FFF2-40B4-BE49-F238E27FC236}">
                <a16:creationId xmlns:a16="http://schemas.microsoft.com/office/drawing/2014/main" id="{06555008-558A-4705-ADA6-A99A535D9A1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ru-RU" smtClean="0">
                <a:cs typeface="Arial"/>
              </a:rPr>
              <a:t>4</a:t>
            </a:fld>
            <a:endParaRPr lang="ru-RU" dirty="0">
              <a:cs typeface="Arial"/>
            </a:endParaRPr>
          </a:p>
        </p:txBody>
      </p:sp>
      <p:sp>
        <p:nvSpPr>
          <p:cNvPr id="7" name="Текст 6">
            <a:extLst>
              <a:ext uri="{FF2B5EF4-FFF2-40B4-BE49-F238E27FC236}">
                <a16:creationId xmlns:a16="http://schemas.microsoft.com/office/drawing/2014/main" id="{C819DC7D-B729-474D-92A8-9E837866C3EF}"/>
              </a:ext>
            </a:extLst>
          </p:cNvPr>
          <p:cNvSpPr>
            <a:spLocks noGrp="1"/>
          </p:cNvSpPr>
          <p:nvPr>
            <p:ph type="body" idx="14"/>
          </p:nvPr>
        </p:nvSpPr>
        <p:spPr/>
        <p:txBody>
          <a:bodyPr/>
          <a:lstStyle/>
          <a:p>
            <a:endParaRPr lang="ru-RU"/>
          </a:p>
        </p:txBody>
      </p:sp>
      <p:sp>
        <p:nvSpPr>
          <p:cNvPr id="9" name="Текст 8">
            <a:extLst>
              <a:ext uri="{FF2B5EF4-FFF2-40B4-BE49-F238E27FC236}">
                <a16:creationId xmlns:a16="http://schemas.microsoft.com/office/drawing/2014/main" id="{7ED6C69E-38D1-4DED-9DAC-27FB7BBABA46}"/>
              </a:ext>
            </a:extLst>
          </p:cNvPr>
          <p:cNvSpPr>
            <a:spLocks noGrp="1"/>
          </p:cNvSpPr>
          <p:nvPr>
            <p:ph type="body" idx="2"/>
          </p:nvPr>
        </p:nvSpPr>
        <p:spPr/>
        <p:txBody>
          <a:bodyPr/>
          <a:lstStyle/>
          <a:p>
            <a:endParaRPr lang="ru-RU"/>
          </a:p>
        </p:txBody>
      </p:sp>
      <p:sp>
        <p:nvSpPr>
          <p:cNvPr id="11" name="Текст 10">
            <a:extLst>
              <a:ext uri="{FF2B5EF4-FFF2-40B4-BE49-F238E27FC236}">
                <a16:creationId xmlns:a16="http://schemas.microsoft.com/office/drawing/2014/main" id="{1C545EA9-F8A6-44B3-B6BB-7EAE56AE6AAB}"/>
              </a:ext>
            </a:extLst>
          </p:cNvPr>
          <p:cNvSpPr>
            <a:spLocks noGrp="1"/>
          </p:cNvSpPr>
          <p:nvPr>
            <p:ph type="body" idx="13"/>
          </p:nvPr>
        </p:nvSpPr>
        <p:spPr/>
        <p:txBody>
          <a:bodyPr/>
          <a:lstStyle/>
          <a:p>
            <a:endParaRPr lang="ru-RU"/>
          </a:p>
        </p:txBody>
      </p:sp>
      <p:sp>
        <p:nvSpPr>
          <p:cNvPr id="12" name="ProcessIntro">
            <a:extLst>
              <a:ext uri="{FF2B5EF4-FFF2-40B4-BE49-F238E27FC236}">
                <a16:creationId xmlns:a16="http://schemas.microsoft.com/office/drawing/2014/main" id="{8796F32C-30B0-4E1B-B775-1653B260CC9C}"/>
              </a:ext>
            </a:extLst>
          </p:cNvPr>
          <p:cNvSpPr txBox="1"/>
          <p:nvPr/>
        </p:nvSpPr>
        <p:spPr>
          <a:xfrm>
            <a:off x="558800" y="1295400"/>
            <a:ext cx="11201400" cy="384721"/>
          </a:xfrm>
          <a:prstGeom prst="rect">
            <a:avLst/>
          </a:prstGeom>
          <a:noFill/>
        </p:spPr>
        <p:txBody>
          <a:bodyPr vert="horz" wrap="square" rtlCol="0" anchor="ctr">
            <a:noAutofit/>
          </a:bodyPr>
          <a:lstStyle/>
          <a:p>
            <a:pPr algn="ctr"/>
            <a:r>
              <a:rPr lang="ru-RU" sz="1900" b="1">
                <a:solidFill>
                  <a:srgbClr val="0E5DAB"/>
                </a:solidFill>
                <a:latin typeface="Arial" panose="020B0604020202020204" pitchFamily="34" charset="0"/>
              </a:rPr>
              <a:t>Данные для итоговой проверки остаются закрытыми до шага 6</a:t>
            </a:r>
            <a:endParaRPr lang="ru-RU" sz="1900" b="1" dirty="0">
              <a:solidFill>
                <a:srgbClr val="0E5DAB"/>
              </a:solidFill>
              <a:latin typeface="Arial" panose="020B0604020202020204" pitchFamily="34" charset="0"/>
            </a:endParaRPr>
          </a:p>
        </p:txBody>
      </p:sp>
      <p:sp>
        <p:nvSpPr>
          <p:cNvPr id="13" name="Process1">
            <a:extLst>
              <a:ext uri="{FF2B5EF4-FFF2-40B4-BE49-F238E27FC236}">
                <a16:creationId xmlns:a16="http://schemas.microsoft.com/office/drawing/2014/main" id="{4C13494F-FAA0-46F3-B922-7F3093C9E6A6}"/>
              </a:ext>
            </a:extLst>
          </p:cNvPr>
          <p:cNvSpPr/>
          <p:nvPr/>
        </p:nvSpPr>
        <p:spPr>
          <a:xfrm>
            <a:off x="558800" y="2032000"/>
            <a:ext cx="2603500" cy="1371600"/>
          </a:xfrm>
          <a:prstGeom prst="roundRect">
            <a:avLst/>
          </a:prstGeom>
          <a:solidFill>
            <a:srgbClr val="DCE9F6"/>
          </a:solidFill>
          <a:ln w="17780">
            <a:solidFill>
              <a:srgbClr val="0E5DAB"/>
            </a:solidFill>
          </a:ln>
        </p:spPr>
        <p:style>
          <a:lnRef idx="2">
            <a:schemeClr val="accent1">
              <a:shade val="50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r>
              <a:rPr lang="ru-RU" sz="1600" b="1">
                <a:solidFill>
                  <a:srgbClr val="262626"/>
                </a:solidFill>
                <a:latin typeface="Arial" panose="020B0604020202020204" pitchFamily="34" charset="0"/>
              </a:rPr>
              <a:t>1
Проверить и
объединить таблицы</a:t>
            </a:r>
          </a:p>
        </p:txBody>
      </p:sp>
      <p:sp>
        <p:nvSpPr>
          <p:cNvPr id="14" name="Process2">
            <a:extLst>
              <a:ext uri="{FF2B5EF4-FFF2-40B4-BE49-F238E27FC236}">
                <a16:creationId xmlns:a16="http://schemas.microsoft.com/office/drawing/2014/main" id="{D3A970E2-08DC-44ED-9F9F-394FFBE4B0EF}"/>
              </a:ext>
            </a:extLst>
          </p:cNvPr>
          <p:cNvSpPr/>
          <p:nvPr/>
        </p:nvSpPr>
        <p:spPr>
          <a:xfrm>
            <a:off x="3378200" y="2032000"/>
            <a:ext cx="2603500" cy="1371600"/>
          </a:xfrm>
          <a:prstGeom prst="roundRect">
            <a:avLst/>
          </a:prstGeom>
          <a:solidFill>
            <a:srgbClr val="DCE9F6"/>
          </a:solidFill>
          <a:ln w="17780">
            <a:solidFill>
              <a:srgbClr val="0E5DAB"/>
            </a:solidFill>
          </a:ln>
        </p:spPr>
        <p:style>
          <a:lnRef idx="2">
            <a:schemeClr val="accent1">
              <a:shade val="50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r>
              <a:rPr lang="ru-RU" sz="1600">
                <a:solidFill>
                  <a:srgbClr val="262626"/>
                </a:solidFill>
                <a:latin typeface="Arial" panose="020B0604020202020204" pitchFamily="34" charset="0"/>
              </a:rPr>
              <a:t>2
Отделить 716 строк
и 307 строк</a:t>
            </a:r>
          </a:p>
        </p:txBody>
      </p:sp>
      <p:sp>
        <p:nvSpPr>
          <p:cNvPr id="15" name="Process3">
            <a:extLst>
              <a:ext uri="{FF2B5EF4-FFF2-40B4-BE49-F238E27FC236}">
                <a16:creationId xmlns:a16="http://schemas.microsoft.com/office/drawing/2014/main" id="{25C0BE1A-DBC6-4BA3-9B9B-FD59268F3008}"/>
              </a:ext>
            </a:extLst>
          </p:cNvPr>
          <p:cNvSpPr/>
          <p:nvPr/>
        </p:nvSpPr>
        <p:spPr>
          <a:xfrm>
            <a:off x="6197600" y="2032000"/>
            <a:ext cx="2603500" cy="1371600"/>
          </a:xfrm>
          <a:prstGeom prst="roundRect">
            <a:avLst/>
          </a:prstGeom>
          <a:solidFill>
            <a:srgbClr val="DCE9F6"/>
          </a:solidFill>
          <a:ln w="17780">
            <a:solidFill>
              <a:srgbClr val="0E5DAB"/>
            </a:solidFill>
          </a:ln>
        </p:spPr>
        <p:style>
          <a:lnRef idx="2">
            <a:schemeClr val="accent1">
              <a:shade val="50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r>
              <a:rPr lang="ru-RU" sz="1600">
                <a:solidFill>
                  <a:srgbClr val="262626"/>
                </a:solidFill>
                <a:latin typeface="Arial" panose="020B0604020202020204" pitchFamily="34" charset="0"/>
              </a:rPr>
              <a:t>3
Изучить только
716 строк</a:t>
            </a:r>
          </a:p>
        </p:txBody>
      </p:sp>
      <p:sp>
        <p:nvSpPr>
          <p:cNvPr id="16" name="Process4">
            <a:extLst>
              <a:ext uri="{FF2B5EF4-FFF2-40B4-BE49-F238E27FC236}">
                <a16:creationId xmlns:a16="http://schemas.microsoft.com/office/drawing/2014/main" id="{E001220A-E470-4476-BC6F-0999163BF7A6}"/>
              </a:ext>
            </a:extLst>
          </p:cNvPr>
          <p:cNvSpPr/>
          <p:nvPr/>
        </p:nvSpPr>
        <p:spPr>
          <a:xfrm>
            <a:off x="9017000" y="2032000"/>
            <a:ext cx="2603500" cy="1371600"/>
          </a:xfrm>
          <a:prstGeom prst="roundRect">
            <a:avLst/>
          </a:prstGeom>
          <a:solidFill>
            <a:srgbClr val="DCE9F6"/>
          </a:solidFill>
          <a:ln w="17780">
            <a:solidFill>
              <a:srgbClr val="0E5DAB"/>
            </a:solidFill>
          </a:ln>
        </p:spPr>
        <p:style>
          <a:lnRef idx="2">
            <a:schemeClr val="accent1">
              <a:shade val="50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r>
              <a:rPr lang="ru-RU" sz="1600">
                <a:solidFill>
                  <a:srgbClr val="262626"/>
                </a:solidFill>
                <a:latin typeface="Arial" panose="020B0604020202020204" pitchFamily="34" charset="0"/>
              </a:rPr>
              <a:t>4
Подготовить
характеристики</a:t>
            </a:r>
          </a:p>
        </p:txBody>
      </p:sp>
      <p:sp>
        <p:nvSpPr>
          <p:cNvPr id="17" name="Process5">
            <a:extLst>
              <a:ext uri="{FF2B5EF4-FFF2-40B4-BE49-F238E27FC236}">
                <a16:creationId xmlns:a16="http://schemas.microsoft.com/office/drawing/2014/main" id="{FA320182-BCF9-49A2-8556-C8AA640F7C3A}"/>
              </a:ext>
            </a:extLst>
          </p:cNvPr>
          <p:cNvSpPr/>
          <p:nvPr/>
        </p:nvSpPr>
        <p:spPr>
          <a:xfrm>
            <a:off x="558800" y="4000500"/>
            <a:ext cx="2603500" cy="1371600"/>
          </a:xfrm>
          <a:prstGeom prst="roundRect">
            <a:avLst/>
          </a:prstGeom>
          <a:solidFill>
            <a:srgbClr val="DCE9F6"/>
          </a:solidFill>
          <a:ln w="17780">
            <a:solidFill>
              <a:srgbClr val="0E5DAB"/>
            </a:solidFill>
          </a:ln>
        </p:spPr>
        <p:style>
          <a:lnRef idx="2">
            <a:schemeClr val="accent1">
              <a:shade val="50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r>
              <a:rPr lang="ru-RU" sz="1600">
                <a:solidFill>
                  <a:srgbClr val="262626"/>
                </a:solidFill>
                <a:latin typeface="Arial" panose="020B0604020202020204" pitchFamily="34" charset="0"/>
              </a:rPr>
              <a:t>5
Обучить и сравнить
в 10 проверках</a:t>
            </a:r>
          </a:p>
        </p:txBody>
      </p:sp>
      <p:sp>
        <p:nvSpPr>
          <p:cNvPr id="18" name="Process6">
            <a:extLst>
              <a:ext uri="{FF2B5EF4-FFF2-40B4-BE49-F238E27FC236}">
                <a16:creationId xmlns:a16="http://schemas.microsoft.com/office/drawing/2014/main" id="{1DF37619-33D8-45D2-9FD1-C14CB44F3EF3}"/>
              </a:ext>
            </a:extLst>
          </p:cNvPr>
          <p:cNvSpPr/>
          <p:nvPr/>
        </p:nvSpPr>
        <p:spPr>
          <a:xfrm>
            <a:off x="3378200" y="4000500"/>
            <a:ext cx="2603500" cy="1371600"/>
          </a:xfrm>
          <a:prstGeom prst="roundRect">
            <a:avLst/>
          </a:prstGeom>
          <a:solidFill>
            <a:srgbClr val="FFC000"/>
          </a:solidFill>
          <a:ln w="17780">
            <a:solidFill>
              <a:srgbClr val="0E5DAB"/>
            </a:solidFill>
          </a:ln>
        </p:spPr>
        <p:style>
          <a:lnRef idx="2">
            <a:schemeClr val="accent1">
              <a:shade val="50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r>
              <a:rPr lang="ru-RU" sz="1600" b="1">
                <a:solidFill>
                  <a:srgbClr val="262626"/>
                </a:solidFill>
                <a:latin typeface="Arial" panose="020B0604020202020204" pitchFamily="34" charset="0"/>
              </a:rPr>
              <a:t>6
Один раз проверить
на 307 строках</a:t>
            </a:r>
          </a:p>
        </p:txBody>
      </p:sp>
      <p:sp>
        <p:nvSpPr>
          <p:cNvPr id="19" name="Process7">
            <a:extLst>
              <a:ext uri="{FF2B5EF4-FFF2-40B4-BE49-F238E27FC236}">
                <a16:creationId xmlns:a16="http://schemas.microsoft.com/office/drawing/2014/main" id="{903C70EA-E48E-49EA-AAA2-F57790FC4CD0}"/>
              </a:ext>
            </a:extLst>
          </p:cNvPr>
          <p:cNvSpPr/>
          <p:nvPr/>
        </p:nvSpPr>
        <p:spPr>
          <a:xfrm>
            <a:off x="6197600" y="4000500"/>
            <a:ext cx="2603500" cy="1371600"/>
          </a:xfrm>
          <a:prstGeom prst="roundRect">
            <a:avLst/>
          </a:prstGeom>
          <a:solidFill>
            <a:srgbClr val="DCE9F6"/>
          </a:solidFill>
          <a:ln w="17780">
            <a:solidFill>
              <a:srgbClr val="0E5DAB"/>
            </a:solidFill>
          </a:ln>
        </p:spPr>
        <p:style>
          <a:lnRef idx="2">
            <a:schemeClr val="accent1">
              <a:shade val="50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r>
              <a:rPr lang="ru-RU" sz="1600">
                <a:solidFill>
                  <a:srgbClr val="262626"/>
                </a:solidFill>
                <a:latin typeface="Arial" panose="020B0604020202020204" pitchFamily="34" charset="0"/>
              </a:rPr>
              <a:t>7
Подключить модели
к приложению</a:t>
            </a:r>
          </a:p>
        </p:txBody>
      </p:sp>
      <p:sp>
        <p:nvSpPr>
          <p:cNvPr id="20" name="Process8">
            <a:extLst>
              <a:ext uri="{FF2B5EF4-FFF2-40B4-BE49-F238E27FC236}">
                <a16:creationId xmlns:a16="http://schemas.microsoft.com/office/drawing/2014/main" id="{8E16E5D7-7AF5-4208-B9C0-76C0B38AA343}"/>
              </a:ext>
            </a:extLst>
          </p:cNvPr>
          <p:cNvSpPr/>
          <p:nvPr/>
        </p:nvSpPr>
        <p:spPr>
          <a:xfrm>
            <a:off x="9017000" y="4000500"/>
            <a:ext cx="2603500" cy="1371600"/>
          </a:xfrm>
          <a:prstGeom prst="roundRect">
            <a:avLst/>
          </a:prstGeom>
          <a:solidFill>
            <a:srgbClr val="DCE9F6"/>
          </a:solidFill>
          <a:ln w="17780">
            <a:solidFill>
              <a:srgbClr val="0E5DAB"/>
            </a:solidFill>
          </a:ln>
        </p:spPr>
        <p:style>
          <a:lnRef idx="2">
            <a:schemeClr val="accent1">
              <a:shade val="50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r>
              <a:rPr lang="ru-RU" sz="1600">
                <a:solidFill>
                  <a:srgbClr val="262626"/>
                </a:solidFill>
                <a:latin typeface="Arial" panose="020B0604020202020204" pitchFamily="34" charset="0"/>
              </a:rPr>
              <a:t>8
Сохранить результат
в репозитории</a:t>
            </a:r>
          </a:p>
        </p:txBody>
      </p:sp>
      <p:sp>
        <p:nvSpPr>
          <p:cNvPr id="21" name="ProcessFooter">
            <a:extLst>
              <a:ext uri="{FF2B5EF4-FFF2-40B4-BE49-F238E27FC236}">
                <a16:creationId xmlns:a16="http://schemas.microsoft.com/office/drawing/2014/main" id="{AE311003-0165-43C4-8985-3F767A45A252}"/>
              </a:ext>
            </a:extLst>
          </p:cNvPr>
          <p:cNvSpPr txBox="1"/>
          <p:nvPr/>
        </p:nvSpPr>
        <p:spPr>
          <a:xfrm>
            <a:off x="558800" y="5613400"/>
            <a:ext cx="11201400" cy="338554"/>
          </a:xfrm>
          <a:prstGeom prst="rect">
            <a:avLst/>
          </a:prstGeom>
          <a:noFill/>
        </p:spPr>
        <p:txBody>
          <a:bodyPr vert="horz" wrap="square" rtlCol="0" anchor="ctr">
            <a:noAutofit/>
          </a:bodyPr>
          <a:lstStyle/>
          <a:p>
            <a:pPr algn="ctr"/>
            <a:r>
              <a:rPr lang="ru-RU" sz="1600">
                <a:solidFill>
                  <a:srgbClr val="262626"/>
                </a:solidFill>
                <a:latin typeface="Arial" panose="020B0604020202020204" pitchFamily="34" charset="0"/>
              </a:rPr>
              <a:t>Сначала формируется честная проверка, затем выбираются методы и только после этого оценивается результат</a:t>
            </a:r>
            <a:endParaRPr lang="ru-RU" sz="1600" dirty="0">
              <a:solidFill>
                <a:srgbClr val="262626"/>
              </a:solidFill>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Заголовок слайда">
            <a:extLst>
              <a:ext uri="{FF2B5EF4-FFF2-40B4-BE49-F238E27FC236}">
                <a16:creationId xmlns:a16="http://schemas.microsoft.com/office/drawing/2014/main" id="{9280711C-2262-4089-92EE-9BEACCC60C4C}"/>
              </a:ext>
            </a:extLst>
          </p:cNvPr>
          <p:cNvGrpSpPr/>
          <p:nvPr/>
        </p:nvGrpSpPr>
        <p:grpSpPr>
          <a:xfrm>
            <a:off x="3167880" y="469293"/>
            <a:ext cx="8600448" cy="896112"/>
            <a:chOff x="0" y="0"/>
            <a:chExt cx="8600448" cy="896112"/>
          </a:xfrm>
        </p:grpSpPr>
        <p:sp>
          <p:nvSpPr>
            <p:cNvPr id="68" name="Прямоугольник 67">
              <a:extLst>
                <a:ext uri="{FF2B5EF4-FFF2-40B4-BE49-F238E27FC236}">
                  <a16:creationId xmlns:a16="http://schemas.microsoft.com/office/drawing/2014/main" id="{E2535886-3476-4B40-9706-6797B77905C0}"/>
                </a:ext>
              </a:extLst>
            </p:cNvPr>
            <p:cNvSpPr/>
            <p:nvPr/>
          </p:nvSpPr>
          <p:spPr>
            <a:xfrm>
              <a:off x="0" y="0"/>
              <a:ext cx="8600448" cy="89611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201168" tIns="0" rIns="201168" bIns="0" rtlCol="0" anchor="ctr"/>
            <a:lstStyle/>
            <a:p>
              <a:pPr algn="l"/>
              <a:r>
                <a:rPr lang="ru-RU" sz="2600" b="1" spc="0">
                  <a:solidFill>
                    <a:srgbClr val="065CAB"/>
                  </a:solidFill>
                  <a:latin typeface="Arial" panose="020B0604020202020204" pitchFamily="34" charset="0"/>
                  <a:cs typeface="Arial" pitchFamily="2" charset="0"/>
                </a:rPr>
                <a:t>Данные для обучения и итоговой проверки</a:t>
              </a:r>
              <a:endParaRPr lang="ru-RU" sz="2600" b="1" spc="0" dirty="0">
                <a:solidFill>
                  <a:srgbClr val="065CAB"/>
                </a:solidFill>
                <a:latin typeface="Arial" panose="020B0604020202020204" pitchFamily="34" charset="0"/>
                <a:cs typeface="Arial" pitchFamily="2" charset="0"/>
              </a:endParaRPr>
            </a:p>
          </p:txBody>
        </p:sp>
        <p:sp>
          <p:nvSpPr>
            <p:cNvPr id="69" name="Прямоугольник 58">
              <a:extLst>
                <a:ext uri="{FF2B5EF4-FFF2-40B4-BE49-F238E27FC236}">
                  <a16:creationId xmlns:a16="http://schemas.microsoft.com/office/drawing/2014/main" id="{96789138-2397-49AA-BF3A-A6B5B90E8840}"/>
                </a:ext>
              </a:extLst>
            </p:cNvPr>
            <p:cNvSpPr/>
            <p:nvPr/>
          </p:nvSpPr>
          <p:spPr>
            <a:xfrm rot="10800000" flipH="1">
              <a:off x="0" y="0"/>
              <a:ext cx="76579" cy="896112"/>
            </a:xfrm>
            <a:custGeom>
              <a:avLst/>
              <a:gdLst>
                <a:gd name="connsiteX0" fmla="*/ 0 w 424732"/>
                <a:gd name="connsiteY0" fmla="*/ 0 h 424732"/>
                <a:gd name="connsiteX1" fmla="*/ 424732 w 424732"/>
                <a:gd name="connsiteY1" fmla="*/ 0 h 424732"/>
                <a:gd name="connsiteX2" fmla="*/ 424732 w 424732"/>
                <a:gd name="connsiteY2" fmla="*/ 424732 h 424732"/>
                <a:gd name="connsiteX3" fmla="*/ 0 w 424732"/>
                <a:gd name="connsiteY3" fmla="*/ 424732 h 424732"/>
                <a:gd name="connsiteX4" fmla="*/ 0 w 424732"/>
                <a:gd name="connsiteY4" fmla="*/ 0 h 424732"/>
                <a:gd name="connsiteX0" fmla="*/ 0 w 425450"/>
                <a:gd name="connsiteY0" fmla="*/ 0 h 424732"/>
                <a:gd name="connsiteX1" fmla="*/ 424732 w 425450"/>
                <a:gd name="connsiteY1" fmla="*/ 0 h 424732"/>
                <a:gd name="connsiteX2" fmla="*/ 425450 w 425450"/>
                <a:gd name="connsiteY2" fmla="*/ 238890 h 424732"/>
                <a:gd name="connsiteX3" fmla="*/ 424732 w 425450"/>
                <a:gd name="connsiteY3" fmla="*/ 424732 h 424732"/>
                <a:gd name="connsiteX4" fmla="*/ 0 w 425450"/>
                <a:gd name="connsiteY4" fmla="*/ 424732 h 424732"/>
                <a:gd name="connsiteX5" fmla="*/ 0 w 425450"/>
                <a:gd name="connsiteY5" fmla="*/ 0 h 424732"/>
                <a:gd name="connsiteX0" fmla="*/ 425450 w 516890"/>
                <a:gd name="connsiteY0" fmla="*/ 238890 h 424732"/>
                <a:gd name="connsiteX1" fmla="*/ 424732 w 516890"/>
                <a:gd name="connsiteY1" fmla="*/ 424732 h 424732"/>
                <a:gd name="connsiteX2" fmla="*/ 0 w 516890"/>
                <a:gd name="connsiteY2" fmla="*/ 424732 h 424732"/>
                <a:gd name="connsiteX3" fmla="*/ 0 w 516890"/>
                <a:gd name="connsiteY3" fmla="*/ 0 h 424732"/>
                <a:gd name="connsiteX4" fmla="*/ 424732 w 516890"/>
                <a:gd name="connsiteY4" fmla="*/ 0 h 424732"/>
                <a:gd name="connsiteX5" fmla="*/ 516890 w 516890"/>
                <a:gd name="connsiteY5" fmla="*/ 330330 h 424732"/>
                <a:gd name="connsiteX0" fmla="*/ 424732 w 516890"/>
                <a:gd name="connsiteY0" fmla="*/ 424732 h 424732"/>
                <a:gd name="connsiteX1" fmla="*/ 0 w 516890"/>
                <a:gd name="connsiteY1" fmla="*/ 424732 h 424732"/>
                <a:gd name="connsiteX2" fmla="*/ 0 w 516890"/>
                <a:gd name="connsiteY2" fmla="*/ 0 h 424732"/>
                <a:gd name="connsiteX3" fmla="*/ 424732 w 516890"/>
                <a:gd name="connsiteY3" fmla="*/ 0 h 424732"/>
                <a:gd name="connsiteX4" fmla="*/ 516890 w 516890"/>
                <a:gd name="connsiteY4" fmla="*/ 330330 h 424732"/>
                <a:gd name="connsiteX0" fmla="*/ 424732 w 424732"/>
                <a:gd name="connsiteY0" fmla="*/ 424732 h 424732"/>
                <a:gd name="connsiteX1" fmla="*/ 0 w 424732"/>
                <a:gd name="connsiteY1" fmla="*/ 424732 h 424732"/>
                <a:gd name="connsiteX2" fmla="*/ 0 w 424732"/>
                <a:gd name="connsiteY2" fmla="*/ 0 h 424732"/>
                <a:gd name="connsiteX3" fmla="*/ 424732 w 424732"/>
                <a:gd name="connsiteY3" fmla="*/ 0 h 424732"/>
              </a:gdLst>
              <a:ahLst/>
              <a:cxnLst>
                <a:cxn ang="0">
                  <a:pos x="connsiteX0" y="connsiteY0"/>
                </a:cxn>
                <a:cxn ang="0">
                  <a:pos x="connsiteX1" y="connsiteY1"/>
                </a:cxn>
                <a:cxn ang="0">
                  <a:pos x="connsiteX2" y="connsiteY2"/>
                </a:cxn>
                <a:cxn ang="0">
                  <a:pos x="connsiteX3" y="connsiteY3"/>
                </a:cxn>
              </a:cxnLst>
              <a:rect l="l" t="t" r="r" b="b"/>
              <a:pathLst>
                <a:path w="424732" h="424732">
                  <a:moveTo>
                    <a:pt x="424732" y="424732"/>
                  </a:moveTo>
                  <a:lnTo>
                    <a:pt x="0" y="424732"/>
                  </a:lnTo>
                  <a:lnTo>
                    <a:pt x="0" y="0"/>
                  </a:lnTo>
                  <a:lnTo>
                    <a:pt x="424732" y="0"/>
                  </a:lnTo>
                </a:path>
              </a:pathLst>
            </a:custGeom>
            <a:ln w="16510">
              <a:solidFill>
                <a:srgbClr val="065CA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latin typeface="Arial" pitchFamily="2" charset="0"/>
              </a:endParaRPr>
            </a:p>
          </p:txBody>
        </p:sp>
        <p:sp>
          <p:nvSpPr>
            <p:cNvPr id="70" name="Прямоугольник 58">
              <a:extLst>
                <a:ext uri="{FF2B5EF4-FFF2-40B4-BE49-F238E27FC236}">
                  <a16:creationId xmlns:a16="http://schemas.microsoft.com/office/drawing/2014/main" id="{DA239952-60E1-45EB-BDF0-422CC4CF7E42}"/>
                </a:ext>
              </a:extLst>
            </p:cNvPr>
            <p:cNvSpPr/>
            <p:nvPr/>
          </p:nvSpPr>
          <p:spPr>
            <a:xfrm flipH="1">
              <a:off x="8510399" y="0"/>
              <a:ext cx="90049" cy="896112"/>
            </a:xfrm>
            <a:custGeom>
              <a:avLst/>
              <a:gdLst>
                <a:gd name="connsiteX0" fmla="*/ 0 w 424732"/>
                <a:gd name="connsiteY0" fmla="*/ 0 h 424732"/>
                <a:gd name="connsiteX1" fmla="*/ 424732 w 424732"/>
                <a:gd name="connsiteY1" fmla="*/ 0 h 424732"/>
                <a:gd name="connsiteX2" fmla="*/ 424732 w 424732"/>
                <a:gd name="connsiteY2" fmla="*/ 424732 h 424732"/>
                <a:gd name="connsiteX3" fmla="*/ 0 w 424732"/>
                <a:gd name="connsiteY3" fmla="*/ 424732 h 424732"/>
                <a:gd name="connsiteX4" fmla="*/ 0 w 424732"/>
                <a:gd name="connsiteY4" fmla="*/ 0 h 424732"/>
                <a:gd name="connsiteX0" fmla="*/ 0 w 425450"/>
                <a:gd name="connsiteY0" fmla="*/ 0 h 424732"/>
                <a:gd name="connsiteX1" fmla="*/ 424732 w 425450"/>
                <a:gd name="connsiteY1" fmla="*/ 0 h 424732"/>
                <a:gd name="connsiteX2" fmla="*/ 425450 w 425450"/>
                <a:gd name="connsiteY2" fmla="*/ 238890 h 424732"/>
                <a:gd name="connsiteX3" fmla="*/ 424732 w 425450"/>
                <a:gd name="connsiteY3" fmla="*/ 424732 h 424732"/>
                <a:gd name="connsiteX4" fmla="*/ 0 w 425450"/>
                <a:gd name="connsiteY4" fmla="*/ 424732 h 424732"/>
                <a:gd name="connsiteX5" fmla="*/ 0 w 425450"/>
                <a:gd name="connsiteY5" fmla="*/ 0 h 424732"/>
                <a:gd name="connsiteX0" fmla="*/ 425450 w 516890"/>
                <a:gd name="connsiteY0" fmla="*/ 238890 h 424732"/>
                <a:gd name="connsiteX1" fmla="*/ 424732 w 516890"/>
                <a:gd name="connsiteY1" fmla="*/ 424732 h 424732"/>
                <a:gd name="connsiteX2" fmla="*/ 0 w 516890"/>
                <a:gd name="connsiteY2" fmla="*/ 424732 h 424732"/>
                <a:gd name="connsiteX3" fmla="*/ 0 w 516890"/>
                <a:gd name="connsiteY3" fmla="*/ 0 h 424732"/>
                <a:gd name="connsiteX4" fmla="*/ 424732 w 516890"/>
                <a:gd name="connsiteY4" fmla="*/ 0 h 424732"/>
                <a:gd name="connsiteX5" fmla="*/ 516890 w 516890"/>
                <a:gd name="connsiteY5" fmla="*/ 330330 h 424732"/>
                <a:gd name="connsiteX0" fmla="*/ 424732 w 516890"/>
                <a:gd name="connsiteY0" fmla="*/ 424732 h 424732"/>
                <a:gd name="connsiteX1" fmla="*/ 0 w 516890"/>
                <a:gd name="connsiteY1" fmla="*/ 424732 h 424732"/>
                <a:gd name="connsiteX2" fmla="*/ 0 w 516890"/>
                <a:gd name="connsiteY2" fmla="*/ 0 h 424732"/>
                <a:gd name="connsiteX3" fmla="*/ 424732 w 516890"/>
                <a:gd name="connsiteY3" fmla="*/ 0 h 424732"/>
                <a:gd name="connsiteX4" fmla="*/ 516890 w 516890"/>
                <a:gd name="connsiteY4" fmla="*/ 330330 h 424732"/>
                <a:gd name="connsiteX0" fmla="*/ 424732 w 424732"/>
                <a:gd name="connsiteY0" fmla="*/ 424732 h 424732"/>
                <a:gd name="connsiteX1" fmla="*/ 0 w 424732"/>
                <a:gd name="connsiteY1" fmla="*/ 424732 h 424732"/>
                <a:gd name="connsiteX2" fmla="*/ 0 w 424732"/>
                <a:gd name="connsiteY2" fmla="*/ 0 h 424732"/>
                <a:gd name="connsiteX3" fmla="*/ 424732 w 424732"/>
                <a:gd name="connsiteY3" fmla="*/ 0 h 424732"/>
              </a:gdLst>
              <a:ahLst/>
              <a:cxnLst>
                <a:cxn ang="0">
                  <a:pos x="connsiteX0" y="connsiteY0"/>
                </a:cxn>
                <a:cxn ang="0">
                  <a:pos x="connsiteX1" y="connsiteY1"/>
                </a:cxn>
                <a:cxn ang="0">
                  <a:pos x="connsiteX2" y="connsiteY2"/>
                </a:cxn>
                <a:cxn ang="0">
                  <a:pos x="connsiteX3" y="connsiteY3"/>
                </a:cxn>
              </a:cxnLst>
              <a:rect l="l" t="t" r="r" b="b"/>
              <a:pathLst>
                <a:path w="424732" h="424732">
                  <a:moveTo>
                    <a:pt x="424732" y="424732"/>
                  </a:moveTo>
                  <a:lnTo>
                    <a:pt x="0" y="424732"/>
                  </a:lnTo>
                  <a:lnTo>
                    <a:pt x="0" y="0"/>
                  </a:lnTo>
                  <a:lnTo>
                    <a:pt x="424732" y="0"/>
                  </a:lnTo>
                </a:path>
              </a:pathLst>
            </a:custGeom>
            <a:ln w="16510">
              <a:solidFill>
                <a:srgbClr val="0046A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solidFill>
                  <a:srgbClr val="065CAB"/>
                </a:solidFill>
                <a:latin typeface="Arial" pitchFamily="2" charset="0"/>
              </a:endParaRPr>
            </a:p>
          </p:txBody>
        </p:sp>
      </p:grpSp>
      <p:sp>
        <p:nvSpPr>
          <p:cNvPr id="83" name="Источник"/>
          <p:cNvSpPr txBox="1"/>
          <p:nvPr/>
        </p:nvSpPr>
        <p:spPr>
          <a:xfrm>
            <a:off x="960120" y="6336792"/>
            <a:ext cx="10808208" cy="365760"/>
          </a:xfrm>
          <a:prstGeom prst="rect">
            <a:avLst/>
          </a:prstGeom>
          <a:noFill/>
        </p:spPr>
        <p:txBody>
          <a:bodyPr wrap="square" lIns="0" tIns="0" rIns="0" bIns="0" anchor="ctr"/>
          <a:lstStyle/>
          <a:p>
            <a:pPr marL="0" indent="0" algn="l">
              <a:buNone/>
            </a:pPr>
            <a:r>
              <a:rPr lang="ru-RU" sz="1300" i="0">
                <a:solidFill>
                  <a:srgbClr val="595959"/>
                </a:solidFill>
                <a:latin typeface="Arial" panose="020B0604020202020204" pitchFamily="34" charset="0"/>
                <a:cs typeface="Arial"/>
              </a:rPr>
              <a:t>Источник: РПЗ, разделы 1.1, 1.2 и 2.1</a:t>
            </a:r>
            <a:endParaRPr sz="1300" i="0">
              <a:solidFill>
                <a:srgbClr val="595959"/>
              </a:solidFill>
              <a:latin typeface="Arial" panose="020B0604020202020204" pitchFamily="34" charset="0"/>
              <a:cs typeface="Arial"/>
            </a:endParaRPr>
          </a:p>
        </p:txBody>
      </p:sp>
      <p:sp>
        <p:nvSpPr>
          <p:cNvPr id="4" name="Номер слайда 3">
            <a:extLst>
              <a:ext uri="{FF2B5EF4-FFF2-40B4-BE49-F238E27FC236}">
                <a16:creationId xmlns:a16="http://schemas.microsoft.com/office/drawing/2014/main" id="{06555008-558A-4705-ADA6-A99A535D9A1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ru-RU" smtClean="0">
                <a:cs typeface="Arial"/>
              </a:rPr>
              <a:t>5</a:t>
            </a:fld>
            <a:endParaRPr lang="ru-RU" dirty="0">
              <a:cs typeface="Arial"/>
            </a:endParaRPr>
          </a:p>
        </p:txBody>
      </p:sp>
      <p:sp>
        <p:nvSpPr>
          <p:cNvPr id="2" name="TrainBox">
            <a:extLst>
              <a:ext uri="{FF2B5EF4-FFF2-40B4-BE49-F238E27FC236}">
                <a16:creationId xmlns:a16="http://schemas.microsoft.com/office/drawing/2014/main" id="{6236AC01-CA22-42C7-8C10-0DCEEACF3ECF}"/>
              </a:ext>
            </a:extLst>
          </p:cNvPr>
          <p:cNvSpPr/>
          <p:nvPr/>
        </p:nvSpPr>
        <p:spPr>
          <a:xfrm>
            <a:off x="558800" y="1714500"/>
            <a:ext cx="7112000" cy="1955800"/>
          </a:xfrm>
          <a:prstGeom prst="roundRect">
            <a:avLst/>
          </a:prstGeom>
          <a:solidFill>
            <a:srgbClr val="DCE9F6"/>
          </a:solidFill>
          <a:ln w="17780">
            <a:solidFill>
              <a:srgbClr val="0E5DAB"/>
            </a:solidFill>
          </a:ln>
        </p:spPr>
        <p:style>
          <a:lnRef idx="2">
            <a:schemeClr val="accent1">
              <a:shade val="50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r>
              <a:rPr lang="ru-RU" sz="2400" b="1">
                <a:solidFill>
                  <a:srgbClr val="262626"/>
                </a:solidFill>
                <a:latin typeface="Arial" panose="020B0604020202020204" pitchFamily="34" charset="0"/>
              </a:rPr>
              <a:t>716 строк
данные для обучения
70 %</a:t>
            </a:r>
          </a:p>
        </p:txBody>
      </p:sp>
      <p:sp>
        <p:nvSpPr>
          <p:cNvPr id="3" name="TestBox">
            <a:extLst>
              <a:ext uri="{FF2B5EF4-FFF2-40B4-BE49-F238E27FC236}">
                <a16:creationId xmlns:a16="http://schemas.microsoft.com/office/drawing/2014/main" id="{B8968BF2-7A07-4D18-9A6C-FA6493F76C0F}"/>
              </a:ext>
            </a:extLst>
          </p:cNvPr>
          <p:cNvSpPr/>
          <p:nvPr/>
        </p:nvSpPr>
        <p:spPr>
          <a:xfrm>
            <a:off x="8064500" y="1714500"/>
            <a:ext cx="3695700" cy="1955800"/>
          </a:xfrm>
          <a:prstGeom prst="roundRect">
            <a:avLst/>
          </a:prstGeom>
          <a:solidFill>
            <a:srgbClr val="FFC000"/>
          </a:solidFill>
          <a:ln w="17780">
            <a:solidFill>
              <a:srgbClr val="0E5DAB"/>
            </a:solidFill>
          </a:ln>
        </p:spPr>
        <p:style>
          <a:lnRef idx="2">
            <a:schemeClr val="accent1">
              <a:shade val="50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r>
              <a:rPr lang="ru-RU" sz="2200" b="1">
                <a:solidFill>
                  <a:srgbClr val="262626"/>
                </a:solidFill>
                <a:latin typeface="Arial" panose="020B0604020202020204" pitchFamily="34" charset="0"/>
              </a:rPr>
              <a:t>307 строк
данные для итоговой проверки
30 %</a:t>
            </a:r>
          </a:p>
        </p:txBody>
      </p:sp>
      <p:sp>
        <p:nvSpPr>
          <p:cNvPr id="5" name="SplitRule">
            <a:extLst>
              <a:ext uri="{FF2B5EF4-FFF2-40B4-BE49-F238E27FC236}">
                <a16:creationId xmlns:a16="http://schemas.microsoft.com/office/drawing/2014/main" id="{2A411A4F-0551-4606-B07A-F272E5C2C4C4}"/>
              </a:ext>
            </a:extLst>
          </p:cNvPr>
          <p:cNvSpPr txBox="1"/>
          <p:nvPr/>
        </p:nvSpPr>
        <p:spPr>
          <a:xfrm>
            <a:off x="558800" y="3848100"/>
            <a:ext cx="11201400" cy="369332"/>
          </a:xfrm>
          <a:prstGeom prst="rect">
            <a:avLst/>
          </a:prstGeom>
          <a:noFill/>
        </p:spPr>
        <p:txBody>
          <a:bodyPr vert="horz" wrap="square" rtlCol="0" anchor="ctr">
            <a:noAutofit/>
          </a:bodyPr>
          <a:lstStyle/>
          <a:p>
            <a:pPr algn="ctr"/>
            <a:r>
              <a:rPr lang="ru-RU" sz="1800" b="1">
                <a:solidFill>
                  <a:srgbClr val="0E5DAB"/>
                </a:solidFill>
                <a:latin typeface="Arial" panose="020B0604020202020204" pitchFamily="34" charset="0"/>
              </a:rPr>
              <a:t>307 строк не используются при изучении данных и выборе модели</a:t>
            </a:r>
            <a:endParaRPr lang="ru-RU" sz="1800" b="1" dirty="0">
              <a:solidFill>
                <a:srgbClr val="0E5DAB"/>
              </a:solidFill>
              <a:latin typeface="Arial" panose="020B0604020202020204" pitchFamily="34" charset="0"/>
            </a:endParaRPr>
          </a:p>
        </p:txBody>
      </p:sp>
      <p:sp>
        <p:nvSpPr>
          <p:cNvPr id="6" name="InputsBox">
            <a:extLst>
              <a:ext uri="{FF2B5EF4-FFF2-40B4-BE49-F238E27FC236}">
                <a16:creationId xmlns:a16="http://schemas.microsoft.com/office/drawing/2014/main" id="{52AA13C9-165A-480B-8646-11BEABA348CC}"/>
              </a:ext>
            </a:extLst>
          </p:cNvPr>
          <p:cNvSpPr/>
          <p:nvPr/>
        </p:nvSpPr>
        <p:spPr>
          <a:xfrm>
            <a:off x="1587500" y="4724400"/>
            <a:ext cx="9017000" cy="1041400"/>
          </a:xfrm>
          <a:prstGeom prst="roundRect">
            <a:avLst/>
          </a:prstGeom>
          <a:solidFill>
            <a:srgbClr val="FFFFFF"/>
          </a:solidFill>
          <a:ln w="17780">
            <a:solidFill>
              <a:srgbClr val="0E5DAB"/>
            </a:solidFill>
          </a:ln>
        </p:spPr>
        <p:style>
          <a:lnRef idx="2">
            <a:schemeClr val="accent1">
              <a:shade val="50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r>
              <a:rPr lang="ru-RU" sz="2200" b="1">
                <a:solidFill>
                  <a:srgbClr val="262626"/>
                </a:solidFill>
                <a:latin typeface="Arial" panose="020B0604020202020204" pitchFamily="34" charset="0"/>
              </a:rPr>
              <a:t>13 показателей − 2 прогнозируемых свойства = 11 входных характеристик</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Заголовок слайда">
            <a:extLst>
              <a:ext uri="{FF2B5EF4-FFF2-40B4-BE49-F238E27FC236}">
                <a16:creationId xmlns:a16="http://schemas.microsoft.com/office/drawing/2014/main" id="{9280711C-2262-4089-92EE-9BEACCC60C4C}"/>
              </a:ext>
            </a:extLst>
          </p:cNvPr>
          <p:cNvGrpSpPr/>
          <p:nvPr/>
        </p:nvGrpSpPr>
        <p:grpSpPr>
          <a:xfrm>
            <a:off x="3167880" y="469293"/>
            <a:ext cx="8356425" cy="666000"/>
            <a:chOff x="0" y="0"/>
            <a:chExt cx="8356425" cy="666000"/>
          </a:xfrm>
        </p:grpSpPr>
        <p:sp>
          <p:nvSpPr>
            <p:cNvPr id="68" name="Прямоугольник 67">
              <a:extLst>
                <a:ext uri="{FF2B5EF4-FFF2-40B4-BE49-F238E27FC236}">
                  <a16:creationId xmlns:a16="http://schemas.microsoft.com/office/drawing/2014/main" id="{E2535886-3476-4B40-9706-6797B77905C0}"/>
                </a:ext>
              </a:extLst>
            </p:cNvPr>
            <p:cNvSpPr/>
            <p:nvPr/>
          </p:nvSpPr>
          <p:spPr>
            <a:xfrm>
              <a:off x="0" y="0"/>
              <a:ext cx="8356425" cy="666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201168" tIns="0" rIns="201168" bIns="0" rtlCol="0" anchor="ctr"/>
            <a:lstStyle/>
            <a:p>
              <a:pPr algn="l"/>
              <a:r>
                <a:rPr lang="ru-RU" sz="2600" b="1" spc="0">
                  <a:solidFill>
                    <a:srgbClr val="065CAB"/>
                  </a:solidFill>
                  <a:latin typeface="Arial" panose="020B0604020202020204" pitchFamily="34" charset="0"/>
                  <a:cs typeface="Arial" pitchFamily="2" charset="0"/>
                </a:rPr>
                <a:t>Что показал анализ данных для обучения</a:t>
              </a:r>
              <a:endParaRPr lang="ru-RU" sz="2600" b="1" spc="0" dirty="0">
                <a:solidFill>
                  <a:srgbClr val="065CAB"/>
                </a:solidFill>
                <a:latin typeface="Arial" panose="020B0604020202020204" pitchFamily="34" charset="0"/>
                <a:cs typeface="Arial" pitchFamily="2" charset="0"/>
              </a:endParaRPr>
            </a:p>
          </p:txBody>
        </p:sp>
        <p:sp>
          <p:nvSpPr>
            <p:cNvPr id="69" name="Прямоугольник 58">
              <a:extLst>
                <a:ext uri="{FF2B5EF4-FFF2-40B4-BE49-F238E27FC236}">
                  <a16:creationId xmlns:a16="http://schemas.microsoft.com/office/drawing/2014/main" id="{96789138-2397-49AA-BF3A-A6B5B90E8840}"/>
                </a:ext>
              </a:extLst>
            </p:cNvPr>
            <p:cNvSpPr/>
            <p:nvPr/>
          </p:nvSpPr>
          <p:spPr>
            <a:xfrm rot="10800000" flipH="1">
              <a:off x="0" y="0"/>
              <a:ext cx="76579" cy="666000"/>
            </a:xfrm>
            <a:custGeom>
              <a:avLst/>
              <a:gdLst>
                <a:gd name="connsiteX0" fmla="*/ 0 w 424732"/>
                <a:gd name="connsiteY0" fmla="*/ 0 h 424732"/>
                <a:gd name="connsiteX1" fmla="*/ 424732 w 424732"/>
                <a:gd name="connsiteY1" fmla="*/ 0 h 424732"/>
                <a:gd name="connsiteX2" fmla="*/ 424732 w 424732"/>
                <a:gd name="connsiteY2" fmla="*/ 424732 h 424732"/>
                <a:gd name="connsiteX3" fmla="*/ 0 w 424732"/>
                <a:gd name="connsiteY3" fmla="*/ 424732 h 424732"/>
                <a:gd name="connsiteX4" fmla="*/ 0 w 424732"/>
                <a:gd name="connsiteY4" fmla="*/ 0 h 424732"/>
                <a:gd name="connsiteX0" fmla="*/ 0 w 425450"/>
                <a:gd name="connsiteY0" fmla="*/ 0 h 424732"/>
                <a:gd name="connsiteX1" fmla="*/ 424732 w 425450"/>
                <a:gd name="connsiteY1" fmla="*/ 0 h 424732"/>
                <a:gd name="connsiteX2" fmla="*/ 425450 w 425450"/>
                <a:gd name="connsiteY2" fmla="*/ 238890 h 424732"/>
                <a:gd name="connsiteX3" fmla="*/ 424732 w 425450"/>
                <a:gd name="connsiteY3" fmla="*/ 424732 h 424732"/>
                <a:gd name="connsiteX4" fmla="*/ 0 w 425450"/>
                <a:gd name="connsiteY4" fmla="*/ 424732 h 424732"/>
                <a:gd name="connsiteX5" fmla="*/ 0 w 425450"/>
                <a:gd name="connsiteY5" fmla="*/ 0 h 424732"/>
                <a:gd name="connsiteX0" fmla="*/ 425450 w 516890"/>
                <a:gd name="connsiteY0" fmla="*/ 238890 h 424732"/>
                <a:gd name="connsiteX1" fmla="*/ 424732 w 516890"/>
                <a:gd name="connsiteY1" fmla="*/ 424732 h 424732"/>
                <a:gd name="connsiteX2" fmla="*/ 0 w 516890"/>
                <a:gd name="connsiteY2" fmla="*/ 424732 h 424732"/>
                <a:gd name="connsiteX3" fmla="*/ 0 w 516890"/>
                <a:gd name="connsiteY3" fmla="*/ 0 h 424732"/>
                <a:gd name="connsiteX4" fmla="*/ 424732 w 516890"/>
                <a:gd name="connsiteY4" fmla="*/ 0 h 424732"/>
                <a:gd name="connsiteX5" fmla="*/ 516890 w 516890"/>
                <a:gd name="connsiteY5" fmla="*/ 330330 h 424732"/>
                <a:gd name="connsiteX0" fmla="*/ 424732 w 516890"/>
                <a:gd name="connsiteY0" fmla="*/ 424732 h 424732"/>
                <a:gd name="connsiteX1" fmla="*/ 0 w 516890"/>
                <a:gd name="connsiteY1" fmla="*/ 424732 h 424732"/>
                <a:gd name="connsiteX2" fmla="*/ 0 w 516890"/>
                <a:gd name="connsiteY2" fmla="*/ 0 h 424732"/>
                <a:gd name="connsiteX3" fmla="*/ 424732 w 516890"/>
                <a:gd name="connsiteY3" fmla="*/ 0 h 424732"/>
                <a:gd name="connsiteX4" fmla="*/ 516890 w 516890"/>
                <a:gd name="connsiteY4" fmla="*/ 330330 h 424732"/>
                <a:gd name="connsiteX0" fmla="*/ 424732 w 424732"/>
                <a:gd name="connsiteY0" fmla="*/ 424732 h 424732"/>
                <a:gd name="connsiteX1" fmla="*/ 0 w 424732"/>
                <a:gd name="connsiteY1" fmla="*/ 424732 h 424732"/>
                <a:gd name="connsiteX2" fmla="*/ 0 w 424732"/>
                <a:gd name="connsiteY2" fmla="*/ 0 h 424732"/>
                <a:gd name="connsiteX3" fmla="*/ 424732 w 424732"/>
                <a:gd name="connsiteY3" fmla="*/ 0 h 424732"/>
              </a:gdLst>
              <a:ahLst/>
              <a:cxnLst>
                <a:cxn ang="0">
                  <a:pos x="connsiteX0" y="connsiteY0"/>
                </a:cxn>
                <a:cxn ang="0">
                  <a:pos x="connsiteX1" y="connsiteY1"/>
                </a:cxn>
                <a:cxn ang="0">
                  <a:pos x="connsiteX2" y="connsiteY2"/>
                </a:cxn>
                <a:cxn ang="0">
                  <a:pos x="connsiteX3" y="connsiteY3"/>
                </a:cxn>
              </a:cxnLst>
              <a:rect l="l" t="t" r="r" b="b"/>
              <a:pathLst>
                <a:path w="424732" h="424732">
                  <a:moveTo>
                    <a:pt x="424732" y="424732"/>
                  </a:moveTo>
                  <a:lnTo>
                    <a:pt x="0" y="424732"/>
                  </a:lnTo>
                  <a:lnTo>
                    <a:pt x="0" y="0"/>
                  </a:lnTo>
                  <a:lnTo>
                    <a:pt x="424732" y="0"/>
                  </a:lnTo>
                </a:path>
              </a:pathLst>
            </a:custGeom>
            <a:ln w="16510">
              <a:solidFill>
                <a:srgbClr val="065CA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latin typeface="Arial" pitchFamily="2" charset="0"/>
              </a:endParaRPr>
            </a:p>
          </p:txBody>
        </p:sp>
        <p:sp>
          <p:nvSpPr>
            <p:cNvPr id="70" name="Прямоугольник 58">
              <a:extLst>
                <a:ext uri="{FF2B5EF4-FFF2-40B4-BE49-F238E27FC236}">
                  <a16:creationId xmlns:a16="http://schemas.microsoft.com/office/drawing/2014/main" id="{DA239952-60E1-45EB-BDF0-422CC4CF7E42}"/>
                </a:ext>
              </a:extLst>
            </p:cNvPr>
            <p:cNvSpPr/>
            <p:nvPr/>
          </p:nvSpPr>
          <p:spPr>
            <a:xfrm flipH="1">
              <a:off x="8266376" y="0"/>
              <a:ext cx="90049" cy="666000"/>
            </a:xfrm>
            <a:custGeom>
              <a:avLst/>
              <a:gdLst>
                <a:gd name="connsiteX0" fmla="*/ 0 w 424732"/>
                <a:gd name="connsiteY0" fmla="*/ 0 h 424732"/>
                <a:gd name="connsiteX1" fmla="*/ 424732 w 424732"/>
                <a:gd name="connsiteY1" fmla="*/ 0 h 424732"/>
                <a:gd name="connsiteX2" fmla="*/ 424732 w 424732"/>
                <a:gd name="connsiteY2" fmla="*/ 424732 h 424732"/>
                <a:gd name="connsiteX3" fmla="*/ 0 w 424732"/>
                <a:gd name="connsiteY3" fmla="*/ 424732 h 424732"/>
                <a:gd name="connsiteX4" fmla="*/ 0 w 424732"/>
                <a:gd name="connsiteY4" fmla="*/ 0 h 424732"/>
                <a:gd name="connsiteX0" fmla="*/ 0 w 425450"/>
                <a:gd name="connsiteY0" fmla="*/ 0 h 424732"/>
                <a:gd name="connsiteX1" fmla="*/ 424732 w 425450"/>
                <a:gd name="connsiteY1" fmla="*/ 0 h 424732"/>
                <a:gd name="connsiteX2" fmla="*/ 425450 w 425450"/>
                <a:gd name="connsiteY2" fmla="*/ 238890 h 424732"/>
                <a:gd name="connsiteX3" fmla="*/ 424732 w 425450"/>
                <a:gd name="connsiteY3" fmla="*/ 424732 h 424732"/>
                <a:gd name="connsiteX4" fmla="*/ 0 w 425450"/>
                <a:gd name="connsiteY4" fmla="*/ 424732 h 424732"/>
                <a:gd name="connsiteX5" fmla="*/ 0 w 425450"/>
                <a:gd name="connsiteY5" fmla="*/ 0 h 424732"/>
                <a:gd name="connsiteX0" fmla="*/ 425450 w 516890"/>
                <a:gd name="connsiteY0" fmla="*/ 238890 h 424732"/>
                <a:gd name="connsiteX1" fmla="*/ 424732 w 516890"/>
                <a:gd name="connsiteY1" fmla="*/ 424732 h 424732"/>
                <a:gd name="connsiteX2" fmla="*/ 0 w 516890"/>
                <a:gd name="connsiteY2" fmla="*/ 424732 h 424732"/>
                <a:gd name="connsiteX3" fmla="*/ 0 w 516890"/>
                <a:gd name="connsiteY3" fmla="*/ 0 h 424732"/>
                <a:gd name="connsiteX4" fmla="*/ 424732 w 516890"/>
                <a:gd name="connsiteY4" fmla="*/ 0 h 424732"/>
                <a:gd name="connsiteX5" fmla="*/ 516890 w 516890"/>
                <a:gd name="connsiteY5" fmla="*/ 330330 h 424732"/>
                <a:gd name="connsiteX0" fmla="*/ 424732 w 516890"/>
                <a:gd name="connsiteY0" fmla="*/ 424732 h 424732"/>
                <a:gd name="connsiteX1" fmla="*/ 0 w 516890"/>
                <a:gd name="connsiteY1" fmla="*/ 424732 h 424732"/>
                <a:gd name="connsiteX2" fmla="*/ 0 w 516890"/>
                <a:gd name="connsiteY2" fmla="*/ 0 h 424732"/>
                <a:gd name="connsiteX3" fmla="*/ 424732 w 516890"/>
                <a:gd name="connsiteY3" fmla="*/ 0 h 424732"/>
                <a:gd name="connsiteX4" fmla="*/ 516890 w 516890"/>
                <a:gd name="connsiteY4" fmla="*/ 330330 h 424732"/>
                <a:gd name="connsiteX0" fmla="*/ 424732 w 424732"/>
                <a:gd name="connsiteY0" fmla="*/ 424732 h 424732"/>
                <a:gd name="connsiteX1" fmla="*/ 0 w 424732"/>
                <a:gd name="connsiteY1" fmla="*/ 424732 h 424732"/>
                <a:gd name="connsiteX2" fmla="*/ 0 w 424732"/>
                <a:gd name="connsiteY2" fmla="*/ 0 h 424732"/>
                <a:gd name="connsiteX3" fmla="*/ 424732 w 424732"/>
                <a:gd name="connsiteY3" fmla="*/ 0 h 424732"/>
              </a:gdLst>
              <a:ahLst/>
              <a:cxnLst>
                <a:cxn ang="0">
                  <a:pos x="connsiteX0" y="connsiteY0"/>
                </a:cxn>
                <a:cxn ang="0">
                  <a:pos x="connsiteX1" y="connsiteY1"/>
                </a:cxn>
                <a:cxn ang="0">
                  <a:pos x="connsiteX2" y="connsiteY2"/>
                </a:cxn>
                <a:cxn ang="0">
                  <a:pos x="connsiteX3" y="connsiteY3"/>
                </a:cxn>
              </a:cxnLst>
              <a:rect l="l" t="t" r="r" b="b"/>
              <a:pathLst>
                <a:path w="424732" h="424732">
                  <a:moveTo>
                    <a:pt x="424732" y="424732"/>
                  </a:moveTo>
                  <a:lnTo>
                    <a:pt x="0" y="424732"/>
                  </a:lnTo>
                  <a:lnTo>
                    <a:pt x="0" y="0"/>
                  </a:lnTo>
                  <a:lnTo>
                    <a:pt x="424732" y="0"/>
                  </a:lnTo>
                </a:path>
              </a:pathLst>
            </a:custGeom>
            <a:ln w="16510">
              <a:solidFill>
                <a:srgbClr val="0046A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solidFill>
                  <a:srgbClr val="065CAB"/>
                </a:solidFill>
                <a:latin typeface="Arial" pitchFamily="2" charset="0"/>
              </a:endParaRPr>
            </a:p>
          </p:txBody>
        </p:sp>
      </p:grpSp>
      <p:pic>
        <p:nvPicPr>
          <p:cNvPr id="71" name="Picture 70" descr="eda_panels.png"/>
          <p:cNvPicPr>
            <a:picLocks noChangeAspect="1"/>
          </p:cNvPicPr>
          <p:nvPr/>
        </p:nvPicPr>
        <p:blipFill>
          <a:blip r:embed="rId3"/>
          <a:stretch>
            <a:fillRect/>
          </a:stretch>
        </p:blipFill>
        <p:spPr>
          <a:xfrm>
            <a:off x="420624" y="1463040"/>
            <a:ext cx="7635240" cy="3380095"/>
          </a:xfrm>
          <a:prstGeom prst="rect">
            <a:avLst/>
          </a:prstGeom>
          <a:ln w="9525">
            <a:solidFill>
              <a:srgbClr val="D9D9D9"/>
            </a:solidFill>
          </a:ln>
        </p:spPr>
      </p:pic>
      <p:sp>
        <p:nvSpPr>
          <p:cNvPr id="72" name="TextBox 71"/>
          <p:cNvSpPr txBox="1"/>
          <p:nvPr/>
        </p:nvSpPr>
        <p:spPr>
          <a:xfrm>
            <a:off x="420624" y="4937760"/>
            <a:ext cx="7635240" cy="457200"/>
          </a:xfrm>
          <a:prstGeom prst="rect">
            <a:avLst/>
          </a:prstGeom>
          <a:noFill/>
        </p:spPr>
        <p:txBody>
          <a:bodyPr wrap="square" lIns="0" tIns="0" rIns="0" bIns="0" anchor="t"/>
          <a:lstStyle/>
          <a:p>
            <a:pPr marL="0" indent="0" algn="l">
              <a:lnSpc>
                <a:spcPct val="100000"/>
              </a:lnSpc>
              <a:buNone/>
            </a:pPr>
            <a:r>
              <a:rPr lang="ru-RU" sz="1600" i="0">
                <a:solidFill>
                  <a:srgbClr val="595959"/>
                </a:solidFill>
                <a:latin typeface="Arial" panose="020B0604020202020204" pitchFamily="34" charset="0"/>
                <a:cs typeface="Arial"/>
              </a:rPr>
              <a:t>Изучены распределения, необычные значения и связи между показателями</a:t>
            </a:r>
            <a:endParaRPr sz="1600" i="0">
              <a:solidFill>
                <a:srgbClr val="595959"/>
              </a:solidFill>
              <a:latin typeface="Arial" panose="020B0604020202020204" pitchFamily="34" charset="0"/>
              <a:cs typeface="Arial"/>
            </a:endParaRPr>
          </a:p>
        </p:txBody>
      </p:sp>
      <p:sp>
        <p:nvSpPr>
          <p:cNvPr id="73" name="TextBox 72"/>
          <p:cNvSpPr txBox="1"/>
          <p:nvPr/>
        </p:nvSpPr>
        <p:spPr>
          <a:xfrm>
            <a:off x="8458200" y="1417320"/>
            <a:ext cx="3310128" cy="457200"/>
          </a:xfrm>
          <a:prstGeom prst="rect">
            <a:avLst/>
          </a:prstGeom>
          <a:noFill/>
        </p:spPr>
        <p:txBody>
          <a:bodyPr wrap="square" lIns="0" tIns="0" rIns="0" bIns="0" anchor="t"/>
          <a:lstStyle/>
          <a:p>
            <a:pPr marL="0" indent="0" algn="l">
              <a:buNone/>
            </a:pPr>
            <a:r>
              <a:rPr lang="ru-RU" sz="1700" b="1" i="0">
                <a:solidFill>
                  <a:srgbClr val="F1BE29"/>
                </a:solidFill>
                <a:latin typeface="Arial" panose="020B0604020202020204" pitchFamily="34" charset="0"/>
                <a:cs typeface="Arial"/>
              </a:rPr>
              <a:t>Только 716 строк для обучения</a:t>
            </a:r>
            <a:endParaRPr sz="1700" b="1" i="0">
              <a:solidFill>
                <a:srgbClr val="F1BE29"/>
              </a:solidFill>
              <a:latin typeface="Arial" panose="020B0604020202020204" pitchFamily="34" charset="0"/>
              <a:cs typeface="Arial"/>
            </a:endParaRPr>
          </a:p>
        </p:txBody>
      </p:sp>
      <p:sp>
        <p:nvSpPr>
          <p:cNvPr id="74" name="TextBox 73"/>
          <p:cNvSpPr txBox="1"/>
          <p:nvPr/>
        </p:nvSpPr>
        <p:spPr>
          <a:xfrm>
            <a:off x="8458200" y="1965960"/>
            <a:ext cx="3310128" cy="411480"/>
          </a:xfrm>
          <a:prstGeom prst="rect">
            <a:avLst/>
          </a:prstGeom>
          <a:noFill/>
        </p:spPr>
        <p:txBody>
          <a:bodyPr wrap="square" lIns="0" tIns="0" rIns="0" bIns="0" anchor="t"/>
          <a:lstStyle/>
          <a:p>
            <a:pPr marL="0" indent="0" algn="l">
              <a:buNone/>
            </a:pPr>
            <a:r>
              <a:rPr lang="ru-RU" sz="1500" i="0">
                <a:solidFill>
                  <a:srgbClr val="595959"/>
                </a:solidFill>
                <a:latin typeface="Arial" panose="020B0604020202020204" pitchFamily="34" charset="0"/>
                <a:cs typeface="Arial"/>
              </a:rPr>
              <a:t>Самая сильная парная связь</a:t>
            </a:r>
            <a:endParaRPr sz="1500" i="0">
              <a:solidFill>
                <a:srgbClr val="595959"/>
              </a:solidFill>
              <a:latin typeface="Arial" panose="020B0604020202020204" pitchFamily="34" charset="0"/>
              <a:cs typeface="Arial"/>
            </a:endParaRPr>
          </a:p>
        </p:txBody>
      </p:sp>
      <p:sp>
        <p:nvSpPr>
          <p:cNvPr id="75" name="TextBox 74"/>
          <p:cNvSpPr txBox="1"/>
          <p:nvPr/>
        </p:nvSpPr>
        <p:spPr>
          <a:xfrm>
            <a:off x="8458200" y="2286000"/>
            <a:ext cx="3310128" cy="822960"/>
          </a:xfrm>
          <a:prstGeom prst="rect">
            <a:avLst/>
          </a:prstGeom>
          <a:noFill/>
        </p:spPr>
        <p:txBody>
          <a:bodyPr wrap="square" lIns="0" tIns="0" rIns="0" bIns="0" anchor="t"/>
          <a:lstStyle/>
          <a:p>
            <a:pPr marL="0" indent="0" algn="l">
              <a:buNone/>
            </a:pPr>
            <a:r>
              <a:rPr sz="4400" b="1" i="0">
                <a:solidFill>
                  <a:srgbClr val="065CAB"/>
                </a:solidFill>
                <a:latin typeface="Arial" panose="020B0604020202020204" pitchFamily="34" charset="0"/>
                <a:cs typeface="Arial"/>
              </a:rPr>
              <a:t>≈ 0,119</a:t>
            </a:r>
          </a:p>
        </p:txBody>
      </p:sp>
      <p:cxnSp>
        <p:nvCxnSpPr>
          <p:cNvPr id="76" name="Connector 75"/>
          <p:cNvCxnSpPr/>
          <p:nvPr/>
        </p:nvCxnSpPr>
        <p:spPr>
          <a:xfrm>
            <a:off x="8458200" y="3246120"/>
            <a:ext cx="3310128" cy="0"/>
          </a:xfrm>
          <a:prstGeom prst="line">
            <a:avLst/>
          </a:prstGeom>
          <a:ln w="12700">
            <a:solidFill>
              <a:srgbClr val="BFBFBF"/>
            </a:solidFill>
          </a:ln>
        </p:spPr>
      </p:cxnSp>
      <p:sp>
        <p:nvSpPr>
          <p:cNvPr id="77" name="TextBox 76"/>
          <p:cNvSpPr txBox="1"/>
          <p:nvPr/>
        </p:nvSpPr>
        <p:spPr>
          <a:xfrm>
            <a:off x="8458200" y="3383280"/>
            <a:ext cx="3310128" cy="1097280"/>
          </a:xfrm>
          <a:prstGeom prst="rect">
            <a:avLst/>
          </a:prstGeom>
          <a:noFill/>
        </p:spPr>
        <p:txBody>
          <a:bodyPr wrap="square" lIns="0" tIns="0" rIns="0" bIns="0" anchor="t"/>
          <a:lstStyle/>
          <a:p>
            <a:pPr marL="0" indent="0" algn="l">
              <a:lnSpc>
                <a:spcPct val="105000"/>
              </a:lnSpc>
              <a:buNone/>
            </a:pPr>
            <a:r>
              <a:rPr sz="1800" b="0" i="0">
                <a:solidFill>
                  <a:srgbClr val="595959"/>
                </a:solidFill>
                <a:latin typeface="Arial" panose="020B0604020202020204" pitchFamily="34" charset="0"/>
                <a:cs typeface="Arial"/>
              </a:rPr>
              <a:t>Угол нашивки:</a:t>
            </a:r>
          </a:p>
          <a:p>
            <a:pPr marL="0" indent="0" algn="l">
              <a:lnSpc>
                <a:spcPct val="105000"/>
              </a:lnSpc>
              <a:buNone/>
            </a:pPr>
            <a:r>
              <a:rPr sz="2200" b="1" i="0">
                <a:solidFill>
                  <a:srgbClr val="065CAB"/>
                </a:solidFill>
                <a:latin typeface="Arial" panose="020B0604020202020204" pitchFamily="34" charset="0"/>
                <a:cs typeface="Arial"/>
              </a:rPr>
              <a:t>356</a:t>
            </a:r>
            <a:r>
              <a:rPr sz="2000" b="0" i="0">
                <a:solidFill>
                  <a:srgbClr val="262626"/>
                </a:solidFill>
                <a:latin typeface="Arial" panose="020B0604020202020204" pitchFamily="34" charset="0"/>
                <a:cs typeface="Arial"/>
              </a:rPr>
              <a:t> × 0°   </a:t>
            </a:r>
            <a:r>
              <a:rPr sz="2200" b="1" i="0">
                <a:solidFill>
                  <a:srgbClr val="065CAB"/>
                </a:solidFill>
                <a:latin typeface="Arial" panose="020B0604020202020204" pitchFamily="34" charset="0"/>
                <a:cs typeface="Arial"/>
              </a:rPr>
              <a:t>360</a:t>
            </a:r>
            <a:r>
              <a:rPr sz="2000" b="0" i="0">
                <a:solidFill>
                  <a:srgbClr val="262626"/>
                </a:solidFill>
                <a:latin typeface="Arial" panose="020B0604020202020204" pitchFamily="34" charset="0"/>
                <a:cs typeface="Arial"/>
              </a:rPr>
              <a:t> × 90°</a:t>
            </a:r>
          </a:p>
        </p:txBody>
      </p:sp>
      <p:cxnSp>
        <p:nvCxnSpPr>
          <p:cNvPr id="78" name="Connector 77"/>
          <p:cNvCxnSpPr/>
          <p:nvPr/>
        </p:nvCxnSpPr>
        <p:spPr>
          <a:xfrm>
            <a:off x="8458200" y="4526280"/>
            <a:ext cx="0" cy="1417320"/>
          </a:xfrm>
          <a:prstGeom prst="line">
            <a:avLst/>
          </a:prstGeom>
          <a:ln w="25400">
            <a:solidFill>
              <a:srgbClr val="065CAB"/>
            </a:solidFill>
          </a:ln>
        </p:spPr>
      </p:cxnSp>
      <p:cxnSp>
        <p:nvCxnSpPr>
          <p:cNvPr id="79" name="Connector 78"/>
          <p:cNvCxnSpPr/>
          <p:nvPr/>
        </p:nvCxnSpPr>
        <p:spPr>
          <a:xfrm>
            <a:off x="8458200" y="4526280"/>
            <a:ext cx="457200" cy="0"/>
          </a:xfrm>
          <a:prstGeom prst="line">
            <a:avLst/>
          </a:prstGeom>
          <a:ln w="25400">
            <a:solidFill>
              <a:srgbClr val="065CAB"/>
            </a:solidFill>
          </a:ln>
        </p:spPr>
      </p:cxnSp>
      <p:cxnSp>
        <p:nvCxnSpPr>
          <p:cNvPr id="80" name="Connector 79"/>
          <p:cNvCxnSpPr/>
          <p:nvPr/>
        </p:nvCxnSpPr>
        <p:spPr>
          <a:xfrm>
            <a:off x="8458200" y="5943600"/>
            <a:ext cx="457200" cy="0"/>
          </a:xfrm>
          <a:prstGeom prst="line">
            <a:avLst/>
          </a:prstGeom>
          <a:ln w="25400">
            <a:solidFill>
              <a:srgbClr val="065CAB"/>
            </a:solidFill>
          </a:ln>
        </p:spPr>
      </p:cxnSp>
      <p:sp>
        <p:nvSpPr>
          <p:cNvPr id="81" name="TextBox 80"/>
          <p:cNvSpPr txBox="1"/>
          <p:nvPr/>
        </p:nvSpPr>
        <p:spPr>
          <a:xfrm>
            <a:off x="8714232" y="4599432"/>
            <a:ext cx="3054096" cy="1271016"/>
          </a:xfrm>
          <a:prstGeom prst="rect">
            <a:avLst/>
          </a:prstGeom>
          <a:noFill/>
        </p:spPr>
        <p:txBody>
          <a:bodyPr wrap="square" lIns="0" tIns="0" rIns="0" bIns="0" anchor="ctr"/>
          <a:lstStyle/>
          <a:p>
            <a:pPr marL="0" indent="0" algn="l">
              <a:buNone/>
            </a:pPr>
            <a:r>
              <a:rPr lang="ru-RU" sz="1600" b="1" i="0">
                <a:solidFill>
                  <a:srgbClr val="262626"/>
                </a:solidFill>
                <a:latin typeface="Arial" panose="020B0604020202020204" pitchFamily="34" charset="0"/>
                <a:cs typeface="Arial"/>
              </a:rPr>
              <a:t>0,119 близко к нулю:
отдельные линейные связи слабые</a:t>
            </a:r>
            <a:endParaRPr sz="1600" b="1" i="0">
              <a:solidFill>
                <a:srgbClr val="262626"/>
              </a:solidFill>
              <a:latin typeface="Arial" panose="020B0604020202020204" pitchFamily="34" charset="0"/>
              <a:cs typeface="Arial"/>
            </a:endParaRPr>
          </a:p>
        </p:txBody>
      </p:sp>
      <p:sp>
        <p:nvSpPr>
          <p:cNvPr id="82" name="Источник"/>
          <p:cNvSpPr txBox="1"/>
          <p:nvPr/>
        </p:nvSpPr>
        <p:spPr>
          <a:xfrm>
            <a:off x="960120" y="6336792"/>
            <a:ext cx="10808208" cy="365760"/>
          </a:xfrm>
          <a:prstGeom prst="rect">
            <a:avLst/>
          </a:prstGeom>
          <a:noFill/>
        </p:spPr>
        <p:txBody>
          <a:bodyPr wrap="square" lIns="0" tIns="0" rIns="0" bIns="0" anchor="ctr"/>
          <a:lstStyle/>
          <a:p>
            <a:pPr marL="0" indent="0" algn="l">
              <a:buNone/>
            </a:pPr>
            <a:r>
              <a:rPr lang="ru-RU" sz="1300" i="0">
                <a:solidFill>
                  <a:srgbClr val="595959"/>
                </a:solidFill>
                <a:latin typeface="Arial" panose="020B0604020202020204" pitchFamily="34" charset="0"/>
                <a:cs typeface="Arial"/>
              </a:rPr>
              <a:t>Источник: РПЗ, раздел разведочного анализа и рисунок с распределениями</a:t>
            </a:r>
            <a:endParaRPr sz="1300" i="0">
              <a:solidFill>
                <a:srgbClr val="595959"/>
              </a:solidFill>
              <a:latin typeface="Arial" panose="020B0604020202020204" pitchFamily="34" charset="0"/>
              <a:cs typeface="Arial"/>
            </a:endParaRPr>
          </a:p>
        </p:txBody>
      </p:sp>
      <p:sp>
        <p:nvSpPr>
          <p:cNvPr id="4" name="Номер слайда 3">
            <a:extLst>
              <a:ext uri="{FF2B5EF4-FFF2-40B4-BE49-F238E27FC236}">
                <a16:creationId xmlns:a16="http://schemas.microsoft.com/office/drawing/2014/main" id="{06555008-558A-4705-ADA6-A99A535D9A1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ru-RU" smtClean="0">
                <a:cs typeface="Arial"/>
              </a:rPr>
              <a:t>6</a:t>
            </a:fld>
            <a:endParaRPr lang="ru-RU" dirty="0">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Заголовок слайда">
            <a:extLst>
              <a:ext uri="{FF2B5EF4-FFF2-40B4-BE49-F238E27FC236}">
                <a16:creationId xmlns:a16="http://schemas.microsoft.com/office/drawing/2014/main" id="{9280711C-2262-4089-92EE-9BEACCC60C4C}"/>
              </a:ext>
            </a:extLst>
          </p:cNvPr>
          <p:cNvGrpSpPr/>
          <p:nvPr/>
        </p:nvGrpSpPr>
        <p:grpSpPr>
          <a:xfrm>
            <a:off x="3167880" y="469293"/>
            <a:ext cx="8486632" cy="666000"/>
            <a:chOff x="0" y="0"/>
            <a:chExt cx="8486632" cy="666000"/>
          </a:xfrm>
        </p:grpSpPr>
        <p:sp>
          <p:nvSpPr>
            <p:cNvPr id="68" name="Прямоугольник 67">
              <a:extLst>
                <a:ext uri="{FF2B5EF4-FFF2-40B4-BE49-F238E27FC236}">
                  <a16:creationId xmlns:a16="http://schemas.microsoft.com/office/drawing/2014/main" id="{E2535886-3476-4B40-9706-6797B77905C0}"/>
                </a:ext>
              </a:extLst>
            </p:cNvPr>
            <p:cNvSpPr/>
            <p:nvPr/>
          </p:nvSpPr>
          <p:spPr>
            <a:xfrm>
              <a:off x="0" y="0"/>
              <a:ext cx="8486632" cy="666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201168" tIns="0" rIns="201168" bIns="0" rtlCol="0" anchor="ctr"/>
            <a:lstStyle/>
            <a:p>
              <a:pPr algn="l"/>
              <a:r>
                <a:rPr lang="ru-RU" sz="2600" b="1" spc="0">
                  <a:solidFill>
                    <a:srgbClr val="065CAB"/>
                  </a:solidFill>
                  <a:latin typeface="Arial" panose="020B0604020202020204" pitchFamily="34" charset="0"/>
                  <a:cs typeface="Arial" pitchFamily="2" charset="0"/>
                </a:rPr>
                <a:t>Подготовка данных перед обучением</a:t>
              </a:r>
              <a:endParaRPr lang="ru-RU" sz="2600" b="1" spc="0" dirty="0">
                <a:solidFill>
                  <a:srgbClr val="065CAB"/>
                </a:solidFill>
                <a:latin typeface="Arial" panose="020B0604020202020204" pitchFamily="34" charset="0"/>
                <a:cs typeface="Arial" pitchFamily="2" charset="0"/>
              </a:endParaRPr>
            </a:p>
          </p:txBody>
        </p:sp>
        <p:sp>
          <p:nvSpPr>
            <p:cNvPr id="69" name="Прямоугольник 58">
              <a:extLst>
                <a:ext uri="{FF2B5EF4-FFF2-40B4-BE49-F238E27FC236}">
                  <a16:creationId xmlns:a16="http://schemas.microsoft.com/office/drawing/2014/main" id="{96789138-2397-49AA-BF3A-A6B5B90E8840}"/>
                </a:ext>
              </a:extLst>
            </p:cNvPr>
            <p:cNvSpPr/>
            <p:nvPr/>
          </p:nvSpPr>
          <p:spPr>
            <a:xfrm rot="10800000" flipH="1">
              <a:off x="0" y="0"/>
              <a:ext cx="76579" cy="666000"/>
            </a:xfrm>
            <a:custGeom>
              <a:avLst/>
              <a:gdLst>
                <a:gd name="connsiteX0" fmla="*/ 0 w 424732"/>
                <a:gd name="connsiteY0" fmla="*/ 0 h 424732"/>
                <a:gd name="connsiteX1" fmla="*/ 424732 w 424732"/>
                <a:gd name="connsiteY1" fmla="*/ 0 h 424732"/>
                <a:gd name="connsiteX2" fmla="*/ 424732 w 424732"/>
                <a:gd name="connsiteY2" fmla="*/ 424732 h 424732"/>
                <a:gd name="connsiteX3" fmla="*/ 0 w 424732"/>
                <a:gd name="connsiteY3" fmla="*/ 424732 h 424732"/>
                <a:gd name="connsiteX4" fmla="*/ 0 w 424732"/>
                <a:gd name="connsiteY4" fmla="*/ 0 h 424732"/>
                <a:gd name="connsiteX0" fmla="*/ 0 w 425450"/>
                <a:gd name="connsiteY0" fmla="*/ 0 h 424732"/>
                <a:gd name="connsiteX1" fmla="*/ 424732 w 425450"/>
                <a:gd name="connsiteY1" fmla="*/ 0 h 424732"/>
                <a:gd name="connsiteX2" fmla="*/ 425450 w 425450"/>
                <a:gd name="connsiteY2" fmla="*/ 238890 h 424732"/>
                <a:gd name="connsiteX3" fmla="*/ 424732 w 425450"/>
                <a:gd name="connsiteY3" fmla="*/ 424732 h 424732"/>
                <a:gd name="connsiteX4" fmla="*/ 0 w 425450"/>
                <a:gd name="connsiteY4" fmla="*/ 424732 h 424732"/>
                <a:gd name="connsiteX5" fmla="*/ 0 w 425450"/>
                <a:gd name="connsiteY5" fmla="*/ 0 h 424732"/>
                <a:gd name="connsiteX0" fmla="*/ 425450 w 516890"/>
                <a:gd name="connsiteY0" fmla="*/ 238890 h 424732"/>
                <a:gd name="connsiteX1" fmla="*/ 424732 w 516890"/>
                <a:gd name="connsiteY1" fmla="*/ 424732 h 424732"/>
                <a:gd name="connsiteX2" fmla="*/ 0 w 516890"/>
                <a:gd name="connsiteY2" fmla="*/ 424732 h 424732"/>
                <a:gd name="connsiteX3" fmla="*/ 0 w 516890"/>
                <a:gd name="connsiteY3" fmla="*/ 0 h 424732"/>
                <a:gd name="connsiteX4" fmla="*/ 424732 w 516890"/>
                <a:gd name="connsiteY4" fmla="*/ 0 h 424732"/>
                <a:gd name="connsiteX5" fmla="*/ 516890 w 516890"/>
                <a:gd name="connsiteY5" fmla="*/ 330330 h 424732"/>
                <a:gd name="connsiteX0" fmla="*/ 424732 w 516890"/>
                <a:gd name="connsiteY0" fmla="*/ 424732 h 424732"/>
                <a:gd name="connsiteX1" fmla="*/ 0 w 516890"/>
                <a:gd name="connsiteY1" fmla="*/ 424732 h 424732"/>
                <a:gd name="connsiteX2" fmla="*/ 0 w 516890"/>
                <a:gd name="connsiteY2" fmla="*/ 0 h 424732"/>
                <a:gd name="connsiteX3" fmla="*/ 424732 w 516890"/>
                <a:gd name="connsiteY3" fmla="*/ 0 h 424732"/>
                <a:gd name="connsiteX4" fmla="*/ 516890 w 516890"/>
                <a:gd name="connsiteY4" fmla="*/ 330330 h 424732"/>
                <a:gd name="connsiteX0" fmla="*/ 424732 w 424732"/>
                <a:gd name="connsiteY0" fmla="*/ 424732 h 424732"/>
                <a:gd name="connsiteX1" fmla="*/ 0 w 424732"/>
                <a:gd name="connsiteY1" fmla="*/ 424732 h 424732"/>
                <a:gd name="connsiteX2" fmla="*/ 0 w 424732"/>
                <a:gd name="connsiteY2" fmla="*/ 0 h 424732"/>
                <a:gd name="connsiteX3" fmla="*/ 424732 w 424732"/>
                <a:gd name="connsiteY3" fmla="*/ 0 h 424732"/>
              </a:gdLst>
              <a:ahLst/>
              <a:cxnLst>
                <a:cxn ang="0">
                  <a:pos x="connsiteX0" y="connsiteY0"/>
                </a:cxn>
                <a:cxn ang="0">
                  <a:pos x="connsiteX1" y="connsiteY1"/>
                </a:cxn>
                <a:cxn ang="0">
                  <a:pos x="connsiteX2" y="connsiteY2"/>
                </a:cxn>
                <a:cxn ang="0">
                  <a:pos x="connsiteX3" y="connsiteY3"/>
                </a:cxn>
              </a:cxnLst>
              <a:rect l="l" t="t" r="r" b="b"/>
              <a:pathLst>
                <a:path w="424732" h="424732">
                  <a:moveTo>
                    <a:pt x="424732" y="424732"/>
                  </a:moveTo>
                  <a:lnTo>
                    <a:pt x="0" y="424732"/>
                  </a:lnTo>
                  <a:lnTo>
                    <a:pt x="0" y="0"/>
                  </a:lnTo>
                  <a:lnTo>
                    <a:pt x="424732" y="0"/>
                  </a:lnTo>
                </a:path>
              </a:pathLst>
            </a:custGeom>
            <a:ln w="16510">
              <a:solidFill>
                <a:srgbClr val="065CA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latin typeface="Arial" pitchFamily="2" charset="0"/>
              </a:endParaRPr>
            </a:p>
          </p:txBody>
        </p:sp>
        <p:sp>
          <p:nvSpPr>
            <p:cNvPr id="70" name="Прямоугольник 58">
              <a:extLst>
                <a:ext uri="{FF2B5EF4-FFF2-40B4-BE49-F238E27FC236}">
                  <a16:creationId xmlns:a16="http://schemas.microsoft.com/office/drawing/2014/main" id="{DA239952-60E1-45EB-BDF0-422CC4CF7E42}"/>
                </a:ext>
              </a:extLst>
            </p:cNvPr>
            <p:cNvSpPr/>
            <p:nvPr/>
          </p:nvSpPr>
          <p:spPr>
            <a:xfrm flipH="1">
              <a:off x="8396583" y="0"/>
              <a:ext cx="90049" cy="666000"/>
            </a:xfrm>
            <a:custGeom>
              <a:avLst/>
              <a:gdLst>
                <a:gd name="connsiteX0" fmla="*/ 0 w 424732"/>
                <a:gd name="connsiteY0" fmla="*/ 0 h 424732"/>
                <a:gd name="connsiteX1" fmla="*/ 424732 w 424732"/>
                <a:gd name="connsiteY1" fmla="*/ 0 h 424732"/>
                <a:gd name="connsiteX2" fmla="*/ 424732 w 424732"/>
                <a:gd name="connsiteY2" fmla="*/ 424732 h 424732"/>
                <a:gd name="connsiteX3" fmla="*/ 0 w 424732"/>
                <a:gd name="connsiteY3" fmla="*/ 424732 h 424732"/>
                <a:gd name="connsiteX4" fmla="*/ 0 w 424732"/>
                <a:gd name="connsiteY4" fmla="*/ 0 h 424732"/>
                <a:gd name="connsiteX0" fmla="*/ 0 w 425450"/>
                <a:gd name="connsiteY0" fmla="*/ 0 h 424732"/>
                <a:gd name="connsiteX1" fmla="*/ 424732 w 425450"/>
                <a:gd name="connsiteY1" fmla="*/ 0 h 424732"/>
                <a:gd name="connsiteX2" fmla="*/ 425450 w 425450"/>
                <a:gd name="connsiteY2" fmla="*/ 238890 h 424732"/>
                <a:gd name="connsiteX3" fmla="*/ 424732 w 425450"/>
                <a:gd name="connsiteY3" fmla="*/ 424732 h 424732"/>
                <a:gd name="connsiteX4" fmla="*/ 0 w 425450"/>
                <a:gd name="connsiteY4" fmla="*/ 424732 h 424732"/>
                <a:gd name="connsiteX5" fmla="*/ 0 w 425450"/>
                <a:gd name="connsiteY5" fmla="*/ 0 h 424732"/>
                <a:gd name="connsiteX0" fmla="*/ 425450 w 516890"/>
                <a:gd name="connsiteY0" fmla="*/ 238890 h 424732"/>
                <a:gd name="connsiteX1" fmla="*/ 424732 w 516890"/>
                <a:gd name="connsiteY1" fmla="*/ 424732 h 424732"/>
                <a:gd name="connsiteX2" fmla="*/ 0 w 516890"/>
                <a:gd name="connsiteY2" fmla="*/ 424732 h 424732"/>
                <a:gd name="connsiteX3" fmla="*/ 0 w 516890"/>
                <a:gd name="connsiteY3" fmla="*/ 0 h 424732"/>
                <a:gd name="connsiteX4" fmla="*/ 424732 w 516890"/>
                <a:gd name="connsiteY4" fmla="*/ 0 h 424732"/>
                <a:gd name="connsiteX5" fmla="*/ 516890 w 516890"/>
                <a:gd name="connsiteY5" fmla="*/ 330330 h 424732"/>
                <a:gd name="connsiteX0" fmla="*/ 424732 w 516890"/>
                <a:gd name="connsiteY0" fmla="*/ 424732 h 424732"/>
                <a:gd name="connsiteX1" fmla="*/ 0 w 516890"/>
                <a:gd name="connsiteY1" fmla="*/ 424732 h 424732"/>
                <a:gd name="connsiteX2" fmla="*/ 0 w 516890"/>
                <a:gd name="connsiteY2" fmla="*/ 0 h 424732"/>
                <a:gd name="connsiteX3" fmla="*/ 424732 w 516890"/>
                <a:gd name="connsiteY3" fmla="*/ 0 h 424732"/>
                <a:gd name="connsiteX4" fmla="*/ 516890 w 516890"/>
                <a:gd name="connsiteY4" fmla="*/ 330330 h 424732"/>
                <a:gd name="connsiteX0" fmla="*/ 424732 w 424732"/>
                <a:gd name="connsiteY0" fmla="*/ 424732 h 424732"/>
                <a:gd name="connsiteX1" fmla="*/ 0 w 424732"/>
                <a:gd name="connsiteY1" fmla="*/ 424732 h 424732"/>
                <a:gd name="connsiteX2" fmla="*/ 0 w 424732"/>
                <a:gd name="connsiteY2" fmla="*/ 0 h 424732"/>
                <a:gd name="connsiteX3" fmla="*/ 424732 w 424732"/>
                <a:gd name="connsiteY3" fmla="*/ 0 h 424732"/>
              </a:gdLst>
              <a:ahLst/>
              <a:cxnLst>
                <a:cxn ang="0">
                  <a:pos x="connsiteX0" y="connsiteY0"/>
                </a:cxn>
                <a:cxn ang="0">
                  <a:pos x="connsiteX1" y="connsiteY1"/>
                </a:cxn>
                <a:cxn ang="0">
                  <a:pos x="connsiteX2" y="connsiteY2"/>
                </a:cxn>
                <a:cxn ang="0">
                  <a:pos x="connsiteX3" y="connsiteY3"/>
                </a:cxn>
              </a:cxnLst>
              <a:rect l="l" t="t" r="r" b="b"/>
              <a:pathLst>
                <a:path w="424732" h="424732">
                  <a:moveTo>
                    <a:pt x="424732" y="424732"/>
                  </a:moveTo>
                  <a:lnTo>
                    <a:pt x="0" y="424732"/>
                  </a:lnTo>
                  <a:lnTo>
                    <a:pt x="0" y="0"/>
                  </a:lnTo>
                  <a:lnTo>
                    <a:pt x="424732" y="0"/>
                  </a:lnTo>
                </a:path>
              </a:pathLst>
            </a:custGeom>
            <a:ln w="16510">
              <a:solidFill>
                <a:srgbClr val="0046A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solidFill>
                  <a:srgbClr val="065CAB"/>
                </a:solidFill>
                <a:latin typeface="Arial" pitchFamily="2" charset="0"/>
              </a:endParaRPr>
            </a:p>
          </p:txBody>
        </p:sp>
      </p:grpSp>
      <p:cxnSp>
        <p:nvCxnSpPr>
          <p:cNvPr id="71" name="Connector 70"/>
          <p:cNvCxnSpPr/>
          <p:nvPr/>
        </p:nvCxnSpPr>
        <p:spPr>
          <a:xfrm>
            <a:off x="557784" y="1508760"/>
            <a:ext cx="0" cy="1600200"/>
          </a:xfrm>
          <a:prstGeom prst="line">
            <a:avLst/>
          </a:prstGeom>
          <a:ln w="28575">
            <a:solidFill>
              <a:srgbClr val="065CAB"/>
            </a:solidFill>
          </a:ln>
        </p:spPr>
      </p:cxnSp>
      <p:cxnSp>
        <p:nvCxnSpPr>
          <p:cNvPr id="72" name="Connector 71"/>
          <p:cNvCxnSpPr/>
          <p:nvPr/>
        </p:nvCxnSpPr>
        <p:spPr>
          <a:xfrm>
            <a:off x="557784" y="1508760"/>
            <a:ext cx="411480" cy="0"/>
          </a:xfrm>
          <a:prstGeom prst="line">
            <a:avLst/>
          </a:prstGeom>
          <a:ln w="28575">
            <a:solidFill>
              <a:srgbClr val="065CAB"/>
            </a:solidFill>
          </a:ln>
        </p:spPr>
      </p:cxnSp>
      <p:cxnSp>
        <p:nvCxnSpPr>
          <p:cNvPr id="73" name="Connector 72"/>
          <p:cNvCxnSpPr/>
          <p:nvPr/>
        </p:nvCxnSpPr>
        <p:spPr>
          <a:xfrm>
            <a:off x="557784" y="3108960"/>
            <a:ext cx="411480" cy="0"/>
          </a:xfrm>
          <a:prstGeom prst="line">
            <a:avLst/>
          </a:prstGeom>
          <a:ln w="28575">
            <a:solidFill>
              <a:srgbClr val="065CAB"/>
            </a:solidFill>
          </a:ln>
        </p:spPr>
      </p:cxnSp>
      <p:sp>
        <p:nvSpPr>
          <p:cNvPr id="74" name="TextBox 73"/>
          <p:cNvSpPr txBox="1"/>
          <p:nvPr/>
        </p:nvSpPr>
        <p:spPr>
          <a:xfrm>
            <a:off x="832103" y="1554480"/>
            <a:ext cx="3200400" cy="411480"/>
          </a:xfrm>
          <a:prstGeom prst="rect">
            <a:avLst/>
          </a:prstGeom>
          <a:noFill/>
        </p:spPr>
        <p:txBody>
          <a:bodyPr wrap="square" lIns="0" tIns="0" rIns="0" bIns="0" anchor="t"/>
          <a:lstStyle/>
          <a:p>
            <a:pPr marL="0" indent="0" algn="l">
              <a:lnSpc>
                <a:spcPct val="100000"/>
              </a:lnSpc>
              <a:buNone/>
            </a:pPr>
            <a:r>
              <a:rPr lang="ru-RU" sz="1500" i="0">
                <a:solidFill>
                  <a:srgbClr val="595959"/>
                </a:solidFill>
                <a:latin typeface="Arial" panose="020B0604020202020204" pitchFamily="34" charset="0"/>
                <a:cs typeface="Arial"/>
              </a:rPr>
              <a:t>Необычные строки: прямые задачи</a:t>
            </a:r>
            <a:endParaRPr sz="1500" i="0">
              <a:solidFill>
                <a:srgbClr val="595959"/>
              </a:solidFill>
              <a:latin typeface="Arial" panose="020B0604020202020204" pitchFamily="34" charset="0"/>
              <a:cs typeface="Arial"/>
            </a:endParaRPr>
          </a:p>
        </p:txBody>
      </p:sp>
      <p:sp>
        <p:nvSpPr>
          <p:cNvPr id="75" name="TextBox 74"/>
          <p:cNvSpPr txBox="1"/>
          <p:nvPr/>
        </p:nvSpPr>
        <p:spPr>
          <a:xfrm>
            <a:off x="832103" y="2057400"/>
            <a:ext cx="3291840" cy="914400"/>
          </a:xfrm>
          <a:prstGeom prst="rect">
            <a:avLst/>
          </a:prstGeom>
          <a:noFill/>
        </p:spPr>
        <p:txBody>
          <a:bodyPr wrap="square" lIns="0" tIns="0" rIns="0" bIns="0" anchor="t"/>
          <a:lstStyle/>
          <a:p>
            <a:pPr marL="0" indent="0" algn="l">
              <a:buNone/>
            </a:pPr>
            <a:r>
              <a:rPr lang="ru-RU" sz="1800" b="1" i="0">
                <a:solidFill>
                  <a:srgbClr val="595959"/>
                </a:solidFill>
                <a:latin typeface="Arial" panose="020B0604020202020204" pitchFamily="34" charset="0"/>
                <a:cs typeface="Arial"/>
              </a:rPr>
              <a:t>53 отмечены
663 остаются в опыте</a:t>
            </a:r>
            <a:endParaRPr sz="1800" b="1" i="0">
              <a:solidFill>
                <a:srgbClr val="262626"/>
              </a:solidFill>
              <a:latin typeface="Arial" panose="020B0604020202020204" pitchFamily="34" charset="0"/>
              <a:cs typeface="Arial"/>
            </a:endParaRPr>
          </a:p>
        </p:txBody>
      </p:sp>
      <p:cxnSp>
        <p:nvCxnSpPr>
          <p:cNvPr id="76" name="Connector 75"/>
          <p:cNvCxnSpPr/>
          <p:nvPr/>
        </p:nvCxnSpPr>
        <p:spPr>
          <a:xfrm>
            <a:off x="4169664" y="1508760"/>
            <a:ext cx="0" cy="1600200"/>
          </a:xfrm>
          <a:prstGeom prst="line">
            <a:avLst/>
          </a:prstGeom>
          <a:ln w="28575">
            <a:solidFill>
              <a:srgbClr val="065CAB"/>
            </a:solidFill>
          </a:ln>
        </p:spPr>
      </p:cxnSp>
      <p:cxnSp>
        <p:nvCxnSpPr>
          <p:cNvPr id="77" name="Connector 76"/>
          <p:cNvCxnSpPr/>
          <p:nvPr/>
        </p:nvCxnSpPr>
        <p:spPr>
          <a:xfrm>
            <a:off x="4169664" y="1508760"/>
            <a:ext cx="411480" cy="0"/>
          </a:xfrm>
          <a:prstGeom prst="line">
            <a:avLst/>
          </a:prstGeom>
          <a:ln w="28575">
            <a:solidFill>
              <a:srgbClr val="065CAB"/>
            </a:solidFill>
          </a:ln>
        </p:spPr>
      </p:cxnSp>
      <p:cxnSp>
        <p:nvCxnSpPr>
          <p:cNvPr id="78" name="Connector 77"/>
          <p:cNvCxnSpPr/>
          <p:nvPr/>
        </p:nvCxnSpPr>
        <p:spPr>
          <a:xfrm>
            <a:off x="4169664" y="3108960"/>
            <a:ext cx="411480" cy="0"/>
          </a:xfrm>
          <a:prstGeom prst="line">
            <a:avLst/>
          </a:prstGeom>
          <a:ln w="28575">
            <a:solidFill>
              <a:srgbClr val="065CAB"/>
            </a:solidFill>
          </a:ln>
        </p:spPr>
      </p:cxnSp>
      <p:sp>
        <p:nvSpPr>
          <p:cNvPr id="79" name="TextBox 78"/>
          <p:cNvSpPr txBox="1"/>
          <p:nvPr/>
        </p:nvSpPr>
        <p:spPr>
          <a:xfrm>
            <a:off x="4443984" y="1554480"/>
            <a:ext cx="3200400" cy="411480"/>
          </a:xfrm>
          <a:prstGeom prst="rect">
            <a:avLst/>
          </a:prstGeom>
          <a:noFill/>
        </p:spPr>
        <p:txBody>
          <a:bodyPr wrap="square" lIns="0" tIns="0" rIns="0" bIns="0" anchor="t"/>
          <a:lstStyle/>
          <a:p>
            <a:pPr marL="0" indent="0" algn="l">
              <a:lnSpc>
                <a:spcPct val="100000"/>
              </a:lnSpc>
              <a:buNone/>
            </a:pPr>
            <a:r>
              <a:rPr lang="ru-RU" sz="1500" i="0">
                <a:solidFill>
                  <a:srgbClr val="595959"/>
                </a:solidFill>
                <a:latin typeface="Arial" panose="020B0604020202020204" pitchFamily="34" charset="0"/>
                <a:cs typeface="Arial"/>
              </a:rPr>
              <a:t>Необычные строки: задача отношения</a:t>
            </a:r>
            <a:endParaRPr sz="1500" i="0">
              <a:solidFill>
                <a:srgbClr val="595959"/>
              </a:solidFill>
              <a:latin typeface="Arial" panose="020B0604020202020204" pitchFamily="34" charset="0"/>
              <a:cs typeface="Arial"/>
            </a:endParaRPr>
          </a:p>
        </p:txBody>
      </p:sp>
      <p:sp>
        <p:nvSpPr>
          <p:cNvPr id="80" name="TextBox 79"/>
          <p:cNvSpPr txBox="1"/>
          <p:nvPr/>
        </p:nvSpPr>
        <p:spPr>
          <a:xfrm>
            <a:off x="4443984" y="2057400"/>
            <a:ext cx="3291840" cy="914400"/>
          </a:xfrm>
          <a:prstGeom prst="rect">
            <a:avLst/>
          </a:prstGeom>
          <a:noFill/>
        </p:spPr>
        <p:txBody>
          <a:bodyPr wrap="square" lIns="0" tIns="0" rIns="0" bIns="0" anchor="t"/>
          <a:lstStyle/>
          <a:p>
            <a:pPr marL="0" indent="0" algn="l">
              <a:buNone/>
            </a:pPr>
            <a:r>
              <a:rPr lang="ru-RU" sz="1800" b="1" i="0">
                <a:solidFill>
                  <a:srgbClr val="595959"/>
                </a:solidFill>
                <a:latin typeface="Arial" panose="020B0604020202020204" pitchFamily="34" charset="0"/>
                <a:cs typeface="Arial"/>
              </a:rPr>
              <a:t>61 отмечена
655 остаются в опыте</a:t>
            </a:r>
            <a:endParaRPr sz="1800" b="1" i="0">
              <a:solidFill>
                <a:srgbClr val="262626"/>
              </a:solidFill>
              <a:latin typeface="Arial" panose="020B0604020202020204" pitchFamily="34" charset="0"/>
              <a:cs typeface="Arial"/>
            </a:endParaRPr>
          </a:p>
        </p:txBody>
      </p:sp>
      <p:sp>
        <p:nvSpPr>
          <p:cNvPr id="81" name="Rectangle 80"/>
          <p:cNvSpPr/>
          <p:nvPr/>
        </p:nvSpPr>
        <p:spPr>
          <a:xfrm>
            <a:off x="7909560" y="1508760"/>
            <a:ext cx="3858768" cy="1600200"/>
          </a:xfrm>
          <a:prstGeom prst="rect">
            <a:avLst/>
          </a:prstGeom>
          <a:solidFill>
            <a:srgbClr val="065CAB"/>
          </a:solidFill>
          <a:ln>
            <a:noFill/>
          </a:ln>
        </p:spPr>
        <p:txBody>
          <a:bodyPr rtlCol="0" anchor="ctr"/>
          <a:lstStyle/>
          <a:p>
            <a:pPr algn="ctr"/>
            <a:endParaRPr/>
          </a:p>
        </p:txBody>
      </p:sp>
      <p:sp>
        <p:nvSpPr>
          <p:cNvPr id="82" name="TextBox 81"/>
          <p:cNvSpPr txBox="1"/>
          <p:nvPr/>
        </p:nvSpPr>
        <p:spPr>
          <a:xfrm>
            <a:off x="8138160" y="1508760"/>
            <a:ext cx="3474720" cy="1600200"/>
          </a:xfrm>
          <a:prstGeom prst="rect">
            <a:avLst/>
          </a:prstGeom>
          <a:noFill/>
        </p:spPr>
        <p:txBody>
          <a:bodyPr wrap="square" lIns="0" tIns="0" rIns="0" bIns="0" anchor="ctr"/>
          <a:lstStyle/>
          <a:p>
            <a:pPr marL="0" indent="0" algn="l">
              <a:lnSpc>
                <a:spcPct val="100000"/>
              </a:lnSpc>
              <a:buNone/>
            </a:pPr>
            <a:r>
              <a:rPr lang="ru-RU" sz="2000" b="1" i="0">
                <a:solidFill>
                  <a:srgbClr val="FFFFFF"/>
                </a:solidFill>
                <a:latin typeface="Arial" panose="020B0604020202020204" pitchFamily="34" charset="0"/>
                <a:cs typeface="Arial"/>
              </a:rPr>
              <a:t>Итог
вариант без удаления строк</a:t>
            </a:r>
            <a:endParaRPr sz="2000" b="1" i="0">
              <a:solidFill>
                <a:srgbClr val="FFFFFF"/>
              </a:solidFill>
              <a:latin typeface="Arial" panose="020B0604020202020204" pitchFamily="34" charset="0"/>
              <a:cs typeface="Arial"/>
            </a:endParaRPr>
          </a:p>
        </p:txBody>
      </p:sp>
      <p:sp>
        <p:nvSpPr>
          <p:cNvPr id="83" name="TextBox 82"/>
          <p:cNvSpPr txBox="1"/>
          <p:nvPr/>
        </p:nvSpPr>
        <p:spPr>
          <a:xfrm>
            <a:off x="557784" y="3383280"/>
            <a:ext cx="11210544" cy="548640"/>
          </a:xfrm>
          <a:prstGeom prst="rect">
            <a:avLst/>
          </a:prstGeom>
          <a:noFill/>
        </p:spPr>
        <p:txBody>
          <a:bodyPr wrap="square" lIns="0" tIns="0" rIns="0" bIns="0" anchor="t"/>
          <a:lstStyle/>
          <a:p>
            <a:pPr marL="0" indent="0" algn="l">
              <a:lnSpc>
                <a:spcPct val="100000"/>
              </a:lnSpc>
              <a:buNone/>
            </a:pPr>
            <a:r>
              <a:rPr lang="ru-RU" sz="1500" i="0">
                <a:solidFill>
                  <a:srgbClr val="595959"/>
                </a:solidFill>
                <a:latin typeface="Arial" panose="020B0604020202020204" pitchFamily="34" charset="0"/>
                <a:cs typeface="Arial"/>
              </a:rPr>
              <a:t>Десять проверок показали: удаление отмеченных строк не улучшает результат.</a:t>
            </a:r>
            <a:endParaRPr sz="1500" i="0">
              <a:solidFill>
                <a:srgbClr val="595959"/>
              </a:solidFill>
              <a:latin typeface="Arial" panose="020B0604020202020204" pitchFamily="34" charset="0"/>
              <a:cs typeface="Arial"/>
            </a:endParaRPr>
          </a:p>
        </p:txBody>
      </p:sp>
      <p:sp>
        <p:nvSpPr>
          <p:cNvPr id="84" name="Rectangle 83"/>
          <p:cNvSpPr/>
          <p:nvPr/>
        </p:nvSpPr>
        <p:spPr>
          <a:xfrm>
            <a:off x="557784" y="4343400"/>
            <a:ext cx="3611880" cy="1371600"/>
          </a:xfrm>
          <a:prstGeom prst="rect">
            <a:avLst/>
          </a:prstGeom>
          <a:solidFill>
            <a:srgbClr val="E3F0FD"/>
          </a:solidFill>
          <a:ln>
            <a:noFill/>
          </a:ln>
        </p:spPr>
        <p:txBody>
          <a:bodyPr rtlCol="0" anchor="ctr"/>
          <a:lstStyle/>
          <a:p>
            <a:pPr algn="ctr"/>
            <a:endParaRPr/>
          </a:p>
        </p:txBody>
      </p:sp>
      <p:sp>
        <p:nvSpPr>
          <p:cNvPr id="85" name="TextBox 84"/>
          <p:cNvSpPr txBox="1"/>
          <p:nvPr/>
        </p:nvSpPr>
        <p:spPr>
          <a:xfrm>
            <a:off x="758952" y="4480560"/>
            <a:ext cx="3246120" cy="1188720"/>
          </a:xfrm>
          <a:prstGeom prst="rect">
            <a:avLst/>
          </a:prstGeom>
          <a:noFill/>
        </p:spPr>
        <p:txBody>
          <a:bodyPr wrap="square" lIns="0" tIns="0" rIns="0" bIns="0" anchor="t"/>
          <a:lstStyle/>
          <a:p>
            <a:pPr marL="0" indent="0" algn="l">
              <a:lnSpc>
                <a:spcPct val="100000"/>
              </a:lnSpc>
              <a:buNone/>
            </a:pPr>
            <a:r>
              <a:rPr lang="ru-RU" i="0">
                <a:solidFill>
                  <a:srgbClr val="065CAB"/>
                </a:solidFill>
                <a:latin typeface="Arial" panose="020B0604020202020204" pitchFamily="34" charset="0"/>
                <a:cs typeface="Arial"/>
              </a:rPr>
              <a:t>Угол 0° / 90°
два направления записаны как 0 / 1</a:t>
            </a:r>
            <a:endParaRPr i="0">
              <a:solidFill>
                <a:srgbClr val="262626"/>
              </a:solidFill>
              <a:latin typeface="Arial" panose="020B0604020202020204" pitchFamily="34" charset="0"/>
              <a:cs typeface="Arial"/>
            </a:endParaRPr>
          </a:p>
        </p:txBody>
      </p:sp>
      <p:sp>
        <p:nvSpPr>
          <p:cNvPr id="86" name="Rectangle 85"/>
          <p:cNvSpPr/>
          <p:nvPr/>
        </p:nvSpPr>
        <p:spPr>
          <a:xfrm>
            <a:off x="4334256" y="4343400"/>
            <a:ext cx="3611880" cy="1371600"/>
          </a:xfrm>
          <a:prstGeom prst="rect">
            <a:avLst/>
          </a:prstGeom>
          <a:solidFill>
            <a:srgbClr val="E3F0FD"/>
          </a:solidFill>
          <a:ln>
            <a:noFill/>
          </a:ln>
        </p:spPr>
        <p:txBody>
          <a:bodyPr rtlCol="0" anchor="ctr"/>
          <a:lstStyle/>
          <a:p>
            <a:pPr algn="ctr"/>
            <a:endParaRPr/>
          </a:p>
        </p:txBody>
      </p:sp>
      <p:sp>
        <p:nvSpPr>
          <p:cNvPr id="87" name="TextBox 86"/>
          <p:cNvSpPr txBox="1"/>
          <p:nvPr/>
        </p:nvSpPr>
        <p:spPr>
          <a:xfrm>
            <a:off x="4535424" y="4480560"/>
            <a:ext cx="3246120" cy="1188720"/>
          </a:xfrm>
          <a:prstGeom prst="rect">
            <a:avLst/>
          </a:prstGeom>
          <a:noFill/>
        </p:spPr>
        <p:txBody>
          <a:bodyPr wrap="square" lIns="0" tIns="0" rIns="0" bIns="0" anchor="t"/>
          <a:lstStyle/>
          <a:p>
            <a:pPr marL="0" indent="0" algn="l">
              <a:lnSpc>
                <a:spcPct val="100000"/>
              </a:lnSpc>
              <a:buNone/>
            </a:pPr>
            <a:r>
              <a:rPr lang="ru-RU" i="0">
                <a:solidFill>
                  <a:srgbClr val="065CAB"/>
                </a:solidFill>
                <a:latin typeface="Arial" panose="020B0604020202020204" pitchFamily="34" charset="0"/>
                <a:cs typeface="Arial"/>
              </a:rPr>
              <a:t>Единый масштаб
помогает чувствительным методам</a:t>
            </a:r>
            <a:endParaRPr i="0">
              <a:solidFill>
                <a:srgbClr val="262626"/>
              </a:solidFill>
              <a:latin typeface="Arial" panose="020B0604020202020204" pitchFamily="34" charset="0"/>
              <a:cs typeface="Arial"/>
            </a:endParaRPr>
          </a:p>
        </p:txBody>
      </p:sp>
      <p:sp>
        <p:nvSpPr>
          <p:cNvPr id="88" name="Rectangle 87"/>
          <p:cNvSpPr/>
          <p:nvPr/>
        </p:nvSpPr>
        <p:spPr>
          <a:xfrm>
            <a:off x="8110727" y="4343400"/>
            <a:ext cx="3611880" cy="1371600"/>
          </a:xfrm>
          <a:prstGeom prst="rect">
            <a:avLst/>
          </a:prstGeom>
          <a:solidFill>
            <a:srgbClr val="E3F0FD"/>
          </a:solidFill>
          <a:ln>
            <a:noFill/>
          </a:ln>
        </p:spPr>
        <p:txBody>
          <a:bodyPr rtlCol="0" anchor="ctr"/>
          <a:lstStyle/>
          <a:p>
            <a:pPr algn="ctr"/>
            <a:endParaRPr/>
          </a:p>
        </p:txBody>
      </p:sp>
      <p:sp>
        <p:nvSpPr>
          <p:cNvPr id="89" name="TextBox 88"/>
          <p:cNvSpPr txBox="1"/>
          <p:nvPr/>
        </p:nvSpPr>
        <p:spPr>
          <a:xfrm>
            <a:off x="8311896" y="4480560"/>
            <a:ext cx="3246120" cy="1188720"/>
          </a:xfrm>
          <a:prstGeom prst="rect">
            <a:avLst/>
          </a:prstGeom>
          <a:noFill/>
        </p:spPr>
        <p:txBody>
          <a:bodyPr wrap="square" lIns="0" tIns="0" rIns="0" bIns="0" anchor="t"/>
          <a:lstStyle/>
          <a:p>
            <a:pPr marL="0" indent="0" algn="l">
              <a:lnSpc>
                <a:spcPct val="100000"/>
              </a:lnSpc>
              <a:buNone/>
            </a:pPr>
            <a:r>
              <a:rPr lang="ru-RU" i="0">
                <a:solidFill>
                  <a:srgbClr val="065CAB"/>
                </a:solidFill>
                <a:latin typeface="Arial" panose="020B0604020202020204" pitchFamily="34" charset="0"/>
                <a:cs typeface="Arial"/>
              </a:rPr>
              <a:t>Масштаб рассчитывается заново
внутри каждой проверки</a:t>
            </a:r>
            <a:endParaRPr i="0">
              <a:solidFill>
                <a:srgbClr val="262626"/>
              </a:solidFill>
              <a:latin typeface="Arial" panose="020B0604020202020204" pitchFamily="34" charset="0"/>
              <a:cs typeface="Arial"/>
            </a:endParaRPr>
          </a:p>
        </p:txBody>
      </p:sp>
      <p:sp>
        <p:nvSpPr>
          <p:cNvPr id="90" name="Источник"/>
          <p:cNvSpPr txBox="1"/>
          <p:nvPr/>
        </p:nvSpPr>
        <p:spPr>
          <a:xfrm>
            <a:off x="960120" y="6336792"/>
            <a:ext cx="10808208" cy="365760"/>
          </a:xfrm>
          <a:prstGeom prst="rect">
            <a:avLst/>
          </a:prstGeom>
          <a:noFill/>
        </p:spPr>
        <p:txBody>
          <a:bodyPr wrap="square" lIns="0" tIns="0" rIns="0" bIns="0" anchor="ctr"/>
          <a:lstStyle/>
          <a:p>
            <a:pPr marL="0" indent="0" algn="l">
              <a:buNone/>
            </a:pPr>
            <a:r>
              <a:rPr lang="ru-RU" sz="1300" i="0">
                <a:solidFill>
                  <a:srgbClr val="595959"/>
                </a:solidFill>
                <a:latin typeface="Arial" panose="020B0604020202020204" pitchFamily="34" charset="0"/>
                <a:cs typeface="Arial"/>
              </a:rPr>
              <a:t>Источник: РПЗ, раздел предобработки; </a:t>
            </a:r>
            <a:r>
              <a:rPr lang="en-US" sz="1300" i="0">
                <a:solidFill>
                  <a:srgbClr val="595959"/>
                </a:solidFill>
                <a:latin typeface="Arial" panose="020B0604020202020204" pitchFamily="34" charset="0"/>
                <a:cs typeface="Arial"/>
              </a:rPr>
              <a:t>reports/modeling/preprocessing_audit.json</a:t>
            </a:r>
            <a:endParaRPr sz="1300" i="0">
              <a:solidFill>
                <a:srgbClr val="595959"/>
              </a:solidFill>
              <a:latin typeface="Arial" panose="020B0604020202020204" pitchFamily="34" charset="0"/>
              <a:cs typeface="Arial"/>
            </a:endParaRPr>
          </a:p>
        </p:txBody>
      </p:sp>
      <p:sp>
        <p:nvSpPr>
          <p:cNvPr id="4" name="Номер слайда 3">
            <a:extLst>
              <a:ext uri="{FF2B5EF4-FFF2-40B4-BE49-F238E27FC236}">
                <a16:creationId xmlns:a16="http://schemas.microsoft.com/office/drawing/2014/main" id="{06555008-558A-4705-ADA6-A99A535D9A1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ru-RU" smtClean="0">
                <a:cs typeface="Arial"/>
              </a:rPr>
              <a:t>7</a:t>
            </a:fld>
            <a:endParaRPr lang="ru-RU" dirty="0">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Заголовок слайда">
            <a:extLst>
              <a:ext uri="{FF2B5EF4-FFF2-40B4-BE49-F238E27FC236}">
                <a16:creationId xmlns:a16="http://schemas.microsoft.com/office/drawing/2014/main" id="{9280711C-2262-4089-92EE-9BEACCC60C4C}"/>
              </a:ext>
            </a:extLst>
          </p:cNvPr>
          <p:cNvGrpSpPr/>
          <p:nvPr/>
        </p:nvGrpSpPr>
        <p:grpSpPr>
          <a:xfrm>
            <a:off x="3167880" y="469293"/>
            <a:ext cx="6092713" cy="666000"/>
            <a:chOff x="0" y="0"/>
            <a:chExt cx="6092713" cy="666000"/>
          </a:xfrm>
        </p:grpSpPr>
        <p:sp>
          <p:nvSpPr>
            <p:cNvPr id="68" name="Прямоугольник 67">
              <a:extLst>
                <a:ext uri="{FF2B5EF4-FFF2-40B4-BE49-F238E27FC236}">
                  <a16:creationId xmlns:a16="http://schemas.microsoft.com/office/drawing/2014/main" id="{E2535886-3476-4B40-9706-6797B77905C0}"/>
                </a:ext>
              </a:extLst>
            </p:cNvPr>
            <p:cNvSpPr/>
            <p:nvPr/>
          </p:nvSpPr>
          <p:spPr>
            <a:xfrm>
              <a:off x="0" y="0"/>
              <a:ext cx="6092713" cy="666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201168" tIns="0" rIns="201168" bIns="0" rtlCol="0" anchor="ctr"/>
            <a:lstStyle/>
            <a:p>
              <a:pPr algn="l"/>
              <a:r>
                <a:rPr lang="ru-RU" sz="2600" b="1" spc="0">
                  <a:solidFill>
                    <a:srgbClr val="065CAB"/>
                  </a:solidFill>
                  <a:latin typeface="Arial" panose="020B0604020202020204" pitchFamily="34" charset="0"/>
                  <a:cs typeface="Arial" pitchFamily="2" charset="0"/>
                </a:rPr>
                <a:t>Для двух свойств: пять подходов и две модели</a:t>
              </a:r>
              <a:endParaRPr lang="ru-RU" sz="2600" b="1" spc="0" dirty="0">
                <a:solidFill>
                  <a:srgbClr val="065CAB"/>
                </a:solidFill>
                <a:latin typeface="Arial" panose="020B0604020202020204" pitchFamily="34" charset="0"/>
                <a:cs typeface="Arial" pitchFamily="2" charset="0"/>
              </a:endParaRPr>
            </a:p>
          </p:txBody>
        </p:sp>
        <p:sp>
          <p:nvSpPr>
            <p:cNvPr id="69" name="Прямоугольник 58">
              <a:extLst>
                <a:ext uri="{FF2B5EF4-FFF2-40B4-BE49-F238E27FC236}">
                  <a16:creationId xmlns:a16="http://schemas.microsoft.com/office/drawing/2014/main" id="{96789138-2397-49AA-BF3A-A6B5B90E8840}"/>
                </a:ext>
              </a:extLst>
            </p:cNvPr>
            <p:cNvSpPr/>
            <p:nvPr/>
          </p:nvSpPr>
          <p:spPr>
            <a:xfrm rot="10800000" flipH="1">
              <a:off x="0" y="0"/>
              <a:ext cx="76579" cy="666000"/>
            </a:xfrm>
            <a:custGeom>
              <a:avLst/>
              <a:gdLst>
                <a:gd name="connsiteX0" fmla="*/ 0 w 424732"/>
                <a:gd name="connsiteY0" fmla="*/ 0 h 424732"/>
                <a:gd name="connsiteX1" fmla="*/ 424732 w 424732"/>
                <a:gd name="connsiteY1" fmla="*/ 0 h 424732"/>
                <a:gd name="connsiteX2" fmla="*/ 424732 w 424732"/>
                <a:gd name="connsiteY2" fmla="*/ 424732 h 424732"/>
                <a:gd name="connsiteX3" fmla="*/ 0 w 424732"/>
                <a:gd name="connsiteY3" fmla="*/ 424732 h 424732"/>
                <a:gd name="connsiteX4" fmla="*/ 0 w 424732"/>
                <a:gd name="connsiteY4" fmla="*/ 0 h 424732"/>
                <a:gd name="connsiteX0" fmla="*/ 0 w 425450"/>
                <a:gd name="connsiteY0" fmla="*/ 0 h 424732"/>
                <a:gd name="connsiteX1" fmla="*/ 424732 w 425450"/>
                <a:gd name="connsiteY1" fmla="*/ 0 h 424732"/>
                <a:gd name="connsiteX2" fmla="*/ 425450 w 425450"/>
                <a:gd name="connsiteY2" fmla="*/ 238890 h 424732"/>
                <a:gd name="connsiteX3" fmla="*/ 424732 w 425450"/>
                <a:gd name="connsiteY3" fmla="*/ 424732 h 424732"/>
                <a:gd name="connsiteX4" fmla="*/ 0 w 425450"/>
                <a:gd name="connsiteY4" fmla="*/ 424732 h 424732"/>
                <a:gd name="connsiteX5" fmla="*/ 0 w 425450"/>
                <a:gd name="connsiteY5" fmla="*/ 0 h 424732"/>
                <a:gd name="connsiteX0" fmla="*/ 425450 w 516890"/>
                <a:gd name="connsiteY0" fmla="*/ 238890 h 424732"/>
                <a:gd name="connsiteX1" fmla="*/ 424732 w 516890"/>
                <a:gd name="connsiteY1" fmla="*/ 424732 h 424732"/>
                <a:gd name="connsiteX2" fmla="*/ 0 w 516890"/>
                <a:gd name="connsiteY2" fmla="*/ 424732 h 424732"/>
                <a:gd name="connsiteX3" fmla="*/ 0 w 516890"/>
                <a:gd name="connsiteY3" fmla="*/ 0 h 424732"/>
                <a:gd name="connsiteX4" fmla="*/ 424732 w 516890"/>
                <a:gd name="connsiteY4" fmla="*/ 0 h 424732"/>
                <a:gd name="connsiteX5" fmla="*/ 516890 w 516890"/>
                <a:gd name="connsiteY5" fmla="*/ 330330 h 424732"/>
                <a:gd name="connsiteX0" fmla="*/ 424732 w 516890"/>
                <a:gd name="connsiteY0" fmla="*/ 424732 h 424732"/>
                <a:gd name="connsiteX1" fmla="*/ 0 w 516890"/>
                <a:gd name="connsiteY1" fmla="*/ 424732 h 424732"/>
                <a:gd name="connsiteX2" fmla="*/ 0 w 516890"/>
                <a:gd name="connsiteY2" fmla="*/ 0 h 424732"/>
                <a:gd name="connsiteX3" fmla="*/ 424732 w 516890"/>
                <a:gd name="connsiteY3" fmla="*/ 0 h 424732"/>
                <a:gd name="connsiteX4" fmla="*/ 516890 w 516890"/>
                <a:gd name="connsiteY4" fmla="*/ 330330 h 424732"/>
                <a:gd name="connsiteX0" fmla="*/ 424732 w 424732"/>
                <a:gd name="connsiteY0" fmla="*/ 424732 h 424732"/>
                <a:gd name="connsiteX1" fmla="*/ 0 w 424732"/>
                <a:gd name="connsiteY1" fmla="*/ 424732 h 424732"/>
                <a:gd name="connsiteX2" fmla="*/ 0 w 424732"/>
                <a:gd name="connsiteY2" fmla="*/ 0 h 424732"/>
                <a:gd name="connsiteX3" fmla="*/ 424732 w 424732"/>
                <a:gd name="connsiteY3" fmla="*/ 0 h 424732"/>
              </a:gdLst>
              <a:ahLst/>
              <a:cxnLst>
                <a:cxn ang="0">
                  <a:pos x="connsiteX0" y="connsiteY0"/>
                </a:cxn>
                <a:cxn ang="0">
                  <a:pos x="connsiteX1" y="connsiteY1"/>
                </a:cxn>
                <a:cxn ang="0">
                  <a:pos x="connsiteX2" y="connsiteY2"/>
                </a:cxn>
                <a:cxn ang="0">
                  <a:pos x="connsiteX3" y="connsiteY3"/>
                </a:cxn>
              </a:cxnLst>
              <a:rect l="l" t="t" r="r" b="b"/>
              <a:pathLst>
                <a:path w="424732" h="424732">
                  <a:moveTo>
                    <a:pt x="424732" y="424732"/>
                  </a:moveTo>
                  <a:lnTo>
                    <a:pt x="0" y="424732"/>
                  </a:lnTo>
                  <a:lnTo>
                    <a:pt x="0" y="0"/>
                  </a:lnTo>
                  <a:lnTo>
                    <a:pt x="424732" y="0"/>
                  </a:lnTo>
                </a:path>
              </a:pathLst>
            </a:custGeom>
            <a:ln w="16510">
              <a:solidFill>
                <a:srgbClr val="065CA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latin typeface="Arial" pitchFamily="2" charset="0"/>
              </a:endParaRPr>
            </a:p>
          </p:txBody>
        </p:sp>
        <p:sp>
          <p:nvSpPr>
            <p:cNvPr id="70" name="Прямоугольник 58">
              <a:extLst>
                <a:ext uri="{FF2B5EF4-FFF2-40B4-BE49-F238E27FC236}">
                  <a16:creationId xmlns:a16="http://schemas.microsoft.com/office/drawing/2014/main" id="{DA239952-60E1-45EB-BDF0-422CC4CF7E42}"/>
                </a:ext>
              </a:extLst>
            </p:cNvPr>
            <p:cNvSpPr/>
            <p:nvPr/>
          </p:nvSpPr>
          <p:spPr>
            <a:xfrm flipH="1">
              <a:off x="6002664" y="0"/>
              <a:ext cx="90049" cy="666000"/>
            </a:xfrm>
            <a:custGeom>
              <a:avLst/>
              <a:gdLst>
                <a:gd name="connsiteX0" fmla="*/ 0 w 424732"/>
                <a:gd name="connsiteY0" fmla="*/ 0 h 424732"/>
                <a:gd name="connsiteX1" fmla="*/ 424732 w 424732"/>
                <a:gd name="connsiteY1" fmla="*/ 0 h 424732"/>
                <a:gd name="connsiteX2" fmla="*/ 424732 w 424732"/>
                <a:gd name="connsiteY2" fmla="*/ 424732 h 424732"/>
                <a:gd name="connsiteX3" fmla="*/ 0 w 424732"/>
                <a:gd name="connsiteY3" fmla="*/ 424732 h 424732"/>
                <a:gd name="connsiteX4" fmla="*/ 0 w 424732"/>
                <a:gd name="connsiteY4" fmla="*/ 0 h 424732"/>
                <a:gd name="connsiteX0" fmla="*/ 0 w 425450"/>
                <a:gd name="connsiteY0" fmla="*/ 0 h 424732"/>
                <a:gd name="connsiteX1" fmla="*/ 424732 w 425450"/>
                <a:gd name="connsiteY1" fmla="*/ 0 h 424732"/>
                <a:gd name="connsiteX2" fmla="*/ 425450 w 425450"/>
                <a:gd name="connsiteY2" fmla="*/ 238890 h 424732"/>
                <a:gd name="connsiteX3" fmla="*/ 424732 w 425450"/>
                <a:gd name="connsiteY3" fmla="*/ 424732 h 424732"/>
                <a:gd name="connsiteX4" fmla="*/ 0 w 425450"/>
                <a:gd name="connsiteY4" fmla="*/ 424732 h 424732"/>
                <a:gd name="connsiteX5" fmla="*/ 0 w 425450"/>
                <a:gd name="connsiteY5" fmla="*/ 0 h 424732"/>
                <a:gd name="connsiteX0" fmla="*/ 425450 w 516890"/>
                <a:gd name="connsiteY0" fmla="*/ 238890 h 424732"/>
                <a:gd name="connsiteX1" fmla="*/ 424732 w 516890"/>
                <a:gd name="connsiteY1" fmla="*/ 424732 h 424732"/>
                <a:gd name="connsiteX2" fmla="*/ 0 w 516890"/>
                <a:gd name="connsiteY2" fmla="*/ 424732 h 424732"/>
                <a:gd name="connsiteX3" fmla="*/ 0 w 516890"/>
                <a:gd name="connsiteY3" fmla="*/ 0 h 424732"/>
                <a:gd name="connsiteX4" fmla="*/ 424732 w 516890"/>
                <a:gd name="connsiteY4" fmla="*/ 0 h 424732"/>
                <a:gd name="connsiteX5" fmla="*/ 516890 w 516890"/>
                <a:gd name="connsiteY5" fmla="*/ 330330 h 424732"/>
                <a:gd name="connsiteX0" fmla="*/ 424732 w 516890"/>
                <a:gd name="connsiteY0" fmla="*/ 424732 h 424732"/>
                <a:gd name="connsiteX1" fmla="*/ 0 w 516890"/>
                <a:gd name="connsiteY1" fmla="*/ 424732 h 424732"/>
                <a:gd name="connsiteX2" fmla="*/ 0 w 516890"/>
                <a:gd name="connsiteY2" fmla="*/ 0 h 424732"/>
                <a:gd name="connsiteX3" fmla="*/ 424732 w 516890"/>
                <a:gd name="connsiteY3" fmla="*/ 0 h 424732"/>
                <a:gd name="connsiteX4" fmla="*/ 516890 w 516890"/>
                <a:gd name="connsiteY4" fmla="*/ 330330 h 424732"/>
                <a:gd name="connsiteX0" fmla="*/ 424732 w 424732"/>
                <a:gd name="connsiteY0" fmla="*/ 424732 h 424732"/>
                <a:gd name="connsiteX1" fmla="*/ 0 w 424732"/>
                <a:gd name="connsiteY1" fmla="*/ 424732 h 424732"/>
                <a:gd name="connsiteX2" fmla="*/ 0 w 424732"/>
                <a:gd name="connsiteY2" fmla="*/ 0 h 424732"/>
                <a:gd name="connsiteX3" fmla="*/ 424732 w 424732"/>
                <a:gd name="connsiteY3" fmla="*/ 0 h 424732"/>
              </a:gdLst>
              <a:ahLst/>
              <a:cxnLst>
                <a:cxn ang="0">
                  <a:pos x="connsiteX0" y="connsiteY0"/>
                </a:cxn>
                <a:cxn ang="0">
                  <a:pos x="connsiteX1" y="connsiteY1"/>
                </a:cxn>
                <a:cxn ang="0">
                  <a:pos x="connsiteX2" y="connsiteY2"/>
                </a:cxn>
                <a:cxn ang="0">
                  <a:pos x="connsiteX3" y="connsiteY3"/>
                </a:cxn>
              </a:cxnLst>
              <a:rect l="l" t="t" r="r" b="b"/>
              <a:pathLst>
                <a:path w="424732" h="424732">
                  <a:moveTo>
                    <a:pt x="424732" y="424732"/>
                  </a:moveTo>
                  <a:lnTo>
                    <a:pt x="0" y="424732"/>
                  </a:lnTo>
                  <a:lnTo>
                    <a:pt x="0" y="0"/>
                  </a:lnTo>
                  <a:lnTo>
                    <a:pt x="424732" y="0"/>
                  </a:lnTo>
                </a:path>
              </a:pathLst>
            </a:custGeom>
            <a:ln w="16510">
              <a:solidFill>
                <a:srgbClr val="0046A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solidFill>
                  <a:srgbClr val="065CAB"/>
                </a:solidFill>
                <a:latin typeface="Arial" pitchFamily="2" charset="0"/>
              </a:endParaRPr>
            </a:p>
          </p:txBody>
        </p:sp>
      </p:grpSp>
      <p:sp>
        <p:nvSpPr>
          <p:cNvPr id="79" name="Источник"/>
          <p:cNvSpPr txBox="1"/>
          <p:nvPr/>
        </p:nvSpPr>
        <p:spPr>
          <a:xfrm>
            <a:off x="960120" y="6336792"/>
            <a:ext cx="10808208" cy="365760"/>
          </a:xfrm>
          <a:prstGeom prst="rect">
            <a:avLst/>
          </a:prstGeom>
          <a:noFill/>
        </p:spPr>
        <p:txBody>
          <a:bodyPr wrap="square" lIns="0" tIns="0" rIns="0" bIns="0" anchor="ctr"/>
          <a:lstStyle/>
          <a:p>
            <a:pPr marL="0" indent="0" algn="l">
              <a:buNone/>
            </a:pPr>
            <a:r>
              <a:rPr lang="ru-RU" sz="1300" i="0">
                <a:solidFill>
                  <a:srgbClr val="595959"/>
                </a:solidFill>
                <a:latin typeface="Arial" panose="020B0604020202020204" pitchFamily="34" charset="0"/>
                <a:cs typeface="Arial"/>
              </a:rPr>
              <a:t>Источник: РПЗ, разделы о методах и проверке моделей; reports/modeling/cv_summary.csv</a:t>
            </a:r>
            <a:endParaRPr sz="1300" i="0">
              <a:solidFill>
                <a:srgbClr val="595959"/>
              </a:solidFill>
              <a:latin typeface="Arial" panose="020B0604020202020204" pitchFamily="34" charset="0"/>
              <a:cs typeface="Arial"/>
            </a:endParaRPr>
          </a:p>
        </p:txBody>
      </p:sp>
      <p:sp>
        <p:nvSpPr>
          <p:cNvPr id="4" name="Номер слайда 3">
            <a:extLst>
              <a:ext uri="{FF2B5EF4-FFF2-40B4-BE49-F238E27FC236}">
                <a16:creationId xmlns:a16="http://schemas.microsoft.com/office/drawing/2014/main" id="{06555008-558A-4705-ADA6-A99A535D9A1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ru-RU" smtClean="0">
                <a:cs typeface="Arial"/>
              </a:rPr>
              <a:t>8</a:t>
            </a:fld>
            <a:endParaRPr lang="ru-RU" dirty="0">
              <a:cs typeface="Arial"/>
            </a:endParaRPr>
          </a:p>
        </p:txBody>
      </p:sp>
      <p:graphicFrame>
        <p:nvGraphicFramePr>
          <p:cNvPr id="21" name="MethodsTable">
            <a:extLst>
              <a:ext uri="{FF2B5EF4-FFF2-40B4-BE49-F238E27FC236}">
                <a16:creationId xmlns:a16="http://schemas.microsoft.com/office/drawing/2014/main" id="{CBD47BF3-A79C-4A51-A322-78B04A679A38}"/>
              </a:ext>
            </a:extLst>
          </p:cNvPr>
          <p:cNvGraphicFramePr>
            <a:graphicFrameLocks noGrp="1"/>
          </p:cNvGraphicFramePr>
          <p:nvPr>
            <p:extLst>
              <p:ext uri="{D42A27DB-BD31-4B8C-83A1-F6EECF244321}">
                <p14:modId xmlns:p14="http://schemas.microsoft.com/office/powerpoint/2010/main" val="1286250782"/>
              </p:ext>
            </p:extLst>
          </p:nvPr>
        </p:nvGraphicFramePr>
        <p:xfrm>
          <a:off x="558800" y="1600200"/>
          <a:ext cx="7493000" cy="4191000"/>
        </p:xfrm>
        <a:graphic>
          <a:graphicData uri="http://schemas.openxmlformats.org/drawingml/2006/table">
            <a:tbl>
              <a:tblPr>
                <a:tableStyleId>{2D5ABB26-0587-4C30-8999-92F81FD0307C}</a:tableStyleId>
              </a:tblPr>
              <a:tblGrid>
                <a:gridCol w="2159000">
                  <a:extLst>
                    <a:ext uri="{9D8B030D-6E8A-4147-A177-3AD203B41FA5}">
                      <a16:colId xmlns:a16="http://schemas.microsoft.com/office/drawing/2014/main" val="20000"/>
                    </a:ext>
                  </a:extLst>
                </a:gridCol>
                <a:gridCol w="3873500">
                  <a:extLst>
                    <a:ext uri="{9D8B030D-6E8A-4147-A177-3AD203B41FA5}">
                      <a16:colId xmlns:a16="http://schemas.microsoft.com/office/drawing/2014/main" val="20001"/>
                    </a:ext>
                  </a:extLst>
                </a:gridCol>
                <a:gridCol w="1460500">
                  <a:extLst>
                    <a:ext uri="{9D8B030D-6E8A-4147-A177-3AD203B41FA5}">
                      <a16:colId xmlns:a16="http://schemas.microsoft.com/office/drawing/2014/main" val="20002"/>
                    </a:ext>
                  </a:extLst>
                </a:gridCol>
              </a:tblGrid>
              <a:tr h="698500">
                <a:tc>
                  <a:txBody>
                    <a:bodyPr/>
                    <a:lstStyle/>
                    <a:p>
                      <a:pPr marL="0" indent="0" algn="l">
                        <a:buNone/>
                      </a:pPr>
                      <a:r>
                        <a:rPr lang="ru-RU" sz="1400" b="1" i="0">
                          <a:solidFill>
                            <a:srgbClr val="262626"/>
                          </a:solidFill>
                          <a:latin typeface="Arial" panose="020B0604020202020204" pitchFamily="34" charset="0"/>
                          <a:cs typeface="Arial"/>
                        </a:rPr>
                        <a:t>Метод</a:t>
                      </a:r>
                      <a:endParaRPr sz="1400" b="1" i="0">
                        <a:solidFill>
                          <a:srgbClr val="262626"/>
                        </a:solidFill>
                        <a:latin typeface="Arial" panose="020B0604020202020204" pitchFamily="34" charset="0"/>
                        <a:cs typeface="Arial"/>
                      </a:endParaRPr>
                    </a:p>
                  </a:txBody>
                  <a:tcPr marT="27432" marB="27432" anchor="ctr">
                    <a:lnL w="0">
                      <a:noFill/>
                    </a:lnL>
                    <a:lnR w="0">
                      <a:noFill/>
                    </a:lnR>
                    <a:lnT w="0">
                      <a:noFill/>
                    </a:lnT>
                    <a:lnB w="19050">
                      <a:solidFill>
                        <a:srgbClr val="065CAB"/>
                      </a:solidFill>
                    </a:lnB>
                    <a:solidFill>
                      <a:srgbClr val="DCE9F6"/>
                    </a:solidFill>
                  </a:tcPr>
                </a:tc>
                <a:tc>
                  <a:txBody>
                    <a:bodyPr/>
                    <a:lstStyle/>
                    <a:p>
                      <a:pPr marL="0" indent="0" algn="l">
                        <a:buNone/>
                      </a:pPr>
                      <a:r>
                        <a:rPr lang="ru-RU" sz="1400" b="1" i="0">
                          <a:solidFill>
                            <a:srgbClr val="262626"/>
                          </a:solidFill>
                          <a:latin typeface="Arial" panose="020B0604020202020204" pitchFamily="34" charset="0"/>
                          <a:cs typeface="Arial"/>
                        </a:rPr>
                        <a:t>Как получает прогноз</a:t>
                      </a:r>
                      <a:endParaRPr sz="1400" b="1" i="0">
                        <a:solidFill>
                          <a:srgbClr val="262626"/>
                        </a:solidFill>
                        <a:latin typeface="Arial" panose="020B0604020202020204" pitchFamily="34" charset="0"/>
                        <a:cs typeface="Arial"/>
                      </a:endParaRPr>
                    </a:p>
                  </a:txBody>
                  <a:tcPr marT="27432" marB="27432" anchor="ctr">
                    <a:lnL w="0">
                      <a:noFill/>
                    </a:lnL>
                    <a:lnR w="0">
                      <a:noFill/>
                    </a:lnR>
                    <a:lnT w="0">
                      <a:noFill/>
                    </a:lnT>
                    <a:lnB w="19050">
                      <a:solidFill>
                        <a:srgbClr val="065CAB"/>
                      </a:solidFill>
                    </a:lnB>
                    <a:solidFill>
                      <a:srgbClr val="DCE9F6"/>
                    </a:solidFill>
                  </a:tcPr>
                </a:tc>
                <a:tc>
                  <a:txBody>
                    <a:bodyPr/>
                    <a:lstStyle/>
                    <a:p>
                      <a:pPr marL="0" indent="0" algn="l">
                        <a:buNone/>
                      </a:pPr>
                      <a:r>
                        <a:rPr lang="ru-RU" sz="1400" b="1" i="0">
                          <a:solidFill>
                            <a:srgbClr val="262626"/>
                          </a:solidFill>
                          <a:latin typeface="Arial" panose="020B0604020202020204" pitchFamily="34" charset="0"/>
                          <a:cs typeface="Arial"/>
                        </a:rPr>
                        <a:t>Роль</a:t>
                      </a:r>
                      <a:endParaRPr sz="1400" b="1" i="0">
                        <a:solidFill>
                          <a:srgbClr val="262626"/>
                        </a:solidFill>
                        <a:latin typeface="Arial" panose="020B0604020202020204" pitchFamily="34" charset="0"/>
                        <a:cs typeface="Arial"/>
                      </a:endParaRPr>
                    </a:p>
                  </a:txBody>
                  <a:tcPr marT="27432" marB="27432" anchor="ctr">
                    <a:lnL w="0">
                      <a:noFill/>
                    </a:lnL>
                    <a:lnR w="0">
                      <a:noFill/>
                    </a:lnR>
                    <a:lnT w="0">
                      <a:noFill/>
                    </a:lnT>
                    <a:lnB w="19050">
                      <a:solidFill>
                        <a:srgbClr val="065CAB"/>
                      </a:solidFill>
                    </a:lnB>
                    <a:solidFill>
                      <a:srgbClr val="DCE9F6"/>
                    </a:solidFill>
                  </a:tcPr>
                </a:tc>
                <a:extLst>
                  <a:ext uri="{0D108BD9-81ED-4DB2-BD59-A6C34878D82A}">
                    <a16:rowId xmlns:a16="http://schemas.microsoft.com/office/drawing/2014/main" val="10000"/>
                  </a:ext>
                </a:extLst>
              </a:tr>
              <a:tr h="698500">
                <a:tc>
                  <a:txBody>
                    <a:bodyPr/>
                    <a:lstStyle/>
                    <a:p>
                      <a:pPr marL="0" indent="0" algn="l">
                        <a:buNone/>
                      </a:pPr>
                      <a:r>
                        <a:rPr lang="ru-RU" sz="1300" b="0" i="0">
                          <a:solidFill>
                            <a:srgbClr val="262626"/>
                          </a:solidFill>
                          <a:latin typeface="Arial" panose="020B0604020202020204" pitchFamily="34" charset="0"/>
                          <a:cs typeface="Arial"/>
                        </a:rPr>
                        <a:t>Прогноз среднего</a:t>
                      </a:r>
                      <a:endParaRPr sz="1300" b="0" i="0">
                        <a:solidFill>
                          <a:srgbClr val="262626"/>
                        </a:solidFill>
                        <a:latin typeface="Arial" panose="020B0604020202020204" pitchFamily="34" charset="0"/>
                        <a:cs typeface="Arial"/>
                      </a:endParaRPr>
                    </a:p>
                  </a:txBody>
                  <a:tcPr marT="27432" marB="27432" anchor="ctr">
                    <a:lnT w="19050" cap="flat" cmpd="sng" algn="ctr">
                      <a:solidFill>
                        <a:srgbClr val="065CAB"/>
                      </a:solidFill>
                      <a:prstDash val="solid"/>
                      <a:round/>
                      <a:headEnd type="none" w="med" len="med"/>
                      <a:tailEnd type="none" w="med" len="med"/>
                    </a:lnT>
                    <a:solidFill>
                      <a:srgbClr val="FFFFFF"/>
                    </a:solidFill>
                  </a:tcPr>
                </a:tc>
                <a:tc>
                  <a:txBody>
                    <a:bodyPr/>
                    <a:lstStyle/>
                    <a:p>
                      <a:pPr marL="0" indent="0" algn="l">
                        <a:buNone/>
                      </a:pPr>
                      <a:r>
                        <a:rPr lang="ru-RU" sz="1300" b="0" i="0">
                          <a:solidFill>
                            <a:srgbClr val="262626"/>
                          </a:solidFill>
                          <a:latin typeface="Arial" panose="020B0604020202020204" pitchFamily="34" charset="0"/>
                          <a:cs typeface="Arial"/>
                        </a:rPr>
                        <a:t>Одно среднее для всех строк</a:t>
                      </a:r>
                      <a:endParaRPr sz="1300" b="0" i="0">
                        <a:solidFill>
                          <a:srgbClr val="262626"/>
                        </a:solidFill>
                        <a:latin typeface="Arial" panose="020B0604020202020204" pitchFamily="34" charset="0"/>
                        <a:cs typeface="Arial"/>
                      </a:endParaRPr>
                    </a:p>
                  </a:txBody>
                  <a:tcPr marT="27432" marB="27432" anchor="ctr">
                    <a:lnT w="19050" cap="flat" cmpd="sng" algn="ctr">
                      <a:solidFill>
                        <a:srgbClr val="065CAB"/>
                      </a:solidFill>
                      <a:prstDash val="solid"/>
                      <a:round/>
                      <a:headEnd type="none" w="med" len="med"/>
                      <a:tailEnd type="none" w="med" len="med"/>
                    </a:lnT>
                    <a:solidFill>
                      <a:srgbClr val="FFFFFF"/>
                    </a:solidFill>
                  </a:tcPr>
                </a:tc>
                <a:tc>
                  <a:txBody>
                    <a:bodyPr/>
                    <a:lstStyle/>
                    <a:p>
                      <a:pPr marL="0" indent="0" algn="l">
                        <a:buNone/>
                      </a:pPr>
                      <a:r>
                        <a:rPr lang="ru-RU" sz="1300" b="0" i="0">
                          <a:solidFill>
                            <a:srgbClr val="262626"/>
                          </a:solidFill>
                          <a:latin typeface="Arial" panose="020B0604020202020204" pitchFamily="34" charset="0"/>
                          <a:cs typeface="Arial"/>
                        </a:rPr>
                        <a:t>ориентир</a:t>
                      </a:r>
                      <a:endParaRPr sz="1300" b="0" i="0">
                        <a:solidFill>
                          <a:srgbClr val="262626"/>
                        </a:solidFill>
                        <a:latin typeface="Arial" panose="020B0604020202020204" pitchFamily="34" charset="0"/>
                        <a:cs typeface="Arial"/>
                      </a:endParaRPr>
                    </a:p>
                  </a:txBody>
                  <a:tcPr marT="27432" marB="27432" anchor="ctr">
                    <a:lnT w="19050" cap="flat" cmpd="sng" algn="ctr">
                      <a:solidFill>
                        <a:srgbClr val="065CAB"/>
                      </a:solidFill>
                      <a:prstDash val="solid"/>
                      <a:round/>
                      <a:headEnd type="none" w="med" len="med"/>
                      <a:tailEnd type="none" w="med" len="med"/>
                    </a:lnT>
                    <a:solidFill>
                      <a:srgbClr val="FFFFFF"/>
                    </a:solidFill>
                  </a:tcPr>
                </a:tc>
                <a:extLst>
                  <a:ext uri="{0D108BD9-81ED-4DB2-BD59-A6C34878D82A}">
                    <a16:rowId xmlns:a16="http://schemas.microsoft.com/office/drawing/2014/main" val="10001"/>
                  </a:ext>
                </a:extLst>
              </a:tr>
              <a:tr h="698500">
                <a:tc>
                  <a:txBody>
                    <a:bodyPr/>
                    <a:lstStyle/>
                    <a:p>
                      <a:pPr marL="0" indent="0" algn="l">
                        <a:buNone/>
                      </a:pPr>
                      <a:r>
                        <a:rPr lang="ru-RU" sz="1300" b="0" i="0">
                          <a:solidFill>
                            <a:srgbClr val="262626"/>
                          </a:solidFill>
                          <a:latin typeface="Arial" panose="020B0604020202020204" pitchFamily="34" charset="0"/>
                          <a:cs typeface="Arial"/>
                        </a:rPr>
                        <a:t>Гребневая регрессия (</a:t>
                      </a:r>
                      <a:r>
                        <a:rPr lang="en-US" sz="1300" b="0" i="0">
                          <a:solidFill>
                            <a:srgbClr val="262626"/>
                          </a:solidFill>
                          <a:latin typeface="Arial" panose="020B0604020202020204" pitchFamily="34" charset="0"/>
                          <a:cs typeface="Arial"/>
                        </a:rPr>
                        <a:t>Ridge)</a:t>
                      </a:r>
                      <a:endParaRPr sz="1300" b="0" i="0">
                        <a:solidFill>
                          <a:srgbClr val="262626"/>
                        </a:solidFill>
                        <a:latin typeface="Arial" panose="020B0604020202020204" pitchFamily="34" charset="0"/>
                        <a:cs typeface="Arial"/>
                      </a:endParaRPr>
                    </a:p>
                  </a:txBody>
                  <a:tcPr marT="27432" marB="27432" anchor="ctr">
                    <a:solidFill>
                      <a:srgbClr val="FFFFFF"/>
                    </a:solidFill>
                  </a:tcPr>
                </a:tc>
                <a:tc>
                  <a:txBody>
                    <a:bodyPr/>
                    <a:lstStyle/>
                    <a:p>
                      <a:pPr marL="0" indent="0" algn="l">
                        <a:buNone/>
                      </a:pPr>
                      <a:r>
                        <a:rPr lang="ru-RU" sz="1300" b="0" i="0">
                          <a:solidFill>
                            <a:srgbClr val="262626"/>
                          </a:solidFill>
                          <a:latin typeface="Arial" panose="020B0604020202020204" pitchFamily="34" charset="0"/>
                          <a:cs typeface="Arial"/>
                        </a:rPr>
                        <a:t>Складывает линейные вклады</a:t>
                      </a:r>
                      <a:endParaRPr sz="1300" b="0" i="0">
                        <a:solidFill>
                          <a:srgbClr val="262626"/>
                        </a:solidFill>
                        <a:latin typeface="Arial" panose="020B0604020202020204" pitchFamily="34" charset="0"/>
                        <a:cs typeface="Arial"/>
                      </a:endParaRPr>
                    </a:p>
                  </a:txBody>
                  <a:tcPr marT="27432" marB="27432" anchor="ctr">
                    <a:solidFill>
                      <a:srgbClr val="FFFFFF"/>
                    </a:solidFill>
                  </a:tcPr>
                </a:tc>
                <a:tc>
                  <a:txBody>
                    <a:bodyPr/>
                    <a:lstStyle/>
                    <a:p>
                      <a:pPr marL="0" indent="0" algn="l">
                        <a:buNone/>
                      </a:pPr>
                      <a:r>
                        <a:rPr lang="ru-RU" sz="1300" b="0" i="0">
                          <a:solidFill>
                            <a:srgbClr val="262626"/>
                          </a:solidFill>
                          <a:latin typeface="Arial" panose="020B0604020202020204" pitchFamily="34" charset="0"/>
                          <a:cs typeface="Arial"/>
                        </a:rPr>
                        <a:t>кандидат</a:t>
                      </a:r>
                      <a:endParaRPr sz="1300" b="0" i="0">
                        <a:solidFill>
                          <a:srgbClr val="262626"/>
                        </a:solidFill>
                        <a:latin typeface="Arial" panose="020B0604020202020204" pitchFamily="34" charset="0"/>
                        <a:cs typeface="Arial"/>
                      </a:endParaRPr>
                    </a:p>
                  </a:txBody>
                  <a:tcPr marT="27432" marB="27432" anchor="ctr">
                    <a:solidFill>
                      <a:srgbClr val="FFFFFF"/>
                    </a:solidFill>
                  </a:tcPr>
                </a:tc>
                <a:extLst>
                  <a:ext uri="{0D108BD9-81ED-4DB2-BD59-A6C34878D82A}">
                    <a16:rowId xmlns:a16="http://schemas.microsoft.com/office/drawing/2014/main" val="10002"/>
                  </a:ext>
                </a:extLst>
              </a:tr>
              <a:tr h="698500">
                <a:tc>
                  <a:txBody>
                    <a:bodyPr/>
                    <a:lstStyle/>
                    <a:p>
                      <a:pPr marL="0" indent="0" algn="l">
                        <a:buNone/>
                      </a:pPr>
                      <a:r>
                        <a:rPr lang="ru-RU" sz="1300" b="0" i="0">
                          <a:solidFill>
                            <a:srgbClr val="262626"/>
                          </a:solidFill>
                          <a:latin typeface="Arial" panose="020B0604020202020204" pitchFamily="34" charset="0"/>
                          <a:cs typeface="Arial"/>
                        </a:rPr>
                        <a:t>Случайный лес</a:t>
                      </a:r>
                      <a:endParaRPr sz="1300" b="0" i="0">
                        <a:solidFill>
                          <a:srgbClr val="262626"/>
                        </a:solidFill>
                        <a:latin typeface="Arial" panose="020B0604020202020204" pitchFamily="34" charset="0"/>
                        <a:cs typeface="Arial"/>
                      </a:endParaRPr>
                    </a:p>
                  </a:txBody>
                  <a:tcPr marT="27432" marB="27432" anchor="ctr">
                    <a:solidFill>
                      <a:srgbClr val="FFFFFF"/>
                    </a:solidFill>
                  </a:tcPr>
                </a:tc>
                <a:tc>
                  <a:txBody>
                    <a:bodyPr/>
                    <a:lstStyle/>
                    <a:p>
                      <a:pPr marL="0" indent="0" algn="l">
                        <a:buNone/>
                      </a:pPr>
                      <a:r>
                        <a:rPr lang="ru-RU" sz="1300" b="0" i="0">
                          <a:solidFill>
                            <a:srgbClr val="262626"/>
                          </a:solidFill>
                          <a:latin typeface="Arial" panose="020B0604020202020204" pitchFamily="34" charset="0"/>
                          <a:cs typeface="Arial"/>
                        </a:rPr>
                        <a:t>Усредняет много деревьев</a:t>
                      </a:r>
                      <a:endParaRPr sz="1300" b="0" i="0">
                        <a:solidFill>
                          <a:srgbClr val="262626"/>
                        </a:solidFill>
                        <a:latin typeface="Arial" panose="020B0604020202020204" pitchFamily="34" charset="0"/>
                        <a:cs typeface="Arial"/>
                      </a:endParaRPr>
                    </a:p>
                  </a:txBody>
                  <a:tcPr marT="27432" marB="27432" anchor="ctr">
                    <a:solidFill>
                      <a:srgbClr val="FFFFFF"/>
                    </a:solidFill>
                  </a:tcPr>
                </a:tc>
                <a:tc>
                  <a:txBody>
                    <a:bodyPr/>
                    <a:lstStyle/>
                    <a:p>
                      <a:pPr marL="0" indent="0" algn="l">
                        <a:buNone/>
                      </a:pPr>
                      <a:r>
                        <a:rPr lang="ru-RU" sz="1300" b="0" i="0">
                          <a:solidFill>
                            <a:srgbClr val="262626"/>
                          </a:solidFill>
                          <a:latin typeface="Arial" panose="020B0604020202020204" pitchFamily="34" charset="0"/>
                          <a:cs typeface="Arial"/>
                        </a:rPr>
                        <a:t>кандидат</a:t>
                      </a:r>
                      <a:endParaRPr sz="1300" b="0" i="0">
                        <a:solidFill>
                          <a:srgbClr val="262626"/>
                        </a:solidFill>
                        <a:latin typeface="Arial" panose="020B0604020202020204" pitchFamily="34" charset="0"/>
                        <a:cs typeface="Arial"/>
                      </a:endParaRPr>
                    </a:p>
                  </a:txBody>
                  <a:tcPr marT="27432" marB="27432" anchor="ctr">
                    <a:solidFill>
                      <a:srgbClr val="FFFFFF"/>
                    </a:solidFill>
                  </a:tcPr>
                </a:tc>
                <a:extLst>
                  <a:ext uri="{0D108BD9-81ED-4DB2-BD59-A6C34878D82A}">
                    <a16:rowId xmlns:a16="http://schemas.microsoft.com/office/drawing/2014/main" val="10003"/>
                  </a:ext>
                </a:extLst>
              </a:tr>
              <a:tr h="698500">
                <a:tc>
                  <a:txBody>
                    <a:bodyPr/>
                    <a:lstStyle/>
                    <a:p>
                      <a:pPr marL="0" indent="0" algn="l">
                        <a:buNone/>
                      </a:pPr>
                      <a:r>
                        <a:rPr lang="ru-RU" sz="1300" b="0" i="0">
                          <a:solidFill>
                            <a:srgbClr val="262626"/>
                          </a:solidFill>
                          <a:latin typeface="Arial" panose="020B0604020202020204" pitchFamily="34" charset="0"/>
                          <a:cs typeface="Arial"/>
                        </a:rPr>
                        <a:t>Градиентный бустинг</a:t>
                      </a:r>
                      <a:endParaRPr sz="1300" b="0" i="0">
                        <a:solidFill>
                          <a:srgbClr val="262626"/>
                        </a:solidFill>
                        <a:latin typeface="Arial" panose="020B0604020202020204" pitchFamily="34" charset="0"/>
                        <a:cs typeface="Arial"/>
                      </a:endParaRPr>
                    </a:p>
                  </a:txBody>
                  <a:tcPr marT="27432" marB="27432" anchor="ctr">
                    <a:solidFill>
                      <a:srgbClr val="FFFFFF"/>
                    </a:solidFill>
                  </a:tcPr>
                </a:tc>
                <a:tc>
                  <a:txBody>
                    <a:bodyPr/>
                    <a:lstStyle/>
                    <a:p>
                      <a:pPr marL="0" indent="0" algn="l">
                        <a:buNone/>
                      </a:pPr>
                      <a:r>
                        <a:rPr lang="ru-RU" sz="1300" b="0" i="0">
                          <a:solidFill>
                            <a:srgbClr val="262626"/>
                          </a:solidFill>
                          <a:latin typeface="Arial" panose="020B0604020202020204" pitchFamily="34" charset="0"/>
                          <a:cs typeface="Arial"/>
                        </a:rPr>
                        <a:t>Деревья исправляют ошибки по очереди</a:t>
                      </a:r>
                      <a:endParaRPr sz="1300" b="0" i="0">
                        <a:solidFill>
                          <a:srgbClr val="262626"/>
                        </a:solidFill>
                        <a:latin typeface="Arial" panose="020B0604020202020204" pitchFamily="34" charset="0"/>
                        <a:cs typeface="Arial"/>
                      </a:endParaRPr>
                    </a:p>
                  </a:txBody>
                  <a:tcPr marT="27432" marB="27432" anchor="ctr">
                    <a:solidFill>
                      <a:srgbClr val="FFFFFF"/>
                    </a:solidFill>
                  </a:tcPr>
                </a:tc>
                <a:tc>
                  <a:txBody>
                    <a:bodyPr/>
                    <a:lstStyle/>
                    <a:p>
                      <a:pPr marL="0" indent="0" algn="l">
                        <a:buNone/>
                      </a:pPr>
                      <a:r>
                        <a:rPr lang="ru-RU" sz="1300" b="0" i="0">
                          <a:solidFill>
                            <a:srgbClr val="262626"/>
                          </a:solidFill>
                          <a:latin typeface="Arial" panose="020B0604020202020204" pitchFamily="34" charset="0"/>
                          <a:cs typeface="Arial"/>
                        </a:rPr>
                        <a:t>кандидат</a:t>
                      </a:r>
                      <a:endParaRPr sz="1300" b="0" i="0">
                        <a:solidFill>
                          <a:srgbClr val="262626"/>
                        </a:solidFill>
                        <a:latin typeface="Arial" panose="020B0604020202020204" pitchFamily="34" charset="0"/>
                        <a:cs typeface="Arial"/>
                      </a:endParaRPr>
                    </a:p>
                  </a:txBody>
                  <a:tcPr marT="27432" marB="27432" anchor="ctr">
                    <a:solidFill>
                      <a:srgbClr val="FFFFFF"/>
                    </a:solidFill>
                  </a:tcPr>
                </a:tc>
                <a:extLst>
                  <a:ext uri="{0D108BD9-81ED-4DB2-BD59-A6C34878D82A}">
                    <a16:rowId xmlns:a16="http://schemas.microsoft.com/office/drawing/2014/main" val="10004"/>
                  </a:ext>
                </a:extLst>
              </a:tr>
              <a:tr h="698500">
                <a:tc>
                  <a:txBody>
                    <a:bodyPr/>
                    <a:lstStyle/>
                    <a:p>
                      <a:pPr marL="0" indent="0" algn="l">
                        <a:buNone/>
                      </a:pPr>
                      <a:r>
                        <a:rPr lang="ru-RU" sz="1300" b="0" i="0">
                          <a:solidFill>
                            <a:srgbClr val="262626"/>
                          </a:solidFill>
                          <a:latin typeface="Arial" panose="020B0604020202020204" pitchFamily="34" charset="0"/>
                          <a:cs typeface="Arial"/>
                        </a:rPr>
                        <a:t>Метод опорных векторов (</a:t>
                      </a:r>
                      <a:r>
                        <a:rPr lang="en-US" sz="1300" b="0" i="0">
                          <a:solidFill>
                            <a:srgbClr val="262626"/>
                          </a:solidFill>
                          <a:latin typeface="Arial" panose="020B0604020202020204" pitchFamily="34" charset="0"/>
                          <a:cs typeface="Arial"/>
                        </a:rPr>
                        <a:t>SVR)</a:t>
                      </a:r>
                      <a:endParaRPr sz="1300" b="0" i="0">
                        <a:solidFill>
                          <a:srgbClr val="262626"/>
                        </a:solidFill>
                        <a:latin typeface="Arial" panose="020B0604020202020204" pitchFamily="34" charset="0"/>
                        <a:cs typeface="Arial"/>
                      </a:endParaRPr>
                    </a:p>
                  </a:txBody>
                  <a:tcPr marT="27432" marB="27432" anchor="ctr">
                    <a:solidFill>
                      <a:srgbClr val="FFFFFF"/>
                    </a:solidFill>
                  </a:tcPr>
                </a:tc>
                <a:tc>
                  <a:txBody>
                    <a:bodyPr/>
                    <a:lstStyle/>
                    <a:p>
                      <a:pPr marL="0" indent="0" algn="l">
                        <a:buNone/>
                      </a:pPr>
                      <a:r>
                        <a:rPr lang="ru-RU" sz="1300" b="0" i="0">
                          <a:solidFill>
                            <a:srgbClr val="262626"/>
                          </a:solidFill>
                          <a:latin typeface="Arial" panose="020B0604020202020204" pitchFamily="34" charset="0"/>
                          <a:cs typeface="Arial"/>
                        </a:rPr>
                        <a:t>Ищет гладкую зависимость</a:t>
                      </a:r>
                      <a:endParaRPr sz="1300" b="0" i="0">
                        <a:solidFill>
                          <a:srgbClr val="262626"/>
                        </a:solidFill>
                        <a:latin typeface="Arial" panose="020B0604020202020204" pitchFamily="34" charset="0"/>
                        <a:cs typeface="Arial"/>
                      </a:endParaRPr>
                    </a:p>
                  </a:txBody>
                  <a:tcPr marT="27432" marB="27432" anchor="ctr">
                    <a:solidFill>
                      <a:srgbClr val="FFFFFF"/>
                    </a:solidFill>
                  </a:tcPr>
                </a:tc>
                <a:tc>
                  <a:txBody>
                    <a:bodyPr/>
                    <a:lstStyle/>
                    <a:p>
                      <a:pPr marL="0" indent="0" algn="l">
                        <a:buNone/>
                      </a:pPr>
                      <a:r>
                        <a:rPr lang="ru-RU" sz="1300" b="0" i="0">
                          <a:solidFill>
                            <a:srgbClr val="262626"/>
                          </a:solidFill>
                          <a:latin typeface="Arial" panose="020B0604020202020204" pitchFamily="34" charset="0"/>
                          <a:cs typeface="Arial"/>
                        </a:rPr>
                        <a:t>кандидат</a:t>
                      </a:r>
                      <a:endParaRPr sz="1300" b="0" i="0">
                        <a:solidFill>
                          <a:srgbClr val="262626"/>
                        </a:solidFill>
                        <a:latin typeface="Arial" panose="020B0604020202020204" pitchFamily="34" charset="0"/>
                        <a:cs typeface="Arial"/>
                      </a:endParaRPr>
                    </a:p>
                  </a:txBody>
                  <a:tcPr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16" name="TenChecks">
            <a:extLst>
              <a:ext uri="{FF2B5EF4-FFF2-40B4-BE49-F238E27FC236}">
                <a16:creationId xmlns:a16="http://schemas.microsoft.com/office/drawing/2014/main" id="{D83B49D7-1DA9-4EDF-8CEA-7A80676C78CB}"/>
              </a:ext>
            </a:extLst>
          </p:cNvPr>
          <p:cNvSpPr/>
          <p:nvPr/>
        </p:nvSpPr>
        <p:spPr>
          <a:xfrm>
            <a:off x="8382000" y="1600200"/>
            <a:ext cx="3378200" cy="1905000"/>
          </a:xfrm>
          <a:prstGeom prst="roundRect">
            <a:avLst/>
          </a:prstGeom>
          <a:solidFill>
            <a:srgbClr val="DCE9F6"/>
          </a:solidFill>
          <a:ln w="17780">
            <a:solidFill>
              <a:srgbClr val="0E5DAB"/>
            </a:solidFill>
          </a:ln>
        </p:spPr>
        <p:style>
          <a:lnRef idx="2">
            <a:schemeClr val="accent1">
              <a:shade val="50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r>
              <a:rPr lang="ru-RU" sz="1700" b="1">
                <a:solidFill>
                  <a:srgbClr val="262626"/>
                </a:solidFill>
                <a:latin typeface="Arial" panose="020B0604020202020204" pitchFamily="34" charset="0"/>
              </a:rPr>
              <a:t>10 проверок
внутри 716 строк
9 частей для обучения
1 часть для проверки</a:t>
            </a:r>
          </a:p>
        </p:txBody>
      </p:sp>
      <p:sp>
        <p:nvSpPr>
          <p:cNvPr id="17" name="SelectionRule">
            <a:extLst>
              <a:ext uri="{FF2B5EF4-FFF2-40B4-BE49-F238E27FC236}">
                <a16:creationId xmlns:a16="http://schemas.microsoft.com/office/drawing/2014/main" id="{F9D1049D-372D-4071-BBF2-C0662F72EC5A}"/>
              </a:ext>
            </a:extLst>
          </p:cNvPr>
          <p:cNvSpPr/>
          <p:nvPr/>
        </p:nvSpPr>
        <p:spPr>
          <a:xfrm>
            <a:off x="8382000" y="3708400"/>
            <a:ext cx="3378200" cy="2209800"/>
          </a:xfrm>
          <a:prstGeom prst="roundRect">
            <a:avLst/>
          </a:prstGeom>
          <a:solidFill>
            <a:srgbClr val="FFC000"/>
          </a:solidFill>
          <a:ln w="17780">
            <a:solidFill>
              <a:srgbClr val="0E5DAB"/>
            </a:solidFill>
          </a:ln>
        </p:spPr>
        <p:style>
          <a:lnRef idx="2">
            <a:schemeClr val="accent1">
              <a:shade val="50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r>
              <a:rPr lang="ru-RU" sz="1600" b="1">
                <a:solidFill>
                  <a:srgbClr val="262626"/>
                </a:solidFill>
                <a:latin typeface="Arial" panose="020B0604020202020204" pitchFamily="34" charset="0"/>
              </a:rPr>
              <a:t>Выбор до итоговой проверки
RMSE – среднеквадратичная ошибка
Меньше – лучше</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Заголовок слайда">
            <a:extLst>
              <a:ext uri="{FF2B5EF4-FFF2-40B4-BE49-F238E27FC236}">
                <a16:creationId xmlns:a16="http://schemas.microsoft.com/office/drawing/2014/main" id="{9280711C-2262-4089-92EE-9BEACCC60C4C}"/>
              </a:ext>
            </a:extLst>
          </p:cNvPr>
          <p:cNvGrpSpPr/>
          <p:nvPr/>
        </p:nvGrpSpPr>
        <p:grpSpPr>
          <a:xfrm>
            <a:off x="3167880" y="469293"/>
            <a:ext cx="8600448" cy="896112"/>
            <a:chOff x="0" y="0"/>
            <a:chExt cx="8600448" cy="896112"/>
          </a:xfrm>
        </p:grpSpPr>
        <p:sp>
          <p:nvSpPr>
            <p:cNvPr id="68" name="Прямоугольник 67">
              <a:extLst>
                <a:ext uri="{FF2B5EF4-FFF2-40B4-BE49-F238E27FC236}">
                  <a16:creationId xmlns:a16="http://schemas.microsoft.com/office/drawing/2014/main" id="{E2535886-3476-4B40-9706-6797B77905C0}"/>
                </a:ext>
              </a:extLst>
            </p:cNvPr>
            <p:cNvSpPr/>
            <p:nvPr/>
          </p:nvSpPr>
          <p:spPr>
            <a:xfrm>
              <a:off x="0" y="0"/>
              <a:ext cx="8600448" cy="89611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201168" tIns="0" rIns="201168" bIns="0" rtlCol="0" anchor="ctr"/>
            <a:lstStyle/>
            <a:p>
              <a:pPr algn="l"/>
              <a:r>
                <a:rPr lang="ru-RU" sz="2600" b="1" spc="0">
                  <a:solidFill>
                    <a:srgbClr val="065CAB"/>
                  </a:solidFill>
                  <a:latin typeface="Arial" panose="020B0604020202020204" pitchFamily="34" charset="0"/>
                  <a:cs typeface="Arial" pitchFamily="2" charset="0"/>
                </a:rPr>
                <a:t>Модуль упругости: прогноз среднего оказался лучшим</a:t>
              </a:r>
              <a:endParaRPr lang="ru-RU" sz="2600" b="1" spc="0" dirty="0">
                <a:solidFill>
                  <a:srgbClr val="065CAB"/>
                </a:solidFill>
                <a:latin typeface="Arial" panose="020B0604020202020204" pitchFamily="34" charset="0"/>
                <a:cs typeface="Arial" pitchFamily="2" charset="0"/>
              </a:endParaRPr>
            </a:p>
          </p:txBody>
        </p:sp>
        <p:sp>
          <p:nvSpPr>
            <p:cNvPr id="69" name="Прямоугольник 58">
              <a:extLst>
                <a:ext uri="{FF2B5EF4-FFF2-40B4-BE49-F238E27FC236}">
                  <a16:creationId xmlns:a16="http://schemas.microsoft.com/office/drawing/2014/main" id="{96789138-2397-49AA-BF3A-A6B5B90E8840}"/>
                </a:ext>
              </a:extLst>
            </p:cNvPr>
            <p:cNvSpPr/>
            <p:nvPr/>
          </p:nvSpPr>
          <p:spPr>
            <a:xfrm rot="10800000" flipH="1">
              <a:off x="0" y="0"/>
              <a:ext cx="76579" cy="896112"/>
            </a:xfrm>
            <a:custGeom>
              <a:avLst/>
              <a:gdLst>
                <a:gd name="connsiteX0" fmla="*/ 0 w 424732"/>
                <a:gd name="connsiteY0" fmla="*/ 0 h 424732"/>
                <a:gd name="connsiteX1" fmla="*/ 424732 w 424732"/>
                <a:gd name="connsiteY1" fmla="*/ 0 h 424732"/>
                <a:gd name="connsiteX2" fmla="*/ 424732 w 424732"/>
                <a:gd name="connsiteY2" fmla="*/ 424732 h 424732"/>
                <a:gd name="connsiteX3" fmla="*/ 0 w 424732"/>
                <a:gd name="connsiteY3" fmla="*/ 424732 h 424732"/>
                <a:gd name="connsiteX4" fmla="*/ 0 w 424732"/>
                <a:gd name="connsiteY4" fmla="*/ 0 h 424732"/>
                <a:gd name="connsiteX0" fmla="*/ 0 w 425450"/>
                <a:gd name="connsiteY0" fmla="*/ 0 h 424732"/>
                <a:gd name="connsiteX1" fmla="*/ 424732 w 425450"/>
                <a:gd name="connsiteY1" fmla="*/ 0 h 424732"/>
                <a:gd name="connsiteX2" fmla="*/ 425450 w 425450"/>
                <a:gd name="connsiteY2" fmla="*/ 238890 h 424732"/>
                <a:gd name="connsiteX3" fmla="*/ 424732 w 425450"/>
                <a:gd name="connsiteY3" fmla="*/ 424732 h 424732"/>
                <a:gd name="connsiteX4" fmla="*/ 0 w 425450"/>
                <a:gd name="connsiteY4" fmla="*/ 424732 h 424732"/>
                <a:gd name="connsiteX5" fmla="*/ 0 w 425450"/>
                <a:gd name="connsiteY5" fmla="*/ 0 h 424732"/>
                <a:gd name="connsiteX0" fmla="*/ 425450 w 516890"/>
                <a:gd name="connsiteY0" fmla="*/ 238890 h 424732"/>
                <a:gd name="connsiteX1" fmla="*/ 424732 w 516890"/>
                <a:gd name="connsiteY1" fmla="*/ 424732 h 424732"/>
                <a:gd name="connsiteX2" fmla="*/ 0 w 516890"/>
                <a:gd name="connsiteY2" fmla="*/ 424732 h 424732"/>
                <a:gd name="connsiteX3" fmla="*/ 0 w 516890"/>
                <a:gd name="connsiteY3" fmla="*/ 0 h 424732"/>
                <a:gd name="connsiteX4" fmla="*/ 424732 w 516890"/>
                <a:gd name="connsiteY4" fmla="*/ 0 h 424732"/>
                <a:gd name="connsiteX5" fmla="*/ 516890 w 516890"/>
                <a:gd name="connsiteY5" fmla="*/ 330330 h 424732"/>
                <a:gd name="connsiteX0" fmla="*/ 424732 w 516890"/>
                <a:gd name="connsiteY0" fmla="*/ 424732 h 424732"/>
                <a:gd name="connsiteX1" fmla="*/ 0 w 516890"/>
                <a:gd name="connsiteY1" fmla="*/ 424732 h 424732"/>
                <a:gd name="connsiteX2" fmla="*/ 0 w 516890"/>
                <a:gd name="connsiteY2" fmla="*/ 0 h 424732"/>
                <a:gd name="connsiteX3" fmla="*/ 424732 w 516890"/>
                <a:gd name="connsiteY3" fmla="*/ 0 h 424732"/>
                <a:gd name="connsiteX4" fmla="*/ 516890 w 516890"/>
                <a:gd name="connsiteY4" fmla="*/ 330330 h 424732"/>
                <a:gd name="connsiteX0" fmla="*/ 424732 w 424732"/>
                <a:gd name="connsiteY0" fmla="*/ 424732 h 424732"/>
                <a:gd name="connsiteX1" fmla="*/ 0 w 424732"/>
                <a:gd name="connsiteY1" fmla="*/ 424732 h 424732"/>
                <a:gd name="connsiteX2" fmla="*/ 0 w 424732"/>
                <a:gd name="connsiteY2" fmla="*/ 0 h 424732"/>
                <a:gd name="connsiteX3" fmla="*/ 424732 w 424732"/>
                <a:gd name="connsiteY3" fmla="*/ 0 h 424732"/>
              </a:gdLst>
              <a:ahLst/>
              <a:cxnLst>
                <a:cxn ang="0">
                  <a:pos x="connsiteX0" y="connsiteY0"/>
                </a:cxn>
                <a:cxn ang="0">
                  <a:pos x="connsiteX1" y="connsiteY1"/>
                </a:cxn>
                <a:cxn ang="0">
                  <a:pos x="connsiteX2" y="connsiteY2"/>
                </a:cxn>
                <a:cxn ang="0">
                  <a:pos x="connsiteX3" y="connsiteY3"/>
                </a:cxn>
              </a:cxnLst>
              <a:rect l="l" t="t" r="r" b="b"/>
              <a:pathLst>
                <a:path w="424732" h="424732">
                  <a:moveTo>
                    <a:pt x="424732" y="424732"/>
                  </a:moveTo>
                  <a:lnTo>
                    <a:pt x="0" y="424732"/>
                  </a:lnTo>
                  <a:lnTo>
                    <a:pt x="0" y="0"/>
                  </a:lnTo>
                  <a:lnTo>
                    <a:pt x="424732" y="0"/>
                  </a:lnTo>
                </a:path>
              </a:pathLst>
            </a:custGeom>
            <a:ln w="16510">
              <a:solidFill>
                <a:srgbClr val="065CA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latin typeface="Arial" pitchFamily="2" charset="0"/>
              </a:endParaRPr>
            </a:p>
          </p:txBody>
        </p:sp>
        <p:sp>
          <p:nvSpPr>
            <p:cNvPr id="70" name="Прямоугольник 58">
              <a:extLst>
                <a:ext uri="{FF2B5EF4-FFF2-40B4-BE49-F238E27FC236}">
                  <a16:creationId xmlns:a16="http://schemas.microsoft.com/office/drawing/2014/main" id="{DA239952-60E1-45EB-BDF0-422CC4CF7E42}"/>
                </a:ext>
              </a:extLst>
            </p:cNvPr>
            <p:cNvSpPr/>
            <p:nvPr/>
          </p:nvSpPr>
          <p:spPr>
            <a:xfrm flipH="1">
              <a:off x="8510399" y="0"/>
              <a:ext cx="90049" cy="896112"/>
            </a:xfrm>
            <a:custGeom>
              <a:avLst/>
              <a:gdLst>
                <a:gd name="connsiteX0" fmla="*/ 0 w 424732"/>
                <a:gd name="connsiteY0" fmla="*/ 0 h 424732"/>
                <a:gd name="connsiteX1" fmla="*/ 424732 w 424732"/>
                <a:gd name="connsiteY1" fmla="*/ 0 h 424732"/>
                <a:gd name="connsiteX2" fmla="*/ 424732 w 424732"/>
                <a:gd name="connsiteY2" fmla="*/ 424732 h 424732"/>
                <a:gd name="connsiteX3" fmla="*/ 0 w 424732"/>
                <a:gd name="connsiteY3" fmla="*/ 424732 h 424732"/>
                <a:gd name="connsiteX4" fmla="*/ 0 w 424732"/>
                <a:gd name="connsiteY4" fmla="*/ 0 h 424732"/>
                <a:gd name="connsiteX0" fmla="*/ 0 w 425450"/>
                <a:gd name="connsiteY0" fmla="*/ 0 h 424732"/>
                <a:gd name="connsiteX1" fmla="*/ 424732 w 425450"/>
                <a:gd name="connsiteY1" fmla="*/ 0 h 424732"/>
                <a:gd name="connsiteX2" fmla="*/ 425450 w 425450"/>
                <a:gd name="connsiteY2" fmla="*/ 238890 h 424732"/>
                <a:gd name="connsiteX3" fmla="*/ 424732 w 425450"/>
                <a:gd name="connsiteY3" fmla="*/ 424732 h 424732"/>
                <a:gd name="connsiteX4" fmla="*/ 0 w 425450"/>
                <a:gd name="connsiteY4" fmla="*/ 424732 h 424732"/>
                <a:gd name="connsiteX5" fmla="*/ 0 w 425450"/>
                <a:gd name="connsiteY5" fmla="*/ 0 h 424732"/>
                <a:gd name="connsiteX0" fmla="*/ 425450 w 516890"/>
                <a:gd name="connsiteY0" fmla="*/ 238890 h 424732"/>
                <a:gd name="connsiteX1" fmla="*/ 424732 w 516890"/>
                <a:gd name="connsiteY1" fmla="*/ 424732 h 424732"/>
                <a:gd name="connsiteX2" fmla="*/ 0 w 516890"/>
                <a:gd name="connsiteY2" fmla="*/ 424732 h 424732"/>
                <a:gd name="connsiteX3" fmla="*/ 0 w 516890"/>
                <a:gd name="connsiteY3" fmla="*/ 0 h 424732"/>
                <a:gd name="connsiteX4" fmla="*/ 424732 w 516890"/>
                <a:gd name="connsiteY4" fmla="*/ 0 h 424732"/>
                <a:gd name="connsiteX5" fmla="*/ 516890 w 516890"/>
                <a:gd name="connsiteY5" fmla="*/ 330330 h 424732"/>
                <a:gd name="connsiteX0" fmla="*/ 424732 w 516890"/>
                <a:gd name="connsiteY0" fmla="*/ 424732 h 424732"/>
                <a:gd name="connsiteX1" fmla="*/ 0 w 516890"/>
                <a:gd name="connsiteY1" fmla="*/ 424732 h 424732"/>
                <a:gd name="connsiteX2" fmla="*/ 0 w 516890"/>
                <a:gd name="connsiteY2" fmla="*/ 0 h 424732"/>
                <a:gd name="connsiteX3" fmla="*/ 424732 w 516890"/>
                <a:gd name="connsiteY3" fmla="*/ 0 h 424732"/>
                <a:gd name="connsiteX4" fmla="*/ 516890 w 516890"/>
                <a:gd name="connsiteY4" fmla="*/ 330330 h 424732"/>
                <a:gd name="connsiteX0" fmla="*/ 424732 w 424732"/>
                <a:gd name="connsiteY0" fmla="*/ 424732 h 424732"/>
                <a:gd name="connsiteX1" fmla="*/ 0 w 424732"/>
                <a:gd name="connsiteY1" fmla="*/ 424732 h 424732"/>
                <a:gd name="connsiteX2" fmla="*/ 0 w 424732"/>
                <a:gd name="connsiteY2" fmla="*/ 0 h 424732"/>
                <a:gd name="connsiteX3" fmla="*/ 424732 w 424732"/>
                <a:gd name="connsiteY3" fmla="*/ 0 h 424732"/>
              </a:gdLst>
              <a:ahLst/>
              <a:cxnLst>
                <a:cxn ang="0">
                  <a:pos x="connsiteX0" y="connsiteY0"/>
                </a:cxn>
                <a:cxn ang="0">
                  <a:pos x="connsiteX1" y="connsiteY1"/>
                </a:cxn>
                <a:cxn ang="0">
                  <a:pos x="connsiteX2" y="connsiteY2"/>
                </a:cxn>
                <a:cxn ang="0">
                  <a:pos x="connsiteX3" y="connsiteY3"/>
                </a:cxn>
              </a:cxnLst>
              <a:rect l="l" t="t" r="r" b="b"/>
              <a:pathLst>
                <a:path w="424732" h="424732">
                  <a:moveTo>
                    <a:pt x="424732" y="424732"/>
                  </a:moveTo>
                  <a:lnTo>
                    <a:pt x="0" y="424732"/>
                  </a:lnTo>
                  <a:lnTo>
                    <a:pt x="0" y="0"/>
                  </a:lnTo>
                  <a:lnTo>
                    <a:pt x="424732" y="0"/>
                  </a:lnTo>
                </a:path>
              </a:pathLst>
            </a:custGeom>
            <a:ln w="16510">
              <a:solidFill>
                <a:srgbClr val="0046A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solidFill>
                  <a:srgbClr val="065CAB"/>
                </a:solidFill>
                <a:latin typeface="Arial" pitchFamily="2" charset="0"/>
              </a:endParaRPr>
            </a:p>
          </p:txBody>
        </p:sp>
      </p:grpSp>
      <p:pic>
        <p:nvPicPr>
          <p:cNvPr id="71" name="Picture 70" descr="pva_modulus.png"/>
          <p:cNvPicPr>
            <a:picLocks noChangeAspect="1"/>
          </p:cNvPicPr>
          <p:nvPr/>
        </p:nvPicPr>
        <p:blipFill>
          <a:blip r:embed="rId3"/>
          <a:stretch>
            <a:fillRect/>
          </a:stretch>
        </p:blipFill>
        <p:spPr>
          <a:xfrm>
            <a:off x="6012132" y="1481328"/>
            <a:ext cx="5756195" cy="4754880"/>
          </a:xfrm>
          <a:prstGeom prst="rect">
            <a:avLst/>
          </a:prstGeom>
          <a:ln w="9525">
            <a:solidFill>
              <a:srgbClr val="D9D9D9"/>
            </a:solidFill>
          </a:ln>
        </p:spPr>
      </p:pic>
      <p:sp>
        <p:nvSpPr>
          <p:cNvPr id="72" name="TextBox 71"/>
          <p:cNvSpPr txBox="1"/>
          <p:nvPr/>
        </p:nvSpPr>
        <p:spPr>
          <a:xfrm>
            <a:off x="557784" y="1481328"/>
            <a:ext cx="5270500" cy="1155700"/>
          </a:xfrm>
          <a:prstGeom prst="rect">
            <a:avLst/>
          </a:prstGeom>
          <a:noFill/>
        </p:spPr>
        <p:txBody>
          <a:bodyPr wrap="square" lIns="0" tIns="0" rIns="0" bIns="0" anchor="t"/>
          <a:lstStyle/>
          <a:p>
            <a:pPr marL="0" indent="0" algn="l">
              <a:lnSpc>
                <a:spcPct val="100000"/>
              </a:lnSpc>
              <a:buNone/>
            </a:pPr>
            <a:r>
              <a:rPr lang="ru-RU" sz="1300" b="1" i="0">
                <a:solidFill>
                  <a:srgbClr val="F1BE29"/>
                </a:solidFill>
                <a:latin typeface="Arial" panose="020B0604020202020204" pitchFamily="34" charset="0"/>
                <a:cs typeface="Arial"/>
              </a:rPr>
              <a:t>RMSE – среднеквадратичная ошибка; большие промахи увеличивают её сильнее
MAE – средний размер ошибки
R² – сравнение с прогнозом среднего, не процент точности</a:t>
            </a:r>
            <a:endParaRPr sz="1300" b="1" i="0">
              <a:solidFill>
                <a:srgbClr val="F1BE29"/>
              </a:solidFill>
              <a:latin typeface="Arial" panose="020B0604020202020204" pitchFamily="34" charset="0"/>
              <a:cs typeface="Arial"/>
            </a:endParaRPr>
          </a:p>
        </p:txBody>
      </p:sp>
      <p:graphicFrame>
        <p:nvGraphicFramePr>
          <p:cNvPr id="73" name="Метрики модуля"/>
          <p:cNvGraphicFramePr>
            <a:graphicFrameLocks noGrp="1"/>
          </p:cNvGraphicFramePr>
          <p:nvPr>
            <p:extLst>
              <p:ext uri="{D42A27DB-BD31-4B8C-83A1-F6EECF244321}">
                <p14:modId xmlns:p14="http://schemas.microsoft.com/office/powerpoint/2010/main" val="3676934964"/>
              </p:ext>
            </p:extLst>
          </p:nvPr>
        </p:nvGraphicFramePr>
        <p:xfrm>
          <a:off x="557784" y="2730500"/>
          <a:ext cx="5120640" cy="190500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tblGrid>
              <a:tr h="476250">
                <a:tc>
                  <a:txBody>
                    <a:bodyPr/>
                    <a:lstStyle/>
                    <a:p>
                      <a:pPr marL="0" indent="0" algn="l">
                        <a:buNone/>
                      </a:pPr>
                      <a:r>
                        <a:rPr sz="1800" b="1" i="0">
                          <a:solidFill>
                            <a:srgbClr val="FFFFFF"/>
                          </a:solidFill>
                          <a:latin typeface="Arial" panose="020B0604020202020204" pitchFamily="34" charset="0"/>
                          <a:cs typeface="Arial"/>
                        </a:rPr>
                        <a:t>Метрика</a:t>
                      </a:r>
                    </a:p>
                  </a:txBody>
                  <a:tcPr marT="27432" marB="27432" anchor="ctr">
                    <a:lnL w="0">
                      <a:noFill/>
                    </a:lnL>
                    <a:lnR w="0">
                      <a:noFill/>
                    </a:lnR>
                    <a:lnT w="0">
                      <a:noFill/>
                    </a:lnT>
                    <a:lnB w="19050">
                      <a:solidFill>
                        <a:srgbClr val="065CAB"/>
                      </a:solidFill>
                    </a:lnB>
                    <a:solidFill>
                      <a:srgbClr val="065CAB"/>
                    </a:solidFill>
                  </a:tcPr>
                </a:tc>
                <a:tc>
                  <a:txBody>
                    <a:bodyPr/>
                    <a:lstStyle/>
                    <a:p>
                      <a:pPr marL="0" indent="0" algn="l">
                        <a:buNone/>
                      </a:pPr>
                      <a:r>
                        <a:rPr lang="ru-RU" sz="1200" b="1" i="0">
                          <a:solidFill>
                            <a:srgbClr val="FFFFFF"/>
                          </a:solidFill>
                          <a:latin typeface="Arial" panose="020B0604020202020204" pitchFamily="34" charset="0"/>
                          <a:cs typeface="Arial"/>
                        </a:rPr>
                        <a:t>716 строк</a:t>
                      </a:r>
                      <a:endParaRPr sz="1200" b="1" i="0">
                        <a:solidFill>
                          <a:srgbClr val="FFFFFF"/>
                        </a:solidFill>
                        <a:latin typeface="Arial" panose="020B0604020202020204" pitchFamily="34" charset="0"/>
                        <a:cs typeface="Arial"/>
                      </a:endParaRPr>
                    </a:p>
                  </a:txBody>
                  <a:tcPr marT="27432" marB="27432" anchor="ctr">
                    <a:lnL w="0">
                      <a:noFill/>
                    </a:lnL>
                    <a:lnR w="0">
                      <a:noFill/>
                    </a:lnR>
                    <a:lnT w="0">
                      <a:noFill/>
                    </a:lnT>
                    <a:lnB w="19050">
                      <a:solidFill>
                        <a:srgbClr val="065CAB"/>
                      </a:solidFill>
                    </a:lnB>
                    <a:solidFill>
                      <a:srgbClr val="0E5DAB"/>
                    </a:solidFill>
                  </a:tcPr>
                </a:tc>
                <a:tc>
                  <a:txBody>
                    <a:bodyPr/>
                    <a:lstStyle/>
                    <a:p>
                      <a:pPr marL="0" indent="0" algn="l">
                        <a:buNone/>
                      </a:pPr>
                      <a:r>
                        <a:rPr lang="ru-RU" sz="1200" b="1" i="0">
                          <a:solidFill>
                            <a:srgbClr val="FFFFFF"/>
                          </a:solidFill>
                          <a:latin typeface="Arial" panose="020B0604020202020204" pitchFamily="34" charset="0"/>
                          <a:cs typeface="Arial"/>
                        </a:rPr>
                        <a:t>307 строк</a:t>
                      </a:r>
                      <a:endParaRPr sz="1200" b="1" i="0">
                        <a:solidFill>
                          <a:srgbClr val="FFFFFF"/>
                        </a:solidFill>
                        <a:latin typeface="Arial" panose="020B0604020202020204" pitchFamily="34" charset="0"/>
                        <a:cs typeface="Arial"/>
                      </a:endParaRPr>
                    </a:p>
                  </a:txBody>
                  <a:tcPr marT="27432" marB="27432" anchor="ctr">
                    <a:lnL w="0">
                      <a:noFill/>
                    </a:lnL>
                    <a:lnR w="0">
                      <a:noFill/>
                    </a:lnR>
                    <a:lnT w="0">
                      <a:noFill/>
                    </a:lnT>
                    <a:lnB w="19050">
                      <a:solidFill>
                        <a:srgbClr val="065CAB"/>
                      </a:solidFill>
                    </a:lnB>
                    <a:solidFill>
                      <a:srgbClr val="0E5DAB"/>
                    </a:solidFill>
                  </a:tcPr>
                </a:tc>
                <a:extLst>
                  <a:ext uri="{0D108BD9-81ED-4DB2-BD59-A6C34878D82A}">
                    <a16:rowId xmlns:a16="http://schemas.microsoft.com/office/drawing/2014/main" val="10000"/>
                  </a:ext>
                </a:extLst>
              </a:tr>
              <a:tr h="476250">
                <a:tc>
                  <a:txBody>
                    <a:bodyPr/>
                    <a:lstStyle/>
                    <a:p>
                      <a:pPr marL="0" indent="0" algn="l">
                        <a:buNone/>
                      </a:pPr>
                      <a:r>
                        <a:rPr sz="2000" b="0" i="0">
                          <a:solidFill>
                            <a:srgbClr val="262626"/>
                          </a:solidFill>
                          <a:latin typeface="Arial" panose="020B0604020202020204" pitchFamily="34" charset="0"/>
                          <a:cs typeface="Arial"/>
                        </a:rPr>
                        <a:t>RMSE, ГПа</a:t>
                      </a:r>
                    </a:p>
                  </a:txBody>
                  <a:tcPr marT="27432" marB="27432" anchor="ctr">
                    <a:lnT w="19050" cap="flat" cmpd="sng" algn="ctr">
                      <a:solidFill>
                        <a:srgbClr val="065CAB"/>
                      </a:solidFill>
                      <a:prstDash val="solid"/>
                      <a:round/>
                      <a:headEnd type="none" w="med" len="med"/>
                      <a:tailEnd type="none" w="med" len="med"/>
                    </a:lnT>
                    <a:noFill/>
                  </a:tcPr>
                </a:tc>
                <a:tc>
                  <a:txBody>
                    <a:bodyPr/>
                    <a:lstStyle/>
                    <a:p>
                      <a:pPr marL="0" indent="0" algn="r">
                        <a:buNone/>
                      </a:pPr>
                      <a:r>
                        <a:rPr sz="2000" b="0" i="0">
                          <a:solidFill>
                            <a:srgbClr val="262626"/>
                          </a:solidFill>
                          <a:latin typeface="Arial" panose="020B0604020202020204" pitchFamily="34" charset="0"/>
                          <a:cs typeface="Arial"/>
                        </a:rPr>
                        <a:t>3,095</a:t>
                      </a:r>
                    </a:p>
                  </a:txBody>
                  <a:tcPr marT="27432" marB="27432" anchor="ctr">
                    <a:lnT w="19050" cap="flat" cmpd="sng" algn="ctr">
                      <a:solidFill>
                        <a:srgbClr val="065CAB"/>
                      </a:solidFill>
                      <a:prstDash val="solid"/>
                      <a:round/>
                      <a:headEnd type="none" w="med" len="med"/>
                      <a:tailEnd type="none" w="med" len="med"/>
                    </a:lnT>
                    <a:noFill/>
                  </a:tcPr>
                </a:tc>
                <a:tc>
                  <a:txBody>
                    <a:bodyPr/>
                    <a:lstStyle/>
                    <a:p>
                      <a:pPr marL="0" indent="0" algn="r">
                        <a:buNone/>
                      </a:pPr>
                      <a:r>
                        <a:rPr sz="2000" b="1" i="0">
                          <a:solidFill>
                            <a:srgbClr val="262626"/>
                          </a:solidFill>
                          <a:latin typeface="Arial" panose="020B0604020202020204" pitchFamily="34" charset="0"/>
                          <a:cs typeface="Arial"/>
                        </a:rPr>
                        <a:t>3,178</a:t>
                      </a:r>
                    </a:p>
                  </a:txBody>
                  <a:tcPr marT="27432" marB="27432" anchor="ctr">
                    <a:lnT w="19050" cap="flat" cmpd="sng" algn="ctr">
                      <a:solidFill>
                        <a:srgbClr val="065CAB"/>
                      </a:solidFill>
                      <a:prstDash val="solid"/>
                      <a:round/>
                      <a:headEnd type="none" w="med" len="med"/>
                      <a:tailEnd type="none" w="med" len="med"/>
                    </a:lnT>
                    <a:noFill/>
                  </a:tcPr>
                </a:tc>
                <a:extLst>
                  <a:ext uri="{0D108BD9-81ED-4DB2-BD59-A6C34878D82A}">
                    <a16:rowId xmlns:a16="http://schemas.microsoft.com/office/drawing/2014/main" val="10001"/>
                  </a:ext>
                </a:extLst>
              </a:tr>
              <a:tr h="476250">
                <a:tc>
                  <a:txBody>
                    <a:bodyPr/>
                    <a:lstStyle/>
                    <a:p>
                      <a:pPr marL="0" indent="0" algn="l">
                        <a:buNone/>
                      </a:pPr>
                      <a:r>
                        <a:rPr sz="2000" b="0" i="0">
                          <a:solidFill>
                            <a:srgbClr val="262626"/>
                          </a:solidFill>
                          <a:latin typeface="Arial" panose="020B0604020202020204" pitchFamily="34" charset="0"/>
                          <a:cs typeface="Arial"/>
                        </a:rPr>
                        <a:t>MAE, ГПа</a:t>
                      </a:r>
                    </a:p>
                  </a:txBody>
                  <a:tcPr marT="27432" marB="27432" anchor="ctr">
                    <a:noFill/>
                  </a:tcPr>
                </a:tc>
                <a:tc>
                  <a:txBody>
                    <a:bodyPr/>
                    <a:lstStyle/>
                    <a:p>
                      <a:pPr marL="0" indent="0" algn="r">
                        <a:buNone/>
                      </a:pPr>
                      <a:r>
                        <a:rPr sz="2000" b="0" i="0">
                          <a:solidFill>
                            <a:srgbClr val="262626"/>
                          </a:solidFill>
                          <a:latin typeface="Arial" panose="020B0604020202020204" pitchFamily="34" charset="0"/>
                          <a:cs typeface="Arial"/>
                        </a:rPr>
                        <a:t>2,480</a:t>
                      </a:r>
                    </a:p>
                  </a:txBody>
                  <a:tcPr marT="27432" marB="27432" anchor="ctr">
                    <a:noFill/>
                  </a:tcPr>
                </a:tc>
                <a:tc>
                  <a:txBody>
                    <a:bodyPr/>
                    <a:lstStyle/>
                    <a:p>
                      <a:pPr marL="0" indent="0" algn="r">
                        <a:buNone/>
                      </a:pPr>
                      <a:r>
                        <a:rPr sz="2000" b="1" i="0">
                          <a:solidFill>
                            <a:srgbClr val="262626"/>
                          </a:solidFill>
                          <a:latin typeface="Arial" panose="020B0604020202020204" pitchFamily="34" charset="0"/>
                          <a:cs typeface="Arial"/>
                        </a:rPr>
                        <a:t>2,556</a:t>
                      </a:r>
                    </a:p>
                  </a:txBody>
                  <a:tcPr marT="27432" marB="27432" anchor="ctr">
                    <a:noFill/>
                  </a:tcPr>
                </a:tc>
                <a:extLst>
                  <a:ext uri="{0D108BD9-81ED-4DB2-BD59-A6C34878D82A}">
                    <a16:rowId xmlns:a16="http://schemas.microsoft.com/office/drawing/2014/main" val="10002"/>
                  </a:ext>
                </a:extLst>
              </a:tr>
              <a:tr h="476250">
                <a:tc>
                  <a:txBody>
                    <a:bodyPr/>
                    <a:lstStyle/>
                    <a:p>
                      <a:pPr marL="0" indent="0" algn="l">
                        <a:buNone/>
                      </a:pPr>
                      <a:r>
                        <a:rPr sz="2000" b="0" i="0">
                          <a:solidFill>
                            <a:srgbClr val="262626"/>
                          </a:solidFill>
                          <a:latin typeface="Arial" panose="020B0604020202020204" pitchFamily="34" charset="0"/>
                          <a:cs typeface="Arial"/>
                        </a:rPr>
                        <a:t>R²</a:t>
                      </a:r>
                    </a:p>
                  </a:txBody>
                  <a:tcPr marT="27432" marB="27432" anchor="ctr">
                    <a:noFill/>
                  </a:tcPr>
                </a:tc>
                <a:tc>
                  <a:txBody>
                    <a:bodyPr/>
                    <a:lstStyle/>
                    <a:p>
                      <a:pPr marL="0" indent="0" algn="r">
                        <a:buNone/>
                      </a:pPr>
                      <a:r>
                        <a:rPr sz="2000" b="0" i="0">
                          <a:solidFill>
                            <a:srgbClr val="262626"/>
                          </a:solidFill>
                          <a:latin typeface="Arial" panose="020B0604020202020204" pitchFamily="34" charset="0"/>
                          <a:cs typeface="Arial"/>
                        </a:rPr>
                        <a:t>0,000</a:t>
                      </a:r>
                    </a:p>
                  </a:txBody>
                  <a:tcPr marT="27432" marB="27432" anchor="ctr">
                    <a:noFill/>
                  </a:tcPr>
                </a:tc>
                <a:tc>
                  <a:txBody>
                    <a:bodyPr/>
                    <a:lstStyle/>
                    <a:p>
                      <a:pPr marL="0" indent="0" algn="r">
                        <a:buNone/>
                      </a:pPr>
                      <a:r>
                        <a:rPr sz="2000" b="1" i="0">
                          <a:solidFill>
                            <a:srgbClr val="262626"/>
                          </a:solidFill>
                          <a:latin typeface="Arial" panose="020B0604020202020204" pitchFamily="34" charset="0"/>
                          <a:cs typeface="Arial"/>
                        </a:rPr>
                        <a:t>−0,016</a:t>
                      </a:r>
                    </a:p>
                  </a:txBody>
                  <a:tcPr marT="27432" marB="27432" anchor="ctr">
                    <a:noFill/>
                  </a:tcPr>
                </a:tc>
                <a:extLst>
                  <a:ext uri="{0D108BD9-81ED-4DB2-BD59-A6C34878D82A}">
                    <a16:rowId xmlns:a16="http://schemas.microsoft.com/office/drawing/2014/main" val="10003"/>
                  </a:ext>
                </a:extLst>
              </a:tr>
            </a:tbl>
          </a:graphicData>
        </a:graphic>
      </p:graphicFrame>
      <p:cxnSp>
        <p:nvCxnSpPr>
          <p:cNvPr id="74" name="Connector 73"/>
          <p:cNvCxnSpPr/>
          <p:nvPr/>
        </p:nvCxnSpPr>
        <p:spPr>
          <a:xfrm>
            <a:off x="557784" y="4800600"/>
            <a:ext cx="0" cy="1325880"/>
          </a:xfrm>
          <a:prstGeom prst="line">
            <a:avLst/>
          </a:prstGeom>
          <a:ln w="25400">
            <a:solidFill>
              <a:srgbClr val="065CAB"/>
            </a:solidFill>
          </a:ln>
        </p:spPr>
      </p:cxnSp>
      <p:cxnSp>
        <p:nvCxnSpPr>
          <p:cNvPr id="75" name="Connector 74"/>
          <p:cNvCxnSpPr/>
          <p:nvPr/>
        </p:nvCxnSpPr>
        <p:spPr>
          <a:xfrm>
            <a:off x="557784" y="4800600"/>
            <a:ext cx="457199" cy="0"/>
          </a:xfrm>
          <a:prstGeom prst="line">
            <a:avLst/>
          </a:prstGeom>
          <a:ln w="25400">
            <a:solidFill>
              <a:srgbClr val="065CAB"/>
            </a:solidFill>
          </a:ln>
        </p:spPr>
      </p:cxnSp>
      <p:cxnSp>
        <p:nvCxnSpPr>
          <p:cNvPr id="76" name="Connector 75"/>
          <p:cNvCxnSpPr/>
          <p:nvPr/>
        </p:nvCxnSpPr>
        <p:spPr>
          <a:xfrm>
            <a:off x="557784" y="6126480"/>
            <a:ext cx="457199" cy="0"/>
          </a:xfrm>
          <a:prstGeom prst="line">
            <a:avLst/>
          </a:prstGeom>
          <a:ln w="25400">
            <a:solidFill>
              <a:srgbClr val="065CAB"/>
            </a:solidFill>
          </a:ln>
        </p:spPr>
      </p:cxnSp>
      <p:sp>
        <p:nvSpPr>
          <p:cNvPr id="77" name="TextBox 76"/>
          <p:cNvSpPr txBox="1"/>
          <p:nvPr/>
        </p:nvSpPr>
        <p:spPr>
          <a:xfrm>
            <a:off x="813816" y="4873752"/>
            <a:ext cx="4864607" cy="1179576"/>
          </a:xfrm>
          <a:prstGeom prst="rect">
            <a:avLst/>
          </a:prstGeom>
          <a:noFill/>
        </p:spPr>
        <p:txBody>
          <a:bodyPr wrap="square" lIns="0" tIns="0" rIns="0" bIns="0" anchor="ctr"/>
          <a:lstStyle/>
          <a:p>
            <a:pPr marL="0" indent="0" algn="l">
              <a:buNone/>
            </a:pPr>
            <a:r>
              <a:rPr lang="ru-RU" i="0">
                <a:solidFill>
                  <a:srgbClr val="262626"/>
                </a:solidFill>
                <a:latin typeface="Arial" panose="020B0604020202020204" pitchFamily="34" charset="0"/>
                <a:cs typeface="Arial"/>
              </a:rPr>
              <a:t>Ось X – фактическое значение, ось Y – прогноз
Диагональ – идеальный ответ
Горизонтальная полоса – одно среднее для всех</a:t>
            </a:r>
            <a:endParaRPr i="0">
              <a:solidFill>
                <a:srgbClr val="262626"/>
              </a:solidFill>
              <a:latin typeface="Arial" panose="020B0604020202020204" pitchFamily="34" charset="0"/>
              <a:cs typeface="Arial"/>
            </a:endParaRPr>
          </a:p>
        </p:txBody>
      </p:sp>
      <p:sp>
        <p:nvSpPr>
          <p:cNvPr id="78" name="Источник"/>
          <p:cNvSpPr txBox="1"/>
          <p:nvPr/>
        </p:nvSpPr>
        <p:spPr>
          <a:xfrm>
            <a:off x="960120" y="6336792"/>
            <a:ext cx="10808208" cy="365760"/>
          </a:xfrm>
          <a:prstGeom prst="rect">
            <a:avLst/>
          </a:prstGeom>
          <a:noFill/>
        </p:spPr>
        <p:txBody>
          <a:bodyPr wrap="square" lIns="0" tIns="0" rIns="0" bIns="0" anchor="ctr"/>
          <a:lstStyle/>
          <a:p>
            <a:pPr marL="0" indent="0" algn="l">
              <a:buNone/>
            </a:pPr>
            <a:r>
              <a:rPr lang="ru-RU" sz="1300" i="0">
                <a:solidFill>
                  <a:srgbClr val="595959"/>
                </a:solidFill>
                <a:latin typeface="Arial" panose="020B0604020202020204" pitchFamily="34" charset="0"/>
                <a:cs typeface="Arial"/>
              </a:rPr>
              <a:t>Источник: РПЗ, рисунок с фактическими и прогнозными значениями; reports/evaluation/metrics.csv</a:t>
            </a:r>
            <a:endParaRPr sz="1300" i="0">
              <a:solidFill>
                <a:srgbClr val="595959"/>
              </a:solidFill>
              <a:latin typeface="Arial" panose="020B0604020202020204" pitchFamily="34" charset="0"/>
              <a:cs typeface="Arial"/>
            </a:endParaRPr>
          </a:p>
        </p:txBody>
      </p:sp>
      <p:sp>
        <p:nvSpPr>
          <p:cNvPr id="4" name="Номер слайда 3">
            <a:extLst>
              <a:ext uri="{FF2B5EF4-FFF2-40B4-BE49-F238E27FC236}">
                <a16:creationId xmlns:a16="http://schemas.microsoft.com/office/drawing/2014/main" id="{06555008-558A-4705-ADA6-A99A535D9A1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ru-RU" smtClean="0">
                <a:cs typeface="Arial"/>
              </a:rPr>
              <a:t>9</a:t>
            </a:fld>
            <a:endParaRPr lang="ru-RU" dirty="0">
              <a:cs typeface="Arial"/>
            </a:endParaRPr>
          </a:p>
        </p:txBody>
      </p:sp>
      <p:sp>
        <p:nvSpPr>
          <p:cNvPr id="2" name="ModuleLegendCover">
            <a:extLst>
              <a:ext uri="{FF2B5EF4-FFF2-40B4-BE49-F238E27FC236}">
                <a16:creationId xmlns:a16="http://schemas.microsoft.com/office/drawing/2014/main" id="{FA231F85-6837-4344-9B7C-D6A595BDA11B}"/>
              </a:ext>
            </a:extLst>
          </p:cNvPr>
          <p:cNvSpPr/>
          <p:nvPr/>
        </p:nvSpPr>
        <p:spPr>
          <a:xfrm>
            <a:off x="6794500" y="1841500"/>
            <a:ext cx="2095500" cy="787400"/>
          </a:xfrm>
          <a:prstGeom prst="roundRect">
            <a:avLst/>
          </a:prstGeom>
          <a:solidFill>
            <a:srgbClr val="FFFFFF"/>
          </a:solidFill>
          <a:ln w="1778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r>
              <a:rPr lang="ru-RU" sz="1000">
                <a:solidFill>
                  <a:srgbClr val="262626"/>
                </a:solidFill>
                <a:latin typeface="Arial" panose="020B0604020202020204" pitchFamily="34" charset="0"/>
              </a:rPr>
              <a:t>Синие точки – обучение, 716
Оранжевые – итоговая проверка, 307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Заголовок слайда">
            <a:extLst>
              <a:ext uri="{FF2B5EF4-FFF2-40B4-BE49-F238E27FC236}">
                <a16:creationId xmlns:a16="http://schemas.microsoft.com/office/drawing/2014/main" id="{9280711C-2262-4089-92EE-9BEACCC60C4C}"/>
              </a:ext>
            </a:extLst>
          </p:cNvPr>
          <p:cNvGrpSpPr/>
          <p:nvPr/>
        </p:nvGrpSpPr>
        <p:grpSpPr>
          <a:xfrm>
            <a:off x="3167880" y="469293"/>
            <a:ext cx="8090153" cy="666000"/>
            <a:chOff x="0" y="0"/>
            <a:chExt cx="8090153" cy="666000"/>
          </a:xfrm>
        </p:grpSpPr>
        <p:sp>
          <p:nvSpPr>
            <p:cNvPr id="68" name="Прямоугольник 67">
              <a:extLst>
                <a:ext uri="{FF2B5EF4-FFF2-40B4-BE49-F238E27FC236}">
                  <a16:creationId xmlns:a16="http://schemas.microsoft.com/office/drawing/2014/main" id="{E2535886-3476-4B40-9706-6797B77905C0}"/>
                </a:ext>
              </a:extLst>
            </p:cNvPr>
            <p:cNvSpPr/>
            <p:nvPr/>
          </p:nvSpPr>
          <p:spPr>
            <a:xfrm>
              <a:off x="0" y="0"/>
              <a:ext cx="8090153" cy="666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201168" tIns="0" rIns="201168" bIns="0" rtlCol="0" anchor="ctr"/>
            <a:lstStyle/>
            <a:p>
              <a:pPr algn="l"/>
              <a:r>
                <a:rPr lang="ru-RU" sz="2600" b="1" spc="0">
                  <a:solidFill>
                    <a:srgbClr val="065CAB"/>
                  </a:solidFill>
                  <a:latin typeface="Arial" panose="020B0604020202020204" pitchFamily="34" charset="0"/>
                  <a:cs typeface="Arial" pitchFamily="2" charset="0"/>
                </a:rPr>
                <a:t>Прочность: выигрыш бустинга слишком мал</a:t>
              </a:r>
              <a:endParaRPr lang="ru-RU" sz="2600" b="1" spc="0" dirty="0">
                <a:solidFill>
                  <a:srgbClr val="065CAB"/>
                </a:solidFill>
                <a:latin typeface="Arial" panose="020B0604020202020204" pitchFamily="34" charset="0"/>
                <a:cs typeface="Arial" pitchFamily="2" charset="0"/>
              </a:endParaRPr>
            </a:p>
          </p:txBody>
        </p:sp>
        <p:sp>
          <p:nvSpPr>
            <p:cNvPr id="69" name="Прямоугольник 58">
              <a:extLst>
                <a:ext uri="{FF2B5EF4-FFF2-40B4-BE49-F238E27FC236}">
                  <a16:creationId xmlns:a16="http://schemas.microsoft.com/office/drawing/2014/main" id="{96789138-2397-49AA-BF3A-A6B5B90E8840}"/>
                </a:ext>
              </a:extLst>
            </p:cNvPr>
            <p:cNvSpPr/>
            <p:nvPr/>
          </p:nvSpPr>
          <p:spPr>
            <a:xfrm rot="10800000" flipH="1">
              <a:off x="0" y="0"/>
              <a:ext cx="76579" cy="666000"/>
            </a:xfrm>
            <a:custGeom>
              <a:avLst/>
              <a:gdLst>
                <a:gd name="connsiteX0" fmla="*/ 0 w 424732"/>
                <a:gd name="connsiteY0" fmla="*/ 0 h 424732"/>
                <a:gd name="connsiteX1" fmla="*/ 424732 w 424732"/>
                <a:gd name="connsiteY1" fmla="*/ 0 h 424732"/>
                <a:gd name="connsiteX2" fmla="*/ 424732 w 424732"/>
                <a:gd name="connsiteY2" fmla="*/ 424732 h 424732"/>
                <a:gd name="connsiteX3" fmla="*/ 0 w 424732"/>
                <a:gd name="connsiteY3" fmla="*/ 424732 h 424732"/>
                <a:gd name="connsiteX4" fmla="*/ 0 w 424732"/>
                <a:gd name="connsiteY4" fmla="*/ 0 h 424732"/>
                <a:gd name="connsiteX0" fmla="*/ 0 w 425450"/>
                <a:gd name="connsiteY0" fmla="*/ 0 h 424732"/>
                <a:gd name="connsiteX1" fmla="*/ 424732 w 425450"/>
                <a:gd name="connsiteY1" fmla="*/ 0 h 424732"/>
                <a:gd name="connsiteX2" fmla="*/ 425450 w 425450"/>
                <a:gd name="connsiteY2" fmla="*/ 238890 h 424732"/>
                <a:gd name="connsiteX3" fmla="*/ 424732 w 425450"/>
                <a:gd name="connsiteY3" fmla="*/ 424732 h 424732"/>
                <a:gd name="connsiteX4" fmla="*/ 0 w 425450"/>
                <a:gd name="connsiteY4" fmla="*/ 424732 h 424732"/>
                <a:gd name="connsiteX5" fmla="*/ 0 w 425450"/>
                <a:gd name="connsiteY5" fmla="*/ 0 h 424732"/>
                <a:gd name="connsiteX0" fmla="*/ 425450 w 516890"/>
                <a:gd name="connsiteY0" fmla="*/ 238890 h 424732"/>
                <a:gd name="connsiteX1" fmla="*/ 424732 w 516890"/>
                <a:gd name="connsiteY1" fmla="*/ 424732 h 424732"/>
                <a:gd name="connsiteX2" fmla="*/ 0 w 516890"/>
                <a:gd name="connsiteY2" fmla="*/ 424732 h 424732"/>
                <a:gd name="connsiteX3" fmla="*/ 0 w 516890"/>
                <a:gd name="connsiteY3" fmla="*/ 0 h 424732"/>
                <a:gd name="connsiteX4" fmla="*/ 424732 w 516890"/>
                <a:gd name="connsiteY4" fmla="*/ 0 h 424732"/>
                <a:gd name="connsiteX5" fmla="*/ 516890 w 516890"/>
                <a:gd name="connsiteY5" fmla="*/ 330330 h 424732"/>
                <a:gd name="connsiteX0" fmla="*/ 424732 w 516890"/>
                <a:gd name="connsiteY0" fmla="*/ 424732 h 424732"/>
                <a:gd name="connsiteX1" fmla="*/ 0 w 516890"/>
                <a:gd name="connsiteY1" fmla="*/ 424732 h 424732"/>
                <a:gd name="connsiteX2" fmla="*/ 0 w 516890"/>
                <a:gd name="connsiteY2" fmla="*/ 0 h 424732"/>
                <a:gd name="connsiteX3" fmla="*/ 424732 w 516890"/>
                <a:gd name="connsiteY3" fmla="*/ 0 h 424732"/>
                <a:gd name="connsiteX4" fmla="*/ 516890 w 516890"/>
                <a:gd name="connsiteY4" fmla="*/ 330330 h 424732"/>
                <a:gd name="connsiteX0" fmla="*/ 424732 w 424732"/>
                <a:gd name="connsiteY0" fmla="*/ 424732 h 424732"/>
                <a:gd name="connsiteX1" fmla="*/ 0 w 424732"/>
                <a:gd name="connsiteY1" fmla="*/ 424732 h 424732"/>
                <a:gd name="connsiteX2" fmla="*/ 0 w 424732"/>
                <a:gd name="connsiteY2" fmla="*/ 0 h 424732"/>
                <a:gd name="connsiteX3" fmla="*/ 424732 w 424732"/>
                <a:gd name="connsiteY3" fmla="*/ 0 h 424732"/>
              </a:gdLst>
              <a:ahLst/>
              <a:cxnLst>
                <a:cxn ang="0">
                  <a:pos x="connsiteX0" y="connsiteY0"/>
                </a:cxn>
                <a:cxn ang="0">
                  <a:pos x="connsiteX1" y="connsiteY1"/>
                </a:cxn>
                <a:cxn ang="0">
                  <a:pos x="connsiteX2" y="connsiteY2"/>
                </a:cxn>
                <a:cxn ang="0">
                  <a:pos x="connsiteX3" y="connsiteY3"/>
                </a:cxn>
              </a:cxnLst>
              <a:rect l="l" t="t" r="r" b="b"/>
              <a:pathLst>
                <a:path w="424732" h="424732">
                  <a:moveTo>
                    <a:pt x="424732" y="424732"/>
                  </a:moveTo>
                  <a:lnTo>
                    <a:pt x="0" y="424732"/>
                  </a:lnTo>
                  <a:lnTo>
                    <a:pt x="0" y="0"/>
                  </a:lnTo>
                  <a:lnTo>
                    <a:pt x="424732" y="0"/>
                  </a:lnTo>
                </a:path>
              </a:pathLst>
            </a:custGeom>
            <a:ln w="16510">
              <a:solidFill>
                <a:srgbClr val="065CA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latin typeface="Arial" pitchFamily="2" charset="0"/>
              </a:endParaRPr>
            </a:p>
          </p:txBody>
        </p:sp>
        <p:sp>
          <p:nvSpPr>
            <p:cNvPr id="70" name="Прямоугольник 58">
              <a:extLst>
                <a:ext uri="{FF2B5EF4-FFF2-40B4-BE49-F238E27FC236}">
                  <a16:creationId xmlns:a16="http://schemas.microsoft.com/office/drawing/2014/main" id="{DA239952-60E1-45EB-BDF0-422CC4CF7E42}"/>
                </a:ext>
              </a:extLst>
            </p:cNvPr>
            <p:cNvSpPr/>
            <p:nvPr/>
          </p:nvSpPr>
          <p:spPr>
            <a:xfrm flipH="1">
              <a:off x="8000104" y="0"/>
              <a:ext cx="90049" cy="666000"/>
            </a:xfrm>
            <a:custGeom>
              <a:avLst/>
              <a:gdLst>
                <a:gd name="connsiteX0" fmla="*/ 0 w 424732"/>
                <a:gd name="connsiteY0" fmla="*/ 0 h 424732"/>
                <a:gd name="connsiteX1" fmla="*/ 424732 w 424732"/>
                <a:gd name="connsiteY1" fmla="*/ 0 h 424732"/>
                <a:gd name="connsiteX2" fmla="*/ 424732 w 424732"/>
                <a:gd name="connsiteY2" fmla="*/ 424732 h 424732"/>
                <a:gd name="connsiteX3" fmla="*/ 0 w 424732"/>
                <a:gd name="connsiteY3" fmla="*/ 424732 h 424732"/>
                <a:gd name="connsiteX4" fmla="*/ 0 w 424732"/>
                <a:gd name="connsiteY4" fmla="*/ 0 h 424732"/>
                <a:gd name="connsiteX0" fmla="*/ 0 w 425450"/>
                <a:gd name="connsiteY0" fmla="*/ 0 h 424732"/>
                <a:gd name="connsiteX1" fmla="*/ 424732 w 425450"/>
                <a:gd name="connsiteY1" fmla="*/ 0 h 424732"/>
                <a:gd name="connsiteX2" fmla="*/ 425450 w 425450"/>
                <a:gd name="connsiteY2" fmla="*/ 238890 h 424732"/>
                <a:gd name="connsiteX3" fmla="*/ 424732 w 425450"/>
                <a:gd name="connsiteY3" fmla="*/ 424732 h 424732"/>
                <a:gd name="connsiteX4" fmla="*/ 0 w 425450"/>
                <a:gd name="connsiteY4" fmla="*/ 424732 h 424732"/>
                <a:gd name="connsiteX5" fmla="*/ 0 w 425450"/>
                <a:gd name="connsiteY5" fmla="*/ 0 h 424732"/>
                <a:gd name="connsiteX0" fmla="*/ 425450 w 516890"/>
                <a:gd name="connsiteY0" fmla="*/ 238890 h 424732"/>
                <a:gd name="connsiteX1" fmla="*/ 424732 w 516890"/>
                <a:gd name="connsiteY1" fmla="*/ 424732 h 424732"/>
                <a:gd name="connsiteX2" fmla="*/ 0 w 516890"/>
                <a:gd name="connsiteY2" fmla="*/ 424732 h 424732"/>
                <a:gd name="connsiteX3" fmla="*/ 0 w 516890"/>
                <a:gd name="connsiteY3" fmla="*/ 0 h 424732"/>
                <a:gd name="connsiteX4" fmla="*/ 424732 w 516890"/>
                <a:gd name="connsiteY4" fmla="*/ 0 h 424732"/>
                <a:gd name="connsiteX5" fmla="*/ 516890 w 516890"/>
                <a:gd name="connsiteY5" fmla="*/ 330330 h 424732"/>
                <a:gd name="connsiteX0" fmla="*/ 424732 w 516890"/>
                <a:gd name="connsiteY0" fmla="*/ 424732 h 424732"/>
                <a:gd name="connsiteX1" fmla="*/ 0 w 516890"/>
                <a:gd name="connsiteY1" fmla="*/ 424732 h 424732"/>
                <a:gd name="connsiteX2" fmla="*/ 0 w 516890"/>
                <a:gd name="connsiteY2" fmla="*/ 0 h 424732"/>
                <a:gd name="connsiteX3" fmla="*/ 424732 w 516890"/>
                <a:gd name="connsiteY3" fmla="*/ 0 h 424732"/>
                <a:gd name="connsiteX4" fmla="*/ 516890 w 516890"/>
                <a:gd name="connsiteY4" fmla="*/ 330330 h 424732"/>
                <a:gd name="connsiteX0" fmla="*/ 424732 w 424732"/>
                <a:gd name="connsiteY0" fmla="*/ 424732 h 424732"/>
                <a:gd name="connsiteX1" fmla="*/ 0 w 424732"/>
                <a:gd name="connsiteY1" fmla="*/ 424732 h 424732"/>
                <a:gd name="connsiteX2" fmla="*/ 0 w 424732"/>
                <a:gd name="connsiteY2" fmla="*/ 0 h 424732"/>
                <a:gd name="connsiteX3" fmla="*/ 424732 w 424732"/>
                <a:gd name="connsiteY3" fmla="*/ 0 h 424732"/>
              </a:gdLst>
              <a:ahLst/>
              <a:cxnLst>
                <a:cxn ang="0">
                  <a:pos x="connsiteX0" y="connsiteY0"/>
                </a:cxn>
                <a:cxn ang="0">
                  <a:pos x="connsiteX1" y="connsiteY1"/>
                </a:cxn>
                <a:cxn ang="0">
                  <a:pos x="connsiteX2" y="connsiteY2"/>
                </a:cxn>
                <a:cxn ang="0">
                  <a:pos x="connsiteX3" y="connsiteY3"/>
                </a:cxn>
              </a:cxnLst>
              <a:rect l="l" t="t" r="r" b="b"/>
              <a:pathLst>
                <a:path w="424732" h="424732">
                  <a:moveTo>
                    <a:pt x="424732" y="424732"/>
                  </a:moveTo>
                  <a:lnTo>
                    <a:pt x="0" y="424732"/>
                  </a:lnTo>
                  <a:lnTo>
                    <a:pt x="0" y="0"/>
                  </a:lnTo>
                  <a:lnTo>
                    <a:pt x="424732" y="0"/>
                  </a:lnTo>
                </a:path>
              </a:pathLst>
            </a:custGeom>
            <a:ln w="16510">
              <a:solidFill>
                <a:srgbClr val="0046A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solidFill>
                  <a:srgbClr val="065CAB"/>
                </a:solidFill>
                <a:latin typeface="Arial" pitchFamily="2" charset="0"/>
              </a:endParaRPr>
            </a:p>
          </p:txBody>
        </p:sp>
      </p:grpSp>
      <p:pic>
        <p:nvPicPr>
          <p:cNvPr id="71" name="Picture 70" descr="pva_strength.png"/>
          <p:cNvPicPr>
            <a:picLocks noChangeAspect="1"/>
          </p:cNvPicPr>
          <p:nvPr/>
        </p:nvPicPr>
        <p:blipFill>
          <a:blip r:embed="rId3"/>
          <a:stretch>
            <a:fillRect/>
          </a:stretch>
        </p:blipFill>
        <p:spPr>
          <a:xfrm>
            <a:off x="5890493" y="1417320"/>
            <a:ext cx="5877834" cy="4800600"/>
          </a:xfrm>
          <a:prstGeom prst="rect">
            <a:avLst/>
          </a:prstGeom>
          <a:ln w="9525">
            <a:solidFill>
              <a:srgbClr val="D9D9D9"/>
            </a:solidFill>
          </a:ln>
        </p:spPr>
      </p:pic>
      <p:graphicFrame>
        <p:nvGraphicFramePr>
          <p:cNvPr id="72" name="Метрики прочности"/>
          <p:cNvGraphicFramePr>
            <a:graphicFrameLocks noGrp="1"/>
          </p:cNvGraphicFramePr>
          <p:nvPr>
            <p:extLst>
              <p:ext uri="{D42A27DB-BD31-4B8C-83A1-F6EECF244321}">
                <p14:modId xmlns:p14="http://schemas.microsoft.com/office/powerpoint/2010/main" val="3772179708"/>
              </p:ext>
            </p:extLst>
          </p:nvPr>
        </p:nvGraphicFramePr>
        <p:xfrm>
          <a:off x="557784" y="1463040"/>
          <a:ext cx="5257800" cy="1975104"/>
        </p:xfrm>
        <a:graphic>
          <a:graphicData uri="http://schemas.openxmlformats.org/drawingml/2006/table">
            <a:tbl>
              <a:tblPr>
                <a:tableStyleId>{2D5ABB26-0587-4C30-8999-92F81FD0307C}</a:tableStyleId>
              </a:tblPr>
              <a:tblGrid>
                <a:gridCol w="21488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493776">
                <a:tc>
                  <a:txBody>
                    <a:bodyPr/>
                    <a:lstStyle/>
                    <a:p>
                      <a:pPr marL="0" indent="0" algn="l">
                        <a:buNone/>
                      </a:pPr>
                      <a:r>
                        <a:rPr lang="ru-RU" sz="1300" b="1" i="0">
                          <a:solidFill>
                            <a:srgbClr val="FFFFFF"/>
                          </a:solidFill>
                          <a:latin typeface="Arial" panose="020B0604020202020204" pitchFamily="34" charset="0"/>
                          <a:cs typeface="Arial"/>
                        </a:rPr>
                        <a:t>Градиентный бустинг</a:t>
                      </a:r>
                      <a:endParaRPr sz="1300" b="1" i="0">
                        <a:solidFill>
                          <a:srgbClr val="FFFFFF"/>
                        </a:solidFill>
                        <a:latin typeface="Arial" panose="020B0604020202020204" pitchFamily="34" charset="0"/>
                        <a:cs typeface="Arial"/>
                      </a:endParaRPr>
                    </a:p>
                  </a:txBody>
                  <a:tcPr marT="27432" marB="27432" anchor="ctr">
                    <a:lnL w="0">
                      <a:noFill/>
                    </a:lnL>
                    <a:lnR w="0">
                      <a:noFill/>
                    </a:lnR>
                    <a:lnT w="0">
                      <a:noFill/>
                    </a:lnT>
                    <a:lnB w="19050">
                      <a:solidFill>
                        <a:srgbClr val="065CAB"/>
                      </a:solidFill>
                    </a:lnB>
                    <a:solidFill>
                      <a:srgbClr val="0E5DAB"/>
                    </a:solidFill>
                  </a:tcPr>
                </a:tc>
                <a:tc>
                  <a:txBody>
                    <a:bodyPr/>
                    <a:lstStyle/>
                    <a:p>
                      <a:pPr marL="0" indent="0" algn="l">
                        <a:buNone/>
                      </a:pPr>
                      <a:r>
                        <a:rPr lang="ru-RU" sz="1200" b="1" i="0">
                          <a:solidFill>
                            <a:srgbClr val="FFFFFF"/>
                          </a:solidFill>
                          <a:latin typeface="Arial" panose="020B0604020202020204" pitchFamily="34" charset="0"/>
                          <a:cs typeface="Arial"/>
                        </a:rPr>
                        <a:t>716 строк</a:t>
                      </a:r>
                      <a:endParaRPr sz="1200" b="1" i="0">
                        <a:solidFill>
                          <a:srgbClr val="FFFFFF"/>
                        </a:solidFill>
                        <a:latin typeface="Arial" panose="020B0604020202020204" pitchFamily="34" charset="0"/>
                        <a:cs typeface="Arial"/>
                      </a:endParaRPr>
                    </a:p>
                  </a:txBody>
                  <a:tcPr marT="27432" marB="27432" anchor="ctr">
                    <a:lnL w="0">
                      <a:noFill/>
                    </a:lnL>
                    <a:lnR w="0">
                      <a:noFill/>
                    </a:lnR>
                    <a:lnT w="0">
                      <a:noFill/>
                    </a:lnT>
                    <a:lnB w="19050">
                      <a:solidFill>
                        <a:srgbClr val="065CAB"/>
                      </a:solidFill>
                    </a:lnB>
                    <a:solidFill>
                      <a:srgbClr val="0E5DAB"/>
                    </a:solidFill>
                  </a:tcPr>
                </a:tc>
                <a:tc>
                  <a:txBody>
                    <a:bodyPr/>
                    <a:lstStyle/>
                    <a:p>
                      <a:pPr marL="0" indent="0" algn="l">
                        <a:buNone/>
                      </a:pPr>
                      <a:r>
                        <a:rPr lang="ru-RU" sz="1200" b="1" i="0">
                          <a:solidFill>
                            <a:srgbClr val="FFFFFF"/>
                          </a:solidFill>
                          <a:latin typeface="Arial" panose="020B0604020202020204" pitchFamily="34" charset="0"/>
                          <a:cs typeface="Arial"/>
                        </a:rPr>
                        <a:t>307 строк</a:t>
                      </a:r>
                      <a:endParaRPr sz="1200" b="1" i="0">
                        <a:solidFill>
                          <a:srgbClr val="FFFFFF"/>
                        </a:solidFill>
                        <a:latin typeface="Arial" panose="020B0604020202020204" pitchFamily="34" charset="0"/>
                        <a:cs typeface="Arial"/>
                      </a:endParaRPr>
                    </a:p>
                  </a:txBody>
                  <a:tcPr marT="27432" marB="27432" anchor="ctr">
                    <a:lnL w="0">
                      <a:noFill/>
                    </a:lnL>
                    <a:lnR w="0">
                      <a:noFill/>
                    </a:lnR>
                    <a:lnT w="0">
                      <a:noFill/>
                    </a:lnT>
                    <a:lnB w="19050">
                      <a:solidFill>
                        <a:srgbClr val="065CAB"/>
                      </a:solidFill>
                    </a:lnB>
                    <a:solidFill>
                      <a:srgbClr val="0E5DAB"/>
                    </a:solidFill>
                  </a:tcPr>
                </a:tc>
                <a:extLst>
                  <a:ext uri="{0D108BD9-81ED-4DB2-BD59-A6C34878D82A}">
                    <a16:rowId xmlns:a16="http://schemas.microsoft.com/office/drawing/2014/main" val="10000"/>
                  </a:ext>
                </a:extLst>
              </a:tr>
              <a:tr h="493776">
                <a:tc>
                  <a:txBody>
                    <a:bodyPr/>
                    <a:lstStyle/>
                    <a:p>
                      <a:pPr marL="0" indent="0" algn="l">
                        <a:buNone/>
                      </a:pPr>
                      <a:r>
                        <a:rPr sz="1900" b="0" i="0">
                          <a:solidFill>
                            <a:srgbClr val="262626"/>
                          </a:solidFill>
                          <a:latin typeface="Arial" panose="020B0604020202020204" pitchFamily="34" charset="0"/>
                          <a:cs typeface="Arial"/>
                        </a:rPr>
                        <a:t>RMSE, МПа</a:t>
                      </a:r>
                    </a:p>
                  </a:txBody>
                  <a:tcPr marT="27432" marB="27432" anchor="ctr">
                    <a:lnT w="19050" cap="flat" cmpd="sng" algn="ctr">
                      <a:solidFill>
                        <a:srgbClr val="065CAB"/>
                      </a:solidFill>
                      <a:prstDash val="solid"/>
                      <a:round/>
                      <a:headEnd type="none" w="med" len="med"/>
                      <a:tailEnd type="none" w="med" len="med"/>
                    </a:lnT>
                    <a:noFill/>
                  </a:tcPr>
                </a:tc>
                <a:tc>
                  <a:txBody>
                    <a:bodyPr/>
                    <a:lstStyle/>
                    <a:p>
                      <a:pPr marL="0" indent="0" algn="r">
                        <a:buNone/>
                      </a:pPr>
                      <a:r>
                        <a:rPr sz="1900" b="0" i="0">
                          <a:solidFill>
                            <a:srgbClr val="262626"/>
                          </a:solidFill>
                          <a:latin typeface="Arial" panose="020B0604020202020204" pitchFamily="34" charset="0"/>
                          <a:cs typeface="Arial"/>
                        </a:rPr>
                        <a:t>447,149</a:t>
                      </a:r>
                    </a:p>
                  </a:txBody>
                  <a:tcPr marT="27432" marB="27432" anchor="ctr">
                    <a:lnT w="19050" cap="flat" cmpd="sng" algn="ctr">
                      <a:solidFill>
                        <a:srgbClr val="065CAB"/>
                      </a:solidFill>
                      <a:prstDash val="solid"/>
                      <a:round/>
                      <a:headEnd type="none" w="med" len="med"/>
                      <a:tailEnd type="none" w="med" len="med"/>
                    </a:lnT>
                    <a:noFill/>
                  </a:tcPr>
                </a:tc>
                <a:tc>
                  <a:txBody>
                    <a:bodyPr/>
                    <a:lstStyle/>
                    <a:p>
                      <a:pPr marL="0" indent="0" algn="r">
                        <a:buNone/>
                      </a:pPr>
                      <a:r>
                        <a:rPr sz="1900" b="1" i="0">
                          <a:solidFill>
                            <a:srgbClr val="262626"/>
                          </a:solidFill>
                          <a:latin typeface="Arial" panose="020B0604020202020204" pitchFamily="34" charset="0"/>
                          <a:cs typeface="Arial"/>
                        </a:rPr>
                        <a:t>471,410</a:t>
                      </a:r>
                    </a:p>
                  </a:txBody>
                  <a:tcPr marT="27432" marB="27432" anchor="ctr">
                    <a:lnT w="19050" cap="flat" cmpd="sng" algn="ctr">
                      <a:solidFill>
                        <a:srgbClr val="065CAB"/>
                      </a:solidFill>
                      <a:prstDash val="solid"/>
                      <a:round/>
                      <a:headEnd type="none" w="med" len="med"/>
                      <a:tailEnd type="none" w="med" len="med"/>
                    </a:lnT>
                    <a:noFill/>
                  </a:tcPr>
                </a:tc>
                <a:extLst>
                  <a:ext uri="{0D108BD9-81ED-4DB2-BD59-A6C34878D82A}">
                    <a16:rowId xmlns:a16="http://schemas.microsoft.com/office/drawing/2014/main" val="10001"/>
                  </a:ext>
                </a:extLst>
              </a:tr>
              <a:tr h="493776">
                <a:tc>
                  <a:txBody>
                    <a:bodyPr/>
                    <a:lstStyle/>
                    <a:p>
                      <a:pPr marL="0" indent="0" algn="l">
                        <a:buNone/>
                      </a:pPr>
                      <a:r>
                        <a:rPr sz="1900" b="0" i="0">
                          <a:solidFill>
                            <a:srgbClr val="262626"/>
                          </a:solidFill>
                          <a:latin typeface="Arial" panose="020B0604020202020204" pitchFamily="34" charset="0"/>
                          <a:cs typeface="Arial"/>
                        </a:rPr>
                        <a:t>MAE, МПа</a:t>
                      </a:r>
                    </a:p>
                  </a:txBody>
                  <a:tcPr marT="27432" marB="27432" anchor="ctr">
                    <a:noFill/>
                  </a:tcPr>
                </a:tc>
                <a:tc>
                  <a:txBody>
                    <a:bodyPr/>
                    <a:lstStyle/>
                    <a:p>
                      <a:pPr marL="0" indent="0" algn="r">
                        <a:buNone/>
                      </a:pPr>
                      <a:r>
                        <a:rPr sz="1900" b="0" i="0">
                          <a:solidFill>
                            <a:srgbClr val="262626"/>
                          </a:solidFill>
                          <a:latin typeface="Arial" panose="020B0604020202020204" pitchFamily="34" charset="0"/>
                          <a:cs typeface="Arial"/>
                        </a:rPr>
                        <a:t>352,394</a:t>
                      </a:r>
                    </a:p>
                  </a:txBody>
                  <a:tcPr marT="27432" marB="27432" anchor="ctr">
                    <a:noFill/>
                  </a:tcPr>
                </a:tc>
                <a:tc>
                  <a:txBody>
                    <a:bodyPr/>
                    <a:lstStyle/>
                    <a:p>
                      <a:pPr marL="0" indent="0" algn="r">
                        <a:buNone/>
                      </a:pPr>
                      <a:r>
                        <a:rPr sz="1900" b="1" i="0">
                          <a:solidFill>
                            <a:srgbClr val="262626"/>
                          </a:solidFill>
                          <a:latin typeface="Arial" panose="020B0604020202020204" pitchFamily="34" charset="0"/>
                          <a:cs typeface="Arial"/>
                        </a:rPr>
                        <a:t>380,152</a:t>
                      </a:r>
                    </a:p>
                  </a:txBody>
                  <a:tcPr marT="27432" marB="27432" anchor="ctr">
                    <a:noFill/>
                  </a:tcPr>
                </a:tc>
                <a:extLst>
                  <a:ext uri="{0D108BD9-81ED-4DB2-BD59-A6C34878D82A}">
                    <a16:rowId xmlns:a16="http://schemas.microsoft.com/office/drawing/2014/main" val="10002"/>
                  </a:ext>
                </a:extLst>
              </a:tr>
              <a:tr h="493776">
                <a:tc>
                  <a:txBody>
                    <a:bodyPr/>
                    <a:lstStyle/>
                    <a:p>
                      <a:pPr marL="0" indent="0" algn="l">
                        <a:buNone/>
                      </a:pPr>
                      <a:r>
                        <a:rPr sz="1900" b="0" i="0">
                          <a:solidFill>
                            <a:srgbClr val="262626"/>
                          </a:solidFill>
                          <a:latin typeface="Arial" panose="020B0604020202020204" pitchFamily="34" charset="0"/>
                          <a:cs typeface="Arial"/>
                        </a:rPr>
                        <a:t>R²</a:t>
                      </a:r>
                    </a:p>
                  </a:txBody>
                  <a:tcPr marT="27432" marB="27432" anchor="ctr">
                    <a:noFill/>
                  </a:tcPr>
                </a:tc>
                <a:tc>
                  <a:txBody>
                    <a:bodyPr/>
                    <a:lstStyle/>
                    <a:p>
                      <a:pPr marL="0" indent="0" algn="r">
                        <a:buNone/>
                      </a:pPr>
                      <a:r>
                        <a:rPr sz="1900" b="0" i="0">
                          <a:solidFill>
                            <a:srgbClr val="262626"/>
                          </a:solidFill>
                          <a:latin typeface="Arial" panose="020B0604020202020204" pitchFamily="34" charset="0"/>
                          <a:cs typeface="Arial"/>
                        </a:rPr>
                        <a:t>0,169</a:t>
                      </a:r>
                    </a:p>
                  </a:txBody>
                  <a:tcPr marT="27432" marB="27432" anchor="ctr">
                    <a:noFill/>
                  </a:tcPr>
                </a:tc>
                <a:tc>
                  <a:txBody>
                    <a:bodyPr/>
                    <a:lstStyle/>
                    <a:p>
                      <a:pPr marL="0" indent="0" algn="r">
                        <a:buNone/>
                      </a:pPr>
                      <a:r>
                        <a:rPr sz="1900" b="1" i="0">
                          <a:solidFill>
                            <a:srgbClr val="262626"/>
                          </a:solidFill>
                          <a:latin typeface="Arial" panose="020B0604020202020204" pitchFamily="34" charset="0"/>
                          <a:cs typeface="Arial"/>
                        </a:rPr>
                        <a:t>0,008</a:t>
                      </a:r>
                    </a:p>
                  </a:txBody>
                  <a:tcPr marT="27432" marB="27432" anchor="ctr">
                    <a:noFill/>
                  </a:tcPr>
                </a:tc>
                <a:extLst>
                  <a:ext uri="{0D108BD9-81ED-4DB2-BD59-A6C34878D82A}">
                    <a16:rowId xmlns:a16="http://schemas.microsoft.com/office/drawing/2014/main" val="10003"/>
                  </a:ext>
                </a:extLst>
              </a:tr>
            </a:tbl>
          </a:graphicData>
        </a:graphic>
      </p:graphicFrame>
      <p:sp>
        <p:nvSpPr>
          <p:cNvPr id="73" name="TextBox 72"/>
          <p:cNvSpPr txBox="1"/>
          <p:nvPr/>
        </p:nvSpPr>
        <p:spPr>
          <a:xfrm>
            <a:off x="557784" y="3584448"/>
            <a:ext cx="5257800" cy="411480"/>
          </a:xfrm>
          <a:prstGeom prst="rect">
            <a:avLst/>
          </a:prstGeom>
          <a:noFill/>
        </p:spPr>
        <p:txBody>
          <a:bodyPr wrap="square" lIns="0" tIns="0" rIns="0" bIns="0" anchor="t"/>
          <a:lstStyle/>
          <a:p>
            <a:pPr marL="0" indent="0" algn="l">
              <a:buNone/>
            </a:pPr>
            <a:r>
              <a:rPr lang="ru-RU" b="1" i="0">
                <a:solidFill>
                  <a:srgbClr val="F1BE29"/>
                </a:solidFill>
                <a:latin typeface="Arial" panose="020B0604020202020204" pitchFamily="34" charset="0"/>
                <a:cs typeface="Arial"/>
              </a:rPr>
              <a:t>Десять проверок выбрали градиентный бустинг; он лучше среднего в 4 случаях из 10</a:t>
            </a:r>
            <a:endParaRPr b="1" i="0">
              <a:solidFill>
                <a:srgbClr val="F1BE29"/>
              </a:solidFill>
              <a:latin typeface="Arial" panose="020B0604020202020204" pitchFamily="34" charset="0"/>
              <a:cs typeface="Arial"/>
            </a:endParaRPr>
          </a:p>
        </p:txBody>
      </p:sp>
      <p:sp>
        <p:nvSpPr>
          <p:cNvPr id="74" name="Rectangle 73"/>
          <p:cNvSpPr/>
          <p:nvPr/>
        </p:nvSpPr>
        <p:spPr>
          <a:xfrm>
            <a:off x="557784" y="4023360"/>
            <a:ext cx="5257800" cy="585216"/>
          </a:xfrm>
          <a:prstGeom prst="rect">
            <a:avLst/>
          </a:prstGeom>
          <a:solidFill>
            <a:srgbClr val="E3F0FD"/>
          </a:solidFill>
          <a:ln>
            <a:noFill/>
          </a:ln>
        </p:spPr>
        <p:txBody>
          <a:bodyPr rtlCol="0" anchor="ctr"/>
          <a:lstStyle/>
          <a:p>
            <a:pPr algn="ctr"/>
            <a:endParaRPr/>
          </a:p>
        </p:txBody>
      </p:sp>
      <p:sp>
        <p:nvSpPr>
          <p:cNvPr id="75" name="TextBox 74"/>
          <p:cNvSpPr txBox="1"/>
          <p:nvPr/>
        </p:nvSpPr>
        <p:spPr>
          <a:xfrm>
            <a:off x="713232" y="4023360"/>
            <a:ext cx="914400" cy="585216"/>
          </a:xfrm>
          <a:prstGeom prst="rect">
            <a:avLst/>
          </a:prstGeom>
          <a:noFill/>
        </p:spPr>
        <p:txBody>
          <a:bodyPr wrap="square" lIns="0" tIns="0" rIns="0" bIns="0" anchor="ctr"/>
          <a:lstStyle/>
          <a:p>
            <a:pPr marL="0" indent="0" algn="l">
              <a:buNone/>
            </a:pPr>
            <a:r>
              <a:rPr sz="1800" b="1" i="0">
                <a:solidFill>
                  <a:srgbClr val="065CAB"/>
                </a:solidFill>
                <a:latin typeface="Arial" panose="020B0604020202020204" pitchFamily="34" charset="0"/>
                <a:cs typeface="Arial"/>
              </a:rPr>
              <a:t>RMSE</a:t>
            </a:r>
          </a:p>
        </p:txBody>
      </p:sp>
      <p:sp>
        <p:nvSpPr>
          <p:cNvPr id="76" name="TextBox 75"/>
          <p:cNvSpPr txBox="1"/>
          <p:nvPr/>
        </p:nvSpPr>
        <p:spPr>
          <a:xfrm>
            <a:off x="1600200" y="4023360"/>
            <a:ext cx="2286000" cy="585216"/>
          </a:xfrm>
          <a:prstGeom prst="rect">
            <a:avLst/>
          </a:prstGeom>
          <a:noFill/>
        </p:spPr>
        <p:txBody>
          <a:bodyPr wrap="square" lIns="0" tIns="0" rIns="0" bIns="0" anchor="ctr"/>
          <a:lstStyle/>
          <a:p>
            <a:pPr marL="0" indent="0" algn="l">
              <a:buNone/>
            </a:pPr>
            <a:r>
              <a:rPr lang="ru-RU" sz="1300" i="0">
                <a:solidFill>
                  <a:srgbClr val="262626"/>
                </a:solidFill>
                <a:latin typeface="Arial" panose="020B0604020202020204" pitchFamily="34" charset="0"/>
                <a:cs typeface="Arial"/>
              </a:rPr>
              <a:t>ошибка меньше на 1,878 МПа</a:t>
            </a:r>
            <a:endParaRPr sz="1300" i="0">
              <a:solidFill>
                <a:srgbClr val="262626"/>
              </a:solidFill>
              <a:latin typeface="Arial" panose="020B0604020202020204" pitchFamily="34" charset="0"/>
              <a:cs typeface="Arial"/>
            </a:endParaRPr>
          </a:p>
        </p:txBody>
      </p:sp>
      <p:sp>
        <p:nvSpPr>
          <p:cNvPr id="77" name="TextBox 76"/>
          <p:cNvSpPr txBox="1"/>
          <p:nvPr/>
        </p:nvSpPr>
        <p:spPr>
          <a:xfrm>
            <a:off x="3840480" y="4023360"/>
            <a:ext cx="1874519" cy="585216"/>
          </a:xfrm>
          <a:prstGeom prst="rect">
            <a:avLst/>
          </a:prstGeom>
          <a:noFill/>
        </p:spPr>
        <p:txBody>
          <a:bodyPr wrap="square" lIns="0" tIns="0" rIns="0" bIns="0" anchor="ctr"/>
          <a:lstStyle/>
          <a:p>
            <a:pPr marL="0" indent="0" algn="r">
              <a:buNone/>
            </a:pPr>
            <a:r>
              <a:rPr lang="ru-RU" sz="1300" i="0">
                <a:solidFill>
                  <a:srgbClr val="595959"/>
                </a:solidFill>
                <a:latin typeface="Arial" panose="020B0604020202020204" pitchFamily="34" charset="0"/>
                <a:cs typeface="Arial"/>
              </a:rPr>
              <a:t>471,410 и 473,288</a:t>
            </a:r>
            <a:endParaRPr sz="1300" i="0">
              <a:solidFill>
                <a:srgbClr val="595959"/>
              </a:solidFill>
              <a:latin typeface="Arial" panose="020B0604020202020204" pitchFamily="34" charset="0"/>
              <a:cs typeface="Arial"/>
            </a:endParaRPr>
          </a:p>
        </p:txBody>
      </p:sp>
      <p:sp>
        <p:nvSpPr>
          <p:cNvPr id="78" name="Rectangle 77"/>
          <p:cNvSpPr/>
          <p:nvPr/>
        </p:nvSpPr>
        <p:spPr>
          <a:xfrm>
            <a:off x="557784" y="4681728"/>
            <a:ext cx="5257800" cy="585216"/>
          </a:xfrm>
          <a:prstGeom prst="rect">
            <a:avLst/>
          </a:prstGeom>
          <a:solidFill>
            <a:srgbClr val="E3F0FD"/>
          </a:solidFill>
          <a:ln>
            <a:noFill/>
          </a:ln>
        </p:spPr>
        <p:txBody>
          <a:bodyPr rtlCol="0" anchor="ctr"/>
          <a:lstStyle/>
          <a:p>
            <a:pPr algn="ctr"/>
            <a:endParaRPr/>
          </a:p>
        </p:txBody>
      </p:sp>
      <p:sp>
        <p:nvSpPr>
          <p:cNvPr id="79" name="TextBox 78"/>
          <p:cNvSpPr txBox="1"/>
          <p:nvPr/>
        </p:nvSpPr>
        <p:spPr>
          <a:xfrm>
            <a:off x="713232" y="4681728"/>
            <a:ext cx="914400" cy="585216"/>
          </a:xfrm>
          <a:prstGeom prst="rect">
            <a:avLst/>
          </a:prstGeom>
          <a:noFill/>
        </p:spPr>
        <p:txBody>
          <a:bodyPr wrap="square" lIns="0" tIns="0" rIns="0" bIns="0" anchor="ctr"/>
          <a:lstStyle/>
          <a:p>
            <a:pPr marL="0" indent="0" algn="l">
              <a:buNone/>
            </a:pPr>
            <a:r>
              <a:rPr sz="1800" b="1" i="0">
                <a:solidFill>
                  <a:srgbClr val="065CAB"/>
                </a:solidFill>
                <a:latin typeface="Arial" panose="020B0604020202020204" pitchFamily="34" charset="0"/>
                <a:cs typeface="Arial"/>
              </a:rPr>
              <a:t>MAE</a:t>
            </a:r>
          </a:p>
        </p:txBody>
      </p:sp>
      <p:sp>
        <p:nvSpPr>
          <p:cNvPr id="80" name="TextBox 79"/>
          <p:cNvSpPr txBox="1"/>
          <p:nvPr/>
        </p:nvSpPr>
        <p:spPr>
          <a:xfrm>
            <a:off x="1600200" y="4681728"/>
            <a:ext cx="2286000" cy="585216"/>
          </a:xfrm>
          <a:prstGeom prst="rect">
            <a:avLst/>
          </a:prstGeom>
          <a:noFill/>
        </p:spPr>
        <p:txBody>
          <a:bodyPr wrap="square" lIns="0" tIns="0" rIns="0" bIns="0" anchor="ctr"/>
          <a:lstStyle/>
          <a:p>
            <a:pPr marL="0" indent="0" algn="l">
              <a:buNone/>
            </a:pPr>
            <a:r>
              <a:rPr lang="ru-RU" sz="1300" i="0">
                <a:solidFill>
                  <a:srgbClr val="262626"/>
                </a:solidFill>
                <a:latin typeface="Arial" panose="020B0604020202020204" pitchFamily="34" charset="0"/>
                <a:cs typeface="Arial"/>
              </a:rPr>
              <a:t>ошибка больше на 1,168 МПа</a:t>
            </a:r>
            <a:endParaRPr sz="1300" i="0">
              <a:solidFill>
                <a:srgbClr val="262626"/>
              </a:solidFill>
              <a:latin typeface="Arial" panose="020B0604020202020204" pitchFamily="34" charset="0"/>
              <a:cs typeface="Arial"/>
            </a:endParaRPr>
          </a:p>
        </p:txBody>
      </p:sp>
      <p:sp>
        <p:nvSpPr>
          <p:cNvPr id="81" name="TextBox 80"/>
          <p:cNvSpPr txBox="1"/>
          <p:nvPr/>
        </p:nvSpPr>
        <p:spPr>
          <a:xfrm>
            <a:off x="3840480" y="4681728"/>
            <a:ext cx="1874519" cy="585216"/>
          </a:xfrm>
          <a:prstGeom prst="rect">
            <a:avLst/>
          </a:prstGeom>
          <a:noFill/>
        </p:spPr>
        <p:txBody>
          <a:bodyPr wrap="square" lIns="0" tIns="0" rIns="0" bIns="0" anchor="ctr"/>
          <a:lstStyle/>
          <a:p>
            <a:pPr marL="0" indent="0" algn="r">
              <a:buNone/>
            </a:pPr>
            <a:r>
              <a:rPr lang="ru-RU" sz="1300" i="0">
                <a:solidFill>
                  <a:srgbClr val="595959"/>
                </a:solidFill>
                <a:latin typeface="Arial" panose="020B0604020202020204" pitchFamily="34" charset="0"/>
                <a:cs typeface="Arial"/>
              </a:rPr>
              <a:t>380,152 и 378,984</a:t>
            </a:r>
            <a:endParaRPr sz="1300" i="0">
              <a:solidFill>
                <a:srgbClr val="595959"/>
              </a:solidFill>
              <a:latin typeface="Arial" panose="020B0604020202020204" pitchFamily="34" charset="0"/>
              <a:cs typeface="Arial"/>
            </a:endParaRPr>
          </a:p>
        </p:txBody>
      </p:sp>
      <p:sp>
        <p:nvSpPr>
          <p:cNvPr id="82" name="TextBox 81"/>
          <p:cNvSpPr txBox="1"/>
          <p:nvPr/>
        </p:nvSpPr>
        <p:spPr>
          <a:xfrm>
            <a:off x="557784" y="5394960"/>
            <a:ext cx="5257800" cy="868680"/>
          </a:xfrm>
          <a:prstGeom prst="rect">
            <a:avLst/>
          </a:prstGeom>
          <a:noFill/>
        </p:spPr>
        <p:txBody>
          <a:bodyPr wrap="square" lIns="0" tIns="0" rIns="0" bIns="0" anchor="t"/>
          <a:lstStyle/>
          <a:p>
            <a:pPr marL="0" indent="0" algn="l">
              <a:lnSpc>
                <a:spcPct val="100000"/>
              </a:lnSpc>
              <a:buNone/>
            </a:pPr>
            <a:r>
              <a:rPr lang="ru-RU" sz="1500" b="1" i="0">
                <a:solidFill>
                  <a:srgbClr val="262626"/>
                </a:solidFill>
                <a:latin typeface="Arial" panose="020B0604020202020204" pitchFamily="34" charset="0"/>
                <a:cs typeface="Arial"/>
              </a:rPr>
              <a:t>R² = 0,008: различия между примерами почти не объяснены
Практическая точность не подтверждена</a:t>
            </a:r>
            <a:endParaRPr sz="1500" b="1" i="0">
              <a:solidFill>
                <a:srgbClr val="595959"/>
              </a:solidFill>
              <a:latin typeface="Arial" panose="020B0604020202020204" pitchFamily="34" charset="0"/>
              <a:cs typeface="Arial"/>
            </a:endParaRPr>
          </a:p>
        </p:txBody>
      </p:sp>
      <p:sp>
        <p:nvSpPr>
          <p:cNvPr id="83" name="Источник"/>
          <p:cNvSpPr txBox="1"/>
          <p:nvPr/>
        </p:nvSpPr>
        <p:spPr>
          <a:xfrm>
            <a:off x="960120" y="6336792"/>
            <a:ext cx="10808208" cy="365760"/>
          </a:xfrm>
          <a:prstGeom prst="rect">
            <a:avLst/>
          </a:prstGeom>
          <a:noFill/>
        </p:spPr>
        <p:txBody>
          <a:bodyPr wrap="square" lIns="0" tIns="0" rIns="0" bIns="0" anchor="ctr"/>
          <a:lstStyle/>
          <a:p>
            <a:pPr marL="0" indent="0" algn="l">
              <a:buNone/>
            </a:pPr>
            <a:r>
              <a:rPr lang="ru-RU" sz="1300" i="0">
                <a:solidFill>
                  <a:srgbClr val="595959"/>
                </a:solidFill>
                <a:latin typeface="Arial" panose="020B0604020202020204" pitchFamily="34" charset="0"/>
                <a:cs typeface="Arial"/>
              </a:rPr>
              <a:t>Источник: РПЗ, рисунок с фактическими и прогнозными значениями; reports/evaluation/metrics.csv</a:t>
            </a:r>
            <a:endParaRPr sz="1300" i="0">
              <a:solidFill>
                <a:srgbClr val="595959"/>
              </a:solidFill>
              <a:latin typeface="Arial" panose="020B0604020202020204" pitchFamily="34" charset="0"/>
              <a:cs typeface="Arial"/>
            </a:endParaRPr>
          </a:p>
        </p:txBody>
      </p:sp>
      <p:sp>
        <p:nvSpPr>
          <p:cNvPr id="4" name="Номер слайда 3">
            <a:extLst>
              <a:ext uri="{FF2B5EF4-FFF2-40B4-BE49-F238E27FC236}">
                <a16:creationId xmlns:a16="http://schemas.microsoft.com/office/drawing/2014/main" id="{06555008-558A-4705-ADA6-A99A535D9A1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ru-RU" smtClean="0">
                <a:cs typeface="Arial"/>
              </a:rPr>
              <a:t>10</a:t>
            </a:fld>
            <a:endParaRPr lang="ru-RU" dirty="0">
              <a:cs typeface="Arial"/>
            </a:endParaRPr>
          </a:p>
        </p:txBody>
      </p:sp>
      <p:sp>
        <p:nvSpPr>
          <p:cNvPr id="2" name="StrengthLegendCover">
            <a:extLst>
              <a:ext uri="{FF2B5EF4-FFF2-40B4-BE49-F238E27FC236}">
                <a16:creationId xmlns:a16="http://schemas.microsoft.com/office/drawing/2014/main" id="{AD8E38BD-7E90-41EB-A1BF-00CF2EABC494}"/>
              </a:ext>
            </a:extLst>
          </p:cNvPr>
          <p:cNvSpPr/>
          <p:nvPr/>
        </p:nvSpPr>
        <p:spPr>
          <a:xfrm>
            <a:off x="6731000" y="1778000"/>
            <a:ext cx="2159000" cy="787400"/>
          </a:xfrm>
          <a:prstGeom prst="roundRect">
            <a:avLst/>
          </a:prstGeom>
          <a:solidFill>
            <a:srgbClr val="FFFFFF"/>
          </a:solidFill>
          <a:ln w="1778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r>
              <a:rPr lang="ru-RU" sz="1000">
                <a:solidFill>
                  <a:srgbClr val="262626"/>
                </a:solidFill>
                <a:latin typeface="Arial" panose="020B0604020202020204" pitchFamily="34" charset="0"/>
              </a:rPr>
              <a:t>Синие точки – обучение, 716
Оранжевые – итоговая проверка, 307</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Заголовок слайда">
            <a:extLst>
              <a:ext uri="{FF2B5EF4-FFF2-40B4-BE49-F238E27FC236}">
                <a16:creationId xmlns:a16="http://schemas.microsoft.com/office/drawing/2014/main" id="{9280711C-2262-4089-92EE-9BEACCC60C4C}"/>
              </a:ext>
            </a:extLst>
          </p:cNvPr>
          <p:cNvGrpSpPr/>
          <p:nvPr/>
        </p:nvGrpSpPr>
        <p:grpSpPr>
          <a:xfrm>
            <a:off x="3167880" y="469293"/>
            <a:ext cx="8480059" cy="666000"/>
            <a:chOff x="0" y="0"/>
            <a:chExt cx="8480059" cy="666000"/>
          </a:xfrm>
        </p:grpSpPr>
        <p:sp>
          <p:nvSpPr>
            <p:cNvPr id="68" name="Прямоугольник 67">
              <a:extLst>
                <a:ext uri="{FF2B5EF4-FFF2-40B4-BE49-F238E27FC236}">
                  <a16:creationId xmlns:a16="http://schemas.microsoft.com/office/drawing/2014/main" id="{E2535886-3476-4B40-9706-6797B77905C0}"/>
                </a:ext>
              </a:extLst>
            </p:cNvPr>
            <p:cNvSpPr/>
            <p:nvPr/>
          </p:nvSpPr>
          <p:spPr>
            <a:xfrm>
              <a:off x="0" y="0"/>
              <a:ext cx="8480059" cy="666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201168" tIns="0" rIns="201168" bIns="0" rtlCol="0" anchor="ctr"/>
            <a:lstStyle/>
            <a:p>
              <a:pPr algn="l"/>
              <a:r>
                <a:rPr lang="ru-RU" sz="2600" b="1" spc="0">
                  <a:solidFill>
                    <a:srgbClr val="065CAB"/>
                  </a:solidFill>
                  <a:latin typeface="Arial" panose="020B0604020202020204" pitchFamily="34" charset="0"/>
                  <a:cs typeface="Arial" pitchFamily="2" charset="0"/>
                </a:rPr>
                <a:t>Отдельная нейросеть для соотношения компонентов</a:t>
              </a:r>
              <a:endParaRPr lang="ru-RU" sz="2600" b="1" spc="0" dirty="0">
                <a:solidFill>
                  <a:srgbClr val="065CAB"/>
                </a:solidFill>
                <a:latin typeface="Arial" panose="020B0604020202020204" pitchFamily="34" charset="0"/>
                <a:cs typeface="Arial" pitchFamily="2" charset="0"/>
              </a:endParaRPr>
            </a:p>
          </p:txBody>
        </p:sp>
        <p:sp>
          <p:nvSpPr>
            <p:cNvPr id="69" name="Прямоугольник 58">
              <a:extLst>
                <a:ext uri="{FF2B5EF4-FFF2-40B4-BE49-F238E27FC236}">
                  <a16:creationId xmlns:a16="http://schemas.microsoft.com/office/drawing/2014/main" id="{96789138-2397-49AA-BF3A-A6B5B90E8840}"/>
                </a:ext>
              </a:extLst>
            </p:cNvPr>
            <p:cNvSpPr/>
            <p:nvPr/>
          </p:nvSpPr>
          <p:spPr>
            <a:xfrm rot="10800000" flipH="1">
              <a:off x="0" y="0"/>
              <a:ext cx="76579" cy="666000"/>
            </a:xfrm>
            <a:custGeom>
              <a:avLst/>
              <a:gdLst>
                <a:gd name="connsiteX0" fmla="*/ 0 w 424732"/>
                <a:gd name="connsiteY0" fmla="*/ 0 h 424732"/>
                <a:gd name="connsiteX1" fmla="*/ 424732 w 424732"/>
                <a:gd name="connsiteY1" fmla="*/ 0 h 424732"/>
                <a:gd name="connsiteX2" fmla="*/ 424732 w 424732"/>
                <a:gd name="connsiteY2" fmla="*/ 424732 h 424732"/>
                <a:gd name="connsiteX3" fmla="*/ 0 w 424732"/>
                <a:gd name="connsiteY3" fmla="*/ 424732 h 424732"/>
                <a:gd name="connsiteX4" fmla="*/ 0 w 424732"/>
                <a:gd name="connsiteY4" fmla="*/ 0 h 424732"/>
                <a:gd name="connsiteX0" fmla="*/ 0 w 425450"/>
                <a:gd name="connsiteY0" fmla="*/ 0 h 424732"/>
                <a:gd name="connsiteX1" fmla="*/ 424732 w 425450"/>
                <a:gd name="connsiteY1" fmla="*/ 0 h 424732"/>
                <a:gd name="connsiteX2" fmla="*/ 425450 w 425450"/>
                <a:gd name="connsiteY2" fmla="*/ 238890 h 424732"/>
                <a:gd name="connsiteX3" fmla="*/ 424732 w 425450"/>
                <a:gd name="connsiteY3" fmla="*/ 424732 h 424732"/>
                <a:gd name="connsiteX4" fmla="*/ 0 w 425450"/>
                <a:gd name="connsiteY4" fmla="*/ 424732 h 424732"/>
                <a:gd name="connsiteX5" fmla="*/ 0 w 425450"/>
                <a:gd name="connsiteY5" fmla="*/ 0 h 424732"/>
                <a:gd name="connsiteX0" fmla="*/ 425450 w 516890"/>
                <a:gd name="connsiteY0" fmla="*/ 238890 h 424732"/>
                <a:gd name="connsiteX1" fmla="*/ 424732 w 516890"/>
                <a:gd name="connsiteY1" fmla="*/ 424732 h 424732"/>
                <a:gd name="connsiteX2" fmla="*/ 0 w 516890"/>
                <a:gd name="connsiteY2" fmla="*/ 424732 h 424732"/>
                <a:gd name="connsiteX3" fmla="*/ 0 w 516890"/>
                <a:gd name="connsiteY3" fmla="*/ 0 h 424732"/>
                <a:gd name="connsiteX4" fmla="*/ 424732 w 516890"/>
                <a:gd name="connsiteY4" fmla="*/ 0 h 424732"/>
                <a:gd name="connsiteX5" fmla="*/ 516890 w 516890"/>
                <a:gd name="connsiteY5" fmla="*/ 330330 h 424732"/>
                <a:gd name="connsiteX0" fmla="*/ 424732 w 516890"/>
                <a:gd name="connsiteY0" fmla="*/ 424732 h 424732"/>
                <a:gd name="connsiteX1" fmla="*/ 0 w 516890"/>
                <a:gd name="connsiteY1" fmla="*/ 424732 h 424732"/>
                <a:gd name="connsiteX2" fmla="*/ 0 w 516890"/>
                <a:gd name="connsiteY2" fmla="*/ 0 h 424732"/>
                <a:gd name="connsiteX3" fmla="*/ 424732 w 516890"/>
                <a:gd name="connsiteY3" fmla="*/ 0 h 424732"/>
                <a:gd name="connsiteX4" fmla="*/ 516890 w 516890"/>
                <a:gd name="connsiteY4" fmla="*/ 330330 h 424732"/>
                <a:gd name="connsiteX0" fmla="*/ 424732 w 424732"/>
                <a:gd name="connsiteY0" fmla="*/ 424732 h 424732"/>
                <a:gd name="connsiteX1" fmla="*/ 0 w 424732"/>
                <a:gd name="connsiteY1" fmla="*/ 424732 h 424732"/>
                <a:gd name="connsiteX2" fmla="*/ 0 w 424732"/>
                <a:gd name="connsiteY2" fmla="*/ 0 h 424732"/>
                <a:gd name="connsiteX3" fmla="*/ 424732 w 424732"/>
                <a:gd name="connsiteY3" fmla="*/ 0 h 424732"/>
              </a:gdLst>
              <a:ahLst/>
              <a:cxnLst>
                <a:cxn ang="0">
                  <a:pos x="connsiteX0" y="connsiteY0"/>
                </a:cxn>
                <a:cxn ang="0">
                  <a:pos x="connsiteX1" y="connsiteY1"/>
                </a:cxn>
                <a:cxn ang="0">
                  <a:pos x="connsiteX2" y="connsiteY2"/>
                </a:cxn>
                <a:cxn ang="0">
                  <a:pos x="connsiteX3" y="connsiteY3"/>
                </a:cxn>
              </a:cxnLst>
              <a:rect l="l" t="t" r="r" b="b"/>
              <a:pathLst>
                <a:path w="424732" h="424732">
                  <a:moveTo>
                    <a:pt x="424732" y="424732"/>
                  </a:moveTo>
                  <a:lnTo>
                    <a:pt x="0" y="424732"/>
                  </a:lnTo>
                  <a:lnTo>
                    <a:pt x="0" y="0"/>
                  </a:lnTo>
                  <a:lnTo>
                    <a:pt x="424732" y="0"/>
                  </a:lnTo>
                </a:path>
              </a:pathLst>
            </a:custGeom>
            <a:ln w="16510">
              <a:solidFill>
                <a:srgbClr val="065CA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latin typeface="Arial" pitchFamily="2" charset="0"/>
              </a:endParaRPr>
            </a:p>
          </p:txBody>
        </p:sp>
        <p:sp>
          <p:nvSpPr>
            <p:cNvPr id="70" name="Прямоугольник 58">
              <a:extLst>
                <a:ext uri="{FF2B5EF4-FFF2-40B4-BE49-F238E27FC236}">
                  <a16:creationId xmlns:a16="http://schemas.microsoft.com/office/drawing/2014/main" id="{DA239952-60E1-45EB-BDF0-422CC4CF7E42}"/>
                </a:ext>
              </a:extLst>
            </p:cNvPr>
            <p:cNvSpPr/>
            <p:nvPr/>
          </p:nvSpPr>
          <p:spPr>
            <a:xfrm flipH="1">
              <a:off x="8390010" y="0"/>
              <a:ext cx="90049" cy="666000"/>
            </a:xfrm>
            <a:custGeom>
              <a:avLst/>
              <a:gdLst>
                <a:gd name="connsiteX0" fmla="*/ 0 w 424732"/>
                <a:gd name="connsiteY0" fmla="*/ 0 h 424732"/>
                <a:gd name="connsiteX1" fmla="*/ 424732 w 424732"/>
                <a:gd name="connsiteY1" fmla="*/ 0 h 424732"/>
                <a:gd name="connsiteX2" fmla="*/ 424732 w 424732"/>
                <a:gd name="connsiteY2" fmla="*/ 424732 h 424732"/>
                <a:gd name="connsiteX3" fmla="*/ 0 w 424732"/>
                <a:gd name="connsiteY3" fmla="*/ 424732 h 424732"/>
                <a:gd name="connsiteX4" fmla="*/ 0 w 424732"/>
                <a:gd name="connsiteY4" fmla="*/ 0 h 424732"/>
                <a:gd name="connsiteX0" fmla="*/ 0 w 425450"/>
                <a:gd name="connsiteY0" fmla="*/ 0 h 424732"/>
                <a:gd name="connsiteX1" fmla="*/ 424732 w 425450"/>
                <a:gd name="connsiteY1" fmla="*/ 0 h 424732"/>
                <a:gd name="connsiteX2" fmla="*/ 425450 w 425450"/>
                <a:gd name="connsiteY2" fmla="*/ 238890 h 424732"/>
                <a:gd name="connsiteX3" fmla="*/ 424732 w 425450"/>
                <a:gd name="connsiteY3" fmla="*/ 424732 h 424732"/>
                <a:gd name="connsiteX4" fmla="*/ 0 w 425450"/>
                <a:gd name="connsiteY4" fmla="*/ 424732 h 424732"/>
                <a:gd name="connsiteX5" fmla="*/ 0 w 425450"/>
                <a:gd name="connsiteY5" fmla="*/ 0 h 424732"/>
                <a:gd name="connsiteX0" fmla="*/ 425450 w 516890"/>
                <a:gd name="connsiteY0" fmla="*/ 238890 h 424732"/>
                <a:gd name="connsiteX1" fmla="*/ 424732 w 516890"/>
                <a:gd name="connsiteY1" fmla="*/ 424732 h 424732"/>
                <a:gd name="connsiteX2" fmla="*/ 0 w 516890"/>
                <a:gd name="connsiteY2" fmla="*/ 424732 h 424732"/>
                <a:gd name="connsiteX3" fmla="*/ 0 w 516890"/>
                <a:gd name="connsiteY3" fmla="*/ 0 h 424732"/>
                <a:gd name="connsiteX4" fmla="*/ 424732 w 516890"/>
                <a:gd name="connsiteY4" fmla="*/ 0 h 424732"/>
                <a:gd name="connsiteX5" fmla="*/ 516890 w 516890"/>
                <a:gd name="connsiteY5" fmla="*/ 330330 h 424732"/>
                <a:gd name="connsiteX0" fmla="*/ 424732 w 516890"/>
                <a:gd name="connsiteY0" fmla="*/ 424732 h 424732"/>
                <a:gd name="connsiteX1" fmla="*/ 0 w 516890"/>
                <a:gd name="connsiteY1" fmla="*/ 424732 h 424732"/>
                <a:gd name="connsiteX2" fmla="*/ 0 w 516890"/>
                <a:gd name="connsiteY2" fmla="*/ 0 h 424732"/>
                <a:gd name="connsiteX3" fmla="*/ 424732 w 516890"/>
                <a:gd name="connsiteY3" fmla="*/ 0 h 424732"/>
                <a:gd name="connsiteX4" fmla="*/ 516890 w 516890"/>
                <a:gd name="connsiteY4" fmla="*/ 330330 h 424732"/>
                <a:gd name="connsiteX0" fmla="*/ 424732 w 424732"/>
                <a:gd name="connsiteY0" fmla="*/ 424732 h 424732"/>
                <a:gd name="connsiteX1" fmla="*/ 0 w 424732"/>
                <a:gd name="connsiteY1" fmla="*/ 424732 h 424732"/>
                <a:gd name="connsiteX2" fmla="*/ 0 w 424732"/>
                <a:gd name="connsiteY2" fmla="*/ 0 h 424732"/>
                <a:gd name="connsiteX3" fmla="*/ 424732 w 424732"/>
                <a:gd name="connsiteY3" fmla="*/ 0 h 424732"/>
              </a:gdLst>
              <a:ahLst/>
              <a:cxnLst>
                <a:cxn ang="0">
                  <a:pos x="connsiteX0" y="connsiteY0"/>
                </a:cxn>
                <a:cxn ang="0">
                  <a:pos x="connsiteX1" y="connsiteY1"/>
                </a:cxn>
                <a:cxn ang="0">
                  <a:pos x="connsiteX2" y="connsiteY2"/>
                </a:cxn>
                <a:cxn ang="0">
                  <a:pos x="connsiteX3" y="connsiteY3"/>
                </a:cxn>
              </a:cxnLst>
              <a:rect l="l" t="t" r="r" b="b"/>
              <a:pathLst>
                <a:path w="424732" h="424732">
                  <a:moveTo>
                    <a:pt x="424732" y="424732"/>
                  </a:moveTo>
                  <a:lnTo>
                    <a:pt x="0" y="424732"/>
                  </a:lnTo>
                  <a:lnTo>
                    <a:pt x="0" y="0"/>
                  </a:lnTo>
                  <a:lnTo>
                    <a:pt x="424732" y="0"/>
                  </a:lnTo>
                </a:path>
              </a:pathLst>
            </a:custGeom>
            <a:ln w="16510">
              <a:solidFill>
                <a:srgbClr val="0046A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solidFill>
                  <a:srgbClr val="065CAB"/>
                </a:solidFill>
                <a:latin typeface="Arial" pitchFamily="2" charset="0"/>
              </a:endParaRPr>
            </a:p>
          </p:txBody>
        </p:sp>
      </p:grpSp>
      <p:sp>
        <p:nvSpPr>
          <p:cNvPr id="71" name="TextBox 70"/>
          <p:cNvSpPr txBox="1"/>
          <p:nvPr/>
        </p:nvSpPr>
        <p:spPr>
          <a:xfrm>
            <a:off x="822960" y="1600200"/>
            <a:ext cx="1920240" cy="1371600"/>
          </a:xfrm>
          <a:prstGeom prst="rect">
            <a:avLst/>
          </a:prstGeom>
          <a:noFill/>
        </p:spPr>
        <p:txBody>
          <a:bodyPr wrap="square" lIns="0" tIns="0" rIns="0" bIns="0" anchor="t"/>
          <a:lstStyle/>
          <a:p>
            <a:pPr marL="0" indent="0" algn="ctr">
              <a:lnSpc>
                <a:spcPct val="90000"/>
              </a:lnSpc>
              <a:buNone/>
            </a:pPr>
            <a:r>
              <a:rPr sz="8800" b="1" i="0">
                <a:solidFill>
                  <a:srgbClr val="065CAB"/>
                </a:solidFill>
                <a:latin typeface="Arial" panose="020B0604020202020204" pitchFamily="34" charset="0"/>
                <a:cs typeface="Arial"/>
              </a:rPr>
              <a:t>12</a:t>
            </a:r>
          </a:p>
        </p:txBody>
      </p:sp>
      <p:sp>
        <p:nvSpPr>
          <p:cNvPr id="72" name="TextBox 71"/>
          <p:cNvSpPr txBox="1"/>
          <p:nvPr/>
        </p:nvSpPr>
        <p:spPr>
          <a:xfrm>
            <a:off x="822960" y="3017520"/>
            <a:ext cx="1920240" cy="822960"/>
          </a:xfrm>
          <a:prstGeom prst="rect">
            <a:avLst/>
          </a:prstGeom>
          <a:noFill/>
        </p:spPr>
        <p:txBody>
          <a:bodyPr wrap="square" lIns="0" tIns="0" rIns="0" bIns="0" anchor="t"/>
          <a:lstStyle/>
          <a:p>
            <a:pPr marL="0" indent="0" algn="ctr">
              <a:lnSpc>
                <a:spcPct val="100000"/>
              </a:lnSpc>
              <a:buNone/>
            </a:pPr>
            <a:r>
              <a:rPr lang="ru-RU" sz="1500" i="0">
                <a:solidFill>
                  <a:srgbClr val="595959"/>
                </a:solidFill>
                <a:latin typeface="Arial" panose="020B0604020202020204" pitchFamily="34" charset="0"/>
                <a:cs typeface="Arial"/>
              </a:rPr>
              <a:t>известных показателей
13 − 1 = 12</a:t>
            </a:r>
            <a:endParaRPr sz="1500" i="0">
              <a:solidFill>
                <a:srgbClr val="595959"/>
              </a:solidFill>
              <a:latin typeface="Arial" panose="020B0604020202020204" pitchFamily="34" charset="0"/>
              <a:cs typeface="Arial"/>
            </a:endParaRPr>
          </a:p>
        </p:txBody>
      </p:sp>
      <p:cxnSp>
        <p:nvCxnSpPr>
          <p:cNvPr id="73" name="Connector 72"/>
          <p:cNvCxnSpPr/>
          <p:nvPr/>
        </p:nvCxnSpPr>
        <p:spPr>
          <a:xfrm>
            <a:off x="2926079" y="2212848"/>
            <a:ext cx="502921" cy="0"/>
          </a:xfrm>
          <a:prstGeom prst="line">
            <a:avLst/>
          </a:prstGeom>
          <a:ln w="38100">
            <a:solidFill>
              <a:srgbClr val="F1BE29"/>
            </a:solidFill>
            <a:tailEnd type="triangle" w="med" len="med"/>
          </a:ln>
        </p:spPr>
      </p:cxnSp>
      <p:sp>
        <p:nvSpPr>
          <p:cNvPr id="74" name="TextBox 73"/>
          <p:cNvSpPr txBox="1"/>
          <p:nvPr/>
        </p:nvSpPr>
        <p:spPr>
          <a:xfrm>
            <a:off x="3611879" y="1600200"/>
            <a:ext cx="1920240" cy="1371600"/>
          </a:xfrm>
          <a:prstGeom prst="rect">
            <a:avLst/>
          </a:prstGeom>
          <a:noFill/>
        </p:spPr>
        <p:txBody>
          <a:bodyPr wrap="square" lIns="0" tIns="0" rIns="0" bIns="0" anchor="t"/>
          <a:lstStyle/>
          <a:p>
            <a:pPr marL="0" indent="0" algn="ctr">
              <a:lnSpc>
                <a:spcPct val="90000"/>
              </a:lnSpc>
              <a:buNone/>
            </a:pPr>
            <a:r>
              <a:rPr sz="8800" b="1" i="0">
                <a:solidFill>
                  <a:srgbClr val="065CAB"/>
                </a:solidFill>
                <a:latin typeface="Arial" panose="020B0604020202020204" pitchFamily="34" charset="0"/>
                <a:cs typeface="Arial"/>
              </a:rPr>
              <a:t>32</a:t>
            </a:r>
          </a:p>
        </p:txBody>
      </p:sp>
      <p:sp>
        <p:nvSpPr>
          <p:cNvPr id="75" name="TextBox 74"/>
          <p:cNvSpPr txBox="1"/>
          <p:nvPr/>
        </p:nvSpPr>
        <p:spPr>
          <a:xfrm>
            <a:off x="3611879" y="3017520"/>
            <a:ext cx="1920240" cy="822960"/>
          </a:xfrm>
          <a:prstGeom prst="rect">
            <a:avLst/>
          </a:prstGeom>
          <a:noFill/>
        </p:spPr>
        <p:txBody>
          <a:bodyPr wrap="square" lIns="0" tIns="0" rIns="0" bIns="0" anchor="t"/>
          <a:lstStyle/>
          <a:p>
            <a:pPr marL="0" indent="0" algn="ctr">
              <a:lnSpc>
                <a:spcPct val="100000"/>
              </a:lnSpc>
              <a:buNone/>
            </a:pPr>
            <a:r>
              <a:rPr lang="ru-RU" i="0">
                <a:solidFill>
                  <a:srgbClr val="595959"/>
                </a:solidFill>
                <a:latin typeface="Arial" panose="020B0604020202020204" pitchFamily="34" charset="0"/>
                <a:cs typeface="Arial"/>
              </a:rPr>
              <a:t>первый внутренний слой
32 нейрона</a:t>
            </a:r>
            <a:endParaRPr i="0">
              <a:solidFill>
                <a:srgbClr val="595959"/>
              </a:solidFill>
              <a:latin typeface="Arial" panose="020B0604020202020204" pitchFamily="34" charset="0"/>
              <a:cs typeface="Arial"/>
            </a:endParaRPr>
          </a:p>
        </p:txBody>
      </p:sp>
      <p:cxnSp>
        <p:nvCxnSpPr>
          <p:cNvPr id="76" name="Connector 75"/>
          <p:cNvCxnSpPr/>
          <p:nvPr/>
        </p:nvCxnSpPr>
        <p:spPr>
          <a:xfrm>
            <a:off x="5715000" y="2212848"/>
            <a:ext cx="502920" cy="0"/>
          </a:xfrm>
          <a:prstGeom prst="line">
            <a:avLst/>
          </a:prstGeom>
          <a:ln w="38100">
            <a:solidFill>
              <a:srgbClr val="F1BE29"/>
            </a:solidFill>
            <a:tailEnd type="triangle" w="med" len="med"/>
          </a:ln>
        </p:spPr>
      </p:cxnSp>
      <p:sp>
        <p:nvSpPr>
          <p:cNvPr id="77" name="TextBox 76"/>
          <p:cNvSpPr txBox="1"/>
          <p:nvPr/>
        </p:nvSpPr>
        <p:spPr>
          <a:xfrm>
            <a:off x="6400800" y="1600200"/>
            <a:ext cx="1920240" cy="1371600"/>
          </a:xfrm>
          <a:prstGeom prst="rect">
            <a:avLst/>
          </a:prstGeom>
          <a:noFill/>
        </p:spPr>
        <p:txBody>
          <a:bodyPr wrap="square" lIns="0" tIns="0" rIns="0" bIns="0" anchor="t"/>
          <a:lstStyle/>
          <a:p>
            <a:pPr marL="0" indent="0" algn="ctr">
              <a:lnSpc>
                <a:spcPct val="90000"/>
              </a:lnSpc>
              <a:buNone/>
            </a:pPr>
            <a:r>
              <a:rPr sz="8800" b="1" i="0">
                <a:solidFill>
                  <a:srgbClr val="065CAB"/>
                </a:solidFill>
                <a:latin typeface="Arial" panose="020B0604020202020204" pitchFamily="34" charset="0"/>
                <a:cs typeface="Arial"/>
              </a:rPr>
              <a:t>16</a:t>
            </a:r>
          </a:p>
        </p:txBody>
      </p:sp>
      <p:sp>
        <p:nvSpPr>
          <p:cNvPr id="78" name="TextBox 77"/>
          <p:cNvSpPr txBox="1"/>
          <p:nvPr/>
        </p:nvSpPr>
        <p:spPr>
          <a:xfrm>
            <a:off x="6400800" y="3017520"/>
            <a:ext cx="1920240" cy="822960"/>
          </a:xfrm>
          <a:prstGeom prst="rect">
            <a:avLst/>
          </a:prstGeom>
          <a:noFill/>
        </p:spPr>
        <p:txBody>
          <a:bodyPr wrap="square" lIns="0" tIns="0" rIns="0" bIns="0" anchor="t"/>
          <a:lstStyle/>
          <a:p>
            <a:pPr marL="0" indent="0" algn="ctr">
              <a:lnSpc>
                <a:spcPct val="100000"/>
              </a:lnSpc>
              <a:buNone/>
            </a:pPr>
            <a:r>
              <a:rPr lang="ru-RU" i="0">
                <a:solidFill>
                  <a:srgbClr val="595959"/>
                </a:solidFill>
                <a:latin typeface="Arial" panose="020B0604020202020204" pitchFamily="34" charset="0"/>
                <a:cs typeface="Arial"/>
              </a:rPr>
              <a:t>второй внутренний слой
16 нейронов</a:t>
            </a:r>
            <a:endParaRPr i="0">
              <a:solidFill>
                <a:srgbClr val="595959"/>
              </a:solidFill>
              <a:latin typeface="Arial" panose="020B0604020202020204" pitchFamily="34" charset="0"/>
              <a:cs typeface="Arial"/>
            </a:endParaRPr>
          </a:p>
        </p:txBody>
      </p:sp>
      <p:cxnSp>
        <p:nvCxnSpPr>
          <p:cNvPr id="79" name="Connector 78"/>
          <p:cNvCxnSpPr/>
          <p:nvPr/>
        </p:nvCxnSpPr>
        <p:spPr>
          <a:xfrm>
            <a:off x="8503920" y="2212848"/>
            <a:ext cx="502920" cy="0"/>
          </a:xfrm>
          <a:prstGeom prst="line">
            <a:avLst/>
          </a:prstGeom>
          <a:ln w="38100">
            <a:solidFill>
              <a:srgbClr val="F1BE29"/>
            </a:solidFill>
            <a:tailEnd type="triangle" w="med" len="med"/>
          </a:ln>
        </p:spPr>
      </p:cxnSp>
      <p:sp>
        <p:nvSpPr>
          <p:cNvPr id="80" name="TextBox 79"/>
          <p:cNvSpPr txBox="1"/>
          <p:nvPr/>
        </p:nvSpPr>
        <p:spPr>
          <a:xfrm>
            <a:off x="9189719" y="1600200"/>
            <a:ext cx="1920240" cy="1371600"/>
          </a:xfrm>
          <a:prstGeom prst="rect">
            <a:avLst/>
          </a:prstGeom>
          <a:noFill/>
        </p:spPr>
        <p:txBody>
          <a:bodyPr wrap="square" lIns="0" tIns="0" rIns="0" bIns="0" anchor="t"/>
          <a:lstStyle/>
          <a:p>
            <a:pPr marL="0" indent="0" algn="ctr">
              <a:lnSpc>
                <a:spcPct val="90000"/>
              </a:lnSpc>
              <a:buNone/>
            </a:pPr>
            <a:r>
              <a:rPr sz="8800" b="1" i="0">
                <a:solidFill>
                  <a:srgbClr val="065CAB"/>
                </a:solidFill>
                <a:latin typeface="Arial" panose="020B0604020202020204" pitchFamily="34" charset="0"/>
                <a:cs typeface="Arial"/>
              </a:rPr>
              <a:t>1</a:t>
            </a:r>
          </a:p>
        </p:txBody>
      </p:sp>
      <p:sp>
        <p:nvSpPr>
          <p:cNvPr id="81" name="TextBox 80"/>
          <p:cNvSpPr txBox="1"/>
          <p:nvPr/>
        </p:nvSpPr>
        <p:spPr>
          <a:xfrm>
            <a:off x="9189719" y="3017520"/>
            <a:ext cx="1920240" cy="822960"/>
          </a:xfrm>
          <a:prstGeom prst="rect">
            <a:avLst/>
          </a:prstGeom>
          <a:noFill/>
        </p:spPr>
        <p:txBody>
          <a:bodyPr wrap="square" lIns="0" tIns="0" rIns="0" bIns="0" anchor="t"/>
          <a:lstStyle/>
          <a:p>
            <a:pPr marL="0" indent="0" algn="ctr">
              <a:lnSpc>
                <a:spcPct val="100000"/>
              </a:lnSpc>
              <a:buNone/>
            </a:pPr>
            <a:r>
              <a:rPr lang="ru-RU" sz="1500" i="0">
                <a:solidFill>
                  <a:srgbClr val="595959"/>
                </a:solidFill>
                <a:latin typeface="Arial" panose="020B0604020202020204" pitchFamily="34" charset="0"/>
                <a:cs typeface="Arial"/>
              </a:rPr>
              <a:t>одна оценка
соотношения компонентов</a:t>
            </a:r>
            <a:endParaRPr sz="1500" i="0">
              <a:solidFill>
                <a:srgbClr val="595959"/>
              </a:solidFill>
              <a:latin typeface="Arial" panose="020B0604020202020204" pitchFamily="34" charset="0"/>
              <a:cs typeface="Arial"/>
            </a:endParaRPr>
          </a:p>
        </p:txBody>
      </p:sp>
      <p:cxnSp>
        <p:nvCxnSpPr>
          <p:cNvPr id="82" name="Connector 81"/>
          <p:cNvCxnSpPr/>
          <p:nvPr/>
        </p:nvCxnSpPr>
        <p:spPr>
          <a:xfrm>
            <a:off x="557784" y="4069080"/>
            <a:ext cx="11210544" cy="0"/>
          </a:xfrm>
          <a:prstGeom prst="line">
            <a:avLst/>
          </a:prstGeom>
          <a:ln w="12700">
            <a:solidFill>
              <a:srgbClr val="BFBFBF"/>
            </a:solidFill>
          </a:ln>
        </p:spPr>
      </p:cxnSp>
      <p:sp>
        <p:nvSpPr>
          <p:cNvPr id="91" name="Источник"/>
          <p:cNvSpPr txBox="1"/>
          <p:nvPr/>
        </p:nvSpPr>
        <p:spPr>
          <a:xfrm>
            <a:off x="960120" y="6336792"/>
            <a:ext cx="10808208" cy="365760"/>
          </a:xfrm>
          <a:prstGeom prst="rect">
            <a:avLst/>
          </a:prstGeom>
          <a:noFill/>
        </p:spPr>
        <p:txBody>
          <a:bodyPr wrap="square" lIns="0" tIns="0" rIns="0" bIns="0" anchor="ctr"/>
          <a:lstStyle/>
          <a:p>
            <a:pPr marL="0" indent="0" algn="l">
              <a:buNone/>
            </a:pPr>
            <a:r>
              <a:rPr lang="ru-RU" sz="1300" i="0">
                <a:solidFill>
                  <a:srgbClr val="595959"/>
                </a:solidFill>
                <a:latin typeface="Arial" panose="020B0604020202020204" pitchFamily="34" charset="0"/>
                <a:cs typeface="Arial"/>
              </a:rPr>
              <a:t>Источник: РПЗ, раздел о нейросети</a:t>
            </a:r>
            <a:endParaRPr sz="1300" i="0">
              <a:solidFill>
                <a:srgbClr val="595959"/>
              </a:solidFill>
              <a:latin typeface="Arial" panose="020B0604020202020204" pitchFamily="34" charset="0"/>
              <a:cs typeface="Arial"/>
            </a:endParaRPr>
          </a:p>
        </p:txBody>
      </p:sp>
      <p:sp>
        <p:nvSpPr>
          <p:cNvPr id="4" name="Номер слайда 3">
            <a:extLst>
              <a:ext uri="{FF2B5EF4-FFF2-40B4-BE49-F238E27FC236}">
                <a16:creationId xmlns:a16="http://schemas.microsoft.com/office/drawing/2014/main" id="{06555008-558A-4705-ADA6-A99A535D9A1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ru-RU" smtClean="0">
                <a:cs typeface="Arial"/>
              </a:rPr>
              <a:t>11</a:t>
            </a:fld>
            <a:endParaRPr lang="ru-RU" dirty="0">
              <a:cs typeface="Arial"/>
            </a:endParaRPr>
          </a:p>
        </p:txBody>
      </p:sp>
      <p:sp>
        <p:nvSpPr>
          <p:cNvPr id="2" name="NNPurpose">
            <a:extLst>
              <a:ext uri="{FF2B5EF4-FFF2-40B4-BE49-F238E27FC236}">
                <a16:creationId xmlns:a16="http://schemas.microsoft.com/office/drawing/2014/main" id="{8DA77781-FAA6-4FF2-BA1C-CFA3C244FF03}"/>
              </a:ext>
            </a:extLst>
          </p:cNvPr>
          <p:cNvSpPr txBox="1"/>
          <p:nvPr/>
        </p:nvSpPr>
        <p:spPr>
          <a:xfrm>
            <a:off x="558800" y="1257300"/>
            <a:ext cx="11201400" cy="323165"/>
          </a:xfrm>
          <a:prstGeom prst="rect">
            <a:avLst/>
          </a:prstGeom>
          <a:noFill/>
        </p:spPr>
        <p:txBody>
          <a:bodyPr vert="horz" wrap="square" rtlCol="0" anchor="ctr">
            <a:noAutofit/>
          </a:bodyPr>
          <a:lstStyle/>
          <a:p>
            <a:pPr algn="ctr"/>
            <a:r>
              <a:rPr lang="ru-RU" sz="1500" b="1">
                <a:solidFill>
                  <a:srgbClr val="0E5DAB"/>
                </a:solidFill>
                <a:latin typeface="Arial" panose="020B0604020202020204" pitchFamily="34" charset="0"/>
              </a:rPr>
              <a:t>12 характеристик, включая известные модуль и прочность → соотношение компонентов</a:t>
            </a:r>
            <a:endParaRPr lang="ru-RU" sz="1500" b="1" dirty="0">
              <a:solidFill>
                <a:srgbClr val="0E5DAB"/>
              </a:solidFill>
              <a:latin typeface="Arial" panose="020B0604020202020204" pitchFamily="34" charset="0"/>
            </a:endParaRPr>
          </a:p>
        </p:txBody>
      </p:sp>
      <p:sp>
        <p:nvSpPr>
          <p:cNvPr id="3" name="NNTraining">
            <a:extLst>
              <a:ext uri="{FF2B5EF4-FFF2-40B4-BE49-F238E27FC236}">
                <a16:creationId xmlns:a16="http://schemas.microsoft.com/office/drawing/2014/main" id="{DB473981-65F0-4A38-A4C7-57D7042D5F40}"/>
              </a:ext>
            </a:extLst>
          </p:cNvPr>
          <p:cNvSpPr/>
          <p:nvPr/>
        </p:nvSpPr>
        <p:spPr>
          <a:xfrm>
            <a:off x="558800" y="4381500"/>
            <a:ext cx="5207000" cy="1397000"/>
          </a:xfrm>
          <a:prstGeom prst="roundRect">
            <a:avLst/>
          </a:prstGeom>
          <a:solidFill>
            <a:srgbClr val="DCE9F6"/>
          </a:solidFill>
          <a:ln w="17780">
            <a:solidFill>
              <a:srgbClr val="0E5DAB"/>
            </a:solidFill>
          </a:ln>
        </p:spPr>
        <p:style>
          <a:lnRef idx="2">
            <a:schemeClr val="accent1">
              <a:shade val="50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r>
              <a:rPr lang="ru-RU" sz="1700" b="1">
                <a:solidFill>
                  <a:srgbClr val="262626"/>
                </a:solidFill>
                <a:latin typeface="Arial" panose="020B0604020202020204" pitchFamily="34" charset="0"/>
              </a:rPr>
              <a:t>Обучение
часть из 716 строк следит, когда пора остановиться</a:t>
            </a:r>
          </a:p>
        </p:txBody>
      </p:sp>
      <p:sp>
        <p:nvSpPr>
          <p:cNvPr id="5" name="NNTest">
            <a:extLst>
              <a:ext uri="{FF2B5EF4-FFF2-40B4-BE49-F238E27FC236}">
                <a16:creationId xmlns:a16="http://schemas.microsoft.com/office/drawing/2014/main" id="{6580F9B2-843E-4A6B-9211-95A55FA4E5BF}"/>
              </a:ext>
            </a:extLst>
          </p:cNvPr>
          <p:cNvSpPr/>
          <p:nvPr/>
        </p:nvSpPr>
        <p:spPr>
          <a:xfrm>
            <a:off x="6553200" y="4381500"/>
            <a:ext cx="5207000" cy="1397000"/>
          </a:xfrm>
          <a:prstGeom prst="roundRect">
            <a:avLst/>
          </a:prstGeom>
          <a:solidFill>
            <a:srgbClr val="FFC000"/>
          </a:solidFill>
          <a:ln w="17780">
            <a:solidFill>
              <a:srgbClr val="0E5DAB"/>
            </a:solidFill>
          </a:ln>
        </p:spPr>
        <p:style>
          <a:lnRef idx="2">
            <a:schemeClr val="accent1">
              <a:shade val="50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r>
              <a:rPr lang="ru-RU" sz="1700" b="1">
                <a:solidFill>
                  <a:srgbClr val="262626"/>
                </a:solidFill>
                <a:latin typeface="Arial" panose="020B0604020202020204" pitchFamily="34" charset="0"/>
              </a:rPr>
              <a:t>Итоговая проверка
307 строк остаются закрытыми до конца</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Заголовок слайда">
            <a:extLst>
              <a:ext uri="{FF2B5EF4-FFF2-40B4-BE49-F238E27FC236}">
                <a16:creationId xmlns:a16="http://schemas.microsoft.com/office/drawing/2014/main" id="{9280711C-2262-4089-92EE-9BEACCC60C4C}"/>
              </a:ext>
            </a:extLst>
          </p:cNvPr>
          <p:cNvGrpSpPr/>
          <p:nvPr/>
        </p:nvGrpSpPr>
        <p:grpSpPr>
          <a:xfrm>
            <a:off x="3167880" y="469293"/>
            <a:ext cx="6486429" cy="666000"/>
            <a:chOff x="0" y="0"/>
            <a:chExt cx="6486429" cy="666000"/>
          </a:xfrm>
        </p:grpSpPr>
        <p:sp>
          <p:nvSpPr>
            <p:cNvPr id="68" name="Прямоугольник 67">
              <a:extLst>
                <a:ext uri="{FF2B5EF4-FFF2-40B4-BE49-F238E27FC236}">
                  <a16:creationId xmlns:a16="http://schemas.microsoft.com/office/drawing/2014/main" id="{E2535886-3476-4B40-9706-6797B77905C0}"/>
                </a:ext>
              </a:extLst>
            </p:cNvPr>
            <p:cNvSpPr/>
            <p:nvPr/>
          </p:nvSpPr>
          <p:spPr>
            <a:xfrm>
              <a:off x="0" y="0"/>
              <a:ext cx="6486429" cy="666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201168" tIns="0" rIns="201168" bIns="0" rtlCol="0" anchor="ctr"/>
            <a:lstStyle/>
            <a:p>
              <a:pPr algn="l"/>
              <a:r>
                <a:rPr lang="ru-RU" sz="2600" b="1" spc="0">
                  <a:solidFill>
                    <a:srgbClr val="065CAB"/>
                  </a:solidFill>
                  <a:latin typeface="Arial" panose="020B0604020202020204" pitchFamily="34" charset="0"/>
                  <a:cs typeface="Arial" pitchFamily="2" charset="0"/>
                </a:rPr>
                <a:t>Нейросеть не улучшила прогноз среднего</a:t>
              </a:r>
              <a:endParaRPr lang="ru-RU" sz="2600" b="1" spc="0" dirty="0">
                <a:solidFill>
                  <a:srgbClr val="065CAB"/>
                </a:solidFill>
                <a:latin typeface="Arial" panose="020B0604020202020204" pitchFamily="34" charset="0"/>
                <a:cs typeface="Arial" pitchFamily="2" charset="0"/>
              </a:endParaRPr>
            </a:p>
          </p:txBody>
        </p:sp>
        <p:sp>
          <p:nvSpPr>
            <p:cNvPr id="69" name="Прямоугольник 58">
              <a:extLst>
                <a:ext uri="{FF2B5EF4-FFF2-40B4-BE49-F238E27FC236}">
                  <a16:creationId xmlns:a16="http://schemas.microsoft.com/office/drawing/2014/main" id="{96789138-2397-49AA-BF3A-A6B5B90E8840}"/>
                </a:ext>
              </a:extLst>
            </p:cNvPr>
            <p:cNvSpPr/>
            <p:nvPr/>
          </p:nvSpPr>
          <p:spPr>
            <a:xfrm rot="10800000" flipH="1">
              <a:off x="0" y="0"/>
              <a:ext cx="76579" cy="666000"/>
            </a:xfrm>
            <a:custGeom>
              <a:avLst/>
              <a:gdLst>
                <a:gd name="connsiteX0" fmla="*/ 0 w 424732"/>
                <a:gd name="connsiteY0" fmla="*/ 0 h 424732"/>
                <a:gd name="connsiteX1" fmla="*/ 424732 w 424732"/>
                <a:gd name="connsiteY1" fmla="*/ 0 h 424732"/>
                <a:gd name="connsiteX2" fmla="*/ 424732 w 424732"/>
                <a:gd name="connsiteY2" fmla="*/ 424732 h 424732"/>
                <a:gd name="connsiteX3" fmla="*/ 0 w 424732"/>
                <a:gd name="connsiteY3" fmla="*/ 424732 h 424732"/>
                <a:gd name="connsiteX4" fmla="*/ 0 w 424732"/>
                <a:gd name="connsiteY4" fmla="*/ 0 h 424732"/>
                <a:gd name="connsiteX0" fmla="*/ 0 w 425450"/>
                <a:gd name="connsiteY0" fmla="*/ 0 h 424732"/>
                <a:gd name="connsiteX1" fmla="*/ 424732 w 425450"/>
                <a:gd name="connsiteY1" fmla="*/ 0 h 424732"/>
                <a:gd name="connsiteX2" fmla="*/ 425450 w 425450"/>
                <a:gd name="connsiteY2" fmla="*/ 238890 h 424732"/>
                <a:gd name="connsiteX3" fmla="*/ 424732 w 425450"/>
                <a:gd name="connsiteY3" fmla="*/ 424732 h 424732"/>
                <a:gd name="connsiteX4" fmla="*/ 0 w 425450"/>
                <a:gd name="connsiteY4" fmla="*/ 424732 h 424732"/>
                <a:gd name="connsiteX5" fmla="*/ 0 w 425450"/>
                <a:gd name="connsiteY5" fmla="*/ 0 h 424732"/>
                <a:gd name="connsiteX0" fmla="*/ 425450 w 516890"/>
                <a:gd name="connsiteY0" fmla="*/ 238890 h 424732"/>
                <a:gd name="connsiteX1" fmla="*/ 424732 w 516890"/>
                <a:gd name="connsiteY1" fmla="*/ 424732 h 424732"/>
                <a:gd name="connsiteX2" fmla="*/ 0 w 516890"/>
                <a:gd name="connsiteY2" fmla="*/ 424732 h 424732"/>
                <a:gd name="connsiteX3" fmla="*/ 0 w 516890"/>
                <a:gd name="connsiteY3" fmla="*/ 0 h 424732"/>
                <a:gd name="connsiteX4" fmla="*/ 424732 w 516890"/>
                <a:gd name="connsiteY4" fmla="*/ 0 h 424732"/>
                <a:gd name="connsiteX5" fmla="*/ 516890 w 516890"/>
                <a:gd name="connsiteY5" fmla="*/ 330330 h 424732"/>
                <a:gd name="connsiteX0" fmla="*/ 424732 w 516890"/>
                <a:gd name="connsiteY0" fmla="*/ 424732 h 424732"/>
                <a:gd name="connsiteX1" fmla="*/ 0 w 516890"/>
                <a:gd name="connsiteY1" fmla="*/ 424732 h 424732"/>
                <a:gd name="connsiteX2" fmla="*/ 0 w 516890"/>
                <a:gd name="connsiteY2" fmla="*/ 0 h 424732"/>
                <a:gd name="connsiteX3" fmla="*/ 424732 w 516890"/>
                <a:gd name="connsiteY3" fmla="*/ 0 h 424732"/>
                <a:gd name="connsiteX4" fmla="*/ 516890 w 516890"/>
                <a:gd name="connsiteY4" fmla="*/ 330330 h 424732"/>
                <a:gd name="connsiteX0" fmla="*/ 424732 w 424732"/>
                <a:gd name="connsiteY0" fmla="*/ 424732 h 424732"/>
                <a:gd name="connsiteX1" fmla="*/ 0 w 424732"/>
                <a:gd name="connsiteY1" fmla="*/ 424732 h 424732"/>
                <a:gd name="connsiteX2" fmla="*/ 0 w 424732"/>
                <a:gd name="connsiteY2" fmla="*/ 0 h 424732"/>
                <a:gd name="connsiteX3" fmla="*/ 424732 w 424732"/>
                <a:gd name="connsiteY3" fmla="*/ 0 h 424732"/>
              </a:gdLst>
              <a:ahLst/>
              <a:cxnLst>
                <a:cxn ang="0">
                  <a:pos x="connsiteX0" y="connsiteY0"/>
                </a:cxn>
                <a:cxn ang="0">
                  <a:pos x="connsiteX1" y="connsiteY1"/>
                </a:cxn>
                <a:cxn ang="0">
                  <a:pos x="connsiteX2" y="connsiteY2"/>
                </a:cxn>
                <a:cxn ang="0">
                  <a:pos x="connsiteX3" y="connsiteY3"/>
                </a:cxn>
              </a:cxnLst>
              <a:rect l="l" t="t" r="r" b="b"/>
              <a:pathLst>
                <a:path w="424732" h="424732">
                  <a:moveTo>
                    <a:pt x="424732" y="424732"/>
                  </a:moveTo>
                  <a:lnTo>
                    <a:pt x="0" y="424732"/>
                  </a:lnTo>
                  <a:lnTo>
                    <a:pt x="0" y="0"/>
                  </a:lnTo>
                  <a:lnTo>
                    <a:pt x="424732" y="0"/>
                  </a:lnTo>
                </a:path>
              </a:pathLst>
            </a:custGeom>
            <a:ln w="16510">
              <a:solidFill>
                <a:srgbClr val="065CA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latin typeface="Arial" pitchFamily="2" charset="0"/>
              </a:endParaRPr>
            </a:p>
          </p:txBody>
        </p:sp>
        <p:sp>
          <p:nvSpPr>
            <p:cNvPr id="70" name="Прямоугольник 58">
              <a:extLst>
                <a:ext uri="{FF2B5EF4-FFF2-40B4-BE49-F238E27FC236}">
                  <a16:creationId xmlns:a16="http://schemas.microsoft.com/office/drawing/2014/main" id="{DA239952-60E1-45EB-BDF0-422CC4CF7E42}"/>
                </a:ext>
              </a:extLst>
            </p:cNvPr>
            <p:cNvSpPr/>
            <p:nvPr/>
          </p:nvSpPr>
          <p:spPr>
            <a:xfrm flipH="1">
              <a:off x="6396380" y="0"/>
              <a:ext cx="90049" cy="666000"/>
            </a:xfrm>
            <a:custGeom>
              <a:avLst/>
              <a:gdLst>
                <a:gd name="connsiteX0" fmla="*/ 0 w 424732"/>
                <a:gd name="connsiteY0" fmla="*/ 0 h 424732"/>
                <a:gd name="connsiteX1" fmla="*/ 424732 w 424732"/>
                <a:gd name="connsiteY1" fmla="*/ 0 h 424732"/>
                <a:gd name="connsiteX2" fmla="*/ 424732 w 424732"/>
                <a:gd name="connsiteY2" fmla="*/ 424732 h 424732"/>
                <a:gd name="connsiteX3" fmla="*/ 0 w 424732"/>
                <a:gd name="connsiteY3" fmla="*/ 424732 h 424732"/>
                <a:gd name="connsiteX4" fmla="*/ 0 w 424732"/>
                <a:gd name="connsiteY4" fmla="*/ 0 h 424732"/>
                <a:gd name="connsiteX0" fmla="*/ 0 w 425450"/>
                <a:gd name="connsiteY0" fmla="*/ 0 h 424732"/>
                <a:gd name="connsiteX1" fmla="*/ 424732 w 425450"/>
                <a:gd name="connsiteY1" fmla="*/ 0 h 424732"/>
                <a:gd name="connsiteX2" fmla="*/ 425450 w 425450"/>
                <a:gd name="connsiteY2" fmla="*/ 238890 h 424732"/>
                <a:gd name="connsiteX3" fmla="*/ 424732 w 425450"/>
                <a:gd name="connsiteY3" fmla="*/ 424732 h 424732"/>
                <a:gd name="connsiteX4" fmla="*/ 0 w 425450"/>
                <a:gd name="connsiteY4" fmla="*/ 424732 h 424732"/>
                <a:gd name="connsiteX5" fmla="*/ 0 w 425450"/>
                <a:gd name="connsiteY5" fmla="*/ 0 h 424732"/>
                <a:gd name="connsiteX0" fmla="*/ 425450 w 516890"/>
                <a:gd name="connsiteY0" fmla="*/ 238890 h 424732"/>
                <a:gd name="connsiteX1" fmla="*/ 424732 w 516890"/>
                <a:gd name="connsiteY1" fmla="*/ 424732 h 424732"/>
                <a:gd name="connsiteX2" fmla="*/ 0 w 516890"/>
                <a:gd name="connsiteY2" fmla="*/ 424732 h 424732"/>
                <a:gd name="connsiteX3" fmla="*/ 0 w 516890"/>
                <a:gd name="connsiteY3" fmla="*/ 0 h 424732"/>
                <a:gd name="connsiteX4" fmla="*/ 424732 w 516890"/>
                <a:gd name="connsiteY4" fmla="*/ 0 h 424732"/>
                <a:gd name="connsiteX5" fmla="*/ 516890 w 516890"/>
                <a:gd name="connsiteY5" fmla="*/ 330330 h 424732"/>
                <a:gd name="connsiteX0" fmla="*/ 424732 w 516890"/>
                <a:gd name="connsiteY0" fmla="*/ 424732 h 424732"/>
                <a:gd name="connsiteX1" fmla="*/ 0 w 516890"/>
                <a:gd name="connsiteY1" fmla="*/ 424732 h 424732"/>
                <a:gd name="connsiteX2" fmla="*/ 0 w 516890"/>
                <a:gd name="connsiteY2" fmla="*/ 0 h 424732"/>
                <a:gd name="connsiteX3" fmla="*/ 424732 w 516890"/>
                <a:gd name="connsiteY3" fmla="*/ 0 h 424732"/>
                <a:gd name="connsiteX4" fmla="*/ 516890 w 516890"/>
                <a:gd name="connsiteY4" fmla="*/ 330330 h 424732"/>
                <a:gd name="connsiteX0" fmla="*/ 424732 w 424732"/>
                <a:gd name="connsiteY0" fmla="*/ 424732 h 424732"/>
                <a:gd name="connsiteX1" fmla="*/ 0 w 424732"/>
                <a:gd name="connsiteY1" fmla="*/ 424732 h 424732"/>
                <a:gd name="connsiteX2" fmla="*/ 0 w 424732"/>
                <a:gd name="connsiteY2" fmla="*/ 0 h 424732"/>
                <a:gd name="connsiteX3" fmla="*/ 424732 w 424732"/>
                <a:gd name="connsiteY3" fmla="*/ 0 h 424732"/>
              </a:gdLst>
              <a:ahLst/>
              <a:cxnLst>
                <a:cxn ang="0">
                  <a:pos x="connsiteX0" y="connsiteY0"/>
                </a:cxn>
                <a:cxn ang="0">
                  <a:pos x="connsiteX1" y="connsiteY1"/>
                </a:cxn>
                <a:cxn ang="0">
                  <a:pos x="connsiteX2" y="connsiteY2"/>
                </a:cxn>
                <a:cxn ang="0">
                  <a:pos x="connsiteX3" y="connsiteY3"/>
                </a:cxn>
              </a:cxnLst>
              <a:rect l="l" t="t" r="r" b="b"/>
              <a:pathLst>
                <a:path w="424732" h="424732">
                  <a:moveTo>
                    <a:pt x="424732" y="424732"/>
                  </a:moveTo>
                  <a:lnTo>
                    <a:pt x="0" y="424732"/>
                  </a:lnTo>
                  <a:lnTo>
                    <a:pt x="0" y="0"/>
                  </a:lnTo>
                  <a:lnTo>
                    <a:pt x="424732" y="0"/>
                  </a:lnTo>
                </a:path>
              </a:pathLst>
            </a:custGeom>
            <a:ln w="16510">
              <a:solidFill>
                <a:srgbClr val="0046A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solidFill>
                  <a:srgbClr val="065CAB"/>
                </a:solidFill>
                <a:latin typeface="Arial" pitchFamily="2" charset="0"/>
              </a:endParaRPr>
            </a:p>
          </p:txBody>
        </p:sp>
      </p:grpSp>
      <p:sp>
        <p:nvSpPr>
          <p:cNvPr id="73" name="Источник"/>
          <p:cNvSpPr txBox="1"/>
          <p:nvPr/>
        </p:nvSpPr>
        <p:spPr>
          <a:xfrm>
            <a:off x="960120" y="6336792"/>
            <a:ext cx="10808208" cy="365760"/>
          </a:xfrm>
          <a:prstGeom prst="rect">
            <a:avLst/>
          </a:prstGeom>
          <a:noFill/>
        </p:spPr>
        <p:txBody>
          <a:bodyPr wrap="square" lIns="0" tIns="0" rIns="0" bIns="0" anchor="ctr"/>
          <a:lstStyle/>
          <a:p>
            <a:pPr marL="0" indent="0" algn="l">
              <a:buNone/>
            </a:pPr>
            <a:r>
              <a:rPr lang="ru-RU" sz="1300" i="0">
                <a:solidFill>
                  <a:srgbClr val="595959"/>
                </a:solidFill>
                <a:latin typeface="Arial" panose="020B0604020202020204" pitchFamily="34" charset="0"/>
                <a:cs typeface="Arial"/>
              </a:rPr>
              <a:t>Источник: РПЗ, таблица результатов нейросети; </a:t>
            </a:r>
            <a:r>
              <a:rPr lang="en-US" sz="1300" i="0">
                <a:solidFill>
                  <a:srgbClr val="595959"/>
                </a:solidFill>
                <a:latin typeface="Arial" panose="020B0604020202020204" pitchFamily="34" charset="0"/>
                <a:cs typeface="Arial"/>
              </a:rPr>
              <a:t>reports/evaluation/metrics.csv</a:t>
            </a:r>
            <a:endParaRPr sz="1300" i="0">
              <a:solidFill>
                <a:srgbClr val="595959"/>
              </a:solidFill>
              <a:latin typeface="Arial" panose="020B0604020202020204" pitchFamily="34" charset="0"/>
              <a:cs typeface="Arial"/>
            </a:endParaRPr>
          </a:p>
        </p:txBody>
      </p:sp>
      <p:sp>
        <p:nvSpPr>
          <p:cNvPr id="4" name="Номер слайда 3">
            <a:extLst>
              <a:ext uri="{FF2B5EF4-FFF2-40B4-BE49-F238E27FC236}">
                <a16:creationId xmlns:a16="http://schemas.microsoft.com/office/drawing/2014/main" id="{06555008-558A-4705-ADA6-A99A535D9A1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ru-RU" smtClean="0">
                <a:cs typeface="Arial"/>
              </a:rPr>
              <a:t>12</a:t>
            </a:fld>
            <a:endParaRPr lang="ru-RU" dirty="0">
              <a:cs typeface="Arial"/>
            </a:endParaRPr>
          </a:p>
        </p:txBody>
      </p:sp>
      <p:sp>
        <p:nvSpPr>
          <p:cNvPr id="2" name="RMSEExplain">
            <a:extLst>
              <a:ext uri="{FF2B5EF4-FFF2-40B4-BE49-F238E27FC236}">
                <a16:creationId xmlns:a16="http://schemas.microsoft.com/office/drawing/2014/main" id="{6F07A398-7353-401C-9CA4-15E44754B9C2}"/>
              </a:ext>
            </a:extLst>
          </p:cNvPr>
          <p:cNvSpPr txBox="1"/>
          <p:nvPr/>
        </p:nvSpPr>
        <p:spPr>
          <a:xfrm>
            <a:off x="558800" y="1333500"/>
            <a:ext cx="11201400" cy="384721"/>
          </a:xfrm>
          <a:prstGeom prst="rect">
            <a:avLst/>
          </a:prstGeom>
          <a:noFill/>
        </p:spPr>
        <p:txBody>
          <a:bodyPr vert="horz" wrap="square" rtlCol="0" anchor="ctr">
            <a:noAutofit/>
          </a:bodyPr>
          <a:lstStyle/>
          <a:p>
            <a:pPr algn="ctr"/>
            <a:r>
              <a:rPr lang="ru-RU" sz="1900" b="1">
                <a:solidFill>
                  <a:srgbClr val="0E5DAB"/>
                </a:solidFill>
                <a:latin typeface="Arial" panose="020B0604020202020204" pitchFamily="34" charset="0"/>
              </a:rPr>
              <a:t>Ошибка RMSE на 307 строках: меньше – лучше</a:t>
            </a:r>
            <a:endParaRPr lang="ru-RU" sz="1900" b="1" dirty="0">
              <a:solidFill>
                <a:srgbClr val="0E5DAB"/>
              </a:solidFill>
              <a:latin typeface="Arial" panose="020B0604020202020204" pitchFamily="34" charset="0"/>
            </a:endParaRPr>
          </a:p>
        </p:txBody>
      </p:sp>
      <p:graphicFrame>
        <p:nvGraphicFramePr>
          <p:cNvPr id="3" name="MLPComparison">
            <a:extLst>
              <a:ext uri="{FF2B5EF4-FFF2-40B4-BE49-F238E27FC236}">
                <a16:creationId xmlns:a16="http://schemas.microsoft.com/office/drawing/2014/main" id="{EEF5B9FF-883A-4AF8-8A8A-2610ECF73160}"/>
              </a:ext>
            </a:extLst>
          </p:cNvPr>
          <p:cNvGraphicFramePr>
            <a:graphicFrameLocks noGrp="1"/>
          </p:cNvGraphicFramePr>
          <p:nvPr>
            <p:extLst>
              <p:ext uri="{D42A27DB-BD31-4B8C-83A1-F6EECF244321}">
                <p14:modId xmlns:p14="http://schemas.microsoft.com/office/powerpoint/2010/main" val="182152145"/>
              </p:ext>
            </p:extLst>
          </p:nvPr>
        </p:nvGraphicFramePr>
        <p:xfrm>
          <a:off x="1066800" y="2222500"/>
          <a:ext cx="10058400" cy="2514600"/>
        </p:xfrm>
        <a:graphic>
          <a:graphicData uri="http://schemas.openxmlformats.org/drawingml/2006/table">
            <a:tbl>
              <a:tblPr firstRow="1" bandRow="1">
                <a:tableStyleId>{5C22544A-7EE6-4342-B048-85BDC9FD1C3A}</a:tableStyleId>
              </a:tblPr>
              <a:tblGrid>
                <a:gridCol w="3429000">
                  <a:extLst>
                    <a:ext uri="{9D8B030D-6E8A-4147-A177-3AD203B41FA5}">
                      <a16:colId xmlns:a16="http://schemas.microsoft.com/office/drawing/2014/main" val="1367277442"/>
                    </a:ext>
                  </a:extLst>
                </a:gridCol>
                <a:gridCol w="2921000">
                  <a:extLst>
                    <a:ext uri="{9D8B030D-6E8A-4147-A177-3AD203B41FA5}">
                      <a16:colId xmlns:a16="http://schemas.microsoft.com/office/drawing/2014/main" val="1317315626"/>
                    </a:ext>
                  </a:extLst>
                </a:gridCol>
                <a:gridCol w="3708400">
                  <a:extLst>
                    <a:ext uri="{9D8B030D-6E8A-4147-A177-3AD203B41FA5}">
                      <a16:colId xmlns:a16="http://schemas.microsoft.com/office/drawing/2014/main" val="3079176535"/>
                    </a:ext>
                  </a:extLst>
                </a:gridCol>
              </a:tblGrid>
              <a:tr h="838200">
                <a:tc>
                  <a:txBody>
                    <a:bodyPr/>
                    <a:lstStyle/>
                    <a:p>
                      <a:pPr algn="l"/>
                      <a:r>
                        <a:rPr lang="ru-RU" sz="1600" b="1">
                          <a:solidFill>
                            <a:srgbClr val="262626"/>
                          </a:solidFill>
                          <a:latin typeface="Arial" panose="020B0604020202020204" pitchFamily="34" charset="0"/>
                        </a:rPr>
                        <a:t>Способ</a:t>
                      </a:r>
                    </a:p>
                  </a:txBody>
                  <a:tcPr anchor="ctr">
                    <a:solidFill>
                      <a:srgbClr val="DCE9F6"/>
                    </a:solidFill>
                  </a:tcPr>
                </a:tc>
                <a:tc>
                  <a:txBody>
                    <a:bodyPr/>
                    <a:lstStyle/>
                    <a:p>
                      <a:pPr algn="l"/>
                      <a:r>
                        <a:rPr lang="en-US" sz="1600" b="1">
                          <a:solidFill>
                            <a:srgbClr val="262626"/>
                          </a:solidFill>
                          <a:latin typeface="Arial" panose="020B0604020202020204" pitchFamily="34" charset="0"/>
                        </a:rPr>
                        <a:t>RMSE</a:t>
                      </a:r>
                      <a:endParaRPr lang="ru-RU" sz="1600" b="1">
                        <a:solidFill>
                          <a:srgbClr val="262626"/>
                        </a:solidFill>
                        <a:latin typeface="Arial" panose="020B0604020202020204" pitchFamily="34" charset="0"/>
                      </a:endParaRPr>
                    </a:p>
                  </a:txBody>
                  <a:tcPr anchor="ctr">
                    <a:solidFill>
                      <a:srgbClr val="DCE9F6"/>
                    </a:solidFill>
                  </a:tcPr>
                </a:tc>
                <a:tc>
                  <a:txBody>
                    <a:bodyPr/>
                    <a:lstStyle/>
                    <a:p>
                      <a:pPr algn="l"/>
                      <a:r>
                        <a:rPr lang="ru-RU" sz="1600" b="1">
                          <a:solidFill>
                            <a:srgbClr val="262626"/>
                          </a:solidFill>
                          <a:latin typeface="Arial" panose="020B0604020202020204" pitchFamily="34" charset="0"/>
                        </a:rPr>
                        <a:t>Что это означает</a:t>
                      </a:r>
                    </a:p>
                  </a:txBody>
                  <a:tcPr anchor="ctr">
                    <a:solidFill>
                      <a:srgbClr val="DCE9F6"/>
                    </a:solidFill>
                  </a:tcPr>
                </a:tc>
                <a:extLst>
                  <a:ext uri="{0D108BD9-81ED-4DB2-BD59-A6C34878D82A}">
                    <a16:rowId xmlns:a16="http://schemas.microsoft.com/office/drawing/2014/main" val="2563653261"/>
                  </a:ext>
                </a:extLst>
              </a:tr>
              <a:tr h="838200">
                <a:tc>
                  <a:txBody>
                    <a:bodyPr/>
                    <a:lstStyle/>
                    <a:p>
                      <a:pPr algn="l"/>
                      <a:r>
                        <a:rPr lang="ru-RU" sz="1800" b="1">
                          <a:solidFill>
                            <a:srgbClr val="262626"/>
                          </a:solidFill>
                          <a:latin typeface="Arial" panose="020B0604020202020204" pitchFamily="34" charset="0"/>
                        </a:rPr>
                        <a:t>Прогноз среднего</a:t>
                      </a:r>
                    </a:p>
                  </a:txBody>
                  <a:tcPr anchor="ctr">
                    <a:solidFill>
                      <a:srgbClr val="FFFFFF"/>
                    </a:solidFill>
                  </a:tcPr>
                </a:tc>
                <a:tc>
                  <a:txBody>
                    <a:bodyPr/>
                    <a:lstStyle/>
                    <a:p>
                      <a:pPr algn="l"/>
                      <a:r>
                        <a:rPr lang="ru-RU" sz="2400" b="1">
                          <a:solidFill>
                            <a:srgbClr val="262626"/>
                          </a:solidFill>
                          <a:latin typeface="Arial" panose="020B0604020202020204" pitchFamily="34" charset="0"/>
                        </a:rPr>
                        <a:t>0,926</a:t>
                      </a:r>
                    </a:p>
                  </a:txBody>
                  <a:tcPr anchor="ctr">
                    <a:solidFill>
                      <a:srgbClr val="FFFFFF"/>
                    </a:solidFill>
                  </a:tcPr>
                </a:tc>
                <a:tc>
                  <a:txBody>
                    <a:bodyPr/>
                    <a:lstStyle/>
                    <a:p>
                      <a:pPr algn="l"/>
                      <a:r>
                        <a:rPr lang="ru-RU" sz="1800" b="1">
                          <a:solidFill>
                            <a:srgbClr val="262626"/>
                          </a:solidFill>
                          <a:latin typeface="Arial" panose="020B0604020202020204" pitchFamily="34" charset="0"/>
                        </a:rPr>
                        <a:t>ошибка меньше</a:t>
                      </a:r>
                    </a:p>
                  </a:txBody>
                  <a:tcPr anchor="ctr">
                    <a:solidFill>
                      <a:srgbClr val="FFFFFF"/>
                    </a:solidFill>
                  </a:tcPr>
                </a:tc>
                <a:extLst>
                  <a:ext uri="{0D108BD9-81ED-4DB2-BD59-A6C34878D82A}">
                    <a16:rowId xmlns:a16="http://schemas.microsoft.com/office/drawing/2014/main" val="3252198863"/>
                  </a:ext>
                </a:extLst>
              </a:tr>
              <a:tr h="838200">
                <a:tc>
                  <a:txBody>
                    <a:bodyPr/>
                    <a:lstStyle/>
                    <a:p>
                      <a:pPr algn="l"/>
                      <a:r>
                        <a:rPr lang="ru-RU" sz="1800" b="0">
                          <a:solidFill>
                            <a:srgbClr val="262626"/>
                          </a:solidFill>
                          <a:latin typeface="Arial" panose="020B0604020202020204" pitchFamily="34" charset="0"/>
                        </a:rPr>
                        <a:t>Нейросеть</a:t>
                      </a:r>
                    </a:p>
                  </a:txBody>
                  <a:tcPr anchor="ctr">
                    <a:solidFill>
                      <a:srgbClr val="FFFFFF"/>
                    </a:solidFill>
                  </a:tcPr>
                </a:tc>
                <a:tc>
                  <a:txBody>
                    <a:bodyPr/>
                    <a:lstStyle/>
                    <a:p>
                      <a:pPr algn="l"/>
                      <a:r>
                        <a:rPr lang="ru-RU" sz="2400" b="0">
                          <a:solidFill>
                            <a:srgbClr val="262626"/>
                          </a:solidFill>
                          <a:latin typeface="Arial" panose="020B0604020202020204" pitchFamily="34" charset="0"/>
                        </a:rPr>
                        <a:t>0,944</a:t>
                      </a:r>
                    </a:p>
                  </a:txBody>
                  <a:tcPr anchor="ctr">
                    <a:solidFill>
                      <a:srgbClr val="FFFFFF"/>
                    </a:solidFill>
                  </a:tcPr>
                </a:tc>
                <a:tc>
                  <a:txBody>
                    <a:bodyPr/>
                    <a:lstStyle/>
                    <a:p>
                      <a:pPr algn="l"/>
                      <a:r>
                        <a:rPr lang="ru-RU" sz="1800" b="0">
                          <a:solidFill>
                            <a:srgbClr val="262626"/>
                          </a:solidFill>
                          <a:latin typeface="Arial" panose="020B0604020202020204" pitchFamily="34" charset="0"/>
                        </a:rPr>
                        <a:t>ошибка больше</a:t>
                      </a:r>
                    </a:p>
                  </a:txBody>
                  <a:tcPr anchor="ctr">
                    <a:solidFill>
                      <a:srgbClr val="FFFFFF"/>
                    </a:solidFill>
                  </a:tcPr>
                </a:tc>
                <a:extLst>
                  <a:ext uri="{0D108BD9-81ED-4DB2-BD59-A6C34878D82A}">
                    <a16:rowId xmlns:a16="http://schemas.microsoft.com/office/drawing/2014/main" val="1783141874"/>
                  </a:ext>
                </a:extLst>
              </a:tr>
            </a:tbl>
          </a:graphicData>
        </a:graphic>
      </p:graphicFrame>
      <p:sp>
        <p:nvSpPr>
          <p:cNvPr id="5" name="MLPConclusion">
            <a:extLst>
              <a:ext uri="{FF2B5EF4-FFF2-40B4-BE49-F238E27FC236}">
                <a16:creationId xmlns:a16="http://schemas.microsoft.com/office/drawing/2014/main" id="{83CEC55B-3D0C-4480-AFCF-F0AA30779602}"/>
              </a:ext>
            </a:extLst>
          </p:cNvPr>
          <p:cNvSpPr/>
          <p:nvPr/>
        </p:nvSpPr>
        <p:spPr>
          <a:xfrm>
            <a:off x="2032000" y="5067300"/>
            <a:ext cx="8128000" cy="863600"/>
          </a:xfrm>
          <a:prstGeom prst="roundRect">
            <a:avLst/>
          </a:prstGeom>
          <a:solidFill>
            <a:srgbClr val="FFC000"/>
          </a:solidFill>
          <a:ln w="17780">
            <a:solidFill>
              <a:srgbClr val="0E5DAB"/>
            </a:solidFill>
          </a:ln>
        </p:spPr>
        <p:style>
          <a:lnRef idx="2">
            <a:schemeClr val="accent1">
              <a:shade val="50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r>
              <a:rPr lang="ru-RU" sz="2000" b="1">
                <a:solidFill>
                  <a:srgbClr val="262626"/>
                </a:solidFill>
                <a:latin typeface="Arial" panose="020B0604020202020204" pitchFamily="34" charset="0"/>
              </a:rPr>
              <a:t>Нейросеть сложнее, но простой прогноз среднего оказался точнее</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2"/>
          </p:nvPr>
        </p:nvSpPr>
        <p:spPr>
          <a:xfrm>
            <a:off x="557784" y="1417320"/>
            <a:ext cx="4114800" cy="2651760"/>
          </a:xfrm>
        </p:spPr>
        <p:txBody>
          <a:bodyPr wrap="square">
            <a:normAutofit/>
          </a:bodyPr>
          <a:lstStyle/>
          <a:p>
            <a:pPr marL="0" indent="0" algn="l">
              <a:lnSpc>
                <a:spcPct val="100000"/>
              </a:lnSpc>
              <a:buNone/>
            </a:pPr>
            <a:r>
              <a:rPr lang="ru-RU" sz="1600" i="0">
                <a:solidFill>
                  <a:srgbClr val="065CAB"/>
                </a:solidFill>
                <a:cs typeface="Arial"/>
              </a:rPr>
              <a:t>Один столбец перемешивают и снова измеряют ошибку
Если ошибка растёт, модель опиралась на эту характеристику</a:t>
            </a:r>
            <a:endParaRPr sz="1600" i="0">
              <a:solidFill>
                <a:srgbClr val="262626"/>
              </a:solidFill>
              <a:cs typeface="Arial"/>
            </a:endParaRPr>
          </a:p>
        </p:txBody>
      </p:sp>
      <p:grpSp>
        <p:nvGrpSpPr>
          <p:cNvPr id="65" name="Заголовок слайда">
            <a:extLst>
              <a:ext uri="{FF2B5EF4-FFF2-40B4-BE49-F238E27FC236}">
                <a16:creationId xmlns:a16="http://schemas.microsoft.com/office/drawing/2014/main" id="{9280711C-2262-4089-92EE-9BEACCC60C4C}"/>
              </a:ext>
            </a:extLst>
          </p:cNvPr>
          <p:cNvGrpSpPr/>
          <p:nvPr/>
        </p:nvGrpSpPr>
        <p:grpSpPr>
          <a:xfrm>
            <a:off x="3167880" y="469293"/>
            <a:ext cx="8600448" cy="896112"/>
            <a:chOff x="0" y="0"/>
            <a:chExt cx="8600448" cy="896112"/>
          </a:xfrm>
        </p:grpSpPr>
        <p:sp>
          <p:nvSpPr>
            <p:cNvPr id="68" name="Прямоугольник 67">
              <a:extLst>
                <a:ext uri="{FF2B5EF4-FFF2-40B4-BE49-F238E27FC236}">
                  <a16:creationId xmlns:a16="http://schemas.microsoft.com/office/drawing/2014/main" id="{E2535886-3476-4B40-9706-6797B77905C0}"/>
                </a:ext>
              </a:extLst>
            </p:cNvPr>
            <p:cNvSpPr/>
            <p:nvPr/>
          </p:nvSpPr>
          <p:spPr>
            <a:xfrm>
              <a:off x="0" y="0"/>
              <a:ext cx="8600448" cy="89611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201168" tIns="0" rIns="201168" bIns="0" rtlCol="0" anchor="ctr"/>
            <a:lstStyle/>
            <a:p>
              <a:pPr algn="l"/>
              <a:r>
                <a:rPr lang="ru-RU" sz="2600" b="1" spc="0">
                  <a:solidFill>
                    <a:srgbClr val="065CAB"/>
                  </a:solidFill>
                  <a:latin typeface="Arial" panose="020B0604020202020204" pitchFamily="34" charset="0"/>
                  <a:cs typeface="Arial" pitchFamily="2" charset="0"/>
                </a:rPr>
                <a:t>Какие характеристики использует модель</a:t>
              </a:r>
              <a:endParaRPr lang="ru-RU" sz="2600" b="1" spc="0" dirty="0">
                <a:solidFill>
                  <a:srgbClr val="065CAB"/>
                </a:solidFill>
                <a:latin typeface="Arial" panose="020B0604020202020204" pitchFamily="34" charset="0"/>
                <a:cs typeface="Arial" pitchFamily="2" charset="0"/>
              </a:endParaRPr>
            </a:p>
          </p:txBody>
        </p:sp>
        <p:sp>
          <p:nvSpPr>
            <p:cNvPr id="69" name="Прямоугольник 58">
              <a:extLst>
                <a:ext uri="{FF2B5EF4-FFF2-40B4-BE49-F238E27FC236}">
                  <a16:creationId xmlns:a16="http://schemas.microsoft.com/office/drawing/2014/main" id="{96789138-2397-49AA-BF3A-A6B5B90E8840}"/>
                </a:ext>
              </a:extLst>
            </p:cNvPr>
            <p:cNvSpPr/>
            <p:nvPr/>
          </p:nvSpPr>
          <p:spPr>
            <a:xfrm rot="10800000" flipH="1">
              <a:off x="0" y="0"/>
              <a:ext cx="76579" cy="896112"/>
            </a:xfrm>
            <a:custGeom>
              <a:avLst/>
              <a:gdLst>
                <a:gd name="connsiteX0" fmla="*/ 0 w 424732"/>
                <a:gd name="connsiteY0" fmla="*/ 0 h 424732"/>
                <a:gd name="connsiteX1" fmla="*/ 424732 w 424732"/>
                <a:gd name="connsiteY1" fmla="*/ 0 h 424732"/>
                <a:gd name="connsiteX2" fmla="*/ 424732 w 424732"/>
                <a:gd name="connsiteY2" fmla="*/ 424732 h 424732"/>
                <a:gd name="connsiteX3" fmla="*/ 0 w 424732"/>
                <a:gd name="connsiteY3" fmla="*/ 424732 h 424732"/>
                <a:gd name="connsiteX4" fmla="*/ 0 w 424732"/>
                <a:gd name="connsiteY4" fmla="*/ 0 h 424732"/>
                <a:gd name="connsiteX0" fmla="*/ 0 w 425450"/>
                <a:gd name="connsiteY0" fmla="*/ 0 h 424732"/>
                <a:gd name="connsiteX1" fmla="*/ 424732 w 425450"/>
                <a:gd name="connsiteY1" fmla="*/ 0 h 424732"/>
                <a:gd name="connsiteX2" fmla="*/ 425450 w 425450"/>
                <a:gd name="connsiteY2" fmla="*/ 238890 h 424732"/>
                <a:gd name="connsiteX3" fmla="*/ 424732 w 425450"/>
                <a:gd name="connsiteY3" fmla="*/ 424732 h 424732"/>
                <a:gd name="connsiteX4" fmla="*/ 0 w 425450"/>
                <a:gd name="connsiteY4" fmla="*/ 424732 h 424732"/>
                <a:gd name="connsiteX5" fmla="*/ 0 w 425450"/>
                <a:gd name="connsiteY5" fmla="*/ 0 h 424732"/>
                <a:gd name="connsiteX0" fmla="*/ 425450 w 516890"/>
                <a:gd name="connsiteY0" fmla="*/ 238890 h 424732"/>
                <a:gd name="connsiteX1" fmla="*/ 424732 w 516890"/>
                <a:gd name="connsiteY1" fmla="*/ 424732 h 424732"/>
                <a:gd name="connsiteX2" fmla="*/ 0 w 516890"/>
                <a:gd name="connsiteY2" fmla="*/ 424732 h 424732"/>
                <a:gd name="connsiteX3" fmla="*/ 0 w 516890"/>
                <a:gd name="connsiteY3" fmla="*/ 0 h 424732"/>
                <a:gd name="connsiteX4" fmla="*/ 424732 w 516890"/>
                <a:gd name="connsiteY4" fmla="*/ 0 h 424732"/>
                <a:gd name="connsiteX5" fmla="*/ 516890 w 516890"/>
                <a:gd name="connsiteY5" fmla="*/ 330330 h 424732"/>
                <a:gd name="connsiteX0" fmla="*/ 424732 w 516890"/>
                <a:gd name="connsiteY0" fmla="*/ 424732 h 424732"/>
                <a:gd name="connsiteX1" fmla="*/ 0 w 516890"/>
                <a:gd name="connsiteY1" fmla="*/ 424732 h 424732"/>
                <a:gd name="connsiteX2" fmla="*/ 0 w 516890"/>
                <a:gd name="connsiteY2" fmla="*/ 0 h 424732"/>
                <a:gd name="connsiteX3" fmla="*/ 424732 w 516890"/>
                <a:gd name="connsiteY3" fmla="*/ 0 h 424732"/>
                <a:gd name="connsiteX4" fmla="*/ 516890 w 516890"/>
                <a:gd name="connsiteY4" fmla="*/ 330330 h 424732"/>
                <a:gd name="connsiteX0" fmla="*/ 424732 w 424732"/>
                <a:gd name="connsiteY0" fmla="*/ 424732 h 424732"/>
                <a:gd name="connsiteX1" fmla="*/ 0 w 424732"/>
                <a:gd name="connsiteY1" fmla="*/ 424732 h 424732"/>
                <a:gd name="connsiteX2" fmla="*/ 0 w 424732"/>
                <a:gd name="connsiteY2" fmla="*/ 0 h 424732"/>
                <a:gd name="connsiteX3" fmla="*/ 424732 w 424732"/>
                <a:gd name="connsiteY3" fmla="*/ 0 h 424732"/>
              </a:gdLst>
              <a:ahLst/>
              <a:cxnLst>
                <a:cxn ang="0">
                  <a:pos x="connsiteX0" y="connsiteY0"/>
                </a:cxn>
                <a:cxn ang="0">
                  <a:pos x="connsiteX1" y="connsiteY1"/>
                </a:cxn>
                <a:cxn ang="0">
                  <a:pos x="connsiteX2" y="connsiteY2"/>
                </a:cxn>
                <a:cxn ang="0">
                  <a:pos x="connsiteX3" y="connsiteY3"/>
                </a:cxn>
              </a:cxnLst>
              <a:rect l="l" t="t" r="r" b="b"/>
              <a:pathLst>
                <a:path w="424732" h="424732">
                  <a:moveTo>
                    <a:pt x="424732" y="424732"/>
                  </a:moveTo>
                  <a:lnTo>
                    <a:pt x="0" y="424732"/>
                  </a:lnTo>
                  <a:lnTo>
                    <a:pt x="0" y="0"/>
                  </a:lnTo>
                  <a:lnTo>
                    <a:pt x="424732" y="0"/>
                  </a:lnTo>
                </a:path>
              </a:pathLst>
            </a:custGeom>
            <a:ln w="16510">
              <a:solidFill>
                <a:srgbClr val="065CA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latin typeface="Arial" pitchFamily="2" charset="0"/>
              </a:endParaRPr>
            </a:p>
          </p:txBody>
        </p:sp>
        <p:sp>
          <p:nvSpPr>
            <p:cNvPr id="70" name="Прямоугольник 58">
              <a:extLst>
                <a:ext uri="{FF2B5EF4-FFF2-40B4-BE49-F238E27FC236}">
                  <a16:creationId xmlns:a16="http://schemas.microsoft.com/office/drawing/2014/main" id="{DA239952-60E1-45EB-BDF0-422CC4CF7E42}"/>
                </a:ext>
              </a:extLst>
            </p:cNvPr>
            <p:cNvSpPr/>
            <p:nvPr/>
          </p:nvSpPr>
          <p:spPr>
            <a:xfrm flipH="1">
              <a:off x="8510399" y="0"/>
              <a:ext cx="90049" cy="896112"/>
            </a:xfrm>
            <a:custGeom>
              <a:avLst/>
              <a:gdLst>
                <a:gd name="connsiteX0" fmla="*/ 0 w 424732"/>
                <a:gd name="connsiteY0" fmla="*/ 0 h 424732"/>
                <a:gd name="connsiteX1" fmla="*/ 424732 w 424732"/>
                <a:gd name="connsiteY1" fmla="*/ 0 h 424732"/>
                <a:gd name="connsiteX2" fmla="*/ 424732 w 424732"/>
                <a:gd name="connsiteY2" fmla="*/ 424732 h 424732"/>
                <a:gd name="connsiteX3" fmla="*/ 0 w 424732"/>
                <a:gd name="connsiteY3" fmla="*/ 424732 h 424732"/>
                <a:gd name="connsiteX4" fmla="*/ 0 w 424732"/>
                <a:gd name="connsiteY4" fmla="*/ 0 h 424732"/>
                <a:gd name="connsiteX0" fmla="*/ 0 w 425450"/>
                <a:gd name="connsiteY0" fmla="*/ 0 h 424732"/>
                <a:gd name="connsiteX1" fmla="*/ 424732 w 425450"/>
                <a:gd name="connsiteY1" fmla="*/ 0 h 424732"/>
                <a:gd name="connsiteX2" fmla="*/ 425450 w 425450"/>
                <a:gd name="connsiteY2" fmla="*/ 238890 h 424732"/>
                <a:gd name="connsiteX3" fmla="*/ 424732 w 425450"/>
                <a:gd name="connsiteY3" fmla="*/ 424732 h 424732"/>
                <a:gd name="connsiteX4" fmla="*/ 0 w 425450"/>
                <a:gd name="connsiteY4" fmla="*/ 424732 h 424732"/>
                <a:gd name="connsiteX5" fmla="*/ 0 w 425450"/>
                <a:gd name="connsiteY5" fmla="*/ 0 h 424732"/>
                <a:gd name="connsiteX0" fmla="*/ 425450 w 516890"/>
                <a:gd name="connsiteY0" fmla="*/ 238890 h 424732"/>
                <a:gd name="connsiteX1" fmla="*/ 424732 w 516890"/>
                <a:gd name="connsiteY1" fmla="*/ 424732 h 424732"/>
                <a:gd name="connsiteX2" fmla="*/ 0 w 516890"/>
                <a:gd name="connsiteY2" fmla="*/ 424732 h 424732"/>
                <a:gd name="connsiteX3" fmla="*/ 0 w 516890"/>
                <a:gd name="connsiteY3" fmla="*/ 0 h 424732"/>
                <a:gd name="connsiteX4" fmla="*/ 424732 w 516890"/>
                <a:gd name="connsiteY4" fmla="*/ 0 h 424732"/>
                <a:gd name="connsiteX5" fmla="*/ 516890 w 516890"/>
                <a:gd name="connsiteY5" fmla="*/ 330330 h 424732"/>
                <a:gd name="connsiteX0" fmla="*/ 424732 w 516890"/>
                <a:gd name="connsiteY0" fmla="*/ 424732 h 424732"/>
                <a:gd name="connsiteX1" fmla="*/ 0 w 516890"/>
                <a:gd name="connsiteY1" fmla="*/ 424732 h 424732"/>
                <a:gd name="connsiteX2" fmla="*/ 0 w 516890"/>
                <a:gd name="connsiteY2" fmla="*/ 0 h 424732"/>
                <a:gd name="connsiteX3" fmla="*/ 424732 w 516890"/>
                <a:gd name="connsiteY3" fmla="*/ 0 h 424732"/>
                <a:gd name="connsiteX4" fmla="*/ 516890 w 516890"/>
                <a:gd name="connsiteY4" fmla="*/ 330330 h 424732"/>
                <a:gd name="connsiteX0" fmla="*/ 424732 w 424732"/>
                <a:gd name="connsiteY0" fmla="*/ 424732 h 424732"/>
                <a:gd name="connsiteX1" fmla="*/ 0 w 424732"/>
                <a:gd name="connsiteY1" fmla="*/ 424732 h 424732"/>
                <a:gd name="connsiteX2" fmla="*/ 0 w 424732"/>
                <a:gd name="connsiteY2" fmla="*/ 0 h 424732"/>
                <a:gd name="connsiteX3" fmla="*/ 424732 w 424732"/>
                <a:gd name="connsiteY3" fmla="*/ 0 h 424732"/>
              </a:gdLst>
              <a:ahLst/>
              <a:cxnLst>
                <a:cxn ang="0">
                  <a:pos x="connsiteX0" y="connsiteY0"/>
                </a:cxn>
                <a:cxn ang="0">
                  <a:pos x="connsiteX1" y="connsiteY1"/>
                </a:cxn>
                <a:cxn ang="0">
                  <a:pos x="connsiteX2" y="connsiteY2"/>
                </a:cxn>
                <a:cxn ang="0">
                  <a:pos x="connsiteX3" y="connsiteY3"/>
                </a:cxn>
              </a:cxnLst>
              <a:rect l="l" t="t" r="r" b="b"/>
              <a:pathLst>
                <a:path w="424732" h="424732">
                  <a:moveTo>
                    <a:pt x="424732" y="424732"/>
                  </a:moveTo>
                  <a:lnTo>
                    <a:pt x="0" y="424732"/>
                  </a:lnTo>
                  <a:lnTo>
                    <a:pt x="0" y="0"/>
                  </a:lnTo>
                  <a:lnTo>
                    <a:pt x="424732" y="0"/>
                  </a:lnTo>
                </a:path>
              </a:pathLst>
            </a:custGeom>
            <a:ln w="16510">
              <a:solidFill>
                <a:srgbClr val="0046A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solidFill>
                  <a:srgbClr val="065CAB"/>
                </a:solidFill>
                <a:latin typeface="Arial" pitchFamily="2" charset="0"/>
              </a:endParaRPr>
            </a:p>
          </p:txBody>
        </p:sp>
      </p:grpSp>
      <p:pic>
        <p:nvPicPr>
          <p:cNvPr id="71" name="Picture 70" descr="perm_strength.png"/>
          <p:cNvPicPr>
            <a:picLocks noChangeAspect="1"/>
          </p:cNvPicPr>
          <p:nvPr/>
        </p:nvPicPr>
        <p:blipFill>
          <a:blip r:embed="rId3"/>
          <a:stretch>
            <a:fillRect/>
          </a:stretch>
        </p:blipFill>
        <p:spPr>
          <a:xfrm>
            <a:off x="4790341" y="1417320"/>
            <a:ext cx="6977986" cy="4800600"/>
          </a:xfrm>
          <a:prstGeom prst="rect">
            <a:avLst/>
          </a:prstGeom>
          <a:ln w="9525">
            <a:solidFill>
              <a:srgbClr val="D9D9D9"/>
            </a:solidFill>
          </a:ln>
        </p:spPr>
      </p:pic>
      <p:sp>
        <p:nvSpPr>
          <p:cNvPr id="72" name="Rectangle 71"/>
          <p:cNvSpPr/>
          <p:nvPr/>
        </p:nvSpPr>
        <p:spPr>
          <a:xfrm>
            <a:off x="557784" y="3429000"/>
            <a:ext cx="4114800" cy="1234440"/>
          </a:xfrm>
          <a:prstGeom prst="rect">
            <a:avLst/>
          </a:prstGeom>
          <a:solidFill>
            <a:srgbClr val="FDF3D4"/>
          </a:solidFill>
          <a:ln>
            <a:noFill/>
          </a:ln>
        </p:spPr>
        <p:txBody>
          <a:bodyPr rtlCol="0" anchor="ctr"/>
          <a:lstStyle/>
          <a:p>
            <a:pPr algn="ctr"/>
            <a:endParaRPr/>
          </a:p>
        </p:txBody>
      </p:sp>
      <p:sp>
        <p:nvSpPr>
          <p:cNvPr id="73" name="TextBox 72"/>
          <p:cNvSpPr txBox="1"/>
          <p:nvPr/>
        </p:nvSpPr>
        <p:spPr>
          <a:xfrm>
            <a:off x="713232" y="3429000"/>
            <a:ext cx="3840480" cy="1234440"/>
          </a:xfrm>
          <a:prstGeom prst="rect">
            <a:avLst/>
          </a:prstGeom>
          <a:noFill/>
        </p:spPr>
        <p:txBody>
          <a:bodyPr wrap="square" lIns="0" tIns="0" rIns="0" bIns="0" anchor="ctr"/>
          <a:lstStyle/>
          <a:p>
            <a:pPr marL="0" indent="0" algn="l">
              <a:lnSpc>
                <a:spcPct val="100000"/>
              </a:lnSpc>
              <a:buNone/>
            </a:pPr>
            <a:r>
              <a:rPr lang="ru-RU" sz="1500" b="1" i="0">
                <a:solidFill>
                  <a:srgbClr val="262626"/>
                </a:solidFill>
                <a:latin typeface="Arial" panose="020B0604020202020204" pitchFamily="34" charset="0"/>
                <a:cs typeface="Arial"/>
              </a:rPr>
              <a:t>Это описание поведения модели, а не физический закон и не способ подобрать рецептуру</a:t>
            </a:r>
            <a:endParaRPr sz="1500" b="1" i="0">
              <a:solidFill>
                <a:srgbClr val="262626"/>
              </a:solidFill>
              <a:latin typeface="Arial" panose="020B0604020202020204" pitchFamily="34" charset="0"/>
              <a:cs typeface="Arial"/>
            </a:endParaRPr>
          </a:p>
        </p:txBody>
      </p:sp>
      <p:cxnSp>
        <p:nvCxnSpPr>
          <p:cNvPr id="74" name="Connector 73"/>
          <p:cNvCxnSpPr/>
          <p:nvPr/>
        </p:nvCxnSpPr>
        <p:spPr>
          <a:xfrm>
            <a:off x="557784" y="4937760"/>
            <a:ext cx="0" cy="1188720"/>
          </a:xfrm>
          <a:prstGeom prst="line">
            <a:avLst/>
          </a:prstGeom>
          <a:ln w="25400">
            <a:solidFill>
              <a:srgbClr val="065CAB"/>
            </a:solidFill>
          </a:ln>
        </p:spPr>
      </p:cxnSp>
      <p:cxnSp>
        <p:nvCxnSpPr>
          <p:cNvPr id="75" name="Connector 74"/>
          <p:cNvCxnSpPr/>
          <p:nvPr/>
        </p:nvCxnSpPr>
        <p:spPr>
          <a:xfrm>
            <a:off x="557784" y="4937760"/>
            <a:ext cx="457199" cy="0"/>
          </a:xfrm>
          <a:prstGeom prst="line">
            <a:avLst/>
          </a:prstGeom>
          <a:ln w="25400">
            <a:solidFill>
              <a:srgbClr val="065CAB"/>
            </a:solidFill>
          </a:ln>
        </p:spPr>
      </p:cxnSp>
      <p:cxnSp>
        <p:nvCxnSpPr>
          <p:cNvPr id="76" name="Connector 75"/>
          <p:cNvCxnSpPr/>
          <p:nvPr/>
        </p:nvCxnSpPr>
        <p:spPr>
          <a:xfrm>
            <a:off x="557784" y="6126480"/>
            <a:ext cx="457199" cy="0"/>
          </a:xfrm>
          <a:prstGeom prst="line">
            <a:avLst/>
          </a:prstGeom>
          <a:ln w="25400">
            <a:solidFill>
              <a:srgbClr val="065CAB"/>
            </a:solidFill>
          </a:ln>
        </p:spPr>
      </p:cxnSp>
      <p:sp>
        <p:nvSpPr>
          <p:cNvPr id="77" name="TextBox 76"/>
          <p:cNvSpPr txBox="1"/>
          <p:nvPr/>
        </p:nvSpPr>
        <p:spPr>
          <a:xfrm>
            <a:off x="813816" y="5010912"/>
            <a:ext cx="3858768" cy="1042416"/>
          </a:xfrm>
          <a:prstGeom prst="rect">
            <a:avLst/>
          </a:prstGeom>
          <a:noFill/>
        </p:spPr>
        <p:txBody>
          <a:bodyPr wrap="square" lIns="0" tIns="0" rIns="0" bIns="0" anchor="ctr"/>
          <a:lstStyle/>
          <a:p>
            <a:pPr marL="0" indent="0" algn="l">
              <a:buNone/>
            </a:pPr>
            <a:r>
              <a:rPr lang="ru-RU" i="0">
                <a:solidFill>
                  <a:srgbClr val="262626"/>
                </a:solidFill>
                <a:latin typeface="Arial" panose="020B0604020202020204" pitchFamily="34" charset="0"/>
                <a:cs typeface="Arial"/>
              </a:rPr>
              <a:t>Ось X показывает изменение RMSE; линии показывают разброс 10 повторов</a:t>
            </a:r>
            <a:endParaRPr i="0">
              <a:solidFill>
                <a:srgbClr val="262626"/>
              </a:solidFill>
              <a:latin typeface="Arial" panose="020B0604020202020204" pitchFamily="34" charset="0"/>
              <a:cs typeface="Arial"/>
            </a:endParaRPr>
          </a:p>
        </p:txBody>
      </p:sp>
      <p:sp>
        <p:nvSpPr>
          <p:cNvPr id="78" name="Источник"/>
          <p:cNvSpPr txBox="1"/>
          <p:nvPr/>
        </p:nvSpPr>
        <p:spPr>
          <a:xfrm>
            <a:off x="960120" y="6336792"/>
            <a:ext cx="10808208" cy="365760"/>
          </a:xfrm>
          <a:prstGeom prst="rect">
            <a:avLst/>
          </a:prstGeom>
          <a:noFill/>
        </p:spPr>
        <p:txBody>
          <a:bodyPr wrap="square" lIns="0" tIns="0" rIns="0" bIns="0" anchor="ctr"/>
          <a:lstStyle/>
          <a:p>
            <a:pPr marL="0" indent="0" algn="l">
              <a:buNone/>
            </a:pPr>
            <a:r>
              <a:rPr lang="ru-RU" sz="1300" i="0">
                <a:solidFill>
                  <a:srgbClr val="595959"/>
                </a:solidFill>
                <a:latin typeface="Arial" panose="020B0604020202020204" pitchFamily="34" charset="0"/>
                <a:cs typeface="Arial"/>
              </a:rPr>
              <a:t>Источник: РПЗ, рисунок с важностью характеристик; </a:t>
            </a:r>
            <a:r>
              <a:rPr lang="en-US" sz="1300" i="0">
                <a:solidFill>
                  <a:srgbClr val="595959"/>
                </a:solidFill>
                <a:latin typeface="Arial" panose="020B0604020202020204" pitchFamily="34" charset="0"/>
                <a:cs typeface="Arial"/>
              </a:rPr>
              <a:t>reports/evaluation/permutation_importance.csv</a:t>
            </a:r>
            <a:endParaRPr sz="1300" i="0">
              <a:solidFill>
                <a:srgbClr val="595959"/>
              </a:solidFill>
              <a:latin typeface="Arial" panose="020B0604020202020204" pitchFamily="34" charset="0"/>
              <a:cs typeface="Arial"/>
            </a:endParaRPr>
          </a:p>
        </p:txBody>
      </p:sp>
      <p:sp>
        <p:nvSpPr>
          <p:cNvPr id="4" name="Номер слайда 3">
            <a:extLst>
              <a:ext uri="{FF2B5EF4-FFF2-40B4-BE49-F238E27FC236}">
                <a16:creationId xmlns:a16="http://schemas.microsoft.com/office/drawing/2014/main" id="{06555008-558A-4705-ADA6-A99A535D9A1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ru-RU" smtClean="0">
                <a:cs typeface="Arial"/>
              </a:rPr>
              <a:t>13</a:t>
            </a:fld>
            <a:endParaRPr lang="ru-RU" dirty="0">
              <a:cs typeface="Arial"/>
            </a:endParaRPr>
          </a:p>
        </p:txBody>
      </p:sp>
      <p:sp>
        <p:nvSpPr>
          <p:cNvPr id="2" name="ImportanceTitleCover">
            <a:extLst>
              <a:ext uri="{FF2B5EF4-FFF2-40B4-BE49-F238E27FC236}">
                <a16:creationId xmlns:a16="http://schemas.microsoft.com/office/drawing/2014/main" id="{931ACC15-F833-44C5-A600-B5AA1BE30FA7}"/>
              </a:ext>
            </a:extLst>
          </p:cNvPr>
          <p:cNvSpPr/>
          <p:nvPr/>
        </p:nvSpPr>
        <p:spPr>
          <a:xfrm>
            <a:off x="4800600" y="1409700"/>
            <a:ext cx="6959600" cy="495300"/>
          </a:xfrm>
          <a:prstGeom prst="roundRect">
            <a:avLst/>
          </a:prstGeom>
          <a:solidFill>
            <a:srgbClr val="FFFFFF"/>
          </a:solidFill>
          <a:ln w="1778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r>
              <a:rPr lang="ru-RU" sz="1200" b="1">
                <a:solidFill>
                  <a:srgbClr val="262626"/>
                </a:solidFill>
                <a:latin typeface="Arial" panose="020B0604020202020204" pitchFamily="34" charset="0"/>
              </a:rPr>
              <a:t>Как изменяется ошибка после перемешивания одной характеристики</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2"/>
          </p:nvPr>
        </p:nvSpPr>
        <p:spPr>
          <a:xfrm>
            <a:off x="6903720" y="1261872"/>
            <a:ext cx="4864608" cy="457200"/>
          </a:xfrm>
        </p:spPr>
        <p:txBody>
          <a:bodyPr wrap="square">
            <a:normAutofit/>
          </a:bodyPr>
          <a:lstStyle/>
          <a:p>
            <a:pPr marL="0" indent="0" algn="l">
              <a:buNone/>
            </a:pPr>
            <a:r>
              <a:rPr lang="ru-RU" sz="1800" b="1" i="0">
                <a:solidFill>
                  <a:srgbClr val="F1BE29"/>
                </a:solidFill>
                <a:cs typeface="Arial"/>
              </a:rPr>
              <a:t>Воспроизводимый результат</a:t>
            </a:r>
            <a:endParaRPr sz="1800" b="1" i="0">
              <a:solidFill>
                <a:srgbClr val="F1BE29"/>
              </a:solidFill>
              <a:cs typeface="Arial"/>
            </a:endParaRPr>
          </a:p>
        </p:txBody>
      </p:sp>
      <p:sp>
        <p:nvSpPr>
          <p:cNvPr id="4" name="Text Placeholder 3"/>
          <p:cNvSpPr>
            <a:spLocks noGrp="1"/>
          </p:cNvSpPr>
          <p:nvPr>
            <p:ph type="body" idx="14"/>
          </p:nvPr>
        </p:nvSpPr>
        <p:spPr>
          <a:xfrm>
            <a:off x="557784" y="1261872"/>
            <a:ext cx="5669280" cy="457200"/>
          </a:xfrm>
        </p:spPr>
        <p:txBody>
          <a:bodyPr wrap="square">
            <a:normAutofit/>
          </a:bodyPr>
          <a:lstStyle/>
          <a:p>
            <a:pPr marL="0" indent="0" algn="l">
              <a:buNone/>
            </a:pPr>
            <a:r>
              <a:rPr lang="ru-RU" sz="1800" b="1" i="0">
                <a:solidFill>
                  <a:srgbClr val="F1BE29"/>
                </a:solidFill>
                <a:cs typeface="Arial"/>
              </a:rPr>
              <a:t>Путь одного расчёта</a:t>
            </a:r>
            <a:endParaRPr sz="1800" b="1" i="0">
              <a:solidFill>
                <a:srgbClr val="F1BE29"/>
              </a:solidFill>
              <a:cs typeface="Arial"/>
            </a:endParaRPr>
          </a:p>
        </p:txBody>
      </p:sp>
      <p:grpSp>
        <p:nvGrpSpPr>
          <p:cNvPr id="65" name="Заголовок слайда">
            <a:extLst>
              <a:ext uri="{FF2B5EF4-FFF2-40B4-BE49-F238E27FC236}">
                <a16:creationId xmlns:a16="http://schemas.microsoft.com/office/drawing/2014/main" id="{9280711C-2262-4089-92EE-9BEACCC60C4C}"/>
              </a:ext>
            </a:extLst>
          </p:cNvPr>
          <p:cNvGrpSpPr/>
          <p:nvPr/>
        </p:nvGrpSpPr>
        <p:grpSpPr>
          <a:xfrm>
            <a:off x="3167880" y="469293"/>
            <a:ext cx="7947945" cy="666000"/>
            <a:chOff x="0" y="0"/>
            <a:chExt cx="7947945" cy="666000"/>
          </a:xfrm>
        </p:grpSpPr>
        <p:sp>
          <p:nvSpPr>
            <p:cNvPr id="68" name="Прямоугольник 67">
              <a:extLst>
                <a:ext uri="{FF2B5EF4-FFF2-40B4-BE49-F238E27FC236}">
                  <a16:creationId xmlns:a16="http://schemas.microsoft.com/office/drawing/2014/main" id="{E2535886-3476-4B40-9706-6797B77905C0}"/>
                </a:ext>
              </a:extLst>
            </p:cNvPr>
            <p:cNvSpPr/>
            <p:nvPr/>
          </p:nvSpPr>
          <p:spPr>
            <a:xfrm>
              <a:off x="0" y="0"/>
              <a:ext cx="7947945" cy="666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201168" tIns="0" rIns="201168" bIns="0" rtlCol="0" anchor="ctr"/>
            <a:lstStyle/>
            <a:p>
              <a:pPr algn="l"/>
              <a:r>
                <a:rPr lang="ru-RU" sz="2600" b="1" spc="0">
                  <a:solidFill>
                    <a:srgbClr val="065CAB"/>
                  </a:solidFill>
                  <a:latin typeface="Arial" panose="020B0604020202020204" pitchFamily="34" charset="0"/>
                  <a:cs typeface="Arial" pitchFamily="2" charset="0"/>
                </a:rPr>
                <a:t>Приложение: 11 входов и два результата</a:t>
              </a:r>
              <a:endParaRPr lang="ru-RU" sz="2600" b="1" spc="0" dirty="0">
                <a:solidFill>
                  <a:srgbClr val="065CAB"/>
                </a:solidFill>
                <a:latin typeface="Arial" panose="020B0604020202020204" pitchFamily="34" charset="0"/>
                <a:cs typeface="Arial" pitchFamily="2" charset="0"/>
              </a:endParaRPr>
            </a:p>
          </p:txBody>
        </p:sp>
        <p:sp>
          <p:nvSpPr>
            <p:cNvPr id="69" name="Прямоугольник 58">
              <a:extLst>
                <a:ext uri="{FF2B5EF4-FFF2-40B4-BE49-F238E27FC236}">
                  <a16:creationId xmlns:a16="http://schemas.microsoft.com/office/drawing/2014/main" id="{96789138-2397-49AA-BF3A-A6B5B90E8840}"/>
                </a:ext>
              </a:extLst>
            </p:cNvPr>
            <p:cNvSpPr/>
            <p:nvPr/>
          </p:nvSpPr>
          <p:spPr>
            <a:xfrm rot="10800000" flipH="1">
              <a:off x="0" y="0"/>
              <a:ext cx="76579" cy="666000"/>
            </a:xfrm>
            <a:custGeom>
              <a:avLst/>
              <a:gdLst>
                <a:gd name="connsiteX0" fmla="*/ 0 w 424732"/>
                <a:gd name="connsiteY0" fmla="*/ 0 h 424732"/>
                <a:gd name="connsiteX1" fmla="*/ 424732 w 424732"/>
                <a:gd name="connsiteY1" fmla="*/ 0 h 424732"/>
                <a:gd name="connsiteX2" fmla="*/ 424732 w 424732"/>
                <a:gd name="connsiteY2" fmla="*/ 424732 h 424732"/>
                <a:gd name="connsiteX3" fmla="*/ 0 w 424732"/>
                <a:gd name="connsiteY3" fmla="*/ 424732 h 424732"/>
                <a:gd name="connsiteX4" fmla="*/ 0 w 424732"/>
                <a:gd name="connsiteY4" fmla="*/ 0 h 424732"/>
                <a:gd name="connsiteX0" fmla="*/ 0 w 425450"/>
                <a:gd name="connsiteY0" fmla="*/ 0 h 424732"/>
                <a:gd name="connsiteX1" fmla="*/ 424732 w 425450"/>
                <a:gd name="connsiteY1" fmla="*/ 0 h 424732"/>
                <a:gd name="connsiteX2" fmla="*/ 425450 w 425450"/>
                <a:gd name="connsiteY2" fmla="*/ 238890 h 424732"/>
                <a:gd name="connsiteX3" fmla="*/ 424732 w 425450"/>
                <a:gd name="connsiteY3" fmla="*/ 424732 h 424732"/>
                <a:gd name="connsiteX4" fmla="*/ 0 w 425450"/>
                <a:gd name="connsiteY4" fmla="*/ 424732 h 424732"/>
                <a:gd name="connsiteX5" fmla="*/ 0 w 425450"/>
                <a:gd name="connsiteY5" fmla="*/ 0 h 424732"/>
                <a:gd name="connsiteX0" fmla="*/ 425450 w 516890"/>
                <a:gd name="connsiteY0" fmla="*/ 238890 h 424732"/>
                <a:gd name="connsiteX1" fmla="*/ 424732 w 516890"/>
                <a:gd name="connsiteY1" fmla="*/ 424732 h 424732"/>
                <a:gd name="connsiteX2" fmla="*/ 0 w 516890"/>
                <a:gd name="connsiteY2" fmla="*/ 424732 h 424732"/>
                <a:gd name="connsiteX3" fmla="*/ 0 w 516890"/>
                <a:gd name="connsiteY3" fmla="*/ 0 h 424732"/>
                <a:gd name="connsiteX4" fmla="*/ 424732 w 516890"/>
                <a:gd name="connsiteY4" fmla="*/ 0 h 424732"/>
                <a:gd name="connsiteX5" fmla="*/ 516890 w 516890"/>
                <a:gd name="connsiteY5" fmla="*/ 330330 h 424732"/>
                <a:gd name="connsiteX0" fmla="*/ 424732 w 516890"/>
                <a:gd name="connsiteY0" fmla="*/ 424732 h 424732"/>
                <a:gd name="connsiteX1" fmla="*/ 0 w 516890"/>
                <a:gd name="connsiteY1" fmla="*/ 424732 h 424732"/>
                <a:gd name="connsiteX2" fmla="*/ 0 w 516890"/>
                <a:gd name="connsiteY2" fmla="*/ 0 h 424732"/>
                <a:gd name="connsiteX3" fmla="*/ 424732 w 516890"/>
                <a:gd name="connsiteY3" fmla="*/ 0 h 424732"/>
                <a:gd name="connsiteX4" fmla="*/ 516890 w 516890"/>
                <a:gd name="connsiteY4" fmla="*/ 330330 h 424732"/>
                <a:gd name="connsiteX0" fmla="*/ 424732 w 424732"/>
                <a:gd name="connsiteY0" fmla="*/ 424732 h 424732"/>
                <a:gd name="connsiteX1" fmla="*/ 0 w 424732"/>
                <a:gd name="connsiteY1" fmla="*/ 424732 h 424732"/>
                <a:gd name="connsiteX2" fmla="*/ 0 w 424732"/>
                <a:gd name="connsiteY2" fmla="*/ 0 h 424732"/>
                <a:gd name="connsiteX3" fmla="*/ 424732 w 424732"/>
                <a:gd name="connsiteY3" fmla="*/ 0 h 424732"/>
              </a:gdLst>
              <a:ahLst/>
              <a:cxnLst>
                <a:cxn ang="0">
                  <a:pos x="connsiteX0" y="connsiteY0"/>
                </a:cxn>
                <a:cxn ang="0">
                  <a:pos x="connsiteX1" y="connsiteY1"/>
                </a:cxn>
                <a:cxn ang="0">
                  <a:pos x="connsiteX2" y="connsiteY2"/>
                </a:cxn>
                <a:cxn ang="0">
                  <a:pos x="connsiteX3" y="connsiteY3"/>
                </a:cxn>
              </a:cxnLst>
              <a:rect l="l" t="t" r="r" b="b"/>
              <a:pathLst>
                <a:path w="424732" h="424732">
                  <a:moveTo>
                    <a:pt x="424732" y="424732"/>
                  </a:moveTo>
                  <a:lnTo>
                    <a:pt x="0" y="424732"/>
                  </a:lnTo>
                  <a:lnTo>
                    <a:pt x="0" y="0"/>
                  </a:lnTo>
                  <a:lnTo>
                    <a:pt x="424732" y="0"/>
                  </a:lnTo>
                </a:path>
              </a:pathLst>
            </a:custGeom>
            <a:ln w="16510">
              <a:solidFill>
                <a:srgbClr val="065CA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latin typeface="Arial" pitchFamily="2" charset="0"/>
              </a:endParaRPr>
            </a:p>
          </p:txBody>
        </p:sp>
        <p:sp>
          <p:nvSpPr>
            <p:cNvPr id="70" name="Прямоугольник 58">
              <a:extLst>
                <a:ext uri="{FF2B5EF4-FFF2-40B4-BE49-F238E27FC236}">
                  <a16:creationId xmlns:a16="http://schemas.microsoft.com/office/drawing/2014/main" id="{DA239952-60E1-45EB-BDF0-422CC4CF7E42}"/>
                </a:ext>
              </a:extLst>
            </p:cNvPr>
            <p:cNvSpPr/>
            <p:nvPr/>
          </p:nvSpPr>
          <p:spPr>
            <a:xfrm flipH="1">
              <a:off x="7857896" y="0"/>
              <a:ext cx="90049" cy="666000"/>
            </a:xfrm>
            <a:custGeom>
              <a:avLst/>
              <a:gdLst>
                <a:gd name="connsiteX0" fmla="*/ 0 w 424732"/>
                <a:gd name="connsiteY0" fmla="*/ 0 h 424732"/>
                <a:gd name="connsiteX1" fmla="*/ 424732 w 424732"/>
                <a:gd name="connsiteY1" fmla="*/ 0 h 424732"/>
                <a:gd name="connsiteX2" fmla="*/ 424732 w 424732"/>
                <a:gd name="connsiteY2" fmla="*/ 424732 h 424732"/>
                <a:gd name="connsiteX3" fmla="*/ 0 w 424732"/>
                <a:gd name="connsiteY3" fmla="*/ 424732 h 424732"/>
                <a:gd name="connsiteX4" fmla="*/ 0 w 424732"/>
                <a:gd name="connsiteY4" fmla="*/ 0 h 424732"/>
                <a:gd name="connsiteX0" fmla="*/ 0 w 425450"/>
                <a:gd name="connsiteY0" fmla="*/ 0 h 424732"/>
                <a:gd name="connsiteX1" fmla="*/ 424732 w 425450"/>
                <a:gd name="connsiteY1" fmla="*/ 0 h 424732"/>
                <a:gd name="connsiteX2" fmla="*/ 425450 w 425450"/>
                <a:gd name="connsiteY2" fmla="*/ 238890 h 424732"/>
                <a:gd name="connsiteX3" fmla="*/ 424732 w 425450"/>
                <a:gd name="connsiteY3" fmla="*/ 424732 h 424732"/>
                <a:gd name="connsiteX4" fmla="*/ 0 w 425450"/>
                <a:gd name="connsiteY4" fmla="*/ 424732 h 424732"/>
                <a:gd name="connsiteX5" fmla="*/ 0 w 425450"/>
                <a:gd name="connsiteY5" fmla="*/ 0 h 424732"/>
                <a:gd name="connsiteX0" fmla="*/ 425450 w 516890"/>
                <a:gd name="connsiteY0" fmla="*/ 238890 h 424732"/>
                <a:gd name="connsiteX1" fmla="*/ 424732 w 516890"/>
                <a:gd name="connsiteY1" fmla="*/ 424732 h 424732"/>
                <a:gd name="connsiteX2" fmla="*/ 0 w 516890"/>
                <a:gd name="connsiteY2" fmla="*/ 424732 h 424732"/>
                <a:gd name="connsiteX3" fmla="*/ 0 w 516890"/>
                <a:gd name="connsiteY3" fmla="*/ 0 h 424732"/>
                <a:gd name="connsiteX4" fmla="*/ 424732 w 516890"/>
                <a:gd name="connsiteY4" fmla="*/ 0 h 424732"/>
                <a:gd name="connsiteX5" fmla="*/ 516890 w 516890"/>
                <a:gd name="connsiteY5" fmla="*/ 330330 h 424732"/>
                <a:gd name="connsiteX0" fmla="*/ 424732 w 516890"/>
                <a:gd name="connsiteY0" fmla="*/ 424732 h 424732"/>
                <a:gd name="connsiteX1" fmla="*/ 0 w 516890"/>
                <a:gd name="connsiteY1" fmla="*/ 424732 h 424732"/>
                <a:gd name="connsiteX2" fmla="*/ 0 w 516890"/>
                <a:gd name="connsiteY2" fmla="*/ 0 h 424732"/>
                <a:gd name="connsiteX3" fmla="*/ 424732 w 516890"/>
                <a:gd name="connsiteY3" fmla="*/ 0 h 424732"/>
                <a:gd name="connsiteX4" fmla="*/ 516890 w 516890"/>
                <a:gd name="connsiteY4" fmla="*/ 330330 h 424732"/>
                <a:gd name="connsiteX0" fmla="*/ 424732 w 424732"/>
                <a:gd name="connsiteY0" fmla="*/ 424732 h 424732"/>
                <a:gd name="connsiteX1" fmla="*/ 0 w 424732"/>
                <a:gd name="connsiteY1" fmla="*/ 424732 h 424732"/>
                <a:gd name="connsiteX2" fmla="*/ 0 w 424732"/>
                <a:gd name="connsiteY2" fmla="*/ 0 h 424732"/>
                <a:gd name="connsiteX3" fmla="*/ 424732 w 424732"/>
                <a:gd name="connsiteY3" fmla="*/ 0 h 424732"/>
              </a:gdLst>
              <a:ahLst/>
              <a:cxnLst>
                <a:cxn ang="0">
                  <a:pos x="connsiteX0" y="connsiteY0"/>
                </a:cxn>
                <a:cxn ang="0">
                  <a:pos x="connsiteX1" y="connsiteY1"/>
                </a:cxn>
                <a:cxn ang="0">
                  <a:pos x="connsiteX2" y="connsiteY2"/>
                </a:cxn>
                <a:cxn ang="0">
                  <a:pos x="connsiteX3" y="connsiteY3"/>
                </a:cxn>
              </a:cxnLst>
              <a:rect l="l" t="t" r="r" b="b"/>
              <a:pathLst>
                <a:path w="424732" h="424732">
                  <a:moveTo>
                    <a:pt x="424732" y="424732"/>
                  </a:moveTo>
                  <a:lnTo>
                    <a:pt x="0" y="424732"/>
                  </a:lnTo>
                  <a:lnTo>
                    <a:pt x="0" y="0"/>
                  </a:lnTo>
                  <a:lnTo>
                    <a:pt x="424732" y="0"/>
                  </a:lnTo>
                </a:path>
              </a:pathLst>
            </a:custGeom>
            <a:ln w="16510">
              <a:solidFill>
                <a:srgbClr val="0046A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solidFill>
                  <a:srgbClr val="065CAB"/>
                </a:solidFill>
                <a:latin typeface="Arial" pitchFamily="2" charset="0"/>
              </a:endParaRPr>
            </a:p>
          </p:txBody>
        </p:sp>
      </p:grpSp>
      <p:sp>
        <p:nvSpPr>
          <p:cNvPr id="71" name="Rectangle 70"/>
          <p:cNvSpPr/>
          <p:nvPr/>
        </p:nvSpPr>
        <p:spPr>
          <a:xfrm>
            <a:off x="557784" y="1828800"/>
            <a:ext cx="1645920" cy="1417320"/>
          </a:xfrm>
          <a:prstGeom prst="rect">
            <a:avLst/>
          </a:prstGeom>
          <a:solidFill>
            <a:srgbClr val="E3F0FD"/>
          </a:solidFill>
          <a:ln>
            <a:noFill/>
          </a:ln>
        </p:spPr>
        <p:txBody>
          <a:bodyPr rtlCol="0" anchor="ctr"/>
          <a:lstStyle/>
          <a:p>
            <a:pPr algn="ctr"/>
            <a:endParaRPr/>
          </a:p>
        </p:txBody>
      </p:sp>
      <p:sp>
        <p:nvSpPr>
          <p:cNvPr id="72" name="TextBox 71"/>
          <p:cNvSpPr txBox="1"/>
          <p:nvPr/>
        </p:nvSpPr>
        <p:spPr>
          <a:xfrm>
            <a:off x="557784" y="1874519"/>
            <a:ext cx="1645920" cy="822960"/>
          </a:xfrm>
          <a:prstGeom prst="rect">
            <a:avLst/>
          </a:prstGeom>
          <a:noFill/>
        </p:spPr>
        <p:txBody>
          <a:bodyPr wrap="square" lIns="0" tIns="0" rIns="0" bIns="0" anchor="ctr"/>
          <a:lstStyle/>
          <a:p>
            <a:pPr marL="0" indent="0" algn="ctr">
              <a:buNone/>
            </a:pPr>
            <a:r>
              <a:rPr sz="4000" b="1" i="0">
                <a:solidFill>
                  <a:srgbClr val="065CAB"/>
                </a:solidFill>
                <a:latin typeface="Arial" panose="020B0604020202020204" pitchFamily="34" charset="0"/>
                <a:cs typeface="Arial"/>
              </a:rPr>
              <a:t>11</a:t>
            </a:r>
          </a:p>
        </p:txBody>
      </p:sp>
      <p:sp>
        <p:nvSpPr>
          <p:cNvPr id="73" name="TextBox 72"/>
          <p:cNvSpPr txBox="1"/>
          <p:nvPr/>
        </p:nvSpPr>
        <p:spPr>
          <a:xfrm>
            <a:off x="603504" y="2651760"/>
            <a:ext cx="1554480" cy="548640"/>
          </a:xfrm>
          <a:prstGeom prst="rect">
            <a:avLst/>
          </a:prstGeom>
          <a:noFill/>
        </p:spPr>
        <p:txBody>
          <a:bodyPr wrap="square" lIns="0" tIns="0" rIns="0" bIns="0" anchor="t"/>
          <a:lstStyle/>
          <a:p>
            <a:pPr marL="0" indent="0" algn="ctr">
              <a:lnSpc>
                <a:spcPct val="100000"/>
              </a:lnSpc>
              <a:buNone/>
            </a:pPr>
            <a:r>
              <a:rPr lang="ru-RU" i="0">
                <a:solidFill>
                  <a:srgbClr val="262626"/>
                </a:solidFill>
                <a:latin typeface="Arial" panose="020B0604020202020204" pitchFamily="34" charset="0"/>
                <a:cs typeface="Arial"/>
              </a:rPr>
              <a:t>известных
характеристик</a:t>
            </a:r>
            <a:endParaRPr i="0">
              <a:solidFill>
                <a:srgbClr val="262626"/>
              </a:solidFill>
              <a:latin typeface="Arial" panose="020B0604020202020204" pitchFamily="34" charset="0"/>
              <a:cs typeface="Arial"/>
            </a:endParaRPr>
          </a:p>
        </p:txBody>
      </p:sp>
      <p:cxnSp>
        <p:nvCxnSpPr>
          <p:cNvPr id="74" name="Connector 73"/>
          <p:cNvCxnSpPr/>
          <p:nvPr/>
        </p:nvCxnSpPr>
        <p:spPr>
          <a:xfrm>
            <a:off x="2276856" y="2537460"/>
            <a:ext cx="219456" cy="0"/>
          </a:xfrm>
          <a:prstGeom prst="line">
            <a:avLst/>
          </a:prstGeom>
          <a:ln w="31750">
            <a:solidFill>
              <a:srgbClr val="F1BE29"/>
            </a:solidFill>
            <a:tailEnd type="triangle" w="med" len="med"/>
          </a:ln>
        </p:spPr>
      </p:cxnSp>
      <p:sp>
        <p:nvSpPr>
          <p:cNvPr id="75" name="Rectangle 74"/>
          <p:cNvSpPr/>
          <p:nvPr/>
        </p:nvSpPr>
        <p:spPr>
          <a:xfrm>
            <a:off x="2569464" y="1828800"/>
            <a:ext cx="1645920" cy="1417320"/>
          </a:xfrm>
          <a:prstGeom prst="rect">
            <a:avLst/>
          </a:prstGeom>
          <a:solidFill>
            <a:srgbClr val="E3F0FD"/>
          </a:solidFill>
          <a:ln>
            <a:noFill/>
          </a:ln>
        </p:spPr>
        <p:txBody>
          <a:bodyPr rtlCol="0" anchor="ctr"/>
          <a:lstStyle/>
          <a:p>
            <a:pPr algn="ctr"/>
            <a:endParaRPr/>
          </a:p>
        </p:txBody>
      </p:sp>
      <p:sp>
        <p:nvSpPr>
          <p:cNvPr id="76" name="TextBox 75"/>
          <p:cNvSpPr txBox="1"/>
          <p:nvPr/>
        </p:nvSpPr>
        <p:spPr>
          <a:xfrm>
            <a:off x="2569464" y="1874519"/>
            <a:ext cx="1645920" cy="822960"/>
          </a:xfrm>
          <a:prstGeom prst="rect">
            <a:avLst/>
          </a:prstGeom>
          <a:noFill/>
        </p:spPr>
        <p:txBody>
          <a:bodyPr wrap="square" lIns="0" tIns="0" rIns="0" bIns="0" anchor="ctr"/>
          <a:lstStyle/>
          <a:p>
            <a:pPr marL="0" indent="0" algn="ctr">
              <a:buNone/>
            </a:pPr>
            <a:r>
              <a:rPr lang="ru-RU" sz="1700" b="1" i="0">
                <a:solidFill>
                  <a:srgbClr val="065CAB"/>
                </a:solidFill>
                <a:latin typeface="Arial" panose="020B0604020202020204" pitchFamily="34" charset="0"/>
                <a:cs typeface="Arial"/>
              </a:rPr>
              <a:t>проверка</a:t>
            </a:r>
            <a:endParaRPr sz="1700" b="1" i="0">
              <a:solidFill>
                <a:srgbClr val="065CAB"/>
              </a:solidFill>
              <a:latin typeface="Arial" panose="020B0604020202020204" pitchFamily="34" charset="0"/>
              <a:cs typeface="Arial"/>
            </a:endParaRPr>
          </a:p>
        </p:txBody>
      </p:sp>
      <p:sp>
        <p:nvSpPr>
          <p:cNvPr id="77" name="TextBox 76"/>
          <p:cNvSpPr txBox="1"/>
          <p:nvPr/>
        </p:nvSpPr>
        <p:spPr>
          <a:xfrm>
            <a:off x="2615184" y="2651760"/>
            <a:ext cx="1554480" cy="548640"/>
          </a:xfrm>
          <a:prstGeom prst="rect">
            <a:avLst/>
          </a:prstGeom>
          <a:noFill/>
        </p:spPr>
        <p:txBody>
          <a:bodyPr wrap="square" lIns="0" tIns="0" rIns="0" bIns="0" anchor="t"/>
          <a:lstStyle/>
          <a:p>
            <a:pPr marL="0" indent="0" algn="ctr">
              <a:lnSpc>
                <a:spcPct val="100000"/>
              </a:lnSpc>
              <a:buNone/>
            </a:pPr>
            <a:r>
              <a:rPr lang="ru-RU" sz="1200" i="0">
                <a:solidFill>
                  <a:srgbClr val="262626"/>
                </a:solidFill>
                <a:latin typeface="Arial" panose="020B0604020202020204" pitchFamily="34" charset="0"/>
                <a:cs typeface="Arial"/>
              </a:rPr>
              <a:t>формат и
предупреждение
о диапазоне</a:t>
            </a:r>
            <a:endParaRPr sz="1200" i="0">
              <a:solidFill>
                <a:srgbClr val="262626"/>
              </a:solidFill>
              <a:latin typeface="Arial" panose="020B0604020202020204" pitchFamily="34" charset="0"/>
              <a:cs typeface="Arial"/>
            </a:endParaRPr>
          </a:p>
        </p:txBody>
      </p:sp>
      <p:cxnSp>
        <p:nvCxnSpPr>
          <p:cNvPr id="78" name="Connector 77"/>
          <p:cNvCxnSpPr/>
          <p:nvPr/>
        </p:nvCxnSpPr>
        <p:spPr>
          <a:xfrm>
            <a:off x="4288536" y="2537460"/>
            <a:ext cx="219456" cy="0"/>
          </a:xfrm>
          <a:prstGeom prst="line">
            <a:avLst/>
          </a:prstGeom>
          <a:ln w="31750">
            <a:solidFill>
              <a:srgbClr val="F1BE29"/>
            </a:solidFill>
            <a:tailEnd type="triangle" w="med" len="med"/>
          </a:ln>
        </p:spPr>
      </p:cxnSp>
      <p:sp>
        <p:nvSpPr>
          <p:cNvPr id="79" name="Rectangle 78"/>
          <p:cNvSpPr/>
          <p:nvPr/>
        </p:nvSpPr>
        <p:spPr>
          <a:xfrm>
            <a:off x="4581144" y="1828800"/>
            <a:ext cx="1645920" cy="1417320"/>
          </a:xfrm>
          <a:prstGeom prst="rect">
            <a:avLst/>
          </a:prstGeom>
          <a:solidFill>
            <a:srgbClr val="E3F0FD"/>
          </a:solidFill>
          <a:ln>
            <a:noFill/>
          </a:ln>
        </p:spPr>
        <p:txBody>
          <a:bodyPr rtlCol="0" anchor="ctr"/>
          <a:lstStyle/>
          <a:p>
            <a:pPr algn="ctr"/>
            <a:endParaRPr/>
          </a:p>
        </p:txBody>
      </p:sp>
      <p:sp>
        <p:nvSpPr>
          <p:cNvPr id="80" name="TextBox 79"/>
          <p:cNvSpPr txBox="1"/>
          <p:nvPr/>
        </p:nvSpPr>
        <p:spPr>
          <a:xfrm>
            <a:off x="4581144" y="1874519"/>
            <a:ext cx="1645920" cy="822960"/>
          </a:xfrm>
          <a:prstGeom prst="rect">
            <a:avLst/>
          </a:prstGeom>
          <a:noFill/>
        </p:spPr>
        <p:txBody>
          <a:bodyPr wrap="square" lIns="0" tIns="0" rIns="0" bIns="0" anchor="ctr"/>
          <a:lstStyle/>
          <a:p>
            <a:pPr marL="0" indent="0" algn="ctr">
              <a:buNone/>
            </a:pPr>
            <a:r>
              <a:rPr sz="4000" b="1" i="0">
                <a:solidFill>
                  <a:srgbClr val="065CAB"/>
                </a:solidFill>
                <a:latin typeface="Arial" panose="020B0604020202020204" pitchFamily="34" charset="0"/>
                <a:cs typeface="Arial"/>
              </a:rPr>
              <a:t>2</a:t>
            </a:r>
          </a:p>
        </p:txBody>
      </p:sp>
      <p:sp>
        <p:nvSpPr>
          <p:cNvPr id="81" name="TextBox 80"/>
          <p:cNvSpPr txBox="1"/>
          <p:nvPr/>
        </p:nvSpPr>
        <p:spPr>
          <a:xfrm>
            <a:off x="4626864" y="2651760"/>
            <a:ext cx="1554480" cy="548640"/>
          </a:xfrm>
          <a:prstGeom prst="rect">
            <a:avLst/>
          </a:prstGeom>
          <a:noFill/>
        </p:spPr>
        <p:txBody>
          <a:bodyPr wrap="square" lIns="0" tIns="0" rIns="0" bIns="0" anchor="t"/>
          <a:lstStyle/>
          <a:p>
            <a:pPr marL="0" indent="0" algn="ctr">
              <a:lnSpc>
                <a:spcPct val="100000"/>
              </a:lnSpc>
              <a:buNone/>
            </a:pPr>
            <a:r>
              <a:rPr lang="ru-RU" i="0">
                <a:solidFill>
                  <a:srgbClr val="262626"/>
                </a:solidFill>
                <a:latin typeface="Arial" panose="020B0604020202020204" pitchFamily="34" charset="0"/>
                <a:cs typeface="Arial"/>
              </a:rPr>
              <a:t>прогноза</a:t>
            </a:r>
            <a:endParaRPr i="0">
              <a:solidFill>
                <a:srgbClr val="262626"/>
              </a:solidFill>
              <a:latin typeface="Arial" panose="020B0604020202020204" pitchFamily="34" charset="0"/>
              <a:cs typeface="Arial"/>
            </a:endParaRPr>
          </a:p>
        </p:txBody>
      </p:sp>
      <p:sp>
        <p:nvSpPr>
          <p:cNvPr id="82" name="TextBox 81"/>
          <p:cNvSpPr txBox="1"/>
          <p:nvPr/>
        </p:nvSpPr>
        <p:spPr>
          <a:xfrm>
            <a:off x="557784" y="3429000"/>
            <a:ext cx="5760720" cy="914400"/>
          </a:xfrm>
          <a:prstGeom prst="rect">
            <a:avLst/>
          </a:prstGeom>
          <a:noFill/>
        </p:spPr>
        <p:txBody>
          <a:bodyPr wrap="square" lIns="0" tIns="0" rIns="0" bIns="0" anchor="t"/>
          <a:lstStyle/>
          <a:p>
            <a:pPr marL="0" indent="0" algn="l">
              <a:lnSpc>
                <a:spcPct val="105000"/>
              </a:lnSpc>
              <a:buNone/>
            </a:pPr>
            <a:r>
              <a:rPr lang="ru-RU" sz="1500" i="0">
                <a:solidFill>
                  <a:srgbClr val="262626"/>
                </a:solidFill>
                <a:latin typeface="Arial" panose="020B0604020202020204" pitchFamily="34" charset="0"/>
                <a:cs typeface="Arial"/>
              </a:rPr>
              <a:t>Две прямые модели дают:
модуль упругости при растяжении
прочность при растяжении</a:t>
            </a:r>
            <a:endParaRPr sz="1500" i="0">
              <a:solidFill>
                <a:srgbClr val="595959"/>
              </a:solidFill>
              <a:latin typeface="Arial" panose="020B0604020202020204" pitchFamily="34" charset="0"/>
              <a:cs typeface="Arial"/>
            </a:endParaRPr>
          </a:p>
        </p:txBody>
      </p:sp>
      <p:cxnSp>
        <p:nvCxnSpPr>
          <p:cNvPr id="83" name="Connector 82"/>
          <p:cNvCxnSpPr/>
          <p:nvPr/>
        </p:nvCxnSpPr>
        <p:spPr>
          <a:xfrm>
            <a:off x="557784" y="4480560"/>
            <a:ext cx="0" cy="777240"/>
          </a:xfrm>
          <a:prstGeom prst="line">
            <a:avLst/>
          </a:prstGeom>
          <a:ln w="25400">
            <a:solidFill>
              <a:srgbClr val="065CAB"/>
            </a:solidFill>
          </a:ln>
        </p:spPr>
      </p:cxnSp>
      <p:cxnSp>
        <p:nvCxnSpPr>
          <p:cNvPr id="84" name="Connector 83"/>
          <p:cNvCxnSpPr/>
          <p:nvPr/>
        </p:nvCxnSpPr>
        <p:spPr>
          <a:xfrm>
            <a:off x="557784" y="4480560"/>
            <a:ext cx="457199" cy="0"/>
          </a:xfrm>
          <a:prstGeom prst="line">
            <a:avLst/>
          </a:prstGeom>
          <a:ln w="25400">
            <a:solidFill>
              <a:srgbClr val="065CAB"/>
            </a:solidFill>
          </a:ln>
        </p:spPr>
      </p:cxnSp>
      <p:cxnSp>
        <p:nvCxnSpPr>
          <p:cNvPr id="85" name="Connector 84"/>
          <p:cNvCxnSpPr/>
          <p:nvPr/>
        </p:nvCxnSpPr>
        <p:spPr>
          <a:xfrm>
            <a:off x="557784" y="5257800"/>
            <a:ext cx="457199" cy="0"/>
          </a:xfrm>
          <a:prstGeom prst="line">
            <a:avLst/>
          </a:prstGeom>
          <a:ln w="25400">
            <a:solidFill>
              <a:srgbClr val="065CAB"/>
            </a:solidFill>
          </a:ln>
        </p:spPr>
      </p:cxnSp>
      <p:sp>
        <p:nvSpPr>
          <p:cNvPr id="86" name="TextBox 85"/>
          <p:cNvSpPr txBox="1"/>
          <p:nvPr/>
        </p:nvSpPr>
        <p:spPr>
          <a:xfrm>
            <a:off x="813816" y="4553712"/>
            <a:ext cx="5504688" cy="630936"/>
          </a:xfrm>
          <a:prstGeom prst="rect">
            <a:avLst/>
          </a:prstGeom>
          <a:noFill/>
        </p:spPr>
        <p:txBody>
          <a:bodyPr wrap="square" lIns="0" tIns="0" rIns="0" bIns="0" anchor="ctr"/>
          <a:lstStyle/>
          <a:p>
            <a:pPr marL="0" indent="0" algn="l">
              <a:buNone/>
            </a:pPr>
            <a:r>
              <a:rPr lang="ru-RU" i="0">
                <a:solidFill>
                  <a:srgbClr val="262626"/>
                </a:solidFill>
                <a:latin typeface="Arial" panose="020B0604020202020204" pitchFamily="34" charset="0"/>
                <a:cs typeface="Arial"/>
              </a:rPr>
              <a:t>Демонстрационный профиль: 73,2073 ГПа и 2502,06 МПа</a:t>
            </a:r>
            <a:endParaRPr i="0">
              <a:solidFill>
                <a:srgbClr val="262626"/>
              </a:solidFill>
              <a:latin typeface="Arial" panose="020B0604020202020204" pitchFamily="34" charset="0"/>
              <a:cs typeface="Arial"/>
            </a:endParaRPr>
          </a:p>
        </p:txBody>
      </p:sp>
      <p:sp>
        <p:nvSpPr>
          <p:cNvPr id="87" name="TextBox 86"/>
          <p:cNvSpPr txBox="1"/>
          <p:nvPr/>
        </p:nvSpPr>
        <p:spPr>
          <a:xfrm>
            <a:off x="557784" y="5440680"/>
            <a:ext cx="5760720" cy="731520"/>
          </a:xfrm>
          <a:prstGeom prst="rect">
            <a:avLst/>
          </a:prstGeom>
          <a:noFill/>
        </p:spPr>
        <p:txBody>
          <a:bodyPr wrap="square" lIns="0" tIns="0" rIns="0" bIns="0" anchor="t"/>
          <a:lstStyle/>
          <a:p>
            <a:pPr marL="0" indent="0" algn="l">
              <a:lnSpc>
                <a:spcPct val="100000"/>
              </a:lnSpc>
              <a:buNone/>
            </a:pPr>
            <a:r>
              <a:rPr lang="ru-RU" b="1" i="0">
                <a:solidFill>
                  <a:srgbClr val="595959"/>
                </a:solidFill>
                <a:latin typeface="Arial" panose="020B0604020202020204" pitchFamily="34" charset="0"/>
                <a:cs typeface="Arial"/>
              </a:rPr>
              <a:t>Это расчёт моделей, а не лабораторное измерение нового образца</a:t>
            </a:r>
            <a:endParaRPr b="1" i="0">
              <a:solidFill>
                <a:srgbClr val="595959"/>
              </a:solidFill>
              <a:latin typeface="Arial" panose="020B0604020202020204" pitchFamily="34" charset="0"/>
              <a:cs typeface="Arial"/>
            </a:endParaRPr>
          </a:p>
        </p:txBody>
      </p:sp>
      <p:sp>
        <p:nvSpPr>
          <p:cNvPr id="88" name="Rectangle 87"/>
          <p:cNvSpPr/>
          <p:nvPr/>
        </p:nvSpPr>
        <p:spPr>
          <a:xfrm>
            <a:off x="6903720" y="1828800"/>
            <a:ext cx="4864608" cy="2743200"/>
          </a:xfrm>
          <a:prstGeom prst="rect">
            <a:avLst/>
          </a:prstGeom>
          <a:solidFill>
            <a:srgbClr val="F1BE29"/>
          </a:solidFill>
          <a:ln>
            <a:noFill/>
          </a:ln>
        </p:spPr>
        <p:txBody>
          <a:bodyPr rtlCol="0" anchor="ctr"/>
          <a:lstStyle/>
          <a:p>
            <a:pPr algn="ctr"/>
            <a:endParaRPr/>
          </a:p>
        </p:txBody>
      </p:sp>
      <p:sp>
        <p:nvSpPr>
          <p:cNvPr id="89" name="TextBox 88"/>
          <p:cNvSpPr txBox="1"/>
          <p:nvPr/>
        </p:nvSpPr>
        <p:spPr>
          <a:xfrm>
            <a:off x="7132320" y="1920240"/>
            <a:ext cx="4480560" cy="2560320"/>
          </a:xfrm>
          <a:prstGeom prst="rect">
            <a:avLst/>
          </a:prstGeom>
          <a:noFill/>
        </p:spPr>
        <p:txBody>
          <a:bodyPr wrap="square" lIns="0" tIns="0" rIns="0" bIns="0" anchor="ctr"/>
          <a:lstStyle/>
          <a:p>
            <a:pPr marL="0" indent="0" algn="l">
              <a:lnSpc>
                <a:spcPct val="105000"/>
              </a:lnSpc>
              <a:buNone/>
            </a:pPr>
            <a:r>
              <a:rPr lang="ru-RU" sz="1700" i="0">
                <a:solidFill>
                  <a:srgbClr val="262626"/>
                </a:solidFill>
                <a:latin typeface="Arial" panose="020B0604020202020204" pitchFamily="34" charset="0"/>
                <a:cs typeface="Arial"/>
              </a:rPr>
              <a:t>Репозиторий содержит
данные и код
зафиксированное разделение
модели и отчёты</a:t>
            </a:r>
            <a:endParaRPr sz="1700" i="0">
              <a:solidFill>
                <a:srgbClr val="262626"/>
              </a:solidFill>
              <a:latin typeface="Arial" panose="020B0604020202020204" pitchFamily="34" charset="0"/>
              <a:cs typeface="Arial"/>
            </a:endParaRPr>
          </a:p>
        </p:txBody>
      </p:sp>
      <p:sp>
        <p:nvSpPr>
          <p:cNvPr id="90" name="TextBox 89"/>
          <p:cNvSpPr txBox="1"/>
          <p:nvPr/>
        </p:nvSpPr>
        <p:spPr>
          <a:xfrm>
            <a:off x="6903720" y="4754880"/>
            <a:ext cx="4864608" cy="1097280"/>
          </a:xfrm>
          <a:prstGeom prst="rect">
            <a:avLst/>
          </a:prstGeom>
          <a:noFill/>
        </p:spPr>
        <p:txBody>
          <a:bodyPr wrap="square" lIns="0" tIns="0" rIns="0" bIns="0" anchor="t"/>
          <a:lstStyle/>
          <a:p>
            <a:pPr marL="0" indent="0" algn="l">
              <a:lnSpc>
                <a:spcPct val="105000"/>
              </a:lnSpc>
              <a:buNone/>
            </a:pPr>
            <a:r>
              <a:rPr sz="2000" b="0" i="0">
                <a:solidFill>
                  <a:srgbClr val="065CAB"/>
                </a:solidFill>
                <a:latin typeface="Arial" panose="020B0604020202020204" pitchFamily="34" charset="0"/>
                <a:cs typeface="Arial"/>
              </a:rPr>
              <a:t>github.com/fpvcstep/</a:t>
            </a:r>
          </a:p>
          <a:p>
            <a:pPr marL="0" indent="0" algn="l">
              <a:lnSpc>
                <a:spcPct val="105000"/>
              </a:lnSpc>
              <a:buNone/>
            </a:pPr>
            <a:r>
              <a:rPr sz="2000" b="1" i="0">
                <a:solidFill>
                  <a:srgbClr val="065CAB"/>
                </a:solidFill>
                <a:latin typeface="Arial" panose="020B0604020202020204" pitchFamily="34" charset="0"/>
                <a:cs typeface="Arial"/>
              </a:rPr>
              <a:t>composites-property-prediction</a:t>
            </a:r>
          </a:p>
        </p:txBody>
      </p:sp>
      <p:sp>
        <p:nvSpPr>
          <p:cNvPr id="91" name="Источник"/>
          <p:cNvSpPr txBox="1"/>
          <p:nvPr/>
        </p:nvSpPr>
        <p:spPr>
          <a:xfrm>
            <a:off x="960120" y="6336792"/>
            <a:ext cx="10808208" cy="365760"/>
          </a:xfrm>
          <a:prstGeom prst="rect">
            <a:avLst/>
          </a:prstGeom>
          <a:noFill/>
        </p:spPr>
        <p:txBody>
          <a:bodyPr wrap="square" lIns="0" tIns="0" rIns="0" bIns="0" anchor="ctr"/>
          <a:lstStyle/>
          <a:p>
            <a:pPr marL="0" indent="0" algn="l">
              <a:buNone/>
            </a:pPr>
            <a:r>
              <a:rPr lang="ru-RU" sz="1300" i="0">
                <a:solidFill>
                  <a:srgbClr val="595959"/>
                </a:solidFill>
                <a:latin typeface="Arial" panose="020B0604020202020204" pitchFamily="34" charset="0"/>
                <a:cs typeface="Arial"/>
              </a:rPr>
              <a:t>Источник: РПЗ, раздел о приложении и репозитории; docs/application.md</a:t>
            </a:r>
            <a:endParaRPr sz="1300" i="0">
              <a:solidFill>
                <a:srgbClr val="595959"/>
              </a:solidFill>
              <a:latin typeface="Arial" panose="020B0604020202020204" pitchFamily="34" charset="0"/>
              <a:cs typeface="Arial"/>
            </a:endParaRPr>
          </a:p>
        </p:txBody>
      </p:sp>
      <p:sp>
        <p:nvSpPr>
          <p:cNvPr id="2" name="Номер слайда 3">
            <a:extLst>
              <a:ext uri="{FF2B5EF4-FFF2-40B4-BE49-F238E27FC236}">
                <a16:creationId xmlns:a16="http://schemas.microsoft.com/office/drawing/2014/main" id="{06555008-558A-4705-ADA6-A99A535D9A1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ru-RU" smtClean="0">
                <a:cs typeface="Arial"/>
              </a:rPr>
              <a:t>14</a:t>
            </a:fld>
            <a:endParaRPr lang="ru-RU" dirty="0">
              <a:cs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2"/>
          </p:nvPr>
        </p:nvSpPr>
        <p:spPr>
          <a:xfrm>
            <a:off x="557784" y="1325880"/>
            <a:ext cx="7498079" cy="457200"/>
          </a:xfrm>
        </p:spPr>
        <p:txBody>
          <a:bodyPr wrap="square">
            <a:normAutofit/>
          </a:bodyPr>
          <a:lstStyle/>
          <a:p>
            <a:pPr marL="0" indent="0" algn="l">
              <a:buNone/>
            </a:pPr>
            <a:r>
              <a:rPr lang="ru-RU" sz="1800" b="1" i="0">
                <a:solidFill>
                  <a:srgbClr val="F1BE29"/>
                </a:solidFill>
                <a:cs typeface="Arial"/>
              </a:rPr>
              <a:t>Полный процесс реализован, но качество прогнозов остаётся слабым</a:t>
            </a:r>
            <a:endParaRPr sz="1800" b="1" i="0">
              <a:solidFill>
                <a:srgbClr val="F1BE29"/>
              </a:solidFill>
              <a:cs typeface="Arial"/>
            </a:endParaRPr>
          </a:p>
        </p:txBody>
      </p:sp>
      <p:grpSp>
        <p:nvGrpSpPr>
          <p:cNvPr id="65" name="Заголовок слайда">
            <a:extLst>
              <a:ext uri="{FF2B5EF4-FFF2-40B4-BE49-F238E27FC236}">
                <a16:creationId xmlns:a16="http://schemas.microsoft.com/office/drawing/2014/main" id="{9280711C-2262-4089-92EE-9BEACCC60C4C}"/>
              </a:ext>
            </a:extLst>
          </p:cNvPr>
          <p:cNvGrpSpPr/>
          <p:nvPr/>
        </p:nvGrpSpPr>
        <p:grpSpPr>
          <a:xfrm>
            <a:off x="3167880" y="469293"/>
            <a:ext cx="2584513" cy="666000"/>
            <a:chOff x="0" y="0"/>
            <a:chExt cx="2584513" cy="666000"/>
          </a:xfrm>
        </p:grpSpPr>
        <p:sp>
          <p:nvSpPr>
            <p:cNvPr id="68" name="Прямоугольник 67">
              <a:extLst>
                <a:ext uri="{FF2B5EF4-FFF2-40B4-BE49-F238E27FC236}">
                  <a16:creationId xmlns:a16="http://schemas.microsoft.com/office/drawing/2014/main" id="{E2535886-3476-4B40-9706-6797B77905C0}"/>
                </a:ext>
              </a:extLst>
            </p:cNvPr>
            <p:cNvSpPr/>
            <p:nvPr/>
          </p:nvSpPr>
          <p:spPr>
            <a:xfrm>
              <a:off x="0" y="0"/>
              <a:ext cx="2584513" cy="666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201168" tIns="0" rIns="201168" bIns="0" rtlCol="0" anchor="ctr"/>
            <a:lstStyle/>
            <a:p>
              <a:pPr algn="l"/>
              <a:r>
                <a:rPr lang="ru-RU" sz="2600" b="1" spc="0">
                  <a:solidFill>
                    <a:srgbClr val="065CAB"/>
                  </a:solidFill>
                  <a:latin typeface="Arial" panose="020B0604020202020204" pitchFamily="34" charset="0"/>
                  <a:cs typeface="Arial" pitchFamily="2" charset="0"/>
                </a:rPr>
                <a:t>Итоги работы</a:t>
              </a:r>
              <a:endParaRPr lang="ru-RU" sz="2600" b="1" spc="0" dirty="0">
                <a:solidFill>
                  <a:srgbClr val="065CAB"/>
                </a:solidFill>
                <a:latin typeface="Arial" panose="020B0604020202020204" pitchFamily="34" charset="0"/>
                <a:cs typeface="Arial" pitchFamily="2" charset="0"/>
              </a:endParaRPr>
            </a:p>
          </p:txBody>
        </p:sp>
        <p:sp>
          <p:nvSpPr>
            <p:cNvPr id="69" name="Прямоугольник 58">
              <a:extLst>
                <a:ext uri="{FF2B5EF4-FFF2-40B4-BE49-F238E27FC236}">
                  <a16:creationId xmlns:a16="http://schemas.microsoft.com/office/drawing/2014/main" id="{96789138-2397-49AA-BF3A-A6B5B90E8840}"/>
                </a:ext>
              </a:extLst>
            </p:cNvPr>
            <p:cNvSpPr/>
            <p:nvPr/>
          </p:nvSpPr>
          <p:spPr>
            <a:xfrm rot="10800000" flipH="1">
              <a:off x="0" y="0"/>
              <a:ext cx="76579" cy="666000"/>
            </a:xfrm>
            <a:custGeom>
              <a:avLst/>
              <a:gdLst>
                <a:gd name="connsiteX0" fmla="*/ 0 w 424732"/>
                <a:gd name="connsiteY0" fmla="*/ 0 h 424732"/>
                <a:gd name="connsiteX1" fmla="*/ 424732 w 424732"/>
                <a:gd name="connsiteY1" fmla="*/ 0 h 424732"/>
                <a:gd name="connsiteX2" fmla="*/ 424732 w 424732"/>
                <a:gd name="connsiteY2" fmla="*/ 424732 h 424732"/>
                <a:gd name="connsiteX3" fmla="*/ 0 w 424732"/>
                <a:gd name="connsiteY3" fmla="*/ 424732 h 424732"/>
                <a:gd name="connsiteX4" fmla="*/ 0 w 424732"/>
                <a:gd name="connsiteY4" fmla="*/ 0 h 424732"/>
                <a:gd name="connsiteX0" fmla="*/ 0 w 425450"/>
                <a:gd name="connsiteY0" fmla="*/ 0 h 424732"/>
                <a:gd name="connsiteX1" fmla="*/ 424732 w 425450"/>
                <a:gd name="connsiteY1" fmla="*/ 0 h 424732"/>
                <a:gd name="connsiteX2" fmla="*/ 425450 w 425450"/>
                <a:gd name="connsiteY2" fmla="*/ 238890 h 424732"/>
                <a:gd name="connsiteX3" fmla="*/ 424732 w 425450"/>
                <a:gd name="connsiteY3" fmla="*/ 424732 h 424732"/>
                <a:gd name="connsiteX4" fmla="*/ 0 w 425450"/>
                <a:gd name="connsiteY4" fmla="*/ 424732 h 424732"/>
                <a:gd name="connsiteX5" fmla="*/ 0 w 425450"/>
                <a:gd name="connsiteY5" fmla="*/ 0 h 424732"/>
                <a:gd name="connsiteX0" fmla="*/ 425450 w 516890"/>
                <a:gd name="connsiteY0" fmla="*/ 238890 h 424732"/>
                <a:gd name="connsiteX1" fmla="*/ 424732 w 516890"/>
                <a:gd name="connsiteY1" fmla="*/ 424732 h 424732"/>
                <a:gd name="connsiteX2" fmla="*/ 0 w 516890"/>
                <a:gd name="connsiteY2" fmla="*/ 424732 h 424732"/>
                <a:gd name="connsiteX3" fmla="*/ 0 w 516890"/>
                <a:gd name="connsiteY3" fmla="*/ 0 h 424732"/>
                <a:gd name="connsiteX4" fmla="*/ 424732 w 516890"/>
                <a:gd name="connsiteY4" fmla="*/ 0 h 424732"/>
                <a:gd name="connsiteX5" fmla="*/ 516890 w 516890"/>
                <a:gd name="connsiteY5" fmla="*/ 330330 h 424732"/>
                <a:gd name="connsiteX0" fmla="*/ 424732 w 516890"/>
                <a:gd name="connsiteY0" fmla="*/ 424732 h 424732"/>
                <a:gd name="connsiteX1" fmla="*/ 0 w 516890"/>
                <a:gd name="connsiteY1" fmla="*/ 424732 h 424732"/>
                <a:gd name="connsiteX2" fmla="*/ 0 w 516890"/>
                <a:gd name="connsiteY2" fmla="*/ 0 h 424732"/>
                <a:gd name="connsiteX3" fmla="*/ 424732 w 516890"/>
                <a:gd name="connsiteY3" fmla="*/ 0 h 424732"/>
                <a:gd name="connsiteX4" fmla="*/ 516890 w 516890"/>
                <a:gd name="connsiteY4" fmla="*/ 330330 h 424732"/>
                <a:gd name="connsiteX0" fmla="*/ 424732 w 424732"/>
                <a:gd name="connsiteY0" fmla="*/ 424732 h 424732"/>
                <a:gd name="connsiteX1" fmla="*/ 0 w 424732"/>
                <a:gd name="connsiteY1" fmla="*/ 424732 h 424732"/>
                <a:gd name="connsiteX2" fmla="*/ 0 w 424732"/>
                <a:gd name="connsiteY2" fmla="*/ 0 h 424732"/>
                <a:gd name="connsiteX3" fmla="*/ 424732 w 424732"/>
                <a:gd name="connsiteY3" fmla="*/ 0 h 424732"/>
              </a:gdLst>
              <a:ahLst/>
              <a:cxnLst>
                <a:cxn ang="0">
                  <a:pos x="connsiteX0" y="connsiteY0"/>
                </a:cxn>
                <a:cxn ang="0">
                  <a:pos x="connsiteX1" y="connsiteY1"/>
                </a:cxn>
                <a:cxn ang="0">
                  <a:pos x="connsiteX2" y="connsiteY2"/>
                </a:cxn>
                <a:cxn ang="0">
                  <a:pos x="connsiteX3" y="connsiteY3"/>
                </a:cxn>
              </a:cxnLst>
              <a:rect l="l" t="t" r="r" b="b"/>
              <a:pathLst>
                <a:path w="424732" h="424732">
                  <a:moveTo>
                    <a:pt x="424732" y="424732"/>
                  </a:moveTo>
                  <a:lnTo>
                    <a:pt x="0" y="424732"/>
                  </a:lnTo>
                  <a:lnTo>
                    <a:pt x="0" y="0"/>
                  </a:lnTo>
                  <a:lnTo>
                    <a:pt x="424732" y="0"/>
                  </a:lnTo>
                </a:path>
              </a:pathLst>
            </a:custGeom>
            <a:ln w="16510">
              <a:solidFill>
                <a:srgbClr val="065CA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latin typeface="Arial" pitchFamily="2" charset="0"/>
              </a:endParaRPr>
            </a:p>
          </p:txBody>
        </p:sp>
        <p:sp>
          <p:nvSpPr>
            <p:cNvPr id="70" name="Прямоугольник 58">
              <a:extLst>
                <a:ext uri="{FF2B5EF4-FFF2-40B4-BE49-F238E27FC236}">
                  <a16:creationId xmlns:a16="http://schemas.microsoft.com/office/drawing/2014/main" id="{DA239952-60E1-45EB-BDF0-422CC4CF7E42}"/>
                </a:ext>
              </a:extLst>
            </p:cNvPr>
            <p:cNvSpPr/>
            <p:nvPr/>
          </p:nvSpPr>
          <p:spPr>
            <a:xfrm flipH="1">
              <a:off x="2494464" y="0"/>
              <a:ext cx="90049" cy="666000"/>
            </a:xfrm>
            <a:custGeom>
              <a:avLst/>
              <a:gdLst>
                <a:gd name="connsiteX0" fmla="*/ 0 w 424732"/>
                <a:gd name="connsiteY0" fmla="*/ 0 h 424732"/>
                <a:gd name="connsiteX1" fmla="*/ 424732 w 424732"/>
                <a:gd name="connsiteY1" fmla="*/ 0 h 424732"/>
                <a:gd name="connsiteX2" fmla="*/ 424732 w 424732"/>
                <a:gd name="connsiteY2" fmla="*/ 424732 h 424732"/>
                <a:gd name="connsiteX3" fmla="*/ 0 w 424732"/>
                <a:gd name="connsiteY3" fmla="*/ 424732 h 424732"/>
                <a:gd name="connsiteX4" fmla="*/ 0 w 424732"/>
                <a:gd name="connsiteY4" fmla="*/ 0 h 424732"/>
                <a:gd name="connsiteX0" fmla="*/ 0 w 425450"/>
                <a:gd name="connsiteY0" fmla="*/ 0 h 424732"/>
                <a:gd name="connsiteX1" fmla="*/ 424732 w 425450"/>
                <a:gd name="connsiteY1" fmla="*/ 0 h 424732"/>
                <a:gd name="connsiteX2" fmla="*/ 425450 w 425450"/>
                <a:gd name="connsiteY2" fmla="*/ 238890 h 424732"/>
                <a:gd name="connsiteX3" fmla="*/ 424732 w 425450"/>
                <a:gd name="connsiteY3" fmla="*/ 424732 h 424732"/>
                <a:gd name="connsiteX4" fmla="*/ 0 w 425450"/>
                <a:gd name="connsiteY4" fmla="*/ 424732 h 424732"/>
                <a:gd name="connsiteX5" fmla="*/ 0 w 425450"/>
                <a:gd name="connsiteY5" fmla="*/ 0 h 424732"/>
                <a:gd name="connsiteX0" fmla="*/ 425450 w 516890"/>
                <a:gd name="connsiteY0" fmla="*/ 238890 h 424732"/>
                <a:gd name="connsiteX1" fmla="*/ 424732 w 516890"/>
                <a:gd name="connsiteY1" fmla="*/ 424732 h 424732"/>
                <a:gd name="connsiteX2" fmla="*/ 0 w 516890"/>
                <a:gd name="connsiteY2" fmla="*/ 424732 h 424732"/>
                <a:gd name="connsiteX3" fmla="*/ 0 w 516890"/>
                <a:gd name="connsiteY3" fmla="*/ 0 h 424732"/>
                <a:gd name="connsiteX4" fmla="*/ 424732 w 516890"/>
                <a:gd name="connsiteY4" fmla="*/ 0 h 424732"/>
                <a:gd name="connsiteX5" fmla="*/ 516890 w 516890"/>
                <a:gd name="connsiteY5" fmla="*/ 330330 h 424732"/>
                <a:gd name="connsiteX0" fmla="*/ 424732 w 516890"/>
                <a:gd name="connsiteY0" fmla="*/ 424732 h 424732"/>
                <a:gd name="connsiteX1" fmla="*/ 0 w 516890"/>
                <a:gd name="connsiteY1" fmla="*/ 424732 h 424732"/>
                <a:gd name="connsiteX2" fmla="*/ 0 w 516890"/>
                <a:gd name="connsiteY2" fmla="*/ 0 h 424732"/>
                <a:gd name="connsiteX3" fmla="*/ 424732 w 516890"/>
                <a:gd name="connsiteY3" fmla="*/ 0 h 424732"/>
                <a:gd name="connsiteX4" fmla="*/ 516890 w 516890"/>
                <a:gd name="connsiteY4" fmla="*/ 330330 h 424732"/>
                <a:gd name="connsiteX0" fmla="*/ 424732 w 424732"/>
                <a:gd name="connsiteY0" fmla="*/ 424732 h 424732"/>
                <a:gd name="connsiteX1" fmla="*/ 0 w 424732"/>
                <a:gd name="connsiteY1" fmla="*/ 424732 h 424732"/>
                <a:gd name="connsiteX2" fmla="*/ 0 w 424732"/>
                <a:gd name="connsiteY2" fmla="*/ 0 h 424732"/>
                <a:gd name="connsiteX3" fmla="*/ 424732 w 424732"/>
                <a:gd name="connsiteY3" fmla="*/ 0 h 424732"/>
              </a:gdLst>
              <a:ahLst/>
              <a:cxnLst>
                <a:cxn ang="0">
                  <a:pos x="connsiteX0" y="connsiteY0"/>
                </a:cxn>
                <a:cxn ang="0">
                  <a:pos x="connsiteX1" y="connsiteY1"/>
                </a:cxn>
                <a:cxn ang="0">
                  <a:pos x="connsiteX2" y="connsiteY2"/>
                </a:cxn>
                <a:cxn ang="0">
                  <a:pos x="connsiteX3" y="connsiteY3"/>
                </a:cxn>
              </a:cxnLst>
              <a:rect l="l" t="t" r="r" b="b"/>
              <a:pathLst>
                <a:path w="424732" h="424732">
                  <a:moveTo>
                    <a:pt x="424732" y="424732"/>
                  </a:moveTo>
                  <a:lnTo>
                    <a:pt x="0" y="424732"/>
                  </a:lnTo>
                  <a:lnTo>
                    <a:pt x="0" y="0"/>
                  </a:lnTo>
                  <a:lnTo>
                    <a:pt x="424732" y="0"/>
                  </a:lnTo>
                </a:path>
              </a:pathLst>
            </a:custGeom>
            <a:ln w="16510">
              <a:solidFill>
                <a:srgbClr val="0046A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solidFill>
                  <a:srgbClr val="065CAB"/>
                </a:solidFill>
                <a:latin typeface="Arial" pitchFamily="2" charset="0"/>
              </a:endParaRPr>
            </a:p>
          </p:txBody>
        </p:sp>
      </p:grpSp>
      <p:sp>
        <p:nvSpPr>
          <p:cNvPr id="71" name="TextBox 70"/>
          <p:cNvSpPr txBox="1"/>
          <p:nvPr/>
        </p:nvSpPr>
        <p:spPr>
          <a:xfrm>
            <a:off x="6309360" y="1874519"/>
            <a:ext cx="1600200" cy="365760"/>
          </a:xfrm>
          <a:prstGeom prst="rect">
            <a:avLst/>
          </a:prstGeom>
          <a:noFill/>
        </p:spPr>
        <p:txBody>
          <a:bodyPr wrap="square" lIns="0" tIns="0" rIns="0" bIns="0" anchor="t"/>
          <a:lstStyle/>
          <a:p>
            <a:pPr marL="0" indent="0" algn="r">
              <a:buNone/>
            </a:pPr>
            <a:r>
              <a:rPr lang="en-US" sz="1300" i="0">
                <a:solidFill>
                  <a:srgbClr val="595959"/>
                </a:solidFill>
                <a:latin typeface="Arial" panose="020B0604020202020204" pitchFamily="34" charset="0"/>
                <a:cs typeface="Arial"/>
              </a:rPr>
              <a:t>R² </a:t>
            </a:r>
            <a:r>
              <a:rPr lang="ru-RU" sz="1300" i="0">
                <a:solidFill>
                  <a:srgbClr val="595959"/>
                </a:solidFill>
                <a:latin typeface="Arial" panose="020B0604020202020204" pitchFamily="34" charset="0"/>
                <a:cs typeface="Arial"/>
              </a:rPr>
              <a:t>на итоговой проверке</a:t>
            </a:r>
            <a:endParaRPr sz="1300" i="0">
              <a:solidFill>
                <a:srgbClr val="595959"/>
              </a:solidFill>
              <a:latin typeface="Arial" panose="020B0604020202020204" pitchFamily="34" charset="0"/>
              <a:cs typeface="Arial"/>
            </a:endParaRPr>
          </a:p>
        </p:txBody>
      </p:sp>
      <p:cxnSp>
        <p:nvCxnSpPr>
          <p:cNvPr id="72" name="Connector 71"/>
          <p:cNvCxnSpPr/>
          <p:nvPr/>
        </p:nvCxnSpPr>
        <p:spPr>
          <a:xfrm>
            <a:off x="557784" y="2240280"/>
            <a:ext cx="0" cy="868680"/>
          </a:xfrm>
          <a:prstGeom prst="line">
            <a:avLst/>
          </a:prstGeom>
          <a:ln w="28575">
            <a:solidFill>
              <a:srgbClr val="065CAB"/>
            </a:solidFill>
          </a:ln>
        </p:spPr>
      </p:cxnSp>
      <p:cxnSp>
        <p:nvCxnSpPr>
          <p:cNvPr id="73" name="Connector 72"/>
          <p:cNvCxnSpPr/>
          <p:nvPr/>
        </p:nvCxnSpPr>
        <p:spPr>
          <a:xfrm>
            <a:off x="557784" y="2240280"/>
            <a:ext cx="384048" cy="0"/>
          </a:xfrm>
          <a:prstGeom prst="line">
            <a:avLst/>
          </a:prstGeom>
          <a:ln w="28575">
            <a:solidFill>
              <a:srgbClr val="065CAB"/>
            </a:solidFill>
          </a:ln>
        </p:spPr>
      </p:cxnSp>
      <p:cxnSp>
        <p:nvCxnSpPr>
          <p:cNvPr id="74" name="Connector 73"/>
          <p:cNvCxnSpPr/>
          <p:nvPr/>
        </p:nvCxnSpPr>
        <p:spPr>
          <a:xfrm>
            <a:off x="557784" y="3108960"/>
            <a:ext cx="384048" cy="0"/>
          </a:xfrm>
          <a:prstGeom prst="line">
            <a:avLst/>
          </a:prstGeom>
          <a:ln w="28575">
            <a:solidFill>
              <a:srgbClr val="065CAB"/>
            </a:solidFill>
          </a:ln>
        </p:spPr>
      </p:cxnSp>
      <p:sp>
        <p:nvSpPr>
          <p:cNvPr id="75" name="TextBox 74"/>
          <p:cNvSpPr txBox="1"/>
          <p:nvPr/>
        </p:nvSpPr>
        <p:spPr>
          <a:xfrm>
            <a:off x="713232" y="2258568"/>
            <a:ext cx="548640" cy="731520"/>
          </a:xfrm>
          <a:prstGeom prst="rect">
            <a:avLst/>
          </a:prstGeom>
          <a:noFill/>
        </p:spPr>
        <p:txBody>
          <a:bodyPr wrap="square" lIns="0" tIns="0" rIns="0" bIns="0" anchor="t"/>
          <a:lstStyle/>
          <a:p>
            <a:pPr marL="0" indent="0" algn="l">
              <a:buNone/>
            </a:pPr>
            <a:r>
              <a:rPr sz="3600" b="1" i="0">
                <a:solidFill>
                  <a:srgbClr val="065CAB"/>
                </a:solidFill>
                <a:latin typeface="Arial" panose="020B0604020202020204" pitchFamily="34" charset="0"/>
                <a:cs typeface="Arial"/>
              </a:rPr>
              <a:t>1</a:t>
            </a:r>
          </a:p>
        </p:txBody>
      </p:sp>
      <p:sp>
        <p:nvSpPr>
          <p:cNvPr id="76" name="TextBox 75"/>
          <p:cNvSpPr txBox="1"/>
          <p:nvPr/>
        </p:nvSpPr>
        <p:spPr>
          <a:xfrm>
            <a:off x="1417320" y="2258568"/>
            <a:ext cx="4754880" cy="868680"/>
          </a:xfrm>
          <a:prstGeom prst="rect">
            <a:avLst/>
          </a:prstGeom>
          <a:noFill/>
        </p:spPr>
        <p:txBody>
          <a:bodyPr wrap="square" lIns="0" tIns="0" rIns="0" bIns="0" anchor="t"/>
          <a:lstStyle/>
          <a:p>
            <a:pPr marL="0" indent="0" algn="l">
              <a:lnSpc>
                <a:spcPct val="100000"/>
              </a:lnSpc>
              <a:buNone/>
            </a:pPr>
            <a:r>
              <a:rPr lang="ru-RU" sz="1600" i="0">
                <a:solidFill>
                  <a:srgbClr val="262626"/>
                </a:solidFill>
                <a:latin typeface="Arial" panose="020B0604020202020204" pitchFamily="34" charset="0"/>
                <a:cs typeface="Arial"/>
              </a:rPr>
              <a:t>Модуль упругости
лучше прогноз среднего</a:t>
            </a:r>
            <a:endParaRPr sz="1600" i="0">
              <a:solidFill>
                <a:srgbClr val="595959"/>
              </a:solidFill>
              <a:latin typeface="Arial" panose="020B0604020202020204" pitchFamily="34" charset="0"/>
              <a:cs typeface="Arial"/>
            </a:endParaRPr>
          </a:p>
        </p:txBody>
      </p:sp>
      <p:sp>
        <p:nvSpPr>
          <p:cNvPr id="77" name="TextBox 76"/>
          <p:cNvSpPr txBox="1"/>
          <p:nvPr/>
        </p:nvSpPr>
        <p:spPr>
          <a:xfrm>
            <a:off x="6126480" y="2240280"/>
            <a:ext cx="1783080" cy="868680"/>
          </a:xfrm>
          <a:prstGeom prst="rect">
            <a:avLst/>
          </a:prstGeom>
          <a:noFill/>
        </p:spPr>
        <p:txBody>
          <a:bodyPr wrap="square" lIns="0" tIns="0" rIns="0" bIns="0" anchor="ctr"/>
          <a:lstStyle/>
          <a:p>
            <a:pPr marL="0" indent="0" algn="r">
              <a:buNone/>
            </a:pPr>
            <a:r>
              <a:rPr sz="3400" b="1" i="0">
                <a:solidFill>
                  <a:srgbClr val="065CAB"/>
                </a:solidFill>
                <a:latin typeface="Arial" panose="020B0604020202020204" pitchFamily="34" charset="0"/>
                <a:cs typeface="Arial"/>
              </a:rPr>
              <a:t>−0,016</a:t>
            </a:r>
          </a:p>
        </p:txBody>
      </p:sp>
      <p:cxnSp>
        <p:nvCxnSpPr>
          <p:cNvPr id="78" name="Connector 77"/>
          <p:cNvCxnSpPr/>
          <p:nvPr/>
        </p:nvCxnSpPr>
        <p:spPr>
          <a:xfrm>
            <a:off x="557784" y="3429000"/>
            <a:ext cx="0" cy="868680"/>
          </a:xfrm>
          <a:prstGeom prst="line">
            <a:avLst/>
          </a:prstGeom>
          <a:ln w="28575">
            <a:solidFill>
              <a:srgbClr val="065CAB"/>
            </a:solidFill>
          </a:ln>
        </p:spPr>
      </p:cxnSp>
      <p:cxnSp>
        <p:nvCxnSpPr>
          <p:cNvPr id="79" name="Connector 78"/>
          <p:cNvCxnSpPr/>
          <p:nvPr/>
        </p:nvCxnSpPr>
        <p:spPr>
          <a:xfrm>
            <a:off x="557784" y="3429000"/>
            <a:ext cx="384048" cy="0"/>
          </a:xfrm>
          <a:prstGeom prst="line">
            <a:avLst/>
          </a:prstGeom>
          <a:ln w="28575">
            <a:solidFill>
              <a:srgbClr val="065CAB"/>
            </a:solidFill>
          </a:ln>
        </p:spPr>
      </p:cxnSp>
      <p:cxnSp>
        <p:nvCxnSpPr>
          <p:cNvPr id="80" name="Connector 79"/>
          <p:cNvCxnSpPr/>
          <p:nvPr/>
        </p:nvCxnSpPr>
        <p:spPr>
          <a:xfrm>
            <a:off x="557784" y="4297680"/>
            <a:ext cx="384048" cy="0"/>
          </a:xfrm>
          <a:prstGeom prst="line">
            <a:avLst/>
          </a:prstGeom>
          <a:ln w="28575">
            <a:solidFill>
              <a:srgbClr val="065CAB"/>
            </a:solidFill>
          </a:ln>
        </p:spPr>
      </p:cxnSp>
      <p:sp>
        <p:nvSpPr>
          <p:cNvPr id="81" name="TextBox 80"/>
          <p:cNvSpPr txBox="1"/>
          <p:nvPr/>
        </p:nvSpPr>
        <p:spPr>
          <a:xfrm>
            <a:off x="713232" y="3447288"/>
            <a:ext cx="548640" cy="731520"/>
          </a:xfrm>
          <a:prstGeom prst="rect">
            <a:avLst/>
          </a:prstGeom>
          <a:noFill/>
        </p:spPr>
        <p:txBody>
          <a:bodyPr wrap="square" lIns="0" tIns="0" rIns="0" bIns="0" anchor="t"/>
          <a:lstStyle/>
          <a:p>
            <a:pPr marL="0" indent="0" algn="l">
              <a:buNone/>
            </a:pPr>
            <a:r>
              <a:rPr sz="3600" b="1" i="0">
                <a:solidFill>
                  <a:srgbClr val="065CAB"/>
                </a:solidFill>
                <a:latin typeface="Arial" panose="020B0604020202020204" pitchFamily="34" charset="0"/>
                <a:cs typeface="Arial"/>
              </a:rPr>
              <a:t>2</a:t>
            </a:r>
          </a:p>
        </p:txBody>
      </p:sp>
      <p:sp>
        <p:nvSpPr>
          <p:cNvPr id="82" name="TextBox 81"/>
          <p:cNvSpPr txBox="1"/>
          <p:nvPr/>
        </p:nvSpPr>
        <p:spPr>
          <a:xfrm>
            <a:off x="1417320" y="3447288"/>
            <a:ext cx="4754880" cy="868680"/>
          </a:xfrm>
          <a:prstGeom prst="rect">
            <a:avLst/>
          </a:prstGeom>
          <a:noFill/>
        </p:spPr>
        <p:txBody>
          <a:bodyPr wrap="square" lIns="0" tIns="0" rIns="0" bIns="0" anchor="t"/>
          <a:lstStyle/>
          <a:p>
            <a:pPr marL="0" indent="0" algn="l">
              <a:lnSpc>
                <a:spcPct val="100000"/>
              </a:lnSpc>
              <a:buNone/>
            </a:pPr>
            <a:r>
              <a:rPr lang="ru-RU" sz="1600" i="0">
                <a:solidFill>
                  <a:srgbClr val="262626"/>
                </a:solidFill>
                <a:latin typeface="Arial" panose="020B0604020202020204" pitchFamily="34" charset="0"/>
                <a:cs typeface="Arial"/>
              </a:rPr>
              <a:t>Прочность
бустинг почти равен среднему</a:t>
            </a:r>
            <a:endParaRPr sz="1600" i="0">
              <a:solidFill>
                <a:srgbClr val="595959"/>
              </a:solidFill>
              <a:latin typeface="Arial" panose="020B0604020202020204" pitchFamily="34" charset="0"/>
              <a:cs typeface="Arial"/>
            </a:endParaRPr>
          </a:p>
        </p:txBody>
      </p:sp>
      <p:sp>
        <p:nvSpPr>
          <p:cNvPr id="83" name="TextBox 82"/>
          <p:cNvSpPr txBox="1"/>
          <p:nvPr/>
        </p:nvSpPr>
        <p:spPr>
          <a:xfrm>
            <a:off x="6126480" y="3429000"/>
            <a:ext cx="1783080" cy="868680"/>
          </a:xfrm>
          <a:prstGeom prst="rect">
            <a:avLst/>
          </a:prstGeom>
          <a:noFill/>
        </p:spPr>
        <p:txBody>
          <a:bodyPr wrap="square" lIns="0" tIns="0" rIns="0" bIns="0" anchor="ctr"/>
          <a:lstStyle/>
          <a:p>
            <a:pPr marL="0" indent="0" algn="r">
              <a:buNone/>
            </a:pPr>
            <a:r>
              <a:rPr sz="3400" b="1" i="0">
                <a:solidFill>
                  <a:srgbClr val="065CAB"/>
                </a:solidFill>
                <a:latin typeface="Arial" panose="020B0604020202020204" pitchFamily="34" charset="0"/>
                <a:cs typeface="Arial"/>
              </a:rPr>
              <a:t>0,008</a:t>
            </a:r>
          </a:p>
        </p:txBody>
      </p:sp>
      <p:cxnSp>
        <p:nvCxnSpPr>
          <p:cNvPr id="84" name="Connector 83"/>
          <p:cNvCxnSpPr/>
          <p:nvPr/>
        </p:nvCxnSpPr>
        <p:spPr>
          <a:xfrm>
            <a:off x="557784" y="4617720"/>
            <a:ext cx="0" cy="868680"/>
          </a:xfrm>
          <a:prstGeom prst="line">
            <a:avLst/>
          </a:prstGeom>
          <a:ln w="28575">
            <a:solidFill>
              <a:srgbClr val="065CAB"/>
            </a:solidFill>
          </a:ln>
        </p:spPr>
      </p:cxnSp>
      <p:cxnSp>
        <p:nvCxnSpPr>
          <p:cNvPr id="85" name="Connector 84"/>
          <p:cNvCxnSpPr/>
          <p:nvPr/>
        </p:nvCxnSpPr>
        <p:spPr>
          <a:xfrm>
            <a:off x="557784" y="4617720"/>
            <a:ext cx="384048" cy="0"/>
          </a:xfrm>
          <a:prstGeom prst="line">
            <a:avLst/>
          </a:prstGeom>
          <a:ln w="28575">
            <a:solidFill>
              <a:srgbClr val="065CAB"/>
            </a:solidFill>
          </a:ln>
        </p:spPr>
      </p:cxnSp>
      <p:cxnSp>
        <p:nvCxnSpPr>
          <p:cNvPr id="86" name="Connector 85"/>
          <p:cNvCxnSpPr/>
          <p:nvPr/>
        </p:nvCxnSpPr>
        <p:spPr>
          <a:xfrm>
            <a:off x="557784" y="5486400"/>
            <a:ext cx="384048" cy="0"/>
          </a:xfrm>
          <a:prstGeom prst="line">
            <a:avLst/>
          </a:prstGeom>
          <a:ln w="28575">
            <a:solidFill>
              <a:srgbClr val="065CAB"/>
            </a:solidFill>
          </a:ln>
        </p:spPr>
      </p:cxnSp>
      <p:sp>
        <p:nvSpPr>
          <p:cNvPr id="87" name="TextBox 86"/>
          <p:cNvSpPr txBox="1"/>
          <p:nvPr/>
        </p:nvSpPr>
        <p:spPr>
          <a:xfrm>
            <a:off x="713232" y="4636008"/>
            <a:ext cx="548640" cy="731520"/>
          </a:xfrm>
          <a:prstGeom prst="rect">
            <a:avLst/>
          </a:prstGeom>
          <a:noFill/>
        </p:spPr>
        <p:txBody>
          <a:bodyPr wrap="square" lIns="0" tIns="0" rIns="0" bIns="0" anchor="t"/>
          <a:lstStyle/>
          <a:p>
            <a:pPr marL="0" indent="0" algn="l">
              <a:buNone/>
            </a:pPr>
            <a:r>
              <a:rPr sz="3600" b="1" i="0">
                <a:solidFill>
                  <a:srgbClr val="065CAB"/>
                </a:solidFill>
                <a:latin typeface="Arial" panose="020B0604020202020204" pitchFamily="34" charset="0"/>
                <a:cs typeface="Arial"/>
              </a:rPr>
              <a:t>3</a:t>
            </a:r>
          </a:p>
        </p:txBody>
      </p:sp>
      <p:sp>
        <p:nvSpPr>
          <p:cNvPr id="88" name="TextBox 87"/>
          <p:cNvSpPr txBox="1"/>
          <p:nvPr/>
        </p:nvSpPr>
        <p:spPr>
          <a:xfrm>
            <a:off x="1417320" y="4636008"/>
            <a:ext cx="4754880" cy="868680"/>
          </a:xfrm>
          <a:prstGeom prst="rect">
            <a:avLst/>
          </a:prstGeom>
          <a:noFill/>
        </p:spPr>
        <p:txBody>
          <a:bodyPr wrap="square" lIns="0" tIns="0" rIns="0" bIns="0" anchor="t"/>
          <a:lstStyle/>
          <a:p>
            <a:pPr marL="0" indent="0" algn="l">
              <a:lnSpc>
                <a:spcPct val="100000"/>
              </a:lnSpc>
              <a:buNone/>
            </a:pPr>
            <a:r>
              <a:rPr lang="ru-RU" sz="1600" i="0">
                <a:solidFill>
                  <a:srgbClr val="262626"/>
                </a:solidFill>
                <a:latin typeface="Arial" panose="020B0604020202020204" pitchFamily="34" charset="0"/>
                <a:cs typeface="Arial"/>
              </a:rPr>
              <a:t>Отношение компонентов
нейросеть хуже среднего</a:t>
            </a:r>
            <a:endParaRPr sz="1600" i="0">
              <a:solidFill>
                <a:srgbClr val="595959"/>
              </a:solidFill>
              <a:latin typeface="Arial" panose="020B0604020202020204" pitchFamily="34" charset="0"/>
              <a:cs typeface="Arial"/>
            </a:endParaRPr>
          </a:p>
        </p:txBody>
      </p:sp>
      <p:sp>
        <p:nvSpPr>
          <p:cNvPr id="89" name="TextBox 88"/>
          <p:cNvSpPr txBox="1"/>
          <p:nvPr/>
        </p:nvSpPr>
        <p:spPr>
          <a:xfrm>
            <a:off x="6126480" y="4617720"/>
            <a:ext cx="1783080" cy="868680"/>
          </a:xfrm>
          <a:prstGeom prst="rect">
            <a:avLst/>
          </a:prstGeom>
          <a:noFill/>
        </p:spPr>
        <p:txBody>
          <a:bodyPr wrap="square" lIns="0" tIns="0" rIns="0" bIns="0" anchor="ctr"/>
          <a:lstStyle/>
          <a:p>
            <a:pPr marL="0" indent="0" algn="r">
              <a:buNone/>
            </a:pPr>
            <a:r>
              <a:rPr sz="3400" b="1" i="0">
                <a:solidFill>
                  <a:srgbClr val="065CAB"/>
                </a:solidFill>
                <a:latin typeface="Arial" panose="020B0604020202020204" pitchFamily="34" charset="0"/>
                <a:cs typeface="Arial"/>
              </a:rPr>
              <a:t>−0,040</a:t>
            </a:r>
          </a:p>
        </p:txBody>
      </p:sp>
      <p:sp>
        <p:nvSpPr>
          <p:cNvPr id="90" name="Rectangle 89"/>
          <p:cNvSpPr/>
          <p:nvPr/>
        </p:nvSpPr>
        <p:spPr>
          <a:xfrm>
            <a:off x="8183879" y="1417320"/>
            <a:ext cx="3584448" cy="4663440"/>
          </a:xfrm>
          <a:prstGeom prst="rect">
            <a:avLst/>
          </a:prstGeom>
          <a:solidFill>
            <a:srgbClr val="F1BE29"/>
          </a:solidFill>
          <a:ln>
            <a:noFill/>
          </a:ln>
        </p:spPr>
        <p:txBody>
          <a:bodyPr rtlCol="0" anchor="ctr"/>
          <a:lstStyle/>
          <a:p>
            <a:pPr algn="ctr"/>
            <a:endParaRPr/>
          </a:p>
        </p:txBody>
      </p:sp>
      <p:sp>
        <p:nvSpPr>
          <p:cNvPr id="91" name="TextBox 90"/>
          <p:cNvSpPr txBox="1"/>
          <p:nvPr/>
        </p:nvSpPr>
        <p:spPr>
          <a:xfrm>
            <a:off x="8412480" y="1645920"/>
            <a:ext cx="3154680" cy="4297680"/>
          </a:xfrm>
          <a:prstGeom prst="rect">
            <a:avLst/>
          </a:prstGeom>
          <a:noFill/>
        </p:spPr>
        <p:txBody>
          <a:bodyPr wrap="square" lIns="0" tIns="0" rIns="0" bIns="0" anchor="t"/>
          <a:lstStyle/>
          <a:p>
            <a:pPr marL="0" indent="0" algn="l">
              <a:lnSpc>
                <a:spcPct val="105000"/>
              </a:lnSpc>
              <a:buNone/>
            </a:pPr>
            <a:r>
              <a:rPr lang="ru-RU" sz="1600" i="0">
                <a:solidFill>
                  <a:srgbClr val="262626"/>
                </a:solidFill>
                <a:latin typeface="Arial" panose="020B0604020202020204" pitchFamily="34" charset="0"/>
                <a:cs typeface="Arial"/>
              </a:rPr>
              <a:t>Вывод по цели
Процесс работает и воспроизводится
Промышленная точность и подбор рецептуры не подтверждены
Дальше нужны внешние данные и лабораторная проверка</a:t>
            </a:r>
            <a:endParaRPr sz="1600" i="0">
              <a:solidFill>
                <a:srgbClr val="262626"/>
              </a:solidFill>
              <a:latin typeface="Arial" panose="020B0604020202020204" pitchFamily="34" charset="0"/>
              <a:cs typeface="Arial"/>
            </a:endParaRPr>
          </a:p>
        </p:txBody>
      </p:sp>
      <p:sp>
        <p:nvSpPr>
          <p:cNvPr id="92" name="Источник"/>
          <p:cNvSpPr txBox="1"/>
          <p:nvPr/>
        </p:nvSpPr>
        <p:spPr>
          <a:xfrm>
            <a:off x="960120" y="6336792"/>
            <a:ext cx="10808208" cy="365760"/>
          </a:xfrm>
          <a:prstGeom prst="rect">
            <a:avLst/>
          </a:prstGeom>
          <a:noFill/>
        </p:spPr>
        <p:txBody>
          <a:bodyPr wrap="square" lIns="0" tIns="0" rIns="0" bIns="0" anchor="ctr"/>
          <a:lstStyle/>
          <a:p>
            <a:pPr marL="0" indent="0" algn="l">
              <a:buNone/>
            </a:pPr>
            <a:r>
              <a:rPr lang="ru-RU" sz="1300" i="0">
                <a:solidFill>
                  <a:srgbClr val="595959"/>
                </a:solidFill>
                <a:latin typeface="Arial" panose="020B0604020202020204" pitchFamily="34" charset="0"/>
                <a:cs typeface="Arial"/>
              </a:rPr>
              <a:t>Источник: </a:t>
            </a:r>
            <a:r>
              <a:rPr lang="en-US" sz="1300" i="0">
                <a:solidFill>
                  <a:srgbClr val="595959"/>
                </a:solidFill>
                <a:latin typeface="Arial" panose="020B0604020202020204" pitchFamily="34" charset="0"/>
                <a:cs typeface="Arial"/>
              </a:rPr>
              <a:t>reports/evaluation/metrics.csv; </a:t>
            </a:r>
            <a:r>
              <a:rPr lang="ru-RU" sz="1300" i="0">
                <a:solidFill>
                  <a:srgbClr val="595959"/>
                </a:solidFill>
                <a:latin typeface="Arial" panose="020B0604020202020204" pitchFamily="34" charset="0"/>
                <a:cs typeface="Arial"/>
              </a:rPr>
              <a:t>РПЗ, заключение</a:t>
            </a:r>
            <a:endParaRPr sz="1300" i="0">
              <a:solidFill>
                <a:srgbClr val="595959"/>
              </a:solidFill>
              <a:latin typeface="Arial" panose="020B0604020202020204" pitchFamily="34" charset="0"/>
              <a:cs typeface="Arial"/>
            </a:endParaRPr>
          </a:p>
        </p:txBody>
      </p:sp>
      <p:sp>
        <p:nvSpPr>
          <p:cNvPr id="4" name="Номер слайда 3">
            <a:extLst>
              <a:ext uri="{FF2B5EF4-FFF2-40B4-BE49-F238E27FC236}">
                <a16:creationId xmlns:a16="http://schemas.microsoft.com/office/drawing/2014/main" id="{06555008-558A-4705-ADA6-A99A535D9A1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ru-RU" smtClean="0">
                <a:cs typeface="Arial"/>
              </a:rPr>
              <a:t>15</a:t>
            </a:fld>
            <a:endParaRPr lang="ru-RU" dirty="0">
              <a:cs typeface="Arial"/>
            </a:endParaRPr>
          </a:p>
        </p:txBody>
      </p:sp>
    </p:spTree>
  </p:cSld>
  <p:clrMapOvr>
    <a:masterClrMapping/>
  </p:clrMapOvr>
</p:sld>
</file>

<file path=ppt/theme/theme1.xml><?xml version="1.0" encoding="utf-8"?>
<a:theme xmlns:a="http://schemas.openxmlformats.org/drawingml/2006/main" name="МГТУ">
  <a:themeElements>
    <a:clrScheme name="МГТУ10128">
      <a:dk1>
        <a:srgbClr val="000000"/>
      </a:dk1>
      <a:lt1>
        <a:srgbClr val="FFFFFF"/>
      </a:lt1>
      <a:dk2>
        <a:srgbClr val="062646"/>
      </a:dk2>
      <a:lt2>
        <a:srgbClr val="E3F0FD"/>
      </a:lt2>
      <a:accent1>
        <a:srgbClr val="0E5DAB"/>
      </a:accent1>
      <a:accent2>
        <a:srgbClr val="7BC6DF"/>
      </a:accent2>
      <a:accent3>
        <a:srgbClr val="F99D27"/>
      </a:accent3>
      <a:accent4>
        <a:srgbClr val="BDD7EE"/>
      </a:accent4>
      <a:accent5>
        <a:srgbClr val="FFC000"/>
      </a:accent5>
      <a:accent6>
        <a:srgbClr val="A5A5A5"/>
      </a:accent6>
      <a:hlink>
        <a:srgbClr val="1F75E2"/>
      </a:hlink>
      <a:folHlink>
        <a:srgbClr val="FA34DE"/>
      </a:folHlink>
    </a:clrScheme>
    <a:fontScheme name="Основная">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lgn="l">
          <a:defRPr sz="2300" dirty="0">
            <a:latin typeface="+mn-lt"/>
          </a:defRPr>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2778</Words>
  <Application>Microsoft Office PowerPoint</Application>
  <PresentationFormat>Широкоэкранный</PresentationFormat>
  <Paragraphs>226</Paragraphs>
  <Slides>15</Slides>
  <Notes>15</Notes>
  <HiddenSlides>0</HiddenSlides>
  <MMClips>0</MMClips>
  <ScaleCrop>false</ScaleCrop>
  <HeadingPairs>
    <vt:vector size="6" baseType="variant">
      <vt:variant>
        <vt:lpstr>Использованные шрифты</vt:lpstr>
      </vt:variant>
      <vt:variant>
        <vt:i4>1</vt:i4>
      </vt:variant>
      <vt:variant>
        <vt:lpstr>Тема</vt:lpstr>
      </vt:variant>
      <vt:variant>
        <vt:i4>1</vt:i4>
      </vt:variant>
      <vt:variant>
        <vt:lpstr>Заголовки слайдов</vt:lpstr>
      </vt:variant>
      <vt:variant>
        <vt:i4>15</vt:i4>
      </vt:variant>
    </vt:vector>
  </HeadingPairs>
  <TitlesOfParts>
    <vt:vector size="17" baseType="lpstr">
      <vt:lpstr>Arial</vt:lpstr>
      <vt:lpstr>МГТУ</vt:lpstr>
      <vt:lpstr>Прогнозирование конечных свойств новых материалов (композиционных материалов)</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Прогнозирование конечных свойств новых материалов (композиционных материалов)</dc:title>
  <dc:subject>Защита ВКР: регрессионные модели свойств композиционных материалов</dc:subject>
  <dc:creator/>
  <cp:keywords/>
  <dc:description/>
  <cp:lastModifiedBy/>
  <cp:revision>106</cp:revision>
  <dcterms:created xsi:type="dcterms:W3CDTF">2021-02-24T09:03:25Z</dcterms:created>
  <dcterms:modified xsi:type="dcterms:W3CDTF">2026-10-01T22:08:01Z</dcterms:modified>
</cp:coreProperties>
</file>