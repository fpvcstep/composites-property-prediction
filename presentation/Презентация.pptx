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media/image4.jpg" ContentType="image/png"/>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autoCompressPictures="0">
  <p:sldMasterIdLst>
    <p:sldMasterId id="2147483648" r:id="rId1"/>
  </p:sldMasterIdLst>
  <p:notesMasterIdLst>
    <p:notesMasterId r:id="rId17"/>
  </p:notesMasterIdLst>
  <p:sldIdLst>
    <p:sldId id="256" r:id="rId2"/>
    <p:sldId id="257" r:id="rId3"/>
    <p:sldId id="258" r:id="rId4"/>
    <p:sldId id="259" r:id="rId5"/>
    <p:sldId id="263" r:id="rId6"/>
    <p:sldId id="261" r:id="rId7"/>
    <p:sldId id="262" r:id="rId8"/>
    <p:sldId id="260" r:id="rId9"/>
    <p:sldId id="264" r:id="rId10"/>
    <p:sldId id="265" r:id="rId11"/>
    <p:sldId id="266" r:id="rId12"/>
    <p:sldId id="267" r:id="rId13"/>
    <p:sldId id="268" r:id="rId14"/>
    <p:sldId id="269" r:id="rId15"/>
    <p:sldId id="270"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2" pos="347" userDrawn="1">
          <p15:clr>
            <a:srgbClr val="000000"/>
          </p15:clr>
        </p15:guide>
        <p15:guide id="3" orient="horz" pos="1344" userDrawn="1">
          <p15:clr>
            <a:srgbClr val="A4A3A4"/>
          </p15:clr>
        </p15:guide>
        <p15:guide id="4" orient="horz" pos="981" userDrawn="1">
          <p15:clr>
            <a:srgbClr val="A4A3A4"/>
          </p15:clr>
        </p15:guide>
      </p15:sldGuideLst>
    </p:ext>
    <p:ext uri="{2D200454-40CA-4A62-9FC3-DE9A4176ACB9}">
      <p15:notes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5" roundtripDataSignature="AMtx7mg2fLzW2NWhC2ejww7VA5lENbgL/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User" initials="U" lastIdx="3" clrIdx="0">
    <p:extLst>
      <p:ext uri="{19B8F6BF-5375-455C-9EA6-DF929625EA0E}">
        <p15:presenceInfo xmlns:p15="http://schemas.microsoft.com/office/powerpoint/2012/main" userId="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5CAB"/>
    <a:srgbClr val="0046A2"/>
    <a:srgbClr val="D1D1D1"/>
    <a:srgbClr val="F1BE29"/>
    <a:srgbClr val="7BC6D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095" autoAdjust="0"/>
  </p:normalViewPr>
  <p:slideViewPr>
    <p:cSldViewPr snapToGrid="0">
      <p:cViewPr varScale="1">
        <p:scale>
          <a:sx n="66" d="100"/>
          <a:sy n="66" d="100"/>
        </p:scale>
        <p:origin x="1303" y="22"/>
      </p:cViewPr>
      <p:guideLst>
        <p:guide pos="347"/>
        <p:guide orient="horz" pos="1344"/>
        <p:guide orient="horz" pos="981"/>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7" d="100"/>
          <a:sy n="87" d="100"/>
        </p:scale>
        <p:origin x="3840"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26"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Здравствуйте. Тема моей работы – прогнозирование конечных свойств композиционных материалов. Я покажу весь путь решения: что имеем, зачем выполняем каждый шаг, что узнаём и почему идём дальше – от цели и данных до приложения и выводов.
Источники: РПЗ, введение.</a:t>
            </a:r>
            <a:endParaRPr>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Композиционный материал состоит из нескольких компонентов. Связующее, или матрица, удерживает их вместе и передаёт нагрузку. Наполнитель влияет на свойства материала и может его усиливать.
В работе нужно оценить два свойства. Модуль упругости при растяжении характеризует жёсткость при растяжении, после которого материал возвращается к исходной форме. Прочность при растяжении – предельная нагрузка на единицу площади перед разрушением.
Цель прогноза – заранее получить ориентировочную оценку по известным характеристикам состава и изготовления. Она помогает сравнивать варианты, но не заменяет физическое испытание. Для обучения нужны примеры с известными характеристиками и конечными свойствами. Происхождение этих значений в исходных файлах не описано.
Источники: РПЗ, введение.</a:t>
            </a:r>
            <a:endParaRPr>
              <a:latin typeface="Arial" panose="020B0604020202020204" pitchFamily="34"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Исходные примеры находились в двух таблицах Excel. Их сопоставили по исходному индексу и оставили строки, имеющиеся в обеих таблицах. После объединения получилось 1023 строки и 13 показателей. Семнадцать строк второй таблицы не имели пары. Пропусков и полных дубликатов нет.
Одна строка описывает один материал или пример: его характеристики и известные конечные свойства. В исходных материалах не указаны происхождение строк, группы, партии и часть единиц измерения. Это ограничивает выводы и не позволяет называть каждую строку лабораторно проверенным образцом. Теперь можно зафиксировать весь дальнейший процесс.
Источники: РПЗ, раздел 1.1 и таблица исходных данных; словарь данных репозитория.</a:t>
            </a:r>
            <a:endParaRPr>
              <a:latin typeface="Arial" panose="020B0604020202020204" pitchFamily="34"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Работа выполнена в восемь шагов. Таблицы проверили и объединили. Затем отделили данные для обучения и итоговой проверки. Данные для обучения изучили и подготовили, на них методы обучили и сравнили в десяти проверках. Выбранные модели один раз проверили на отложенных строках, подключили к приложению, а данные, код и результаты сохранили в репозитории.
Главное правило: данные для итоговой проверки не участвуют в изучении и выборе метода. Это защищает итог от подбора решения под заранее увиденные ответы. Далее разберу шаги по порядку.
Источники: РПЗ, разделы 1.2 и 2.1–2.6.</a:t>
            </a:r>
            <a:endParaRPr>
              <a:latin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Из 1023 строк 716, или 70 процентов, использованы для обучения. Остальные 307 отложены для одной итоговой проверки на ранее не виденных примерах.
В наборе 13 содержательных показателей. Для двух прямых прогнозов из входов исключены два конечных свойства, поэтому остаётся 11 характеристик: 13 минус 2 равно 11. По новому набору из 11 известных значений модель должна выдать две оценки – модуль и прочность. Прежде чем выбирать метод, нужно понять данные для обучения.
Источники: РПЗ, разделы 1.1, 1.2 и 2.1.</a:t>
            </a:r>
            <a:endParaRPr>
              <a:latin typeface="Arial" panose="020B0604020202020204" pitchFamily="34"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Разведочный анализ выполнен только на 716 обучающих строках. Он показывает распределения, возможные необычные наблюдения и связи между показателями до обучения моделей.
Наибольшая абсолютная парная корреляция составила около 0,119. Близкое к нулю значение означает слабую простую линейную связь отдельных пар, но не исключает совместного влияния нескольких характеристик или нелинейных зависимостей. Необычные значения здесь лишь отмечают для проверки, а не объявляют ошибками и не удаляют автоматически. Теперь данные можно подготовить.
Источники: РПЗ, раздел разведочного анализа и рисунок с распределениями.</a:t>
            </a:r>
            <a:endParaRPr>
              <a:latin typeface="Arial" panose="020B0604020202020204" pitchFamily="34"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Пропусков нет, поэтому заполнять их не пришлось. Угол нашивки принимает два направления: 0 и 90 градусов. Их записали как 0 и 1, сохранив это различие. Для линейной модели, метода опорных векторов и нейросети числовые характеристики приводили к сопоставимому масштабу внутри каждой проверки.
Отдельно проверили удаление необычных строк по квартильному правилу. Это был эксперимент только внутри обучающих данных. Десять проверок показали, что удаление не улучшает результат. Поэтому для итоговых моделей выбран вариант без удаления строк. Теперь методы можно сравнивать по одинаковым правилам.
Источники: РПЗ, раздел предобработки; reports/modeling/preprocessing_audit.json.</a:t>
            </a:r>
            <a:endParaRPr>
              <a:latin typeface="Arial" panose="020B060402020202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Машинное обучение ищет правило по примерам с известными ответами. Для двух свойств сравнивались пять подходов, а выбраны две прямые модели – по одной для каждого свойства. Прогноз среднего выдаёт одно среднее значение. Гребневая регрессия, или Ridge, складывает линейные вклады характеристик и ограничивает слишком большие коэффициенты. Случайный лес усредняет ответы многих деревьев. Градиентный бустинг строит деревья по очереди, исправляя прежние ошибки. Метод опорных векторов, или SVR, описывает гладкую нелинейную зависимость.
Все методы сравнивали десять раз внутри обучающих данных: девять частей использовали для обучения, одну – для проверки. Масштабирование и модель каждый раз настраивались заново. Выбор делали по RMSE – среднеквадратичной ошибке в единицах свойства; большие промахи увеличивают её сильнее. Лишь после выбора открыли 307 строк.
Источники: РПЗ, разделы о методах и проверке моделей; reports/modeling/cv_summary.csv.</a:t>
            </a:r>
            <a:endParaRPr>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Ещё два показателя качества: MAE – средняя абсолютная ошибка, то есть средний размер промаха без учёта знака. R² показывает, насколько модель лучше или хуже прогноза среднего; это не процент точности.
Для модуля ни один сложный метод не улучшил прогноз среднего. На итоговой проверке RMSE равна 3,178 ГПа, MAE – 2,556 ГПа, R² – минус 0,016. На графике по горизонтали находится фактическое значение, по вертикали – прогноз. Диагональ соответствует идеальному ответу: чем ближе к ней точка, тем меньше ошибка. Горизонтальная полоса означает одинаковое среднее значение для всех строк. Для прочности десять проверок выбрали более сложный метод.
Источники: РПЗ, рисунок с фактическими и прогнозными значениями; reports/evaluation/metrics.csv.</a:t>
            </a:r>
            <a:endParaRPr>
              <a:latin typeface="Arial" panose="020B0604020202020204" pitchFamily="34"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прочности выбран градиентный бустинг, хотя он был лучше прогноза среднего лишь в четырёх проверках из десяти.
На 307 строках его RMSE равна 471,410 МПа против 473,288 МПа у среднего: выигрыш 1,878 МПа. Но MAE у бустинга хуже: 380,152 против 378,984 МПа. R² равен 0,008, то есть модель почти не объясняет различия между примерами. Точки на графике далеко от диагонали и сильно рассеяны, поэтому небольшое улучшение одной меры не подтверждает практически значимое преимущество. Далее – отдельная задача с нейросетью.
Источники: РПЗ, рисунок с фактическими и прогнозными значениями; reports/evaluation/metrics.csv.</a:t>
            </a:r>
            <a:endParaRPr>
              <a:latin typeface="Arial" panose="020B0604020202020204" pitchFamily="34"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Нейросеть тоже относится к машинному обучению, но здесь решает отдельную задачу: оценивает соотношение матрица–наполнитель. Из 13 показателей исключён только прогнозируемый, поэтому остаётся 12 входов, включая известные модуль и прочность. Это восстановление одного столбца по другим характеристикам, а не подбор рецептуры. В приложение с двумя прямыми прогнозами сеть не входит.
Архитектура 12–32–16–1 означает 12 входов, два внутренних слоя на 32 и 16 нейронов и один результат. Часть обучающих строк помогала вовремя остановить обучение. Внешние 307 строк до окончательной проверки оставались закрытыми. Теперь сравним сеть с простым ориентиром.
Источники: РПЗ, раздел о нейросети.</a:t>
            </a:r>
            <a:endParaRPr>
              <a:latin typeface="Arial" panose="020B060402020202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На итоговой проверке ошибка RMSE нейросети равна 0,944, а у прогноза среднего меньше – 0,926. Поэтому сеть проиграла простому ориентиру. Её MAE равна 0,777, а R² – минус 0,040.
Сложный метод сам по себе не гарантирует лучший прогноз. При таком качестве важно объяснить, какие характеристики использует модель, и не принимать это за физический закон.
Источники: РПЗ, таблица результатов нейросети; reports/evaluation/metrics.csv.</a:t>
            </a:r>
            <a:endParaRPr>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Чтобы понять поведение модели прочности, один столбец случайно перемешивали, остальные оставляли без изменений и снова измеряли ошибку. Если она возрастала, модель опиралась на эту характеристику. По горизонтали показано изменение RMSE, линии отражают разброс десяти повторов.
Этот опыт описывает поведение конкретной модели на этих данных, но не доказывает физическую причину и не определяет лучшую рецептуру. Для модели модуля значения равны нулю, поскольку она всегда выдаёт среднее. Технический путь показан в приложении.
Источники: РПЗ, рисунок с важностью характеристик; reports/evaluation/permutation_importance.csv.</a:t>
            </a:r>
            <a:endParaRPr>
              <a:latin typeface="Arial" panose="020B0604020202020204" pitchFamily="34"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Учебное приложение принимает 11 известных характеристик нового примера. Оно проверяет формат и предупреждает о выходе за диапазон обучающих данных, затем передаёт значения двум сохранённым прямым моделям. Нейросеть для соотношения сюда не входит. Результат – прогноз модуля и прогноз прочности.
Для демонстрационного профиля приложение показывает 73,2073 ГПа и 2502,06 МПа. Это расчёт моделей, а не лабораторное измерение. Репозиторий содержит данные, код, разделение и результаты, поэтому расчёт можно повторить. Теперь можно ответить на исходную цель.
Источники: РПЗ, раздел о приложении и репозитории; docs/application.md.</a:t>
            </a:r>
            <a:endParaRPr>
              <a:latin typeface="Arial" panose="020B0604020202020204" pitchFamily="34"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Построен воспроизводимый процесс от двух таблиц до итоговой проверки и приложения. Методы выбирались только на данных для обучения, а 307 строк использовались один раз в конце.
Предсказательная способность оказалась слабой. Для модуля лучшим остался прогноз среднего. Для прочности бустинг почти не отличается от среднего. Нейросеть для соотношения хуже среднего. Процесс реализован, но промышленная точность и подбор рецептуры не подтверждены. Для продолжения нужны данные с известным происхождением, внешняя выборка и лабораторная проверка. Спасибо за внимание.
Источники: reports/evaluation/metrics.csv; РПЗ, заключение.</a:t>
            </a:r>
            <a:endParaRPr>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Титульный слайд" userDrawn="1">
  <p:cSld name="TITLE">
    <p:bg>
      <p:bgRef idx="1001">
        <a:schemeClr val="bg1"/>
      </p:bgRef>
    </p:bg>
    <p:spTree>
      <p:nvGrpSpPr>
        <p:cNvPr id="1" name="Shape 10"/>
        <p:cNvGrpSpPr/>
        <p:nvPr/>
      </p:nvGrpSpPr>
      <p:grpSpPr>
        <a:xfrm>
          <a:off x="0" y="0"/>
          <a:ext cx="0" cy="0"/>
          <a:chOff x="0" y="0"/>
          <a:chExt cx="0" cy="0"/>
        </a:xfrm>
      </p:grpSpPr>
      <p:pic>
        <p:nvPicPr>
          <p:cNvPr id="6" name="Google Shape;88;p1">
            <a:extLst>
              <a:ext uri="{FF2B5EF4-FFF2-40B4-BE49-F238E27FC236}">
                <a16:creationId xmlns:a16="http://schemas.microsoft.com/office/drawing/2014/main" id="{2D925FD8-DECC-4CD6-B8C0-B1ADCC5FA20A}"/>
              </a:ext>
            </a:extLst>
          </p:cNvPr>
          <p:cNvPicPr preferRelativeResize="0"/>
          <p:nvPr userDrawn="1"/>
        </p:nvPicPr>
        <p:blipFill rotWithShape="1">
          <a:blip r:embed="rId2">
            <a:alphaModFix/>
          </a:blip>
          <a:srcRect t="16270" b="8845"/>
          <a:stretch/>
        </p:blipFill>
        <p:spPr>
          <a:xfrm>
            <a:off x="0" y="0"/>
            <a:ext cx="12192000" cy="6858000"/>
          </a:xfrm>
          <a:prstGeom prst="rect">
            <a:avLst/>
          </a:prstGeom>
          <a:noFill/>
          <a:ln>
            <a:noFill/>
          </a:ln>
        </p:spPr>
      </p:pic>
      <p:grpSp>
        <p:nvGrpSpPr>
          <p:cNvPr id="7" name="Группа 6">
            <a:extLst>
              <a:ext uri="{FF2B5EF4-FFF2-40B4-BE49-F238E27FC236}">
                <a16:creationId xmlns:a16="http://schemas.microsoft.com/office/drawing/2014/main" id="{B0283559-7C69-4037-A5DE-025458FA127C}"/>
              </a:ext>
            </a:extLst>
          </p:cNvPr>
          <p:cNvGrpSpPr/>
          <p:nvPr userDrawn="1"/>
        </p:nvGrpSpPr>
        <p:grpSpPr>
          <a:xfrm>
            <a:off x="694478" y="633067"/>
            <a:ext cx="9502816" cy="4706741"/>
            <a:chOff x="694478" y="633067"/>
            <a:chExt cx="9502816" cy="4706741"/>
          </a:xfrm>
        </p:grpSpPr>
        <p:pic>
          <p:nvPicPr>
            <p:cNvPr id="9" name="Google Shape;13;p5">
              <a:extLst>
                <a:ext uri="{FF2B5EF4-FFF2-40B4-BE49-F238E27FC236}">
                  <a16:creationId xmlns:a16="http://schemas.microsoft.com/office/drawing/2014/main" id="{2F2230A9-DF50-482B-98EE-86D3A472B57F}"/>
                </a:ext>
              </a:extLst>
            </p:cNvPr>
            <p:cNvPicPr preferRelativeResize="0"/>
            <p:nvPr userDrawn="1"/>
          </p:nvPicPr>
          <p:blipFill rotWithShape="1">
            <a:blip r:embed="rId3">
              <a:alphaModFix/>
            </a:blip>
            <a:srcRect/>
            <a:stretch/>
          </p:blipFill>
          <p:spPr>
            <a:xfrm>
              <a:off x="694481" y="633067"/>
              <a:ext cx="9502813" cy="4706741"/>
            </a:xfrm>
            <a:prstGeom prst="rect">
              <a:avLst/>
            </a:prstGeom>
            <a:noFill/>
            <a:ln>
              <a:noFill/>
            </a:ln>
          </p:spPr>
        </p:pic>
        <p:sp>
          <p:nvSpPr>
            <p:cNvPr id="10" name="Прямоугольник 9">
              <a:extLst>
                <a:ext uri="{FF2B5EF4-FFF2-40B4-BE49-F238E27FC236}">
                  <a16:creationId xmlns:a16="http://schemas.microsoft.com/office/drawing/2014/main" id="{8967D30A-87B4-4421-A52A-46DC79DD78AC}"/>
                </a:ext>
              </a:extLst>
            </p:cNvPr>
            <p:cNvSpPr/>
            <p:nvPr userDrawn="1"/>
          </p:nvSpPr>
          <p:spPr>
            <a:xfrm>
              <a:off x="694478" y="5306991"/>
              <a:ext cx="9502813" cy="28800"/>
            </a:xfrm>
            <a:prstGeom prst="rect">
              <a:avLst/>
            </a:prstGeom>
            <a:solidFill>
              <a:srgbClr val="E6E7E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dirty="0">
                <a:latin typeface="Arial" panose="020B0604020202020204" pitchFamily="34" charset="0"/>
              </a:endParaRPr>
            </a:p>
          </p:txBody>
        </p:sp>
      </p:grpSp>
      <p:pic>
        <p:nvPicPr>
          <p:cNvPr id="3" name="Рисунок 2">
            <a:extLst>
              <a:ext uri="{FF2B5EF4-FFF2-40B4-BE49-F238E27FC236}">
                <a16:creationId xmlns:a16="http://schemas.microsoft.com/office/drawing/2014/main" id="{D20BDE73-1EE8-4C18-91ED-1CD26511FE5F}"/>
              </a:ext>
            </a:extLst>
          </p:cNvPr>
          <p:cNvPicPr>
            <a:picLocks noChangeAspect="1"/>
          </p:cNvPicPr>
          <p:nvPr userDrawn="1"/>
        </p:nvPicPr>
        <p:blipFill>
          <a:blip r:embed="rId4"/>
          <a:stretch>
            <a:fillRect/>
          </a:stretch>
        </p:blipFill>
        <p:spPr>
          <a:xfrm>
            <a:off x="9157539" y="611835"/>
            <a:ext cx="2361600" cy="721959"/>
          </a:xfrm>
          <a:prstGeom prst="rect">
            <a:avLst/>
          </a:prstGeom>
        </p:spPr>
      </p:pic>
      <p:sp>
        <p:nvSpPr>
          <p:cNvPr id="4" name="Google Shape;11;p5">
            <a:extLst>
              <a:ext uri="{FF2B5EF4-FFF2-40B4-BE49-F238E27FC236}">
                <a16:creationId xmlns:a16="http://schemas.microsoft.com/office/drawing/2014/main" id="{E3BFA7FB-261D-418C-AB36-0AE52A4CC41D}"/>
              </a:ext>
            </a:extLst>
          </p:cNvPr>
          <p:cNvSpPr txBox="1">
            <a:spLocks noGrp="1"/>
          </p:cNvSpPr>
          <p:nvPr>
            <p:ph type="ctrTitle" hasCustomPrompt="1"/>
          </p:nvPr>
        </p:nvSpPr>
        <p:spPr>
          <a:xfrm>
            <a:off x="1078287" y="831273"/>
            <a:ext cx="9119010" cy="3416636"/>
          </a:xfrm>
          <a:prstGeom prst="rect">
            <a:avLst/>
          </a:prstGeom>
          <a:noFill/>
          <a:ln>
            <a:noFill/>
          </a:ln>
        </p:spPr>
        <p:txBody>
          <a:bodyPr spcFirstLastPara="1" wrap="square" lIns="91425" tIns="45700" rIns="91425" bIns="45700" anchor="b" anchorCtr="0">
            <a:noAutofit/>
          </a:bodyPr>
          <a:lstStyle>
            <a:lvl1pPr lvl="0" algn="l">
              <a:lnSpc>
                <a:spcPct val="90000"/>
              </a:lnSpc>
              <a:spcBef>
                <a:spcPts val="0"/>
              </a:spcBef>
              <a:spcAft>
                <a:spcPts val="0"/>
              </a:spcAft>
              <a:buClr>
                <a:schemeClr val="lt1"/>
              </a:buClr>
              <a:buSzPts val="4400"/>
              <a:buFont typeface="Arial"/>
              <a:buNone/>
              <a:defRPr sz="4400" b="0">
                <a:solidFill>
                  <a:schemeClr val="lt1"/>
                </a:solidFill>
                <a:latin typeface="Arial" panose="020B0604020202020204" pitchFamily="34" charset="0"/>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dirty="0"/>
              <a:t>Заголовок слайда</a:t>
            </a:r>
            <a:endParaRPr dirty="0"/>
          </a:p>
        </p:txBody>
      </p:sp>
      <p:sp>
        <p:nvSpPr>
          <p:cNvPr id="5" name="Google Shape;12;p5">
            <a:extLst>
              <a:ext uri="{FF2B5EF4-FFF2-40B4-BE49-F238E27FC236}">
                <a16:creationId xmlns:a16="http://schemas.microsoft.com/office/drawing/2014/main" id="{84D6A78E-BD41-4E16-8DD7-8CD3958FF54B}"/>
              </a:ext>
            </a:extLst>
          </p:cNvPr>
          <p:cNvSpPr txBox="1">
            <a:spLocks noGrp="1"/>
          </p:cNvSpPr>
          <p:nvPr>
            <p:ph type="subTitle" idx="1" hasCustomPrompt="1"/>
          </p:nvPr>
        </p:nvSpPr>
        <p:spPr>
          <a:xfrm>
            <a:off x="1078286" y="4363657"/>
            <a:ext cx="9119010" cy="968117"/>
          </a:xfrm>
          <a:prstGeom prst="rect">
            <a:avLst/>
          </a:prstGeom>
          <a:noFill/>
          <a:ln>
            <a:noFill/>
          </a:ln>
        </p:spPr>
        <p:txBody>
          <a:bodyPr spcFirstLastPara="1" wrap="square" lIns="91425" tIns="45700" rIns="91425" bIns="45700" anchor="t" anchorCtr="0">
            <a:noAutofit/>
          </a:bodyPr>
          <a:lstStyle>
            <a:lvl1pPr lvl="0" algn="l">
              <a:lnSpc>
                <a:spcPct val="90000"/>
              </a:lnSpc>
              <a:spcBef>
                <a:spcPts val="750"/>
              </a:spcBef>
              <a:spcAft>
                <a:spcPts val="0"/>
              </a:spcAft>
              <a:buSzPts val="2800"/>
              <a:buNone/>
              <a:defRPr sz="2800">
                <a:solidFill>
                  <a:schemeClr val="lt1"/>
                </a:solidFill>
                <a:latin typeface="Arial" panose="020B0604020202020204" pitchFamily="34" charset="0"/>
                <a:ea typeface="Arial" panose="020B0606030504020204" pitchFamily="34" charset="0"/>
                <a:cs typeface="Arial" panose="020B0606030504020204" pitchFamily="34" charset="0"/>
                <a:sym typeface="Arial"/>
              </a:defRPr>
            </a:lvl1pPr>
            <a:lvl2pPr lvl="1" algn="ctr">
              <a:lnSpc>
                <a:spcPct val="90000"/>
              </a:lnSpc>
              <a:spcBef>
                <a:spcPts val="375"/>
              </a:spcBef>
              <a:spcAft>
                <a:spcPts val="0"/>
              </a:spcAft>
              <a:buSzPts val="1500"/>
              <a:buNone/>
              <a:defRPr sz="1500"/>
            </a:lvl2pPr>
            <a:lvl3pPr lvl="2" algn="ctr">
              <a:lnSpc>
                <a:spcPct val="90000"/>
              </a:lnSpc>
              <a:spcBef>
                <a:spcPts val="375"/>
              </a:spcBef>
              <a:spcAft>
                <a:spcPts val="0"/>
              </a:spcAft>
              <a:buSzPts val="1350"/>
              <a:buNone/>
              <a:defRPr sz="1350"/>
            </a:lvl3pPr>
            <a:lvl4pPr lvl="3" algn="ctr">
              <a:lnSpc>
                <a:spcPct val="90000"/>
              </a:lnSpc>
              <a:spcBef>
                <a:spcPts val="375"/>
              </a:spcBef>
              <a:spcAft>
                <a:spcPts val="0"/>
              </a:spcAft>
              <a:buSzPts val="1200"/>
              <a:buNone/>
              <a:defRPr sz="1200"/>
            </a:lvl4pPr>
            <a:lvl5pPr lvl="4" algn="ctr">
              <a:lnSpc>
                <a:spcPct val="90000"/>
              </a:lnSpc>
              <a:spcBef>
                <a:spcPts val="375"/>
              </a:spcBef>
              <a:spcAft>
                <a:spcPts val="0"/>
              </a:spcAft>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r>
              <a:rPr lang="ru-RU" dirty="0"/>
              <a:t>Подзаголовок слайда</a:t>
            </a:r>
            <a:endParaRPr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Заголовок, подзаголовок и объект" userDrawn="1">
  <p:cSld name="Заголовок, подзаголовок и объект">
    <p:bg>
      <p:bgRef idx="1001">
        <a:schemeClr val="bg1"/>
      </p:bgRef>
    </p:bg>
    <p:spTree>
      <p:nvGrpSpPr>
        <p:cNvPr id="1" name="Shape 26"/>
        <p:cNvGrpSpPr/>
        <p:nvPr/>
      </p:nvGrpSpPr>
      <p:grpSpPr>
        <a:xfrm>
          <a:off x="0" y="0"/>
          <a:ext cx="0" cy="0"/>
          <a:chOff x="0" y="0"/>
          <a:chExt cx="0" cy="0"/>
        </a:xfrm>
      </p:grpSpPr>
      <p:sp>
        <p:nvSpPr>
          <p:cNvPr id="28" name="Google Shape;28;p8"/>
          <p:cNvSpPr txBox="1">
            <a:spLocks noGrp="1"/>
          </p:cNvSpPr>
          <p:nvPr>
            <p:ph type="body" idx="1" hasCustomPrompt="1"/>
          </p:nvPr>
        </p:nvSpPr>
        <p:spPr>
          <a:xfrm>
            <a:off x="558782" y="1778092"/>
            <a:ext cx="11196533" cy="4473239"/>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30" name="Google Shape;30;p8"/>
          <p:cNvSpPr txBox="1">
            <a:spLocks noGrp="1"/>
          </p:cNvSpPr>
          <p:nvPr>
            <p:ph type="body" idx="2" hasCustomPrompt="1"/>
          </p:nvPr>
        </p:nvSpPr>
        <p:spPr>
          <a:xfrm>
            <a:off x="558782" y="1185979"/>
            <a:ext cx="11196533" cy="58468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SzPts val="3200"/>
              <a:buNone/>
              <a:defRPr sz="2700">
                <a:solidFill>
                  <a:srgbClr val="F1BE29"/>
                </a:solidFill>
                <a:latin typeface="Arial" panose="020B0604020202020204" pitchFamily="34" charset="0"/>
                <a:ea typeface="Arial"/>
                <a:cs typeface="Arial" panose="02000000000000000000" pitchFamily="2" charset="0"/>
                <a:sym typeface="Arial"/>
              </a:defRPr>
            </a:lvl1pPr>
            <a:lvl2pPr marL="914400" lvl="1" indent="-228600" algn="l">
              <a:lnSpc>
                <a:spcPct val="90000"/>
              </a:lnSpc>
              <a:spcBef>
                <a:spcPts val="375"/>
              </a:spcBef>
              <a:spcAft>
                <a:spcPts val="0"/>
              </a:spcAft>
              <a:buSzPts val="20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p>
          <a:p>
            <a:endParaRPr dirty="0"/>
          </a:p>
        </p:txBody>
      </p:sp>
      <p:sp>
        <p:nvSpPr>
          <p:cNvPr id="6" name="Google Shape;83;p17">
            <a:extLst>
              <a:ext uri="{FF2B5EF4-FFF2-40B4-BE49-F238E27FC236}">
                <a16:creationId xmlns:a16="http://schemas.microsoft.com/office/drawing/2014/main" id="{464BD804-D61C-41D4-836A-3F0D5620725E}"/>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Подзаголовок и Сравнение" userDrawn="1">
  <p:cSld name="Подзаголовок и Сравнение">
    <p:spTree>
      <p:nvGrpSpPr>
        <p:cNvPr id="1" name="Shape 63"/>
        <p:cNvGrpSpPr/>
        <p:nvPr/>
      </p:nvGrpSpPr>
      <p:grpSpPr>
        <a:xfrm>
          <a:off x="0" y="0"/>
          <a:ext cx="0" cy="0"/>
          <a:chOff x="0" y="0"/>
          <a:chExt cx="0" cy="0"/>
        </a:xfrm>
      </p:grpSpPr>
      <p:sp>
        <p:nvSpPr>
          <p:cNvPr id="7" name="Google Shape;83;p17">
            <a:extLst>
              <a:ext uri="{FF2B5EF4-FFF2-40B4-BE49-F238E27FC236}">
                <a16:creationId xmlns:a16="http://schemas.microsoft.com/office/drawing/2014/main" id="{A3BCCEBD-8EA8-458F-9BC3-430C03DA2D83}"/>
              </a:ext>
            </a:extLst>
          </p:cNvPr>
          <p:cNvSpPr txBox="1">
            <a:spLocks noGrp="1"/>
          </p:cNvSpPr>
          <p:nvPr>
            <p:ph type="sldNum" idx="12"/>
          </p:nvPr>
        </p:nvSpPr>
        <p:spPr>
          <a:xfrm>
            <a:off x="273628" y="6434051"/>
            <a:ext cx="63245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
        <p:nvSpPr>
          <p:cNvPr id="8" name="Google Shape;47;p11">
            <a:extLst>
              <a:ext uri="{FF2B5EF4-FFF2-40B4-BE49-F238E27FC236}">
                <a16:creationId xmlns:a16="http://schemas.microsoft.com/office/drawing/2014/main" id="{BE73FDE2-AD6D-4536-979A-DFD5A5A120FB}"/>
              </a:ext>
            </a:extLst>
          </p:cNvPr>
          <p:cNvSpPr txBox="1">
            <a:spLocks noGrp="1"/>
          </p:cNvSpPr>
          <p:nvPr>
            <p:ph type="body" idx="13" hasCustomPrompt="1"/>
          </p:nvPr>
        </p:nvSpPr>
        <p:spPr>
          <a:xfrm>
            <a:off x="558781" y="1770664"/>
            <a:ext cx="5508000" cy="4507045"/>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None/>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9" name="Google Shape;48;p11">
            <a:extLst>
              <a:ext uri="{FF2B5EF4-FFF2-40B4-BE49-F238E27FC236}">
                <a16:creationId xmlns:a16="http://schemas.microsoft.com/office/drawing/2014/main" id="{CDC7DB9F-D126-4C0F-900F-3ED455B7D4B6}"/>
              </a:ext>
            </a:extLst>
          </p:cNvPr>
          <p:cNvSpPr txBox="1">
            <a:spLocks noGrp="1"/>
          </p:cNvSpPr>
          <p:nvPr>
            <p:ph type="body" idx="2" hasCustomPrompt="1"/>
          </p:nvPr>
        </p:nvSpPr>
        <p:spPr>
          <a:xfrm>
            <a:off x="6241899" y="1770664"/>
            <a:ext cx="5508000" cy="4507045"/>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None/>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6" name="Google Shape;30;p8">
            <a:extLst>
              <a:ext uri="{FF2B5EF4-FFF2-40B4-BE49-F238E27FC236}">
                <a16:creationId xmlns:a16="http://schemas.microsoft.com/office/drawing/2014/main" id="{0A0C615F-D144-44C1-91C6-0FB98026FAD0}"/>
              </a:ext>
            </a:extLst>
          </p:cNvPr>
          <p:cNvSpPr txBox="1">
            <a:spLocks noGrp="1"/>
          </p:cNvSpPr>
          <p:nvPr>
            <p:ph type="body" idx="14" hasCustomPrompt="1"/>
          </p:nvPr>
        </p:nvSpPr>
        <p:spPr>
          <a:xfrm>
            <a:off x="558782" y="1185979"/>
            <a:ext cx="11196533" cy="58468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SzPts val="3200"/>
              <a:buNone/>
              <a:defRPr sz="2700">
                <a:solidFill>
                  <a:srgbClr val="F1BE29"/>
                </a:solidFill>
                <a:latin typeface="Arial" panose="020B0604020202020204" pitchFamily="34" charset="0"/>
                <a:ea typeface="Arial"/>
                <a:cs typeface="Arial" panose="02000000000000000000" pitchFamily="2" charset="0"/>
                <a:sym typeface="Arial"/>
              </a:defRPr>
            </a:lvl1pPr>
            <a:lvl2pPr marL="914400" lvl="1" indent="-228600" algn="l">
              <a:lnSpc>
                <a:spcPct val="90000"/>
              </a:lnSpc>
              <a:spcBef>
                <a:spcPts val="375"/>
              </a:spcBef>
              <a:spcAft>
                <a:spcPts val="0"/>
              </a:spcAft>
              <a:buSzPts val="20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Подзаголовок слайда</a:t>
            </a:r>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Только заголовок" userDrawn="1">
  <p:cSld name="TITLE_ONLY">
    <p:spTree>
      <p:nvGrpSpPr>
        <p:cNvPr id="1" name="Shape 69"/>
        <p:cNvGrpSpPr/>
        <p:nvPr/>
      </p:nvGrpSpPr>
      <p:grpSpPr>
        <a:xfrm>
          <a:off x="0" y="0"/>
          <a:ext cx="0" cy="0"/>
          <a:chOff x="0" y="0"/>
          <a:chExt cx="0" cy="0"/>
        </a:xfrm>
      </p:grpSpPr>
      <p:sp>
        <p:nvSpPr>
          <p:cNvPr id="4" name="Google Shape;83;p17">
            <a:extLst>
              <a:ext uri="{FF2B5EF4-FFF2-40B4-BE49-F238E27FC236}">
                <a16:creationId xmlns:a16="http://schemas.microsoft.com/office/drawing/2014/main" id="{3C33CCE7-3AA5-4E4A-9FB4-1EE49FE9D890}"/>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Пустой слайд" type="blank">
  <p:cSld name="BLANK">
    <p:spTree>
      <p:nvGrpSpPr>
        <p:cNvPr id="1" name="Shape 72"/>
        <p:cNvGrpSpPr/>
        <p:nvPr/>
      </p:nvGrpSpPr>
      <p:grpSpPr>
        <a:xfrm>
          <a:off x="0" y="0"/>
          <a:ext cx="0" cy="0"/>
          <a:chOff x="0" y="0"/>
          <a:chExt cx="0" cy="0"/>
        </a:xfrm>
      </p:grpSpPr>
      <p:sp>
        <p:nvSpPr>
          <p:cNvPr id="3" name="Google Shape;83;p17">
            <a:extLst>
              <a:ext uri="{FF2B5EF4-FFF2-40B4-BE49-F238E27FC236}">
                <a16:creationId xmlns:a16="http://schemas.microsoft.com/office/drawing/2014/main" id="{0CA1A5D0-6F6B-4B83-84EB-024B06E2BB76}"/>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Заголовок, текст и объект" userDrawn="1">
  <p:cSld name="Заголовок, текст и объект">
    <p:spTree>
      <p:nvGrpSpPr>
        <p:cNvPr id="1" name="Shape 79"/>
        <p:cNvGrpSpPr/>
        <p:nvPr/>
      </p:nvGrpSpPr>
      <p:grpSpPr>
        <a:xfrm>
          <a:off x="0" y="0"/>
          <a:ext cx="0" cy="0"/>
          <a:chOff x="0" y="0"/>
          <a:chExt cx="0" cy="0"/>
        </a:xfrm>
      </p:grpSpPr>
      <p:sp>
        <p:nvSpPr>
          <p:cNvPr id="81" name="Google Shape;81;p17"/>
          <p:cNvSpPr txBox="1">
            <a:spLocks noGrp="1"/>
          </p:cNvSpPr>
          <p:nvPr>
            <p:ph type="body" idx="1" hasCustomPrompt="1"/>
          </p:nvPr>
        </p:nvSpPr>
        <p:spPr>
          <a:xfrm>
            <a:off x="5183187" y="1301263"/>
            <a:ext cx="6735185" cy="4908344"/>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300">
                <a:latin typeface="Arial" panose="020B0604020202020204" pitchFamily="34" charset="0"/>
                <a:ea typeface="Arial"/>
                <a:cs typeface="Arial" panose="02000000000000000000" pitchFamily="2" charset="0"/>
                <a:sym typeface="Arial"/>
              </a:defRPr>
            </a:lvl1pPr>
            <a:lvl2pPr marL="914400" lvl="1" indent="-361950" algn="l">
              <a:lnSpc>
                <a:spcPct val="90000"/>
              </a:lnSpc>
              <a:spcBef>
                <a:spcPts val="375"/>
              </a:spcBef>
              <a:spcAft>
                <a:spcPts val="0"/>
              </a:spcAft>
              <a:buClr>
                <a:schemeClr val="accent1"/>
              </a:buClr>
              <a:buSzPts val="2100"/>
              <a:buChar char="▪"/>
              <a:defRPr sz="2100">
                <a:latin typeface="Arial"/>
                <a:ea typeface="Arial"/>
                <a:cs typeface="Arial"/>
                <a:sym typeface="Arial"/>
              </a:defRPr>
            </a:lvl2pPr>
            <a:lvl3pPr marL="1371600" lvl="2" indent="-342900" algn="l">
              <a:lnSpc>
                <a:spcPct val="90000"/>
              </a:lnSpc>
              <a:spcBef>
                <a:spcPts val="375"/>
              </a:spcBef>
              <a:spcAft>
                <a:spcPts val="0"/>
              </a:spcAft>
              <a:buClr>
                <a:schemeClr val="accent1"/>
              </a:buClr>
              <a:buSzPts val="1800"/>
              <a:buChar char="▪"/>
              <a:defRPr sz="1800">
                <a:latin typeface="Arial"/>
                <a:ea typeface="Arial"/>
                <a:cs typeface="Arial"/>
                <a:sym typeface="Arial"/>
              </a:defRPr>
            </a:lvl3pPr>
            <a:lvl4pPr marL="1828800" lvl="3" indent="-323850" algn="l">
              <a:lnSpc>
                <a:spcPct val="90000"/>
              </a:lnSpc>
              <a:spcBef>
                <a:spcPts val="375"/>
              </a:spcBef>
              <a:spcAft>
                <a:spcPts val="0"/>
              </a:spcAft>
              <a:buClr>
                <a:schemeClr val="accent1"/>
              </a:buClr>
              <a:buSzPts val="1500"/>
              <a:buChar char="▪"/>
              <a:defRPr sz="1500">
                <a:latin typeface="Arial"/>
                <a:ea typeface="Arial"/>
                <a:cs typeface="Arial"/>
                <a:sym typeface="Arial"/>
              </a:defRPr>
            </a:lvl4pPr>
            <a:lvl5pPr marL="2286000" lvl="4" indent="-323850" algn="l">
              <a:lnSpc>
                <a:spcPct val="90000"/>
              </a:lnSpc>
              <a:spcBef>
                <a:spcPts val="375"/>
              </a:spcBef>
              <a:spcAft>
                <a:spcPts val="0"/>
              </a:spcAft>
              <a:buClr>
                <a:schemeClr val="accent1"/>
              </a:buClr>
              <a:buSzPts val="1500"/>
              <a:buChar char="▪"/>
              <a:defRPr sz="1500">
                <a:latin typeface="Arial"/>
                <a:ea typeface="Arial"/>
                <a:cs typeface="Arial"/>
                <a:sym typeface="Arial"/>
              </a:defRPr>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r>
              <a:rPr lang="ru-RU" dirty="0"/>
              <a:t>Текст слайда</a:t>
            </a:r>
            <a:endParaRPr dirty="0"/>
          </a:p>
        </p:txBody>
      </p:sp>
      <p:sp>
        <p:nvSpPr>
          <p:cNvPr id="82" name="Google Shape;82;p17"/>
          <p:cNvSpPr txBox="1">
            <a:spLocks noGrp="1"/>
          </p:cNvSpPr>
          <p:nvPr>
            <p:ph type="body" idx="2" hasCustomPrompt="1"/>
          </p:nvPr>
        </p:nvSpPr>
        <p:spPr>
          <a:xfrm>
            <a:off x="273628" y="1301263"/>
            <a:ext cx="4784147" cy="4908344"/>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Font typeface="Arial"/>
              <a:buChar char="▪"/>
              <a:defRPr sz="2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83" name="Google Shape;83;p17"/>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Объект с подписью" type="objTx">
  <p:cSld name="OBJECT_WITH_CAPTION_TEXT">
    <p:spTree>
      <p:nvGrpSpPr>
        <p:cNvPr id="1" name="Shape 74"/>
        <p:cNvGrpSpPr/>
        <p:nvPr/>
      </p:nvGrpSpPr>
      <p:grpSpPr>
        <a:xfrm>
          <a:off x="0" y="0"/>
          <a:ext cx="0" cy="0"/>
          <a:chOff x="0" y="0"/>
          <a:chExt cx="0" cy="0"/>
        </a:xfrm>
      </p:grpSpPr>
      <p:sp>
        <p:nvSpPr>
          <p:cNvPr id="75" name="Google Shape;75;p16"/>
          <p:cNvSpPr txBox="1">
            <a:spLocks noGrp="1"/>
          </p:cNvSpPr>
          <p:nvPr>
            <p:ph type="title" hasCustomPrompt="1"/>
          </p:nvPr>
        </p:nvSpPr>
        <p:spPr>
          <a:xfrm>
            <a:off x="273628" y="1213658"/>
            <a:ext cx="4702029" cy="843742"/>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accent1"/>
              </a:buClr>
              <a:buSzPts val="3200"/>
              <a:buFont typeface="Arial"/>
              <a:buNone/>
              <a:defRPr sz="2700">
                <a:latin typeface="Arial" panose="020B0604020202020204" pitchFamily="34" charset="0"/>
                <a:ea typeface="Arial"/>
                <a:cs typeface="Arial" pitchFamily="2" charset="0"/>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sz="2700" dirty="0"/>
              <a:t>Заголовок слайда</a:t>
            </a:r>
            <a:endParaRPr dirty="0"/>
          </a:p>
        </p:txBody>
      </p:sp>
      <p:sp>
        <p:nvSpPr>
          <p:cNvPr id="76" name="Google Shape;76;p16"/>
          <p:cNvSpPr txBox="1">
            <a:spLocks noGrp="1"/>
          </p:cNvSpPr>
          <p:nvPr>
            <p:ph type="body" idx="1" hasCustomPrompt="1"/>
          </p:nvPr>
        </p:nvSpPr>
        <p:spPr>
          <a:xfrm>
            <a:off x="5183187" y="311727"/>
            <a:ext cx="6735185" cy="554932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700">
                <a:latin typeface="Arial" panose="020B0604020202020204" pitchFamily="34" charset="0"/>
                <a:cs typeface="Arial" panose="02000000000000000000" pitchFamily="2" charset="0"/>
              </a:defRPr>
            </a:lvl1pPr>
            <a:lvl2pPr marL="914400" lvl="1" indent="-361950" algn="l">
              <a:lnSpc>
                <a:spcPct val="90000"/>
              </a:lnSpc>
              <a:spcBef>
                <a:spcPts val="375"/>
              </a:spcBef>
              <a:spcAft>
                <a:spcPts val="0"/>
              </a:spcAft>
              <a:buClr>
                <a:schemeClr val="accent1"/>
              </a:buClr>
              <a:buSzPts val="2100"/>
              <a:buChar char="▪"/>
              <a:defRPr sz="2100"/>
            </a:lvl2pPr>
            <a:lvl3pPr marL="1371600" lvl="2" indent="-342900" algn="l">
              <a:lnSpc>
                <a:spcPct val="90000"/>
              </a:lnSpc>
              <a:spcBef>
                <a:spcPts val="375"/>
              </a:spcBef>
              <a:spcAft>
                <a:spcPts val="0"/>
              </a:spcAft>
              <a:buClr>
                <a:schemeClr val="accent1"/>
              </a:buClr>
              <a:buSzPts val="1800"/>
              <a:buChar char="▪"/>
              <a:defRPr sz="1800"/>
            </a:lvl3pPr>
            <a:lvl4pPr marL="1828800" lvl="3" indent="-323850" algn="l">
              <a:lnSpc>
                <a:spcPct val="90000"/>
              </a:lnSpc>
              <a:spcBef>
                <a:spcPts val="375"/>
              </a:spcBef>
              <a:spcAft>
                <a:spcPts val="0"/>
              </a:spcAft>
              <a:buClr>
                <a:schemeClr val="accent1"/>
              </a:buClr>
              <a:buSzPts val="1500"/>
              <a:buChar char="▪"/>
              <a:defRPr sz="1500"/>
            </a:lvl4pPr>
            <a:lvl5pPr marL="2286000" lvl="4" indent="-323850" algn="l">
              <a:lnSpc>
                <a:spcPct val="90000"/>
              </a:lnSpc>
              <a:spcBef>
                <a:spcPts val="375"/>
              </a:spcBef>
              <a:spcAft>
                <a:spcPts val="0"/>
              </a:spcAft>
              <a:buClr>
                <a:schemeClr val="accent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r>
              <a:rPr lang="ru-RU" dirty="0"/>
              <a:t>Текст слайда</a:t>
            </a:r>
            <a:endParaRPr dirty="0"/>
          </a:p>
        </p:txBody>
      </p:sp>
      <p:sp>
        <p:nvSpPr>
          <p:cNvPr id="77" name="Google Shape;77;p16"/>
          <p:cNvSpPr txBox="1">
            <a:spLocks noGrp="1"/>
          </p:cNvSpPr>
          <p:nvPr>
            <p:ph type="body" idx="2" hasCustomPrompt="1"/>
          </p:nvPr>
        </p:nvSpPr>
        <p:spPr>
          <a:xfrm>
            <a:off x="273628" y="2057400"/>
            <a:ext cx="4702029" cy="3811588"/>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Font typeface="Arial"/>
              <a:buChar char="▪"/>
              <a:defRPr sz="1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6" name="Google Shape;83;p17">
            <a:extLst>
              <a:ext uri="{FF2B5EF4-FFF2-40B4-BE49-F238E27FC236}">
                <a16:creationId xmlns:a16="http://schemas.microsoft.com/office/drawing/2014/main" id="{375ED264-9BE6-45D1-BEF5-3485B756C4E8}"/>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Рисунок с подписью" type="picTx">
  <p:cSld name="PICTURE_WITH_CAPTION_TEXT">
    <p:spTree>
      <p:nvGrpSpPr>
        <p:cNvPr id="1" name="Shape 84"/>
        <p:cNvGrpSpPr/>
        <p:nvPr/>
      </p:nvGrpSpPr>
      <p:grpSpPr>
        <a:xfrm>
          <a:off x="0" y="0"/>
          <a:ext cx="0" cy="0"/>
          <a:chOff x="0" y="0"/>
          <a:chExt cx="0" cy="0"/>
        </a:xfrm>
      </p:grpSpPr>
      <p:sp>
        <p:nvSpPr>
          <p:cNvPr id="85" name="Google Shape;85;p18"/>
          <p:cNvSpPr txBox="1">
            <a:spLocks noGrp="1"/>
          </p:cNvSpPr>
          <p:nvPr>
            <p:ph type="title" hasCustomPrompt="1"/>
          </p:nvPr>
        </p:nvSpPr>
        <p:spPr>
          <a:xfrm>
            <a:off x="322118" y="1197033"/>
            <a:ext cx="4449907" cy="860366"/>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accent1"/>
              </a:buClr>
              <a:buSzPts val="3600"/>
              <a:buFont typeface="Arial"/>
              <a:buNone/>
              <a:defRPr sz="2700">
                <a:latin typeface="Arial" panose="020B0604020202020204" pitchFamily="34" charset="0"/>
                <a:ea typeface="Arial"/>
                <a:cs typeface="Arial" pitchFamily="2" charset="0"/>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sz="2700" dirty="0"/>
              <a:t>Заголовок слайда</a:t>
            </a:r>
            <a:endParaRPr dirty="0"/>
          </a:p>
        </p:txBody>
      </p:sp>
      <p:sp>
        <p:nvSpPr>
          <p:cNvPr id="86" name="Google Shape;86;p18"/>
          <p:cNvSpPr>
            <a:spLocks noGrp="1"/>
          </p:cNvSpPr>
          <p:nvPr>
            <p:ph type="pic" idx="2" hasCustomPrompt="1"/>
          </p:nvPr>
        </p:nvSpPr>
        <p:spPr>
          <a:xfrm>
            <a:off x="5287096" y="238509"/>
            <a:ext cx="6582785" cy="5627304"/>
          </a:xfrm>
          <a:prstGeom prst="rect">
            <a:avLst/>
          </a:prstGeom>
          <a:noFill/>
          <a:ln>
            <a:noFill/>
          </a:ln>
          <a:effectLst>
            <a:outerShdw blurRad="190500" dist="228600" dir="2700000" algn="ctr">
              <a:srgbClr val="000000">
                <a:alpha val="29803"/>
              </a:srgbClr>
            </a:outerShdw>
          </a:effectLst>
        </p:spPr>
        <p:txBody>
          <a:bodyPr>
            <a:normAutofit/>
          </a:bodyPr>
          <a:lstStyle>
            <a:lvl1pPr>
              <a:defRPr sz="2300">
                <a:latin typeface="Arial" panose="020B0604020202020204" pitchFamily="34" charset="0"/>
                <a:cs typeface="Arial" panose="02000000000000000000" pitchFamily="2" charset="0"/>
              </a:defRPr>
            </a:lvl1pPr>
          </a:lstStyle>
          <a:p>
            <a:r>
              <a:rPr lang="ru-RU" dirty="0"/>
              <a:t>Рисунок</a:t>
            </a:r>
          </a:p>
        </p:txBody>
      </p:sp>
      <p:sp>
        <p:nvSpPr>
          <p:cNvPr id="87" name="Google Shape;87;p18"/>
          <p:cNvSpPr txBox="1">
            <a:spLocks noGrp="1"/>
          </p:cNvSpPr>
          <p:nvPr>
            <p:ph type="body" idx="1" hasCustomPrompt="1"/>
          </p:nvPr>
        </p:nvSpPr>
        <p:spPr>
          <a:xfrm>
            <a:off x="322118" y="2057400"/>
            <a:ext cx="4449907" cy="3811588"/>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Font typeface="Arial"/>
              <a:buNone/>
              <a:defRPr sz="1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6" name="Google Shape;83;p17">
            <a:extLst>
              <a:ext uri="{FF2B5EF4-FFF2-40B4-BE49-F238E27FC236}">
                <a16:creationId xmlns:a16="http://schemas.microsoft.com/office/drawing/2014/main" id="{BB71C74F-A570-498D-A002-6D7C372C65B0}"/>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Закрывающий слайд пустой" userDrawn="1">
  <p:cSld name="Закрывающий слайд пустой">
    <p:spTree>
      <p:nvGrpSpPr>
        <p:cNvPr id="1" name="Shape 19"/>
        <p:cNvGrpSpPr/>
        <p:nvPr/>
      </p:nvGrpSpPr>
      <p:grpSpPr>
        <a:xfrm>
          <a:off x="0" y="0"/>
          <a:ext cx="0" cy="0"/>
          <a:chOff x="0" y="0"/>
          <a:chExt cx="0" cy="0"/>
        </a:xfrm>
      </p:grpSpPr>
      <p:pic>
        <p:nvPicPr>
          <p:cNvPr id="28" name="Google Shape;88;p1">
            <a:extLst>
              <a:ext uri="{FF2B5EF4-FFF2-40B4-BE49-F238E27FC236}">
                <a16:creationId xmlns:a16="http://schemas.microsoft.com/office/drawing/2014/main" id="{12BBAE2F-1E25-4B32-9650-086D0CA2FEB3}"/>
              </a:ext>
            </a:extLst>
          </p:cNvPr>
          <p:cNvPicPr preferRelativeResize="0"/>
          <p:nvPr userDrawn="1"/>
        </p:nvPicPr>
        <p:blipFill rotWithShape="1">
          <a:blip r:embed="rId2">
            <a:alphaModFix/>
          </a:blip>
          <a:srcRect t="16270" b="8845"/>
          <a:stretch/>
        </p:blipFill>
        <p:spPr>
          <a:xfrm>
            <a:off x="1" y="0"/>
            <a:ext cx="12192000" cy="6858000"/>
          </a:xfrm>
          <a:prstGeom prst="rect">
            <a:avLst/>
          </a:prstGeom>
          <a:noFill/>
          <a:ln>
            <a:noFill/>
          </a:ln>
        </p:spPr>
      </p:pic>
      <p:pic>
        <p:nvPicPr>
          <p:cNvPr id="5" name="Рисунок 4">
            <a:extLst>
              <a:ext uri="{FF2B5EF4-FFF2-40B4-BE49-F238E27FC236}">
                <a16:creationId xmlns:a16="http://schemas.microsoft.com/office/drawing/2014/main" id="{2B857A83-5237-42B9-BA8A-BF8F445C1D41}"/>
              </a:ext>
            </a:extLst>
          </p:cNvPr>
          <p:cNvPicPr>
            <a:picLocks noChangeAspect="1"/>
          </p:cNvPicPr>
          <p:nvPr userDrawn="1"/>
        </p:nvPicPr>
        <p:blipFill>
          <a:blip r:embed="rId3"/>
          <a:stretch>
            <a:fillRect/>
          </a:stretch>
        </p:blipFill>
        <p:spPr>
          <a:xfrm>
            <a:off x="6575410" y="2096584"/>
            <a:ext cx="1332000" cy="1332000"/>
          </a:xfrm>
          <a:prstGeom prst="rect">
            <a:avLst/>
          </a:prstGeom>
        </p:spPr>
      </p:pic>
      <p:pic>
        <p:nvPicPr>
          <p:cNvPr id="4" name="Рисунок 3">
            <a:extLst>
              <a:ext uri="{FF2B5EF4-FFF2-40B4-BE49-F238E27FC236}">
                <a16:creationId xmlns:a16="http://schemas.microsoft.com/office/drawing/2014/main" id="{FDF32500-0827-4423-A3B8-9538CB7A7CD1}"/>
              </a:ext>
            </a:extLst>
          </p:cNvPr>
          <p:cNvPicPr>
            <a:picLocks noChangeAspect="1"/>
          </p:cNvPicPr>
          <p:nvPr userDrawn="1"/>
        </p:nvPicPr>
        <p:blipFill>
          <a:blip r:embed="rId4"/>
          <a:stretch>
            <a:fillRect/>
          </a:stretch>
        </p:blipFill>
        <p:spPr>
          <a:xfrm>
            <a:off x="1278526" y="2042584"/>
            <a:ext cx="4710383" cy="1440000"/>
          </a:xfrm>
          <a:prstGeom prst="rect">
            <a:avLst/>
          </a:prstGeom>
        </p:spPr>
      </p:pic>
      <p:sp>
        <p:nvSpPr>
          <p:cNvPr id="29" name="TextBox 28">
            <a:extLst>
              <a:ext uri="{FF2B5EF4-FFF2-40B4-BE49-F238E27FC236}">
                <a16:creationId xmlns:a16="http://schemas.microsoft.com/office/drawing/2014/main" id="{D5D1BD65-59E0-46AC-BC24-1B28D1FA30E4}"/>
              </a:ext>
            </a:extLst>
          </p:cNvPr>
          <p:cNvSpPr txBox="1"/>
          <p:nvPr userDrawn="1"/>
        </p:nvSpPr>
        <p:spPr>
          <a:xfrm>
            <a:off x="7849902" y="2522519"/>
            <a:ext cx="3048512" cy="480131"/>
          </a:xfrm>
          <a:prstGeom prst="rect">
            <a:avLst/>
          </a:prstGeom>
          <a:noFill/>
          <a:effectLst/>
        </p:spPr>
        <p:txBody>
          <a:bodyPr wrap="square">
            <a:spAutoFit/>
          </a:bodyPr>
          <a:lstStyle/>
          <a:p>
            <a:pPr algn="ctr">
              <a:lnSpc>
                <a:spcPct val="90000"/>
              </a:lnSpc>
            </a:pPr>
            <a:r>
              <a:rPr lang="en-US" sz="2800" dirty="0">
                <a:solidFill>
                  <a:schemeClr val="bg1"/>
                </a:solidFill>
                <a:latin typeface="Arial" panose="020B0604020202020204" pitchFamily="34" charset="0"/>
                <a:ea typeface="Arial" panose="02000000000000000000" pitchFamily="2" charset="0"/>
              </a:rPr>
              <a:t>do.bmstu.ru</a:t>
            </a:r>
            <a:endParaRPr lang="ru-RU" sz="2800" dirty="0">
              <a:solidFill>
                <a:schemeClr val="bg1"/>
              </a:solidFill>
              <a:latin typeface="Arial" panose="020B0604020202020204" pitchFamily="34" charset="0"/>
              <a:ea typeface="Arial" panose="02000000000000000000" pitchFamily="2" charset="0"/>
            </a:endParaRPr>
          </a:p>
        </p:txBody>
      </p:sp>
      <p:sp>
        <p:nvSpPr>
          <p:cNvPr id="32" name="Прямоугольник 58">
            <a:extLst>
              <a:ext uri="{FF2B5EF4-FFF2-40B4-BE49-F238E27FC236}">
                <a16:creationId xmlns:a16="http://schemas.microsoft.com/office/drawing/2014/main" id="{046CF162-1BBC-4CF7-9474-D6A32C635F92}"/>
              </a:ext>
            </a:extLst>
          </p:cNvPr>
          <p:cNvSpPr/>
          <p:nvPr userDrawn="1"/>
        </p:nvSpPr>
        <p:spPr>
          <a:xfrm flipH="1">
            <a:off x="10711835" y="2096584"/>
            <a:ext cx="130790" cy="1332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285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anose="020B0604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
        <p:cNvGrpSpPr/>
        <p:nvPr/>
      </p:nvGrpSpPr>
      <p:grpSpPr>
        <a:xfrm>
          <a:off x="0" y="0"/>
          <a:ext cx="0" cy="0"/>
          <a:chOff x="0" y="0"/>
          <a:chExt cx="0" cy="0"/>
        </a:xfrm>
      </p:grpSpPr>
      <p:pic>
        <p:nvPicPr>
          <p:cNvPr id="3" name="Рисунок 2">
            <a:extLst>
              <a:ext uri="{FF2B5EF4-FFF2-40B4-BE49-F238E27FC236}">
                <a16:creationId xmlns:a16="http://schemas.microsoft.com/office/drawing/2014/main" id="{9E8EEF78-8EFF-47ED-8447-A3A1F67B89B9}"/>
              </a:ext>
            </a:extLst>
          </p:cNvPr>
          <p:cNvPicPr>
            <a:picLocks noChangeAspect="1"/>
          </p:cNvPicPr>
          <p:nvPr userDrawn="1"/>
        </p:nvPicPr>
        <p:blipFill>
          <a:blip r:embed="rId11"/>
          <a:stretch>
            <a:fillRect/>
          </a:stretch>
        </p:blipFill>
        <p:spPr>
          <a:xfrm>
            <a:off x="420566" y="446017"/>
            <a:ext cx="2361600" cy="722882"/>
          </a:xfrm>
          <a:prstGeom prst="rect">
            <a:avLst/>
          </a:prstGeom>
        </p:spPr>
      </p:pic>
      <p:sp>
        <p:nvSpPr>
          <p:cNvPr id="7" name="Google Shape;7;p4"/>
          <p:cNvSpPr txBox="1">
            <a:spLocks noGrp="1"/>
          </p:cNvSpPr>
          <p:nvPr>
            <p:ph type="body" idx="1"/>
          </p:nvPr>
        </p:nvSpPr>
        <p:spPr>
          <a:xfrm>
            <a:off x="420566" y="1301777"/>
            <a:ext cx="11350868" cy="4924709"/>
          </a:xfrm>
          <a:prstGeom prst="rect">
            <a:avLst/>
          </a:prstGeom>
          <a:noFill/>
          <a:ln>
            <a:noFill/>
          </a:ln>
        </p:spPr>
        <p:txBody>
          <a:bodyPr spcFirstLastPara="1" wrap="square" lIns="91425" tIns="45700" rIns="91425" bIns="45700" anchor="t" anchorCtr="0">
            <a:normAutofit/>
          </a:bodyPr>
          <a:lstStyle>
            <a:lvl1pPr marL="457200" marR="0" lvl="0" indent="-381000" algn="l" rtl="0">
              <a:lnSpc>
                <a:spcPct val="90000"/>
              </a:lnSpc>
              <a:spcBef>
                <a:spcPts val="750"/>
              </a:spcBef>
              <a:spcAft>
                <a:spcPts val="0"/>
              </a:spcAft>
              <a:buClr>
                <a:schemeClr val="accent1"/>
              </a:buClr>
              <a:buSzPts val="2400"/>
              <a:buFont typeface="Arial"/>
              <a:buChar char="▪"/>
              <a:defRPr sz="2400" b="0" i="0" u="none" strike="noStrike" cap="none">
                <a:solidFill>
                  <a:srgbClr val="262626"/>
                </a:solidFill>
                <a:latin typeface="Arial"/>
                <a:ea typeface="Arial"/>
                <a:cs typeface="Arial"/>
                <a:sym typeface="Arial"/>
              </a:defRPr>
            </a:lvl1pPr>
            <a:lvl2pPr marL="914400" marR="0" lvl="1" indent="-355600" algn="l" rtl="0">
              <a:lnSpc>
                <a:spcPct val="90000"/>
              </a:lnSpc>
              <a:spcBef>
                <a:spcPts val="375"/>
              </a:spcBef>
              <a:spcAft>
                <a:spcPts val="0"/>
              </a:spcAft>
              <a:buClr>
                <a:schemeClr val="accent1"/>
              </a:buClr>
              <a:buSzPts val="2000"/>
              <a:buFont typeface="Arial"/>
              <a:buChar char="▪"/>
              <a:defRPr sz="2000" b="0" i="0" u="none" strike="noStrike" cap="none">
                <a:solidFill>
                  <a:srgbClr val="262626"/>
                </a:solidFill>
                <a:latin typeface="Arial"/>
                <a:ea typeface="Arial"/>
                <a:cs typeface="Arial"/>
                <a:sym typeface="Arial"/>
              </a:defRPr>
            </a:lvl2pPr>
            <a:lvl3pPr marL="1371600" marR="0" lvl="2" indent="-330200" algn="l" rtl="0">
              <a:lnSpc>
                <a:spcPct val="90000"/>
              </a:lnSpc>
              <a:spcBef>
                <a:spcPts val="375"/>
              </a:spcBef>
              <a:spcAft>
                <a:spcPts val="0"/>
              </a:spcAft>
              <a:buClr>
                <a:schemeClr val="accent1"/>
              </a:buClr>
              <a:buSzPts val="1600"/>
              <a:buFont typeface="Arial"/>
              <a:buChar char="▪"/>
              <a:defRPr sz="1600" b="0" i="0" u="none" strike="noStrike" cap="none">
                <a:solidFill>
                  <a:srgbClr val="262626"/>
                </a:solidFill>
                <a:latin typeface="Arial"/>
                <a:ea typeface="Arial"/>
                <a:cs typeface="Arial"/>
                <a:sym typeface="Arial"/>
              </a:defRPr>
            </a:lvl3pPr>
            <a:lvl4pPr marL="1828800" marR="0" lvl="3" indent="-317500" algn="l" rtl="0">
              <a:lnSpc>
                <a:spcPct val="90000"/>
              </a:lnSpc>
              <a:spcBef>
                <a:spcPts val="375"/>
              </a:spcBef>
              <a:spcAft>
                <a:spcPts val="0"/>
              </a:spcAft>
              <a:buClr>
                <a:schemeClr val="accent1"/>
              </a:buClr>
              <a:buSzPts val="1400"/>
              <a:buFont typeface="Arial"/>
              <a:buChar char="▪"/>
              <a:defRPr sz="1400" b="0" i="0" u="none" strike="noStrike" cap="none">
                <a:solidFill>
                  <a:srgbClr val="262626"/>
                </a:solidFill>
                <a:latin typeface="Arial"/>
                <a:ea typeface="Arial"/>
                <a:cs typeface="Arial"/>
                <a:sym typeface="Arial"/>
              </a:defRPr>
            </a:lvl4pPr>
            <a:lvl5pPr marL="2286000" marR="0" lvl="4" indent="-317500" algn="l" rtl="0">
              <a:lnSpc>
                <a:spcPct val="90000"/>
              </a:lnSpc>
              <a:spcBef>
                <a:spcPts val="375"/>
              </a:spcBef>
              <a:spcAft>
                <a:spcPts val="0"/>
              </a:spcAft>
              <a:buClr>
                <a:schemeClr val="accent1"/>
              </a:buClr>
              <a:buSzPts val="1400"/>
              <a:buFont typeface="Arial"/>
              <a:buChar char="▪"/>
              <a:defRPr sz="1400" b="0" i="0" u="none" strike="noStrike" cap="none">
                <a:solidFill>
                  <a:srgbClr val="262626"/>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r>
              <a:rPr lang="ru-RU" dirty="0"/>
              <a:t>Текст слайда</a:t>
            </a:r>
            <a:endParaRPr lang="en-US" sz="2300" dirty="0">
              <a:latin typeface="Arial" panose="02000000000000000000" pitchFamily="2" charset="0"/>
              <a:cs typeface="Arial" panose="02000000000000000000" pitchFamily="2" charset="0"/>
            </a:endParaRPr>
          </a:p>
          <a:p>
            <a:endParaRPr dirty="0"/>
          </a:p>
        </p:txBody>
      </p:sp>
      <p:sp>
        <p:nvSpPr>
          <p:cNvPr id="8" name="Google Shape;8;p4"/>
          <p:cNvSpPr txBox="1">
            <a:spLocks noGrp="1"/>
          </p:cNvSpPr>
          <p:nvPr>
            <p:ph type="sldNum" idx="12"/>
          </p:nvPr>
        </p:nvSpPr>
        <p:spPr>
          <a:xfrm>
            <a:off x="668287" y="6360806"/>
            <a:ext cx="838198" cy="365125"/>
          </a:xfrm>
          <a:prstGeom prst="rect">
            <a:avLst/>
          </a:prstGeom>
          <a:noFill/>
          <a:ln>
            <a:noFill/>
          </a:ln>
        </p:spPr>
        <p:txBody>
          <a:bodyPr spcFirstLastPara="1" wrap="square" lIns="91425" tIns="45700" rIns="91425" bIns="45700" anchor="ctr" anchorCtr="0">
            <a:noAutofit/>
          </a:bodyPr>
          <a:lstStyle>
            <a:lvl1pPr marL="0" marR="0" lvl="0" indent="0" algn="l" rtl="0">
              <a:spcBef>
                <a:spcPts val="0"/>
              </a:spcBef>
              <a:buNone/>
              <a:defRPr sz="2400" b="0" i="0" u="none" strike="noStrike" cap="none">
                <a:solidFill>
                  <a:srgbClr val="898989"/>
                </a:solidFill>
                <a:latin typeface="Arial" panose="020B0604020202020204" pitchFamily="34" charset="0"/>
                <a:ea typeface="Arial"/>
                <a:cs typeface="Arial"/>
                <a:sym typeface="Arial"/>
              </a:defRPr>
            </a:lvl1pPr>
            <a:lvl2pPr marL="0" marR="0" lvl="1" indent="0" algn="l" rtl="0">
              <a:spcBef>
                <a:spcPts val="0"/>
              </a:spcBef>
              <a:buNone/>
              <a:defRPr sz="2400" b="0" i="0" u="none" strike="noStrike" cap="none">
                <a:solidFill>
                  <a:srgbClr val="898989"/>
                </a:solidFill>
                <a:latin typeface="Arial"/>
                <a:ea typeface="Arial"/>
                <a:cs typeface="Arial"/>
                <a:sym typeface="Arial"/>
              </a:defRPr>
            </a:lvl2pPr>
            <a:lvl3pPr marL="0" marR="0" lvl="2" indent="0" algn="l" rtl="0">
              <a:spcBef>
                <a:spcPts val="0"/>
              </a:spcBef>
              <a:buNone/>
              <a:defRPr sz="2400" b="0" i="0" u="none" strike="noStrike" cap="none">
                <a:solidFill>
                  <a:srgbClr val="898989"/>
                </a:solidFill>
                <a:latin typeface="Arial"/>
                <a:ea typeface="Arial"/>
                <a:cs typeface="Arial"/>
                <a:sym typeface="Arial"/>
              </a:defRPr>
            </a:lvl3pPr>
            <a:lvl4pPr marL="0" marR="0" lvl="3" indent="0" algn="l" rtl="0">
              <a:spcBef>
                <a:spcPts val="0"/>
              </a:spcBef>
              <a:buNone/>
              <a:defRPr sz="2400" b="0" i="0" u="none" strike="noStrike" cap="none">
                <a:solidFill>
                  <a:srgbClr val="898989"/>
                </a:solidFill>
                <a:latin typeface="Arial"/>
                <a:ea typeface="Arial"/>
                <a:cs typeface="Arial"/>
                <a:sym typeface="Arial"/>
              </a:defRPr>
            </a:lvl4pPr>
            <a:lvl5pPr marL="0" marR="0" lvl="4" indent="0" algn="l" rtl="0">
              <a:spcBef>
                <a:spcPts val="0"/>
              </a:spcBef>
              <a:buNone/>
              <a:defRPr sz="2400" b="0" i="0" u="none" strike="noStrike" cap="none">
                <a:solidFill>
                  <a:srgbClr val="898989"/>
                </a:solidFill>
                <a:latin typeface="Arial"/>
                <a:ea typeface="Arial"/>
                <a:cs typeface="Arial"/>
                <a:sym typeface="Arial"/>
              </a:defRPr>
            </a:lvl5pPr>
            <a:lvl6pPr marL="0" marR="0" lvl="5" indent="0" algn="l" rtl="0">
              <a:spcBef>
                <a:spcPts val="0"/>
              </a:spcBef>
              <a:buNone/>
              <a:defRPr sz="2400" b="0" i="0" u="none" strike="noStrike" cap="none">
                <a:solidFill>
                  <a:srgbClr val="898989"/>
                </a:solidFill>
                <a:latin typeface="Arial"/>
                <a:ea typeface="Arial"/>
                <a:cs typeface="Arial"/>
                <a:sym typeface="Arial"/>
              </a:defRPr>
            </a:lvl6pPr>
            <a:lvl7pPr marL="0" marR="0" lvl="6" indent="0" algn="l" rtl="0">
              <a:spcBef>
                <a:spcPts val="0"/>
              </a:spcBef>
              <a:buNone/>
              <a:defRPr sz="2400" b="0" i="0" u="none" strike="noStrike" cap="none">
                <a:solidFill>
                  <a:srgbClr val="898989"/>
                </a:solidFill>
                <a:latin typeface="Arial"/>
                <a:ea typeface="Arial"/>
                <a:cs typeface="Arial"/>
                <a:sym typeface="Arial"/>
              </a:defRPr>
            </a:lvl7pPr>
            <a:lvl8pPr marL="0" marR="0" lvl="7" indent="0" algn="l" rtl="0">
              <a:spcBef>
                <a:spcPts val="0"/>
              </a:spcBef>
              <a:buNone/>
              <a:defRPr sz="2400" b="0" i="0" u="none" strike="noStrike" cap="none">
                <a:solidFill>
                  <a:srgbClr val="898989"/>
                </a:solidFill>
                <a:latin typeface="Arial"/>
                <a:ea typeface="Arial"/>
                <a:cs typeface="Arial"/>
                <a:sym typeface="Arial"/>
              </a:defRPr>
            </a:lvl8pPr>
            <a:lvl9pPr marL="0" marR="0" lvl="8" indent="0" algn="l" rtl="0">
              <a:spcBef>
                <a:spcPts val="0"/>
              </a:spcBef>
              <a:buNone/>
              <a:defRPr sz="2400" b="0" i="0" u="none" strike="noStrike" cap="none">
                <a:solidFill>
                  <a:srgbClr val="898989"/>
                </a:solidFill>
                <a:latin typeface="Arial"/>
                <a:ea typeface="Arial"/>
                <a:cs typeface="Arial"/>
                <a:sym typeface="Arial"/>
              </a:defRPr>
            </a:lvl9pPr>
          </a:lstStyle>
          <a:p>
            <a:fld id="{00000000-1234-1234-1234-123412341234}" type="slidenum">
              <a:rPr lang="ru-RU" smtClean="0"/>
              <a:pPr/>
              <a:t>‹#›</a:t>
            </a:fld>
            <a:endParaRPr lang="ru-RU" dirty="0"/>
          </a:p>
        </p:txBody>
      </p:sp>
    </p:spTree>
  </p:cSld>
  <p:clrMap bg1="lt1" tx1="dk1" bg2="dk2" tx2="lt2" accent1="accent1" accent2="accent2" accent3="accent3" accent4="accent4" accent5="accent5" accent6="accent6" hlink="hlink" folHlink="folHlink"/>
  <p:sldLayoutIdLst>
    <p:sldLayoutId id="2147483649" r:id="rId1"/>
    <p:sldLayoutId id="2147483652" r:id="rId2"/>
    <p:sldLayoutId id="2147483657" r:id="rId3"/>
    <p:sldLayoutId id="2147483658" r:id="rId4"/>
    <p:sldLayoutId id="2147483659" r:id="rId5"/>
    <p:sldLayoutId id="2147483661" r:id="rId6"/>
    <p:sldLayoutId id="2147483660" r:id="rId7"/>
    <p:sldLayoutId id="2147483662" r:id="rId8"/>
    <p:sldLayoutId id="2147483651" r:id="rId9"/>
  </p:sldLayoutIdLst>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L="76200" marR="0" lvl="0" indent="0" algn="l" rtl="0">
        <a:lnSpc>
          <a:spcPct val="100000"/>
        </a:lnSpc>
        <a:spcBef>
          <a:spcPts val="0"/>
        </a:spcBef>
        <a:spcAft>
          <a:spcPts val="0"/>
        </a:spcAft>
        <a:buClr>
          <a:srgbClr val="000000"/>
        </a:buClr>
        <a:buFont typeface="Arial"/>
        <a:buNone/>
        <a:defRPr sz="2300" b="0" i="0" u="none" strike="noStrike" cap="none" baseline="0">
          <a:solidFill>
            <a:srgbClr val="000000"/>
          </a:solidFill>
          <a:latin typeface="Arial" panose="020B0604020202020204" pitchFamily="34" charset="0"/>
          <a:ea typeface="Arial" panose="02000000000000000000" pitchFamily="2" charset="0"/>
          <a:cs typeface="Arial" panose="02000000000000000000" pitchFamily="2" charset="0"/>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marL="0" indent="0" algn="l">
              <a:lnSpc>
                <a:spcPct val="100000"/>
              </a:lnSpc>
              <a:buNone/>
            </a:pPr>
            <a:r>
              <a:rPr sz="4000" b="0" i="0" dirty="0" err="1">
                <a:solidFill>
                  <a:srgbClr val="FFFFFF"/>
                </a:solidFill>
                <a:cs typeface="Arial"/>
              </a:rPr>
              <a:t>Прогнозирование</a:t>
            </a:r>
            <a:r>
              <a:rPr sz="4000" b="0" i="0" dirty="0">
                <a:solidFill>
                  <a:srgbClr val="FFFFFF"/>
                </a:solidFill>
                <a:cs typeface="Arial"/>
              </a:rPr>
              <a:t> </a:t>
            </a:r>
            <a:r>
              <a:rPr sz="4000" b="0" i="0" dirty="0" err="1">
                <a:solidFill>
                  <a:srgbClr val="FFFFFF"/>
                </a:solidFill>
                <a:cs typeface="Arial"/>
              </a:rPr>
              <a:t>конечных</a:t>
            </a:r>
            <a:r>
              <a:rPr sz="4000" b="0" i="0" dirty="0">
                <a:solidFill>
                  <a:srgbClr val="FFFFFF"/>
                </a:solidFill>
                <a:cs typeface="Arial"/>
              </a:rPr>
              <a:t> </a:t>
            </a:r>
            <a:r>
              <a:rPr sz="4000" b="0" i="0" dirty="0" err="1">
                <a:solidFill>
                  <a:srgbClr val="FFFFFF"/>
                </a:solidFill>
                <a:cs typeface="Arial"/>
              </a:rPr>
              <a:t>свойств</a:t>
            </a:r>
            <a:r>
              <a:rPr sz="4000" b="0" i="0" dirty="0">
                <a:solidFill>
                  <a:srgbClr val="FFFFFF"/>
                </a:solidFill>
                <a:cs typeface="Arial"/>
              </a:rPr>
              <a:t> </a:t>
            </a:r>
            <a:r>
              <a:rPr sz="4000" b="0" i="0" dirty="0" err="1">
                <a:solidFill>
                  <a:srgbClr val="FFFFFF"/>
                </a:solidFill>
                <a:cs typeface="Arial"/>
              </a:rPr>
              <a:t>новых</a:t>
            </a:r>
            <a:r>
              <a:rPr sz="4000" b="0" i="0" dirty="0">
                <a:solidFill>
                  <a:srgbClr val="FFFFFF"/>
                </a:solidFill>
                <a:cs typeface="Arial"/>
              </a:rPr>
              <a:t> </a:t>
            </a:r>
            <a:r>
              <a:rPr sz="4000" b="0" i="0" dirty="0" err="1">
                <a:solidFill>
                  <a:srgbClr val="FFFFFF"/>
                </a:solidFill>
                <a:cs typeface="Arial"/>
              </a:rPr>
              <a:t>материалов</a:t>
            </a:r>
            <a:r>
              <a:rPr sz="4000" b="0" i="0" dirty="0">
                <a:solidFill>
                  <a:srgbClr val="FFFFFF"/>
                </a:solidFill>
                <a:cs typeface="Arial"/>
              </a:rPr>
              <a:t> (</a:t>
            </a:r>
            <a:r>
              <a:rPr sz="4000" b="0" i="0" dirty="0" err="1">
                <a:solidFill>
                  <a:srgbClr val="FFFFFF"/>
                </a:solidFill>
                <a:cs typeface="Arial"/>
              </a:rPr>
              <a:t>композиционных</a:t>
            </a:r>
            <a:r>
              <a:rPr sz="4000" b="0" i="0" dirty="0">
                <a:solidFill>
                  <a:srgbClr val="FFFFFF"/>
                </a:solidFill>
                <a:cs typeface="Arial"/>
              </a:rPr>
              <a:t> </a:t>
            </a:r>
            <a:r>
              <a:rPr sz="4000" b="0" i="0" dirty="0" err="1">
                <a:solidFill>
                  <a:srgbClr val="FFFFFF"/>
                </a:solidFill>
                <a:cs typeface="Arial"/>
              </a:rPr>
              <a:t>материалов</a:t>
            </a:r>
            <a:r>
              <a:rPr sz="4000" b="0" i="0" dirty="0">
                <a:solidFill>
                  <a:srgbClr val="FFFFFF"/>
                </a:solidFill>
                <a:cs typeface="Arial"/>
              </a:rPr>
              <a:t>)</a:t>
            </a:r>
          </a:p>
        </p:txBody>
      </p:sp>
      <p:sp>
        <p:nvSpPr>
          <p:cNvPr id="3" name="Subtitle 2"/>
          <p:cNvSpPr>
            <a:spLocks noGrp="1"/>
          </p:cNvSpPr>
          <p:nvPr>
            <p:ph type="subTitle" idx="1"/>
          </p:nvPr>
        </p:nvSpPr>
        <p:spPr/>
        <p:txBody>
          <a:bodyPr wrap="square"/>
          <a:lstStyle/>
          <a:p>
            <a:pPr marL="0" indent="0" algn="l">
              <a:buNone/>
            </a:pPr>
            <a:r>
              <a:rPr lang="ru-RU" sz="2400" i="0">
                <a:solidFill>
                  <a:srgbClr val="FFFFFF"/>
                </a:solidFill>
                <a:cs typeface="Arial"/>
              </a:rPr>
              <a:t>Фролов П.В.</a:t>
            </a:r>
            <a:endParaRPr sz="2400" i="0" dirty="0">
              <a:solidFill>
                <a:srgbClr val="FFFFFF"/>
              </a:solidFil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325880"/>
            <a:ext cx="7315200" cy="822960"/>
          </a:xfrm>
        </p:spPr>
        <p:txBody>
          <a:bodyPr wrap="square">
            <a:normAutofit/>
          </a:bodyPr>
          <a:lstStyle/>
          <a:p>
            <a:pPr marL="0" indent="0" algn="l">
              <a:buNone/>
            </a:pPr>
            <a:r>
              <a:rPr lang="ru-RU" sz="2100" b="1" i="0">
                <a:solidFill>
                  <a:srgbClr val="F1BE29"/>
                </a:solidFill>
                <a:cs typeface="Arial"/>
              </a:rPr>
              <a:t>Прогноз даёт предварительную оценку до физического испытания</a:t>
            </a:r>
            <a:endParaRPr sz="2100" b="1" i="0">
              <a:solidFill>
                <a:srgbClr val="F1BE29"/>
              </a:solidFill>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5420963" cy="666000"/>
            <a:chOff x="0" y="0"/>
            <a:chExt cx="542096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542096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Материал и два прогнозируемых свойства</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533091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cxnSp>
        <p:nvCxnSpPr>
          <p:cNvPr id="71" name="Connector 70"/>
          <p:cNvCxnSpPr/>
          <p:nvPr/>
        </p:nvCxnSpPr>
        <p:spPr>
          <a:xfrm>
            <a:off x="557784" y="2377440"/>
            <a:ext cx="0" cy="868680"/>
          </a:xfrm>
          <a:prstGeom prst="line">
            <a:avLst/>
          </a:prstGeom>
          <a:ln w="28575">
            <a:solidFill>
              <a:srgbClr val="065CAB"/>
            </a:solidFill>
          </a:ln>
        </p:spPr>
      </p:cxnSp>
      <p:cxnSp>
        <p:nvCxnSpPr>
          <p:cNvPr id="72" name="Connector 71"/>
          <p:cNvCxnSpPr/>
          <p:nvPr/>
        </p:nvCxnSpPr>
        <p:spPr>
          <a:xfrm>
            <a:off x="557784" y="2377440"/>
            <a:ext cx="384048" cy="0"/>
          </a:xfrm>
          <a:prstGeom prst="line">
            <a:avLst/>
          </a:prstGeom>
          <a:ln w="28575">
            <a:solidFill>
              <a:srgbClr val="065CAB"/>
            </a:solidFill>
          </a:ln>
        </p:spPr>
      </p:cxnSp>
      <p:cxnSp>
        <p:nvCxnSpPr>
          <p:cNvPr id="73" name="Connector 72"/>
          <p:cNvCxnSpPr/>
          <p:nvPr/>
        </p:nvCxnSpPr>
        <p:spPr>
          <a:xfrm>
            <a:off x="557784" y="3246120"/>
            <a:ext cx="384048" cy="0"/>
          </a:xfrm>
          <a:prstGeom prst="line">
            <a:avLst/>
          </a:prstGeom>
          <a:ln w="28575">
            <a:solidFill>
              <a:srgbClr val="065CAB"/>
            </a:solidFill>
          </a:ln>
        </p:spPr>
      </p:cxnSp>
      <p:sp>
        <p:nvSpPr>
          <p:cNvPr id="74" name="TextBox 73"/>
          <p:cNvSpPr txBox="1"/>
          <p:nvPr/>
        </p:nvSpPr>
        <p:spPr>
          <a:xfrm>
            <a:off x="713232" y="239572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1</a:t>
            </a:r>
          </a:p>
        </p:txBody>
      </p:sp>
      <p:sp>
        <p:nvSpPr>
          <p:cNvPr id="75" name="TextBox 74"/>
          <p:cNvSpPr txBox="1"/>
          <p:nvPr/>
        </p:nvSpPr>
        <p:spPr>
          <a:xfrm>
            <a:off x="1417320" y="2395728"/>
            <a:ext cx="6309360" cy="868680"/>
          </a:xfrm>
          <a:prstGeom prst="rect">
            <a:avLst/>
          </a:prstGeom>
          <a:noFill/>
        </p:spPr>
        <p:txBody>
          <a:bodyPr wrap="square" lIns="0" tIns="0" rIns="0" bIns="0" anchor="t"/>
          <a:lstStyle/>
          <a:p>
            <a:pPr marL="0" indent="0" algn="l">
              <a:lnSpc>
                <a:spcPct val="100000"/>
              </a:lnSpc>
              <a:buNone/>
            </a:pPr>
            <a:r>
              <a:rPr lang="ru-RU" sz="1800" i="0">
                <a:solidFill>
                  <a:srgbClr val="595959"/>
                </a:solidFill>
                <a:latin typeface="Arial" panose="020B0604020202020204" pitchFamily="34" charset="0"/>
                <a:cs typeface="Arial"/>
              </a:rPr>
              <a:t>Связующее (матрица)
удерживает компоненты и передаёт нагрузку</a:t>
            </a:r>
            <a:endParaRPr sz="1800" i="0">
              <a:solidFill>
                <a:srgbClr val="262626"/>
              </a:solidFill>
              <a:latin typeface="Arial" panose="020B0604020202020204" pitchFamily="34" charset="0"/>
              <a:cs typeface="Arial"/>
            </a:endParaRPr>
          </a:p>
        </p:txBody>
      </p:sp>
      <p:cxnSp>
        <p:nvCxnSpPr>
          <p:cNvPr id="76" name="Connector 75"/>
          <p:cNvCxnSpPr/>
          <p:nvPr/>
        </p:nvCxnSpPr>
        <p:spPr>
          <a:xfrm>
            <a:off x="557784" y="3547872"/>
            <a:ext cx="0" cy="868680"/>
          </a:xfrm>
          <a:prstGeom prst="line">
            <a:avLst/>
          </a:prstGeom>
          <a:ln w="28575">
            <a:solidFill>
              <a:srgbClr val="065CAB"/>
            </a:solidFill>
          </a:ln>
        </p:spPr>
      </p:cxnSp>
      <p:cxnSp>
        <p:nvCxnSpPr>
          <p:cNvPr id="77" name="Connector 76"/>
          <p:cNvCxnSpPr/>
          <p:nvPr/>
        </p:nvCxnSpPr>
        <p:spPr>
          <a:xfrm>
            <a:off x="557784" y="3547872"/>
            <a:ext cx="384048" cy="0"/>
          </a:xfrm>
          <a:prstGeom prst="line">
            <a:avLst/>
          </a:prstGeom>
          <a:ln w="28575">
            <a:solidFill>
              <a:srgbClr val="065CAB"/>
            </a:solidFill>
          </a:ln>
        </p:spPr>
      </p:cxnSp>
      <p:cxnSp>
        <p:nvCxnSpPr>
          <p:cNvPr id="78" name="Connector 77"/>
          <p:cNvCxnSpPr/>
          <p:nvPr/>
        </p:nvCxnSpPr>
        <p:spPr>
          <a:xfrm>
            <a:off x="557784" y="4416552"/>
            <a:ext cx="384048" cy="0"/>
          </a:xfrm>
          <a:prstGeom prst="line">
            <a:avLst/>
          </a:prstGeom>
          <a:ln w="28575">
            <a:solidFill>
              <a:srgbClr val="065CAB"/>
            </a:solidFill>
          </a:ln>
        </p:spPr>
      </p:cxnSp>
      <p:sp>
        <p:nvSpPr>
          <p:cNvPr id="79" name="TextBox 78"/>
          <p:cNvSpPr txBox="1"/>
          <p:nvPr/>
        </p:nvSpPr>
        <p:spPr>
          <a:xfrm>
            <a:off x="713232" y="3566160"/>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2</a:t>
            </a:r>
          </a:p>
        </p:txBody>
      </p:sp>
      <p:sp>
        <p:nvSpPr>
          <p:cNvPr id="80" name="TextBox 79"/>
          <p:cNvSpPr txBox="1"/>
          <p:nvPr/>
        </p:nvSpPr>
        <p:spPr>
          <a:xfrm>
            <a:off x="1417320" y="3566160"/>
            <a:ext cx="6309360" cy="868680"/>
          </a:xfrm>
          <a:prstGeom prst="rect">
            <a:avLst/>
          </a:prstGeom>
          <a:noFill/>
        </p:spPr>
        <p:txBody>
          <a:bodyPr wrap="square" lIns="0" tIns="0" rIns="0" bIns="0" anchor="t"/>
          <a:lstStyle/>
          <a:p>
            <a:pPr marL="0" indent="0" algn="l">
              <a:lnSpc>
                <a:spcPct val="100000"/>
              </a:lnSpc>
              <a:buNone/>
            </a:pPr>
            <a:r>
              <a:rPr lang="ru-RU" sz="1800" i="0">
                <a:solidFill>
                  <a:srgbClr val="595959"/>
                </a:solidFill>
                <a:latin typeface="Arial" panose="020B0604020202020204" pitchFamily="34" charset="0"/>
                <a:cs typeface="Arial"/>
              </a:rPr>
              <a:t>Наполнитель
влияет на свойства и может усиливать материал</a:t>
            </a:r>
            <a:endParaRPr sz="1800" i="0">
              <a:solidFill>
                <a:srgbClr val="262626"/>
              </a:solidFill>
              <a:latin typeface="Arial" panose="020B0604020202020204" pitchFamily="34" charset="0"/>
              <a:cs typeface="Arial"/>
            </a:endParaRPr>
          </a:p>
        </p:txBody>
      </p:sp>
      <p:cxnSp>
        <p:nvCxnSpPr>
          <p:cNvPr id="81" name="Connector 80"/>
          <p:cNvCxnSpPr/>
          <p:nvPr/>
        </p:nvCxnSpPr>
        <p:spPr>
          <a:xfrm>
            <a:off x="557784" y="4718304"/>
            <a:ext cx="0" cy="868680"/>
          </a:xfrm>
          <a:prstGeom prst="line">
            <a:avLst/>
          </a:prstGeom>
          <a:ln w="28575">
            <a:solidFill>
              <a:srgbClr val="065CAB"/>
            </a:solidFill>
          </a:ln>
        </p:spPr>
      </p:cxnSp>
      <p:cxnSp>
        <p:nvCxnSpPr>
          <p:cNvPr id="82" name="Connector 81"/>
          <p:cNvCxnSpPr/>
          <p:nvPr/>
        </p:nvCxnSpPr>
        <p:spPr>
          <a:xfrm>
            <a:off x="557784" y="4718304"/>
            <a:ext cx="384048" cy="0"/>
          </a:xfrm>
          <a:prstGeom prst="line">
            <a:avLst/>
          </a:prstGeom>
          <a:ln w="28575">
            <a:solidFill>
              <a:srgbClr val="065CAB"/>
            </a:solidFill>
          </a:ln>
        </p:spPr>
      </p:cxnSp>
      <p:cxnSp>
        <p:nvCxnSpPr>
          <p:cNvPr id="83" name="Connector 82"/>
          <p:cNvCxnSpPr/>
          <p:nvPr/>
        </p:nvCxnSpPr>
        <p:spPr>
          <a:xfrm>
            <a:off x="557784" y="5586984"/>
            <a:ext cx="384048" cy="0"/>
          </a:xfrm>
          <a:prstGeom prst="line">
            <a:avLst/>
          </a:prstGeom>
          <a:ln w="28575">
            <a:solidFill>
              <a:srgbClr val="065CAB"/>
            </a:solidFill>
          </a:ln>
        </p:spPr>
      </p:cxnSp>
      <p:sp>
        <p:nvSpPr>
          <p:cNvPr id="84" name="TextBox 83"/>
          <p:cNvSpPr txBox="1"/>
          <p:nvPr/>
        </p:nvSpPr>
        <p:spPr>
          <a:xfrm>
            <a:off x="713232" y="4736592"/>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3</a:t>
            </a:r>
          </a:p>
        </p:txBody>
      </p:sp>
      <p:sp>
        <p:nvSpPr>
          <p:cNvPr id="85" name="TextBox 84"/>
          <p:cNvSpPr txBox="1"/>
          <p:nvPr/>
        </p:nvSpPr>
        <p:spPr>
          <a:xfrm>
            <a:off x="1417320" y="4736592"/>
            <a:ext cx="6309360" cy="868680"/>
          </a:xfrm>
          <a:prstGeom prst="rect">
            <a:avLst/>
          </a:prstGeom>
          <a:noFill/>
        </p:spPr>
        <p:txBody>
          <a:bodyPr wrap="square" lIns="0" tIns="0" rIns="0" bIns="0" anchor="t"/>
          <a:lstStyle/>
          <a:p>
            <a:pPr marL="0" indent="0" algn="l">
              <a:lnSpc>
                <a:spcPct val="100000"/>
              </a:lnSpc>
              <a:buNone/>
            </a:pPr>
            <a:r>
              <a:rPr lang="ru-RU" sz="1800" i="0">
                <a:solidFill>
                  <a:srgbClr val="595959"/>
                </a:solidFill>
                <a:latin typeface="Arial" panose="020B0604020202020204" pitchFamily="34" charset="0"/>
                <a:cs typeface="Arial"/>
              </a:rPr>
              <a:t>Цель
оценить свойства по известным характеристикам</a:t>
            </a:r>
            <a:endParaRPr sz="1800" i="0">
              <a:solidFill>
                <a:srgbClr val="262626"/>
              </a:solidFill>
              <a:latin typeface="Arial" panose="020B0604020202020204" pitchFamily="34" charset="0"/>
              <a:cs typeface="Arial"/>
            </a:endParaRPr>
          </a:p>
        </p:txBody>
      </p:sp>
      <p:sp>
        <p:nvSpPr>
          <p:cNvPr id="86" name="Цель"/>
          <p:cNvSpPr/>
          <p:nvPr/>
        </p:nvSpPr>
        <p:spPr>
          <a:xfrm>
            <a:off x="8183879" y="1417320"/>
            <a:ext cx="3584448" cy="4663440"/>
          </a:xfrm>
          <a:prstGeom prst="rect">
            <a:avLst/>
          </a:prstGeom>
          <a:solidFill>
            <a:srgbClr val="F1BE29"/>
          </a:solidFill>
          <a:ln>
            <a:noFill/>
          </a:ln>
        </p:spPr>
        <p:txBody>
          <a:bodyPr rtlCol="0" anchor="ctr"/>
          <a:lstStyle/>
          <a:p>
            <a:pPr algn="ctr"/>
            <a:endParaRPr/>
          </a:p>
        </p:txBody>
      </p:sp>
      <p:sp>
        <p:nvSpPr>
          <p:cNvPr id="87" name="TextBox 86"/>
          <p:cNvSpPr txBox="1"/>
          <p:nvPr/>
        </p:nvSpPr>
        <p:spPr>
          <a:xfrm>
            <a:off x="8412480" y="1645920"/>
            <a:ext cx="3154680" cy="4297680"/>
          </a:xfrm>
          <a:prstGeom prst="rect">
            <a:avLst/>
          </a:prstGeom>
          <a:noFill/>
        </p:spPr>
        <p:txBody>
          <a:bodyPr wrap="square" lIns="0" tIns="0" rIns="0" bIns="0" anchor="t"/>
          <a:lstStyle/>
          <a:p>
            <a:pPr marL="0" indent="0" algn="l">
              <a:lnSpc>
                <a:spcPct val="105000"/>
              </a:lnSpc>
              <a:buNone/>
            </a:pPr>
            <a:r>
              <a:rPr lang="ru-RU" sz="1700" i="0">
                <a:solidFill>
                  <a:srgbClr val="262626"/>
                </a:solidFill>
                <a:latin typeface="Arial" panose="020B0604020202020204" pitchFamily="34" charset="0"/>
                <a:cs typeface="Arial"/>
              </a:rPr>
              <a:t>Что оцениваем
Модуль упругости при растяжении
сопротивление обратимому растяжению
Прочность при растяжении
предел перед разрушением</a:t>
            </a:r>
            <a:endParaRPr sz="1700" i="0">
              <a:solidFill>
                <a:srgbClr val="262626"/>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2</a:t>
            </a:fld>
            <a:endParaRPr lang="ru-RU" dirty="0">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527369" cy="666000"/>
            <a:chOff x="0" y="0"/>
            <a:chExt cx="752736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52736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Две таблицы образуют один набор данных</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43732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graphicFrame>
        <p:nvGraphicFramePr>
          <p:cNvPr id="71" name="Таблица объединения"/>
          <p:cNvGraphicFramePr>
            <a:graphicFrameLocks noGrp="1"/>
          </p:cNvGraphicFramePr>
          <p:nvPr>
            <p:extLst>
              <p:ext uri="{D42A27DB-BD31-4B8C-83A1-F6EECF244321}">
                <p14:modId xmlns:p14="http://schemas.microsoft.com/office/powerpoint/2010/main" val="1265352088"/>
              </p:ext>
            </p:extLst>
          </p:nvPr>
        </p:nvGraphicFramePr>
        <p:xfrm>
          <a:off x="557784" y="1600200"/>
          <a:ext cx="6766560" cy="2267712"/>
        </p:xfrm>
        <a:graphic>
          <a:graphicData uri="http://schemas.openxmlformats.org/drawingml/2006/table">
            <a:tbl>
              <a:tblPr>
                <a:tableStyleId>{2D5ABB26-0587-4C30-8999-92F81FD0307C}</a:tableStyleId>
              </a:tblPr>
              <a:tblGrid>
                <a:gridCol w="34747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566928">
                <a:tc>
                  <a:txBody>
                    <a:bodyPr/>
                    <a:lstStyle/>
                    <a:p>
                      <a:pPr marL="0" indent="0" algn="l">
                        <a:buNone/>
                      </a:pPr>
                      <a:r>
                        <a:rPr sz="2000" b="1" i="0">
                          <a:solidFill>
                            <a:srgbClr val="FFFFFF"/>
                          </a:solidFill>
                          <a:latin typeface="Arial" panose="020B0604020202020204" pitchFamily="34" charset="0"/>
                          <a:cs typeface="Arial"/>
                        </a:rPr>
                        <a:t>Источник</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sz="2000" b="1" i="0">
                          <a:solidFill>
                            <a:srgbClr val="FFFFFF"/>
                          </a:solidFill>
                          <a:latin typeface="Arial" panose="020B0604020202020204" pitchFamily="34" charset="0"/>
                          <a:cs typeface="Arial"/>
                        </a:rPr>
                        <a:t>Строк</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sz="2000" b="1" i="0">
                          <a:solidFill>
                            <a:srgbClr val="FFFFFF"/>
                          </a:solidFill>
                          <a:latin typeface="Arial" panose="020B0604020202020204" pitchFamily="34" charset="0"/>
                          <a:cs typeface="Arial"/>
                        </a:rPr>
                        <a:t>Полей</a:t>
                      </a: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566928">
                <a:tc>
                  <a:txBody>
                    <a:bodyPr/>
                    <a:lstStyle/>
                    <a:p>
                      <a:pPr marL="0" indent="0" algn="l">
                        <a:buNone/>
                      </a:pPr>
                      <a:r>
                        <a:rPr sz="2200" b="0" i="0">
                          <a:solidFill>
                            <a:srgbClr val="262626"/>
                          </a:solidFill>
                          <a:latin typeface="Arial" panose="020B0604020202020204" pitchFamily="34" charset="0"/>
                          <a:cs typeface="Arial"/>
                        </a:rPr>
                        <a:t>X_bp.xlsx</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200" b="0" i="0">
                          <a:solidFill>
                            <a:srgbClr val="262626"/>
                          </a:solidFill>
                          <a:latin typeface="Arial" panose="020B0604020202020204" pitchFamily="34" charset="0"/>
                          <a:cs typeface="Arial"/>
                        </a:rPr>
                        <a:t>1023</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200" b="0" i="0">
                          <a:solidFill>
                            <a:srgbClr val="262626"/>
                          </a:solidFill>
                          <a:latin typeface="Arial" panose="020B0604020202020204" pitchFamily="34" charset="0"/>
                          <a:cs typeface="Arial"/>
                        </a:rPr>
                        <a:t>10</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566928">
                <a:tc>
                  <a:txBody>
                    <a:bodyPr/>
                    <a:lstStyle/>
                    <a:p>
                      <a:pPr marL="0" indent="0" algn="l">
                        <a:buNone/>
                      </a:pPr>
                      <a:r>
                        <a:rPr sz="2200" b="0" i="0">
                          <a:solidFill>
                            <a:srgbClr val="262626"/>
                          </a:solidFill>
                          <a:latin typeface="Arial" panose="020B0604020202020204" pitchFamily="34" charset="0"/>
                          <a:cs typeface="Arial"/>
                        </a:rPr>
                        <a:t>X_nup.xlsx</a:t>
                      </a:r>
                    </a:p>
                  </a:txBody>
                  <a:tcPr marT="27432" marB="27432" anchor="ctr">
                    <a:noFill/>
                  </a:tcPr>
                </a:tc>
                <a:tc>
                  <a:txBody>
                    <a:bodyPr/>
                    <a:lstStyle/>
                    <a:p>
                      <a:pPr marL="0" indent="0" algn="r">
                        <a:buNone/>
                      </a:pPr>
                      <a:r>
                        <a:rPr sz="2200" b="0" i="0">
                          <a:solidFill>
                            <a:srgbClr val="262626"/>
                          </a:solidFill>
                          <a:latin typeface="Arial" panose="020B0604020202020204" pitchFamily="34" charset="0"/>
                          <a:cs typeface="Arial"/>
                        </a:rPr>
                        <a:t>1040</a:t>
                      </a:r>
                    </a:p>
                  </a:txBody>
                  <a:tcPr marT="27432" marB="27432" anchor="ctr">
                    <a:noFill/>
                  </a:tcPr>
                </a:tc>
                <a:tc>
                  <a:txBody>
                    <a:bodyPr/>
                    <a:lstStyle/>
                    <a:p>
                      <a:pPr marL="0" indent="0" algn="r">
                        <a:buNone/>
                      </a:pPr>
                      <a:r>
                        <a:rPr sz="2200" b="0" i="0">
                          <a:solidFill>
                            <a:srgbClr val="262626"/>
                          </a:solidFill>
                          <a:latin typeface="Arial" panose="020B0604020202020204" pitchFamily="34" charset="0"/>
                          <a:cs typeface="Arial"/>
                        </a:rPr>
                        <a:t>3</a:t>
                      </a:r>
                    </a:p>
                  </a:txBody>
                  <a:tcPr marT="27432" marB="27432" anchor="ctr">
                    <a:noFill/>
                  </a:tcPr>
                </a:tc>
                <a:extLst>
                  <a:ext uri="{0D108BD9-81ED-4DB2-BD59-A6C34878D82A}">
                    <a16:rowId xmlns:a16="http://schemas.microsoft.com/office/drawing/2014/main" val="10002"/>
                  </a:ext>
                </a:extLst>
              </a:tr>
              <a:tr h="566928">
                <a:tc>
                  <a:txBody>
                    <a:bodyPr/>
                    <a:lstStyle/>
                    <a:p>
                      <a:pPr marL="0" indent="0" algn="l">
                        <a:buNone/>
                      </a:pPr>
                      <a:r>
                        <a:rPr lang="ru-RU" sz="1600" b="1" i="0">
                          <a:solidFill>
                            <a:srgbClr val="262626"/>
                          </a:solidFill>
                          <a:latin typeface="Arial" panose="020B0604020202020204" pitchFamily="34" charset="0"/>
                          <a:cs typeface="Arial"/>
                        </a:rPr>
                        <a:t>Совпавшие строки</a:t>
                      </a:r>
                      <a:endParaRPr sz="1600" b="1" i="0">
                        <a:solidFill>
                          <a:srgbClr val="262626"/>
                        </a:solidFill>
                        <a:latin typeface="Arial" panose="020B0604020202020204" pitchFamily="34" charset="0"/>
                        <a:cs typeface="Arial"/>
                      </a:endParaRPr>
                    </a:p>
                  </a:txBody>
                  <a:tcPr marT="27432" marB="27432" anchor="ctr">
                    <a:solidFill>
                      <a:srgbClr val="FFFFFF"/>
                    </a:solidFill>
                  </a:tcPr>
                </a:tc>
                <a:tc>
                  <a:txBody>
                    <a:bodyPr/>
                    <a:lstStyle/>
                    <a:p>
                      <a:pPr marL="0" indent="0" algn="r">
                        <a:buNone/>
                      </a:pPr>
                      <a:r>
                        <a:rPr sz="2200" b="1" i="0">
                          <a:solidFill>
                            <a:srgbClr val="065CAB"/>
                          </a:solidFill>
                          <a:latin typeface="Arial" panose="020B0604020202020204" pitchFamily="34" charset="0"/>
                          <a:cs typeface="Arial"/>
                        </a:rPr>
                        <a:t>1023</a:t>
                      </a:r>
                    </a:p>
                  </a:txBody>
                  <a:tcPr marT="27432" marB="27432" anchor="ctr">
                    <a:noFill/>
                  </a:tcPr>
                </a:tc>
                <a:tc>
                  <a:txBody>
                    <a:bodyPr/>
                    <a:lstStyle/>
                    <a:p>
                      <a:pPr marL="0" indent="0" algn="r">
                        <a:buNone/>
                      </a:pPr>
                      <a:r>
                        <a:rPr sz="2200" b="1" i="0">
                          <a:solidFill>
                            <a:srgbClr val="065CAB"/>
                          </a:solidFill>
                          <a:latin typeface="Arial" panose="020B0604020202020204" pitchFamily="34" charset="0"/>
                          <a:cs typeface="Arial"/>
                        </a:rPr>
                        <a:t>13</a:t>
                      </a:r>
                    </a:p>
                  </a:txBody>
                  <a:tcPr marT="27432" marB="27432" anchor="ctr">
                    <a:noFill/>
                  </a:tcPr>
                </a:tc>
                <a:extLst>
                  <a:ext uri="{0D108BD9-81ED-4DB2-BD59-A6C34878D82A}">
                    <a16:rowId xmlns:a16="http://schemas.microsoft.com/office/drawing/2014/main" val="10003"/>
                  </a:ext>
                </a:extLst>
              </a:tr>
            </a:tbl>
          </a:graphicData>
        </a:graphic>
      </p:graphicFrame>
      <p:sp>
        <p:nvSpPr>
          <p:cNvPr id="72" name="TextBox 71"/>
          <p:cNvSpPr txBox="1"/>
          <p:nvPr/>
        </p:nvSpPr>
        <p:spPr>
          <a:xfrm>
            <a:off x="557784" y="3977639"/>
            <a:ext cx="6766560" cy="635000"/>
          </a:xfrm>
          <a:prstGeom prst="rect">
            <a:avLst/>
          </a:prstGeom>
          <a:noFill/>
        </p:spPr>
        <p:txBody>
          <a:bodyPr wrap="square" lIns="0" tIns="0" rIns="0" bIns="0" anchor="t"/>
          <a:lstStyle/>
          <a:p>
            <a:pPr marL="0" indent="0" algn="l">
              <a:buNone/>
            </a:pPr>
            <a:r>
              <a:rPr lang="ru-RU" sz="1700" i="0">
                <a:solidFill>
                  <a:srgbClr val="595959"/>
                </a:solidFill>
                <a:latin typeface="Arial" panose="020B0604020202020204" pitchFamily="34" charset="0"/>
                <a:cs typeface="Arial"/>
              </a:rPr>
              <a:t>Таблицы сопоставлены по исходному индексу.
Результат: 1023 строки × 13 показателей.</a:t>
            </a:r>
            <a:endParaRPr sz="1700" i="0">
              <a:solidFill>
                <a:srgbClr val="595959"/>
              </a:solidFill>
              <a:latin typeface="Arial" panose="020B0604020202020204" pitchFamily="34" charset="0"/>
              <a:cs typeface="Arial"/>
            </a:endParaRPr>
          </a:p>
        </p:txBody>
      </p:sp>
      <p:cxnSp>
        <p:nvCxnSpPr>
          <p:cNvPr id="73" name="Connector 72"/>
          <p:cNvCxnSpPr/>
          <p:nvPr/>
        </p:nvCxnSpPr>
        <p:spPr>
          <a:xfrm>
            <a:off x="8001000" y="1600200"/>
            <a:ext cx="0" cy="2377439"/>
          </a:xfrm>
          <a:prstGeom prst="line">
            <a:avLst/>
          </a:prstGeom>
          <a:ln w="28575">
            <a:solidFill>
              <a:srgbClr val="065CAB"/>
            </a:solidFill>
          </a:ln>
        </p:spPr>
      </p:cxnSp>
      <p:cxnSp>
        <p:nvCxnSpPr>
          <p:cNvPr id="74" name="Connector 73"/>
          <p:cNvCxnSpPr/>
          <p:nvPr/>
        </p:nvCxnSpPr>
        <p:spPr>
          <a:xfrm>
            <a:off x="8001000" y="1600200"/>
            <a:ext cx="457200" cy="0"/>
          </a:xfrm>
          <a:prstGeom prst="line">
            <a:avLst/>
          </a:prstGeom>
          <a:ln w="28575">
            <a:solidFill>
              <a:srgbClr val="065CAB"/>
            </a:solidFill>
          </a:ln>
        </p:spPr>
      </p:cxnSp>
      <p:cxnSp>
        <p:nvCxnSpPr>
          <p:cNvPr id="75" name="Connector 74"/>
          <p:cNvCxnSpPr/>
          <p:nvPr/>
        </p:nvCxnSpPr>
        <p:spPr>
          <a:xfrm>
            <a:off x="8001000" y="3977639"/>
            <a:ext cx="457200" cy="0"/>
          </a:xfrm>
          <a:prstGeom prst="line">
            <a:avLst/>
          </a:prstGeom>
          <a:ln w="28575">
            <a:solidFill>
              <a:srgbClr val="065CAB"/>
            </a:solidFill>
          </a:ln>
        </p:spPr>
      </p:cxnSp>
      <p:sp>
        <p:nvSpPr>
          <p:cNvPr id="76" name="TextBox 75"/>
          <p:cNvSpPr txBox="1"/>
          <p:nvPr/>
        </p:nvSpPr>
        <p:spPr>
          <a:xfrm>
            <a:off x="8275320" y="1645920"/>
            <a:ext cx="3474720" cy="1280160"/>
          </a:xfrm>
          <a:prstGeom prst="rect">
            <a:avLst/>
          </a:prstGeom>
          <a:noFill/>
        </p:spPr>
        <p:txBody>
          <a:bodyPr wrap="square" lIns="0" tIns="0" rIns="0" bIns="0" anchor="t"/>
          <a:lstStyle/>
          <a:p>
            <a:pPr marL="0" indent="0" algn="l">
              <a:lnSpc>
                <a:spcPct val="90000"/>
              </a:lnSpc>
              <a:buNone/>
            </a:pPr>
            <a:r>
              <a:rPr sz="8000" b="1" i="0">
                <a:solidFill>
                  <a:srgbClr val="065CAB"/>
                </a:solidFill>
                <a:latin typeface="Arial" panose="020B0604020202020204" pitchFamily="34" charset="0"/>
                <a:cs typeface="Arial"/>
              </a:rPr>
              <a:t>17</a:t>
            </a:r>
          </a:p>
        </p:txBody>
      </p:sp>
      <p:sp>
        <p:nvSpPr>
          <p:cNvPr id="77" name="TextBox 76"/>
          <p:cNvSpPr txBox="1"/>
          <p:nvPr/>
        </p:nvSpPr>
        <p:spPr>
          <a:xfrm>
            <a:off x="8275320" y="2834640"/>
            <a:ext cx="3474720" cy="1097280"/>
          </a:xfrm>
          <a:prstGeom prst="rect">
            <a:avLst/>
          </a:prstGeom>
          <a:noFill/>
        </p:spPr>
        <p:txBody>
          <a:bodyPr wrap="square" lIns="0" tIns="0" rIns="0" bIns="0" anchor="t"/>
          <a:lstStyle/>
          <a:p>
            <a:pPr marL="0" indent="0" algn="l">
              <a:buNone/>
            </a:pPr>
            <a:r>
              <a:rPr lang="ru-RU" sz="1800" i="0">
                <a:solidFill>
                  <a:srgbClr val="262626"/>
                </a:solidFill>
                <a:latin typeface="Arial" panose="020B0604020202020204" pitchFamily="34" charset="0"/>
                <a:cs typeface="Arial"/>
              </a:rPr>
              <a:t>строк без пары
не вошли в набор</a:t>
            </a:r>
            <a:endParaRPr sz="1800" i="0">
              <a:solidFill>
                <a:srgbClr val="595959"/>
              </a:solidFill>
              <a:latin typeface="Arial" panose="020B0604020202020204" pitchFamily="34" charset="0"/>
              <a:cs typeface="Arial"/>
            </a:endParaRPr>
          </a:p>
        </p:txBody>
      </p:sp>
      <p:sp>
        <p:nvSpPr>
          <p:cNvPr id="78" name="Rectangle 77"/>
          <p:cNvSpPr/>
          <p:nvPr/>
        </p:nvSpPr>
        <p:spPr>
          <a:xfrm>
            <a:off x="557784" y="4754880"/>
            <a:ext cx="2468880" cy="1234440"/>
          </a:xfrm>
          <a:prstGeom prst="rect">
            <a:avLst/>
          </a:prstGeom>
          <a:solidFill>
            <a:srgbClr val="E3F0FD"/>
          </a:solidFill>
          <a:ln>
            <a:noFill/>
          </a:ln>
        </p:spPr>
        <p:txBody>
          <a:bodyPr rtlCol="0" anchor="ctr"/>
          <a:lstStyle/>
          <a:p>
            <a:pPr algn="ctr"/>
            <a:endParaRPr/>
          </a:p>
        </p:txBody>
      </p:sp>
      <p:sp>
        <p:nvSpPr>
          <p:cNvPr id="79" name="TextBox 78"/>
          <p:cNvSpPr txBox="1"/>
          <p:nvPr/>
        </p:nvSpPr>
        <p:spPr>
          <a:xfrm>
            <a:off x="740664"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0</a:t>
            </a:r>
          </a:p>
        </p:txBody>
      </p:sp>
      <p:sp>
        <p:nvSpPr>
          <p:cNvPr id="80" name="TextBox 79"/>
          <p:cNvSpPr txBox="1"/>
          <p:nvPr/>
        </p:nvSpPr>
        <p:spPr>
          <a:xfrm>
            <a:off x="1472184" y="4754880"/>
            <a:ext cx="1417320" cy="1234440"/>
          </a:xfrm>
          <a:prstGeom prst="rect">
            <a:avLst/>
          </a:prstGeom>
          <a:noFill/>
        </p:spPr>
        <p:txBody>
          <a:bodyPr wrap="square" lIns="0" tIns="0" rIns="0" bIns="0" anchor="ctr"/>
          <a:lstStyle/>
          <a:p>
            <a:pPr marL="0" indent="0" algn="l">
              <a:buNone/>
            </a:pPr>
            <a:r>
              <a:rPr sz="2000" b="0" i="0">
                <a:solidFill>
                  <a:srgbClr val="262626"/>
                </a:solidFill>
                <a:latin typeface="Arial" panose="020B0604020202020204" pitchFamily="34" charset="0"/>
                <a:cs typeface="Arial"/>
              </a:rPr>
              <a:t>пропусков</a:t>
            </a:r>
          </a:p>
        </p:txBody>
      </p:sp>
      <p:sp>
        <p:nvSpPr>
          <p:cNvPr id="81" name="Rectangle 80"/>
          <p:cNvSpPr/>
          <p:nvPr/>
        </p:nvSpPr>
        <p:spPr>
          <a:xfrm>
            <a:off x="3191256" y="4754880"/>
            <a:ext cx="3383280" cy="1234440"/>
          </a:xfrm>
          <a:prstGeom prst="rect">
            <a:avLst/>
          </a:prstGeom>
          <a:solidFill>
            <a:srgbClr val="E3F0FD"/>
          </a:solidFill>
          <a:ln>
            <a:noFill/>
          </a:ln>
        </p:spPr>
        <p:txBody>
          <a:bodyPr rtlCol="0" anchor="ctr"/>
          <a:lstStyle/>
          <a:p>
            <a:pPr algn="ctr"/>
            <a:endParaRPr/>
          </a:p>
        </p:txBody>
      </p:sp>
      <p:sp>
        <p:nvSpPr>
          <p:cNvPr id="82" name="TextBox 81"/>
          <p:cNvSpPr txBox="1"/>
          <p:nvPr/>
        </p:nvSpPr>
        <p:spPr>
          <a:xfrm>
            <a:off x="3374136"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0</a:t>
            </a:r>
          </a:p>
        </p:txBody>
      </p:sp>
      <p:sp>
        <p:nvSpPr>
          <p:cNvPr id="83" name="TextBox 82"/>
          <p:cNvSpPr txBox="1"/>
          <p:nvPr/>
        </p:nvSpPr>
        <p:spPr>
          <a:xfrm>
            <a:off x="4105656" y="4754880"/>
            <a:ext cx="2331720" cy="1234440"/>
          </a:xfrm>
          <a:prstGeom prst="rect">
            <a:avLst/>
          </a:prstGeom>
          <a:noFill/>
        </p:spPr>
        <p:txBody>
          <a:bodyPr wrap="square" lIns="0" tIns="0" rIns="0" bIns="0" anchor="ctr"/>
          <a:lstStyle/>
          <a:p>
            <a:pPr marL="0" indent="0" algn="l">
              <a:buNone/>
            </a:pPr>
            <a:r>
              <a:rPr sz="2000" b="0" i="0">
                <a:solidFill>
                  <a:srgbClr val="262626"/>
                </a:solidFill>
                <a:latin typeface="Arial" panose="020B0604020202020204" pitchFamily="34" charset="0"/>
                <a:cs typeface="Arial"/>
              </a:rPr>
              <a:t>полных дубликатов</a:t>
            </a:r>
          </a:p>
        </p:txBody>
      </p:sp>
      <p:sp>
        <p:nvSpPr>
          <p:cNvPr id="84" name="Rectangle 83"/>
          <p:cNvSpPr/>
          <p:nvPr/>
        </p:nvSpPr>
        <p:spPr>
          <a:xfrm>
            <a:off x="6739128" y="4754880"/>
            <a:ext cx="5029200" cy="1234440"/>
          </a:xfrm>
          <a:prstGeom prst="rect">
            <a:avLst/>
          </a:prstGeom>
          <a:solidFill>
            <a:srgbClr val="E3F0FD"/>
          </a:solidFill>
          <a:ln>
            <a:noFill/>
          </a:ln>
        </p:spPr>
        <p:txBody>
          <a:bodyPr rtlCol="0" anchor="ctr"/>
          <a:lstStyle/>
          <a:p>
            <a:pPr algn="ctr"/>
            <a:endParaRPr/>
          </a:p>
        </p:txBody>
      </p:sp>
      <p:sp>
        <p:nvSpPr>
          <p:cNvPr id="85" name="TextBox 84"/>
          <p:cNvSpPr txBox="1"/>
          <p:nvPr/>
        </p:nvSpPr>
        <p:spPr>
          <a:xfrm>
            <a:off x="6922008"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a:t>
            </a:r>
          </a:p>
        </p:txBody>
      </p:sp>
      <p:sp>
        <p:nvSpPr>
          <p:cNvPr id="86" name="TextBox 85"/>
          <p:cNvSpPr txBox="1"/>
          <p:nvPr/>
        </p:nvSpPr>
        <p:spPr>
          <a:xfrm>
            <a:off x="7653528" y="4754880"/>
            <a:ext cx="3977639" cy="1234440"/>
          </a:xfrm>
          <a:prstGeom prst="rect">
            <a:avLst/>
          </a:prstGeom>
          <a:noFill/>
        </p:spPr>
        <p:txBody>
          <a:bodyPr wrap="square" lIns="0" tIns="0" rIns="0" bIns="0" anchor="ctr"/>
          <a:lstStyle/>
          <a:p>
            <a:pPr marL="0" indent="0" algn="l">
              <a:buNone/>
            </a:pPr>
            <a:r>
              <a:rPr lang="ru-RU" sz="1500" i="0">
                <a:solidFill>
                  <a:srgbClr val="262626"/>
                </a:solidFill>
                <a:latin typeface="Arial" panose="020B0604020202020204" pitchFamily="34" charset="0"/>
                <a:cs typeface="Arial"/>
              </a:rPr>
              <a:t>происхождение строк, группы, партии и часть единиц не описаны</a:t>
            </a:r>
            <a:endParaRPr sz="1500" i="0">
              <a:solidFill>
                <a:srgbClr val="262626"/>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3</a:t>
            </a:fld>
            <a:endParaRPr lang="ru-RU" dirty="0">
              <a:cs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977044" cy="666000"/>
            <a:chOff x="0" y="0"/>
            <a:chExt cx="7977044"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977044"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Восемь шагов от данных до приложения</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886995"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5"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4</a:t>
            </a:fld>
            <a:endParaRPr lang="ru-RU" dirty="0">
              <a:cs typeface="Arial"/>
            </a:endParaRPr>
          </a:p>
        </p:txBody>
      </p:sp>
      <p:sp>
        <p:nvSpPr>
          <p:cNvPr id="12" name="ProcessIntro">
            <a:extLst>
              <a:ext uri="{FF2B5EF4-FFF2-40B4-BE49-F238E27FC236}">
                <a16:creationId xmlns:a16="http://schemas.microsoft.com/office/drawing/2014/main" id="{8796F32C-30B0-4E1B-B775-1653B260CC9C}"/>
              </a:ext>
            </a:extLst>
          </p:cNvPr>
          <p:cNvSpPr txBox="1"/>
          <p:nvPr/>
        </p:nvSpPr>
        <p:spPr>
          <a:xfrm>
            <a:off x="558800" y="1295400"/>
            <a:ext cx="11201400" cy="384721"/>
          </a:xfrm>
          <a:prstGeom prst="rect">
            <a:avLst/>
          </a:prstGeom>
          <a:noFill/>
        </p:spPr>
        <p:txBody>
          <a:bodyPr vert="horz" wrap="square" rtlCol="0" anchor="ctr">
            <a:noAutofit/>
          </a:bodyPr>
          <a:lstStyle/>
          <a:p>
            <a:pPr algn="ctr"/>
            <a:r>
              <a:rPr lang="ru-RU" sz="1900" b="1">
                <a:solidFill>
                  <a:srgbClr val="0E5DAB"/>
                </a:solidFill>
                <a:latin typeface="Arial" panose="020B0604020202020204" pitchFamily="34" charset="0"/>
              </a:rPr>
              <a:t>Данные для итоговой проверки остаются закрытыми до шага 6</a:t>
            </a:r>
            <a:endParaRPr lang="ru-RU" sz="1900" b="1" dirty="0">
              <a:solidFill>
                <a:srgbClr val="0E5DAB"/>
              </a:solidFill>
              <a:latin typeface="Arial" panose="020B0604020202020204" pitchFamily="34" charset="0"/>
            </a:endParaRPr>
          </a:p>
        </p:txBody>
      </p:sp>
      <p:sp>
        <p:nvSpPr>
          <p:cNvPr id="13" name="Process1">
            <a:extLst>
              <a:ext uri="{FF2B5EF4-FFF2-40B4-BE49-F238E27FC236}">
                <a16:creationId xmlns:a16="http://schemas.microsoft.com/office/drawing/2014/main" id="{4C13494F-FAA0-46F3-B922-7F3093C9E6A6}"/>
              </a:ext>
            </a:extLst>
          </p:cNvPr>
          <p:cNvSpPr/>
          <p:nvPr/>
        </p:nvSpPr>
        <p:spPr>
          <a:xfrm>
            <a:off x="558800" y="2032000"/>
            <a:ext cx="2603500" cy="1371600"/>
          </a:xfrm>
          <a:prstGeom prst="roundRect">
            <a:avLst/>
          </a:prstGeom>
          <a:solidFill>
            <a:srgbClr val="DCE9F6"/>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600" b="1">
                <a:solidFill>
                  <a:srgbClr val="262626"/>
                </a:solidFill>
                <a:latin typeface="Arial" panose="020B0604020202020204" pitchFamily="34" charset="0"/>
              </a:rPr>
              <a:t>1
Проверить и
объединить таблицы</a:t>
            </a:r>
          </a:p>
        </p:txBody>
      </p:sp>
      <p:sp>
        <p:nvSpPr>
          <p:cNvPr id="14" name="Process2">
            <a:extLst>
              <a:ext uri="{FF2B5EF4-FFF2-40B4-BE49-F238E27FC236}">
                <a16:creationId xmlns:a16="http://schemas.microsoft.com/office/drawing/2014/main" id="{D3A970E2-08DC-44ED-9F9F-394FFBE4B0EF}"/>
              </a:ext>
            </a:extLst>
          </p:cNvPr>
          <p:cNvSpPr/>
          <p:nvPr/>
        </p:nvSpPr>
        <p:spPr>
          <a:xfrm>
            <a:off x="3378200" y="2032000"/>
            <a:ext cx="2603500" cy="1371600"/>
          </a:xfrm>
          <a:prstGeom prst="roundRect">
            <a:avLst/>
          </a:prstGeom>
          <a:solidFill>
            <a:srgbClr val="DCE9F6"/>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600">
                <a:solidFill>
                  <a:srgbClr val="262626"/>
                </a:solidFill>
                <a:latin typeface="Arial" panose="020B0604020202020204" pitchFamily="34" charset="0"/>
              </a:rPr>
              <a:t>2
Отделить 716 строк
и 307 строк</a:t>
            </a:r>
          </a:p>
        </p:txBody>
      </p:sp>
      <p:sp>
        <p:nvSpPr>
          <p:cNvPr id="15" name="Process3">
            <a:extLst>
              <a:ext uri="{FF2B5EF4-FFF2-40B4-BE49-F238E27FC236}">
                <a16:creationId xmlns:a16="http://schemas.microsoft.com/office/drawing/2014/main" id="{25C0BE1A-DBC6-4BA3-9B9B-FD59268F3008}"/>
              </a:ext>
            </a:extLst>
          </p:cNvPr>
          <p:cNvSpPr/>
          <p:nvPr/>
        </p:nvSpPr>
        <p:spPr>
          <a:xfrm>
            <a:off x="6197600" y="2032000"/>
            <a:ext cx="2603500" cy="1371600"/>
          </a:xfrm>
          <a:prstGeom prst="roundRect">
            <a:avLst/>
          </a:prstGeom>
          <a:solidFill>
            <a:srgbClr val="DCE9F6"/>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600">
                <a:solidFill>
                  <a:srgbClr val="262626"/>
                </a:solidFill>
                <a:latin typeface="Arial" panose="020B0604020202020204" pitchFamily="34" charset="0"/>
              </a:rPr>
              <a:t>3
Изучить только
716 строк</a:t>
            </a:r>
          </a:p>
        </p:txBody>
      </p:sp>
      <p:sp>
        <p:nvSpPr>
          <p:cNvPr id="16" name="Process4">
            <a:extLst>
              <a:ext uri="{FF2B5EF4-FFF2-40B4-BE49-F238E27FC236}">
                <a16:creationId xmlns:a16="http://schemas.microsoft.com/office/drawing/2014/main" id="{E001220A-E470-4476-BC6F-0999163BF7A6}"/>
              </a:ext>
            </a:extLst>
          </p:cNvPr>
          <p:cNvSpPr/>
          <p:nvPr/>
        </p:nvSpPr>
        <p:spPr>
          <a:xfrm>
            <a:off x="9017000" y="2032000"/>
            <a:ext cx="2603500" cy="1371600"/>
          </a:xfrm>
          <a:prstGeom prst="roundRect">
            <a:avLst/>
          </a:prstGeom>
          <a:solidFill>
            <a:srgbClr val="DCE9F6"/>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600">
                <a:solidFill>
                  <a:srgbClr val="262626"/>
                </a:solidFill>
                <a:latin typeface="Arial" panose="020B0604020202020204" pitchFamily="34" charset="0"/>
              </a:rPr>
              <a:t>4
Подготовить
характеристики</a:t>
            </a:r>
          </a:p>
        </p:txBody>
      </p:sp>
      <p:sp>
        <p:nvSpPr>
          <p:cNvPr id="17" name="Process5">
            <a:extLst>
              <a:ext uri="{FF2B5EF4-FFF2-40B4-BE49-F238E27FC236}">
                <a16:creationId xmlns:a16="http://schemas.microsoft.com/office/drawing/2014/main" id="{FA320182-BCF9-49A2-8556-C8AA640F7C3A}"/>
              </a:ext>
            </a:extLst>
          </p:cNvPr>
          <p:cNvSpPr/>
          <p:nvPr/>
        </p:nvSpPr>
        <p:spPr>
          <a:xfrm>
            <a:off x="558800" y="4000500"/>
            <a:ext cx="2603500" cy="1371600"/>
          </a:xfrm>
          <a:prstGeom prst="roundRect">
            <a:avLst/>
          </a:prstGeom>
          <a:solidFill>
            <a:srgbClr val="DCE9F6"/>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600">
                <a:solidFill>
                  <a:srgbClr val="262626"/>
                </a:solidFill>
                <a:latin typeface="Arial" panose="020B0604020202020204" pitchFamily="34" charset="0"/>
              </a:rPr>
              <a:t>5
Обучить и сравнить
в 10 проверках</a:t>
            </a:r>
          </a:p>
        </p:txBody>
      </p:sp>
      <p:sp>
        <p:nvSpPr>
          <p:cNvPr id="18" name="Process6">
            <a:extLst>
              <a:ext uri="{FF2B5EF4-FFF2-40B4-BE49-F238E27FC236}">
                <a16:creationId xmlns:a16="http://schemas.microsoft.com/office/drawing/2014/main" id="{1DF37619-33D8-45D2-9FD1-C14CB44F3EF3}"/>
              </a:ext>
            </a:extLst>
          </p:cNvPr>
          <p:cNvSpPr/>
          <p:nvPr/>
        </p:nvSpPr>
        <p:spPr>
          <a:xfrm>
            <a:off x="3378200" y="4000500"/>
            <a:ext cx="2603500" cy="1371600"/>
          </a:xfrm>
          <a:prstGeom prst="roundRect">
            <a:avLst/>
          </a:prstGeom>
          <a:solidFill>
            <a:srgbClr val="FFC000"/>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600" b="1">
                <a:solidFill>
                  <a:srgbClr val="262626"/>
                </a:solidFill>
                <a:latin typeface="Arial" panose="020B0604020202020204" pitchFamily="34" charset="0"/>
              </a:rPr>
              <a:t>6
Один раз проверить
на 307 строках</a:t>
            </a:r>
          </a:p>
        </p:txBody>
      </p:sp>
      <p:sp>
        <p:nvSpPr>
          <p:cNvPr id="19" name="Process7">
            <a:extLst>
              <a:ext uri="{FF2B5EF4-FFF2-40B4-BE49-F238E27FC236}">
                <a16:creationId xmlns:a16="http://schemas.microsoft.com/office/drawing/2014/main" id="{903C70EA-E48E-49EA-AAA2-F57790FC4CD0}"/>
              </a:ext>
            </a:extLst>
          </p:cNvPr>
          <p:cNvSpPr/>
          <p:nvPr/>
        </p:nvSpPr>
        <p:spPr>
          <a:xfrm>
            <a:off x="6197600" y="4000500"/>
            <a:ext cx="2603500" cy="1371600"/>
          </a:xfrm>
          <a:prstGeom prst="roundRect">
            <a:avLst/>
          </a:prstGeom>
          <a:solidFill>
            <a:srgbClr val="DCE9F6"/>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600">
                <a:solidFill>
                  <a:srgbClr val="262626"/>
                </a:solidFill>
                <a:latin typeface="Arial" panose="020B0604020202020204" pitchFamily="34" charset="0"/>
              </a:rPr>
              <a:t>7
Подключить модели
к приложению</a:t>
            </a:r>
          </a:p>
        </p:txBody>
      </p:sp>
      <p:sp>
        <p:nvSpPr>
          <p:cNvPr id="20" name="Process8">
            <a:extLst>
              <a:ext uri="{FF2B5EF4-FFF2-40B4-BE49-F238E27FC236}">
                <a16:creationId xmlns:a16="http://schemas.microsoft.com/office/drawing/2014/main" id="{8E16E5D7-7AF5-4208-B9C0-76C0B38AA343}"/>
              </a:ext>
            </a:extLst>
          </p:cNvPr>
          <p:cNvSpPr/>
          <p:nvPr/>
        </p:nvSpPr>
        <p:spPr>
          <a:xfrm>
            <a:off x="9017000" y="4000500"/>
            <a:ext cx="2603500" cy="1371600"/>
          </a:xfrm>
          <a:prstGeom prst="roundRect">
            <a:avLst/>
          </a:prstGeom>
          <a:solidFill>
            <a:srgbClr val="DCE9F6"/>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600">
                <a:solidFill>
                  <a:srgbClr val="262626"/>
                </a:solidFill>
                <a:latin typeface="Arial" panose="020B0604020202020204" pitchFamily="34" charset="0"/>
              </a:rPr>
              <a:t>8
Сохранить результат
в репозитории</a:t>
            </a:r>
          </a:p>
        </p:txBody>
      </p:sp>
      <p:sp>
        <p:nvSpPr>
          <p:cNvPr id="21" name="ProcessFooter">
            <a:extLst>
              <a:ext uri="{FF2B5EF4-FFF2-40B4-BE49-F238E27FC236}">
                <a16:creationId xmlns:a16="http://schemas.microsoft.com/office/drawing/2014/main" id="{AE311003-0165-43C4-8985-3F767A45A252}"/>
              </a:ext>
            </a:extLst>
          </p:cNvPr>
          <p:cNvSpPr txBox="1"/>
          <p:nvPr/>
        </p:nvSpPr>
        <p:spPr>
          <a:xfrm>
            <a:off x="558800" y="5613400"/>
            <a:ext cx="11201400" cy="338554"/>
          </a:xfrm>
          <a:prstGeom prst="rect">
            <a:avLst/>
          </a:prstGeom>
          <a:noFill/>
        </p:spPr>
        <p:txBody>
          <a:bodyPr vert="horz" wrap="square" rtlCol="0" anchor="ctr">
            <a:noAutofit/>
          </a:bodyPr>
          <a:lstStyle/>
          <a:p>
            <a:pPr algn="ctr"/>
            <a:r>
              <a:rPr lang="ru-RU" sz="1600">
                <a:solidFill>
                  <a:srgbClr val="262626"/>
                </a:solidFill>
                <a:latin typeface="Arial" panose="020B0604020202020204" pitchFamily="34" charset="0"/>
              </a:rPr>
              <a:t>Сначала формируется честная проверка, затем выбираются методы и только после этого оценивается результат</a:t>
            </a:r>
            <a:endParaRPr lang="ru-RU" sz="1600" dirty="0">
              <a:solidFill>
                <a:srgbClr val="262626"/>
              </a:solidFill>
              <a:latin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Данные для обучения и итоговой проверки</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5</a:t>
            </a:fld>
            <a:endParaRPr lang="ru-RU" dirty="0">
              <a:cs typeface="Arial"/>
            </a:endParaRPr>
          </a:p>
        </p:txBody>
      </p:sp>
      <p:sp>
        <p:nvSpPr>
          <p:cNvPr id="2" name="TrainBox">
            <a:extLst>
              <a:ext uri="{FF2B5EF4-FFF2-40B4-BE49-F238E27FC236}">
                <a16:creationId xmlns:a16="http://schemas.microsoft.com/office/drawing/2014/main" id="{6236AC01-CA22-42C7-8C10-0DCEEACF3ECF}"/>
              </a:ext>
            </a:extLst>
          </p:cNvPr>
          <p:cNvSpPr/>
          <p:nvPr/>
        </p:nvSpPr>
        <p:spPr>
          <a:xfrm>
            <a:off x="558800" y="1714500"/>
            <a:ext cx="7112000" cy="1955800"/>
          </a:xfrm>
          <a:prstGeom prst="roundRect">
            <a:avLst/>
          </a:prstGeom>
          <a:solidFill>
            <a:srgbClr val="DCE9F6"/>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2400" b="1">
                <a:solidFill>
                  <a:srgbClr val="262626"/>
                </a:solidFill>
                <a:latin typeface="Arial" panose="020B0604020202020204" pitchFamily="34" charset="0"/>
              </a:rPr>
              <a:t>716 строк
данные для обучения
70 %</a:t>
            </a:r>
          </a:p>
        </p:txBody>
      </p:sp>
      <p:sp>
        <p:nvSpPr>
          <p:cNvPr id="3" name="TestBox">
            <a:extLst>
              <a:ext uri="{FF2B5EF4-FFF2-40B4-BE49-F238E27FC236}">
                <a16:creationId xmlns:a16="http://schemas.microsoft.com/office/drawing/2014/main" id="{B8968BF2-7A07-4D18-9A6C-FA6493F76C0F}"/>
              </a:ext>
            </a:extLst>
          </p:cNvPr>
          <p:cNvSpPr/>
          <p:nvPr/>
        </p:nvSpPr>
        <p:spPr>
          <a:xfrm>
            <a:off x="8064500" y="1714500"/>
            <a:ext cx="3695700" cy="1955800"/>
          </a:xfrm>
          <a:prstGeom prst="roundRect">
            <a:avLst/>
          </a:prstGeom>
          <a:solidFill>
            <a:srgbClr val="FFC000"/>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2200" b="1">
                <a:solidFill>
                  <a:srgbClr val="262626"/>
                </a:solidFill>
                <a:latin typeface="Arial" panose="020B0604020202020204" pitchFamily="34" charset="0"/>
              </a:rPr>
              <a:t>307 строк
данные для итоговой проверки
30 %</a:t>
            </a:r>
          </a:p>
        </p:txBody>
      </p:sp>
      <p:sp>
        <p:nvSpPr>
          <p:cNvPr id="5" name="SplitRule">
            <a:extLst>
              <a:ext uri="{FF2B5EF4-FFF2-40B4-BE49-F238E27FC236}">
                <a16:creationId xmlns:a16="http://schemas.microsoft.com/office/drawing/2014/main" id="{2A411A4F-0551-4606-B07A-F272E5C2C4C4}"/>
              </a:ext>
            </a:extLst>
          </p:cNvPr>
          <p:cNvSpPr txBox="1"/>
          <p:nvPr/>
        </p:nvSpPr>
        <p:spPr>
          <a:xfrm>
            <a:off x="558800" y="3848100"/>
            <a:ext cx="11201400" cy="369332"/>
          </a:xfrm>
          <a:prstGeom prst="rect">
            <a:avLst/>
          </a:prstGeom>
          <a:noFill/>
        </p:spPr>
        <p:txBody>
          <a:bodyPr vert="horz" wrap="square" rtlCol="0" anchor="ctr">
            <a:noAutofit/>
          </a:bodyPr>
          <a:lstStyle/>
          <a:p>
            <a:pPr algn="ctr"/>
            <a:r>
              <a:rPr lang="ru-RU" sz="1800" b="1">
                <a:solidFill>
                  <a:srgbClr val="0E5DAB"/>
                </a:solidFill>
                <a:latin typeface="Arial" panose="020B0604020202020204" pitchFamily="34" charset="0"/>
              </a:rPr>
              <a:t>307 строк не используются при изучении данных и выборе модели</a:t>
            </a:r>
            <a:endParaRPr lang="ru-RU" sz="1800" b="1" dirty="0">
              <a:solidFill>
                <a:srgbClr val="0E5DAB"/>
              </a:solidFill>
              <a:latin typeface="Arial" panose="020B0604020202020204" pitchFamily="34" charset="0"/>
            </a:endParaRPr>
          </a:p>
        </p:txBody>
      </p:sp>
      <p:sp>
        <p:nvSpPr>
          <p:cNvPr id="6" name="InputsBox">
            <a:extLst>
              <a:ext uri="{FF2B5EF4-FFF2-40B4-BE49-F238E27FC236}">
                <a16:creationId xmlns:a16="http://schemas.microsoft.com/office/drawing/2014/main" id="{52AA13C9-165A-480B-8646-11BEABA348CC}"/>
              </a:ext>
            </a:extLst>
          </p:cNvPr>
          <p:cNvSpPr/>
          <p:nvPr/>
        </p:nvSpPr>
        <p:spPr>
          <a:xfrm>
            <a:off x="1587500" y="4724400"/>
            <a:ext cx="9017000" cy="1041400"/>
          </a:xfrm>
          <a:prstGeom prst="roundRect">
            <a:avLst/>
          </a:prstGeom>
          <a:solidFill>
            <a:srgbClr val="FFFFFF"/>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2200" b="1">
                <a:solidFill>
                  <a:srgbClr val="262626"/>
                </a:solidFill>
                <a:latin typeface="Arial" panose="020B0604020202020204" pitchFamily="34" charset="0"/>
              </a:rPr>
              <a:t>13 показателей − 2 прогнозируемых свойства = 11 входных характеристик</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356425" cy="666000"/>
            <a:chOff x="0" y="0"/>
            <a:chExt cx="8356425"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356425"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Что показал анализ данных для обучения</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266376"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eda_panels.png"/>
          <p:cNvPicPr>
            <a:picLocks noChangeAspect="1"/>
          </p:cNvPicPr>
          <p:nvPr/>
        </p:nvPicPr>
        <p:blipFill>
          <a:blip r:embed="rId3"/>
          <a:stretch>
            <a:fillRect/>
          </a:stretch>
        </p:blipFill>
        <p:spPr>
          <a:xfrm>
            <a:off x="420624" y="1463040"/>
            <a:ext cx="7635240" cy="3380095"/>
          </a:xfrm>
          <a:prstGeom prst="rect">
            <a:avLst/>
          </a:prstGeom>
          <a:ln w="9525">
            <a:solidFill>
              <a:srgbClr val="D9D9D9"/>
            </a:solidFill>
          </a:ln>
        </p:spPr>
      </p:pic>
      <p:sp>
        <p:nvSpPr>
          <p:cNvPr id="72" name="TextBox 71"/>
          <p:cNvSpPr txBox="1"/>
          <p:nvPr/>
        </p:nvSpPr>
        <p:spPr>
          <a:xfrm>
            <a:off x="420624" y="4937760"/>
            <a:ext cx="7635240" cy="45720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Изучены распределения, необычные значения и связи между показателями</a:t>
            </a:r>
            <a:endParaRPr sz="1600" i="0">
              <a:solidFill>
                <a:srgbClr val="595959"/>
              </a:solidFill>
              <a:latin typeface="Arial" panose="020B0604020202020204" pitchFamily="34" charset="0"/>
              <a:cs typeface="Arial"/>
            </a:endParaRPr>
          </a:p>
        </p:txBody>
      </p:sp>
      <p:sp>
        <p:nvSpPr>
          <p:cNvPr id="73" name="TextBox 72"/>
          <p:cNvSpPr txBox="1"/>
          <p:nvPr/>
        </p:nvSpPr>
        <p:spPr>
          <a:xfrm>
            <a:off x="8458200" y="1417320"/>
            <a:ext cx="3310128" cy="457200"/>
          </a:xfrm>
          <a:prstGeom prst="rect">
            <a:avLst/>
          </a:prstGeom>
          <a:noFill/>
        </p:spPr>
        <p:txBody>
          <a:bodyPr wrap="square" lIns="0" tIns="0" rIns="0" bIns="0" anchor="t"/>
          <a:lstStyle/>
          <a:p>
            <a:pPr marL="0" indent="0" algn="l">
              <a:buNone/>
            </a:pPr>
            <a:r>
              <a:rPr lang="ru-RU" sz="1700" b="1" i="0">
                <a:solidFill>
                  <a:srgbClr val="F1BE29"/>
                </a:solidFill>
                <a:latin typeface="Arial" panose="020B0604020202020204" pitchFamily="34" charset="0"/>
                <a:cs typeface="Arial"/>
              </a:rPr>
              <a:t>Только 716 строк для обучения</a:t>
            </a:r>
            <a:endParaRPr sz="1700" b="1" i="0">
              <a:solidFill>
                <a:srgbClr val="F1BE29"/>
              </a:solidFill>
              <a:latin typeface="Arial" panose="020B0604020202020204" pitchFamily="34" charset="0"/>
              <a:cs typeface="Arial"/>
            </a:endParaRPr>
          </a:p>
        </p:txBody>
      </p:sp>
      <p:sp>
        <p:nvSpPr>
          <p:cNvPr id="74" name="TextBox 73"/>
          <p:cNvSpPr txBox="1"/>
          <p:nvPr/>
        </p:nvSpPr>
        <p:spPr>
          <a:xfrm>
            <a:off x="8458200" y="1965960"/>
            <a:ext cx="3310128" cy="411480"/>
          </a:xfrm>
          <a:prstGeom prst="rect">
            <a:avLst/>
          </a:prstGeom>
          <a:noFill/>
        </p:spPr>
        <p:txBody>
          <a:bodyPr wrap="square" lIns="0" tIns="0" rIns="0" bIns="0" anchor="t"/>
          <a:lstStyle/>
          <a:p>
            <a:pPr marL="0" indent="0" algn="l">
              <a:buNone/>
            </a:pPr>
            <a:r>
              <a:rPr lang="ru-RU" sz="1500" i="0">
                <a:solidFill>
                  <a:srgbClr val="595959"/>
                </a:solidFill>
                <a:latin typeface="Arial" panose="020B0604020202020204" pitchFamily="34" charset="0"/>
                <a:cs typeface="Arial"/>
              </a:rPr>
              <a:t>Самая сильная парная связь</a:t>
            </a:r>
            <a:endParaRPr sz="1500" i="0">
              <a:solidFill>
                <a:srgbClr val="595959"/>
              </a:solidFill>
              <a:latin typeface="Arial" panose="020B0604020202020204" pitchFamily="34" charset="0"/>
              <a:cs typeface="Arial"/>
            </a:endParaRPr>
          </a:p>
        </p:txBody>
      </p:sp>
      <p:sp>
        <p:nvSpPr>
          <p:cNvPr id="75" name="TextBox 74"/>
          <p:cNvSpPr txBox="1"/>
          <p:nvPr/>
        </p:nvSpPr>
        <p:spPr>
          <a:xfrm>
            <a:off x="8458200" y="2286000"/>
            <a:ext cx="3310128" cy="822960"/>
          </a:xfrm>
          <a:prstGeom prst="rect">
            <a:avLst/>
          </a:prstGeom>
          <a:noFill/>
        </p:spPr>
        <p:txBody>
          <a:bodyPr wrap="square" lIns="0" tIns="0" rIns="0" bIns="0" anchor="t"/>
          <a:lstStyle/>
          <a:p>
            <a:pPr marL="0" indent="0" algn="l">
              <a:buNone/>
            </a:pPr>
            <a:r>
              <a:rPr sz="4400" b="1" i="0">
                <a:solidFill>
                  <a:srgbClr val="065CAB"/>
                </a:solidFill>
                <a:latin typeface="Arial" panose="020B0604020202020204" pitchFamily="34" charset="0"/>
                <a:cs typeface="Arial"/>
              </a:rPr>
              <a:t>≈ 0,119</a:t>
            </a:r>
          </a:p>
        </p:txBody>
      </p:sp>
      <p:cxnSp>
        <p:nvCxnSpPr>
          <p:cNvPr id="76" name="Connector 75"/>
          <p:cNvCxnSpPr/>
          <p:nvPr/>
        </p:nvCxnSpPr>
        <p:spPr>
          <a:xfrm>
            <a:off x="8458200" y="3246120"/>
            <a:ext cx="3310128" cy="0"/>
          </a:xfrm>
          <a:prstGeom prst="line">
            <a:avLst/>
          </a:prstGeom>
          <a:ln w="12700">
            <a:solidFill>
              <a:srgbClr val="BFBFBF"/>
            </a:solidFill>
          </a:ln>
        </p:spPr>
      </p:cxnSp>
      <p:sp>
        <p:nvSpPr>
          <p:cNvPr id="77" name="TextBox 76"/>
          <p:cNvSpPr txBox="1"/>
          <p:nvPr/>
        </p:nvSpPr>
        <p:spPr>
          <a:xfrm>
            <a:off x="8458200" y="3383280"/>
            <a:ext cx="3310128" cy="1097280"/>
          </a:xfrm>
          <a:prstGeom prst="rect">
            <a:avLst/>
          </a:prstGeom>
          <a:noFill/>
        </p:spPr>
        <p:txBody>
          <a:bodyPr wrap="square" lIns="0" tIns="0" rIns="0" bIns="0" anchor="t"/>
          <a:lstStyle/>
          <a:p>
            <a:pPr marL="0" indent="0" algn="l">
              <a:lnSpc>
                <a:spcPct val="105000"/>
              </a:lnSpc>
              <a:buNone/>
            </a:pPr>
            <a:r>
              <a:rPr sz="1800" b="0" i="0">
                <a:solidFill>
                  <a:srgbClr val="595959"/>
                </a:solidFill>
                <a:latin typeface="Arial" panose="020B0604020202020204" pitchFamily="34" charset="0"/>
                <a:cs typeface="Arial"/>
              </a:rPr>
              <a:t>Угол нашивки:</a:t>
            </a:r>
          </a:p>
          <a:p>
            <a:pPr marL="0" indent="0" algn="l">
              <a:lnSpc>
                <a:spcPct val="105000"/>
              </a:lnSpc>
              <a:buNone/>
            </a:pPr>
            <a:r>
              <a:rPr sz="2200" b="1" i="0">
                <a:solidFill>
                  <a:srgbClr val="065CAB"/>
                </a:solidFill>
                <a:latin typeface="Arial" panose="020B0604020202020204" pitchFamily="34" charset="0"/>
                <a:cs typeface="Arial"/>
              </a:rPr>
              <a:t>356</a:t>
            </a:r>
            <a:r>
              <a:rPr sz="2000" b="0" i="0">
                <a:solidFill>
                  <a:srgbClr val="262626"/>
                </a:solidFill>
                <a:latin typeface="Arial" panose="020B0604020202020204" pitchFamily="34" charset="0"/>
                <a:cs typeface="Arial"/>
              </a:rPr>
              <a:t> × 0°   </a:t>
            </a:r>
            <a:r>
              <a:rPr sz="2200" b="1" i="0">
                <a:solidFill>
                  <a:srgbClr val="065CAB"/>
                </a:solidFill>
                <a:latin typeface="Arial" panose="020B0604020202020204" pitchFamily="34" charset="0"/>
                <a:cs typeface="Arial"/>
              </a:rPr>
              <a:t>360</a:t>
            </a:r>
            <a:r>
              <a:rPr sz="2000" b="0" i="0">
                <a:solidFill>
                  <a:srgbClr val="262626"/>
                </a:solidFill>
                <a:latin typeface="Arial" panose="020B0604020202020204" pitchFamily="34" charset="0"/>
                <a:cs typeface="Arial"/>
              </a:rPr>
              <a:t> × 90°</a:t>
            </a:r>
          </a:p>
        </p:txBody>
      </p:sp>
      <p:cxnSp>
        <p:nvCxnSpPr>
          <p:cNvPr id="78" name="Connector 77"/>
          <p:cNvCxnSpPr/>
          <p:nvPr/>
        </p:nvCxnSpPr>
        <p:spPr>
          <a:xfrm>
            <a:off x="8458200" y="4526280"/>
            <a:ext cx="0" cy="1417320"/>
          </a:xfrm>
          <a:prstGeom prst="line">
            <a:avLst/>
          </a:prstGeom>
          <a:ln w="25400">
            <a:solidFill>
              <a:srgbClr val="065CAB"/>
            </a:solidFill>
          </a:ln>
        </p:spPr>
      </p:cxnSp>
      <p:cxnSp>
        <p:nvCxnSpPr>
          <p:cNvPr id="79" name="Connector 78"/>
          <p:cNvCxnSpPr/>
          <p:nvPr/>
        </p:nvCxnSpPr>
        <p:spPr>
          <a:xfrm>
            <a:off x="8458200" y="4526280"/>
            <a:ext cx="457200" cy="0"/>
          </a:xfrm>
          <a:prstGeom prst="line">
            <a:avLst/>
          </a:prstGeom>
          <a:ln w="25400">
            <a:solidFill>
              <a:srgbClr val="065CAB"/>
            </a:solidFill>
          </a:ln>
        </p:spPr>
      </p:cxnSp>
      <p:cxnSp>
        <p:nvCxnSpPr>
          <p:cNvPr id="80" name="Connector 79"/>
          <p:cNvCxnSpPr/>
          <p:nvPr/>
        </p:nvCxnSpPr>
        <p:spPr>
          <a:xfrm>
            <a:off x="8458200" y="5943600"/>
            <a:ext cx="457200" cy="0"/>
          </a:xfrm>
          <a:prstGeom prst="line">
            <a:avLst/>
          </a:prstGeom>
          <a:ln w="25400">
            <a:solidFill>
              <a:srgbClr val="065CAB"/>
            </a:solidFill>
          </a:ln>
        </p:spPr>
      </p:cxnSp>
      <p:sp>
        <p:nvSpPr>
          <p:cNvPr id="81" name="TextBox 80"/>
          <p:cNvSpPr txBox="1"/>
          <p:nvPr/>
        </p:nvSpPr>
        <p:spPr>
          <a:xfrm>
            <a:off x="8714232" y="4599432"/>
            <a:ext cx="3054096" cy="1271016"/>
          </a:xfrm>
          <a:prstGeom prst="rect">
            <a:avLst/>
          </a:prstGeom>
          <a:noFill/>
        </p:spPr>
        <p:txBody>
          <a:bodyPr wrap="square" lIns="0" tIns="0" rIns="0" bIns="0" anchor="ctr"/>
          <a:lstStyle/>
          <a:p>
            <a:pPr marL="0" indent="0" algn="l">
              <a:buNone/>
            </a:pPr>
            <a:r>
              <a:rPr lang="ru-RU" sz="1600" b="1" i="0">
                <a:solidFill>
                  <a:srgbClr val="262626"/>
                </a:solidFill>
                <a:latin typeface="Arial" panose="020B0604020202020204" pitchFamily="34" charset="0"/>
                <a:cs typeface="Arial"/>
              </a:rPr>
              <a:t>0,119 близко к нулю:
отдельные линейные связи слабые</a:t>
            </a:r>
            <a:endParaRPr sz="1600" b="1" i="0">
              <a:solidFill>
                <a:srgbClr val="262626"/>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6</a:t>
            </a:fld>
            <a:endParaRPr lang="ru-RU" dirty="0">
              <a:cs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486632" cy="666000"/>
            <a:chOff x="0" y="0"/>
            <a:chExt cx="8486632"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486632"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Подготовка данных перед обучением</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396583"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cxnSp>
        <p:nvCxnSpPr>
          <p:cNvPr id="71" name="Connector 70"/>
          <p:cNvCxnSpPr/>
          <p:nvPr/>
        </p:nvCxnSpPr>
        <p:spPr>
          <a:xfrm>
            <a:off x="557784" y="1508760"/>
            <a:ext cx="0" cy="1600200"/>
          </a:xfrm>
          <a:prstGeom prst="line">
            <a:avLst/>
          </a:prstGeom>
          <a:ln w="28575">
            <a:solidFill>
              <a:srgbClr val="065CAB"/>
            </a:solidFill>
          </a:ln>
        </p:spPr>
      </p:cxnSp>
      <p:cxnSp>
        <p:nvCxnSpPr>
          <p:cNvPr id="72" name="Connector 71"/>
          <p:cNvCxnSpPr/>
          <p:nvPr/>
        </p:nvCxnSpPr>
        <p:spPr>
          <a:xfrm>
            <a:off x="557784" y="1508760"/>
            <a:ext cx="411480" cy="0"/>
          </a:xfrm>
          <a:prstGeom prst="line">
            <a:avLst/>
          </a:prstGeom>
          <a:ln w="28575">
            <a:solidFill>
              <a:srgbClr val="065CAB"/>
            </a:solidFill>
          </a:ln>
        </p:spPr>
      </p:cxnSp>
      <p:cxnSp>
        <p:nvCxnSpPr>
          <p:cNvPr id="73" name="Connector 72"/>
          <p:cNvCxnSpPr/>
          <p:nvPr/>
        </p:nvCxnSpPr>
        <p:spPr>
          <a:xfrm>
            <a:off x="557784" y="3108960"/>
            <a:ext cx="411480" cy="0"/>
          </a:xfrm>
          <a:prstGeom prst="line">
            <a:avLst/>
          </a:prstGeom>
          <a:ln w="28575">
            <a:solidFill>
              <a:srgbClr val="065CAB"/>
            </a:solidFill>
          </a:ln>
        </p:spPr>
      </p:cxnSp>
      <p:sp>
        <p:nvSpPr>
          <p:cNvPr id="74" name="TextBox 73"/>
          <p:cNvSpPr txBox="1"/>
          <p:nvPr/>
        </p:nvSpPr>
        <p:spPr>
          <a:xfrm>
            <a:off x="832103" y="1554480"/>
            <a:ext cx="3200400" cy="411480"/>
          </a:xfrm>
          <a:prstGeom prst="rect">
            <a:avLst/>
          </a:prstGeom>
          <a:noFill/>
        </p:spPr>
        <p:txBody>
          <a:bodyPr wrap="square" lIns="0" tIns="0" rIns="0" bIns="0" anchor="t"/>
          <a:lstStyle/>
          <a:p>
            <a:pPr marL="0" indent="0" algn="l">
              <a:lnSpc>
                <a:spcPct val="100000"/>
              </a:lnSpc>
              <a:buNone/>
            </a:pPr>
            <a:r>
              <a:rPr lang="ru-RU" sz="1500" i="0">
                <a:solidFill>
                  <a:srgbClr val="595959"/>
                </a:solidFill>
                <a:latin typeface="Arial" panose="020B0604020202020204" pitchFamily="34" charset="0"/>
                <a:cs typeface="Arial"/>
              </a:rPr>
              <a:t>Необычные строки: прямые задачи</a:t>
            </a:r>
            <a:endParaRPr sz="1500" i="0">
              <a:solidFill>
                <a:srgbClr val="595959"/>
              </a:solidFill>
              <a:latin typeface="Arial" panose="020B0604020202020204" pitchFamily="34" charset="0"/>
              <a:cs typeface="Arial"/>
            </a:endParaRPr>
          </a:p>
        </p:txBody>
      </p:sp>
      <p:sp>
        <p:nvSpPr>
          <p:cNvPr id="75" name="TextBox 74"/>
          <p:cNvSpPr txBox="1"/>
          <p:nvPr/>
        </p:nvSpPr>
        <p:spPr>
          <a:xfrm>
            <a:off x="832103" y="2057400"/>
            <a:ext cx="3291840" cy="914400"/>
          </a:xfrm>
          <a:prstGeom prst="rect">
            <a:avLst/>
          </a:prstGeom>
          <a:noFill/>
        </p:spPr>
        <p:txBody>
          <a:bodyPr wrap="square" lIns="0" tIns="0" rIns="0" bIns="0" anchor="t"/>
          <a:lstStyle/>
          <a:p>
            <a:pPr marL="0" indent="0" algn="l">
              <a:buNone/>
            </a:pPr>
            <a:r>
              <a:rPr lang="ru-RU" sz="1800" b="1" i="0">
                <a:solidFill>
                  <a:srgbClr val="595959"/>
                </a:solidFill>
                <a:latin typeface="Arial" panose="020B0604020202020204" pitchFamily="34" charset="0"/>
                <a:cs typeface="Arial"/>
              </a:rPr>
              <a:t>53 отмечены
663 остаются в опыте</a:t>
            </a:r>
            <a:endParaRPr sz="1800" b="1" i="0">
              <a:solidFill>
                <a:srgbClr val="262626"/>
              </a:solidFill>
              <a:latin typeface="Arial" panose="020B0604020202020204" pitchFamily="34" charset="0"/>
              <a:cs typeface="Arial"/>
            </a:endParaRPr>
          </a:p>
        </p:txBody>
      </p:sp>
      <p:cxnSp>
        <p:nvCxnSpPr>
          <p:cNvPr id="76" name="Connector 75"/>
          <p:cNvCxnSpPr/>
          <p:nvPr/>
        </p:nvCxnSpPr>
        <p:spPr>
          <a:xfrm>
            <a:off x="4169664" y="1508760"/>
            <a:ext cx="0" cy="1600200"/>
          </a:xfrm>
          <a:prstGeom prst="line">
            <a:avLst/>
          </a:prstGeom>
          <a:ln w="28575">
            <a:solidFill>
              <a:srgbClr val="065CAB"/>
            </a:solidFill>
          </a:ln>
        </p:spPr>
      </p:cxnSp>
      <p:cxnSp>
        <p:nvCxnSpPr>
          <p:cNvPr id="77" name="Connector 76"/>
          <p:cNvCxnSpPr/>
          <p:nvPr/>
        </p:nvCxnSpPr>
        <p:spPr>
          <a:xfrm>
            <a:off x="4169664" y="1508760"/>
            <a:ext cx="411480" cy="0"/>
          </a:xfrm>
          <a:prstGeom prst="line">
            <a:avLst/>
          </a:prstGeom>
          <a:ln w="28575">
            <a:solidFill>
              <a:srgbClr val="065CAB"/>
            </a:solidFill>
          </a:ln>
        </p:spPr>
      </p:cxnSp>
      <p:cxnSp>
        <p:nvCxnSpPr>
          <p:cNvPr id="78" name="Connector 77"/>
          <p:cNvCxnSpPr/>
          <p:nvPr/>
        </p:nvCxnSpPr>
        <p:spPr>
          <a:xfrm>
            <a:off x="4169664" y="3108960"/>
            <a:ext cx="411480" cy="0"/>
          </a:xfrm>
          <a:prstGeom prst="line">
            <a:avLst/>
          </a:prstGeom>
          <a:ln w="28575">
            <a:solidFill>
              <a:srgbClr val="065CAB"/>
            </a:solidFill>
          </a:ln>
        </p:spPr>
      </p:cxnSp>
      <p:sp>
        <p:nvSpPr>
          <p:cNvPr id="79" name="TextBox 78"/>
          <p:cNvSpPr txBox="1"/>
          <p:nvPr/>
        </p:nvSpPr>
        <p:spPr>
          <a:xfrm>
            <a:off x="4443984" y="1554480"/>
            <a:ext cx="3200400" cy="411480"/>
          </a:xfrm>
          <a:prstGeom prst="rect">
            <a:avLst/>
          </a:prstGeom>
          <a:noFill/>
        </p:spPr>
        <p:txBody>
          <a:bodyPr wrap="square" lIns="0" tIns="0" rIns="0" bIns="0" anchor="t"/>
          <a:lstStyle/>
          <a:p>
            <a:pPr marL="0" indent="0" algn="l">
              <a:lnSpc>
                <a:spcPct val="100000"/>
              </a:lnSpc>
              <a:buNone/>
            </a:pPr>
            <a:r>
              <a:rPr lang="ru-RU" sz="1500" i="0">
                <a:solidFill>
                  <a:srgbClr val="595959"/>
                </a:solidFill>
                <a:latin typeface="Arial" panose="020B0604020202020204" pitchFamily="34" charset="0"/>
                <a:cs typeface="Arial"/>
              </a:rPr>
              <a:t>Необычные строки: задача отношения</a:t>
            </a:r>
            <a:endParaRPr sz="1500" i="0">
              <a:solidFill>
                <a:srgbClr val="595959"/>
              </a:solidFill>
              <a:latin typeface="Arial" panose="020B0604020202020204" pitchFamily="34" charset="0"/>
              <a:cs typeface="Arial"/>
            </a:endParaRPr>
          </a:p>
        </p:txBody>
      </p:sp>
      <p:sp>
        <p:nvSpPr>
          <p:cNvPr id="80" name="TextBox 79"/>
          <p:cNvSpPr txBox="1"/>
          <p:nvPr/>
        </p:nvSpPr>
        <p:spPr>
          <a:xfrm>
            <a:off x="4443984" y="2057400"/>
            <a:ext cx="3291840" cy="914400"/>
          </a:xfrm>
          <a:prstGeom prst="rect">
            <a:avLst/>
          </a:prstGeom>
          <a:noFill/>
        </p:spPr>
        <p:txBody>
          <a:bodyPr wrap="square" lIns="0" tIns="0" rIns="0" bIns="0" anchor="t"/>
          <a:lstStyle/>
          <a:p>
            <a:pPr marL="0" indent="0" algn="l">
              <a:buNone/>
            </a:pPr>
            <a:r>
              <a:rPr lang="ru-RU" sz="1800" b="1" i="0">
                <a:solidFill>
                  <a:srgbClr val="595959"/>
                </a:solidFill>
                <a:latin typeface="Arial" panose="020B0604020202020204" pitchFamily="34" charset="0"/>
                <a:cs typeface="Arial"/>
              </a:rPr>
              <a:t>61 отмечена
655 остаются в опыте</a:t>
            </a:r>
            <a:endParaRPr sz="1800" b="1" i="0">
              <a:solidFill>
                <a:srgbClr val="262626"/>
              </a:solidFill>
              <a:latin typeface="Arial" panose="020B0604020202020204" pitchFamily="34" charset="0"/>
              <a:cs typeface="Arial"/>
            </a:endParaRPr>
          </a:p>
        </p:txBody>
      </p:sp>
      <p:sp>
        <p:nvSpPr>
          <p:cNvPr id="81" name="Rectangle 80"/>
          <p:cNvSpPr/>
          <p:nvPr/>
        </p:nvSpPr>
        <p:spPr>
          <a:xfrm>
            <a:off x="7909560" y="1508760"/>
            <a:ext cx="3858768" cy="1600200"/>
          </a:xfrm>
          <a:prstGeom prst="rect">
            <a:avLst/>
          </a:prstGeom>
          <a:solidFill>
            <a:srgbClr val="065CAB"/>
          </a:solidFill>
          <a:ln>
            <a:noFill/>
          </a:ln>
        </p:spPr>
        <p:txBody>
          <a:bodyPr rtlCol="0" anchor="ctr"/>
          <a:lstStyle/>
          <a:p>
            <a:pPr algn="ctr"/>
            <a:endParaRPr/>
          </a:p>
        </p:txBody>
      </p:sp>
      <p:sp>
        <p:nvSpPr>
          <p:cNvPr id="82" name="TextBox 81"/>
          <p:cNvSpPr txBox="1"/>
          <p:nvPr/>
        </p:nvSpPr>
        <p:spPr>
          <a:xfrm>
            <a:off x="8138160" y="1508760"/>
            <a:ext cx="3474720" cy="1600200"/>
          </a:xfrm>
          <a:prstGeom prst="rect">
            <a:avLst/>
          </a:prstGeom>
          <a:noFill/>
        </p:spPr>
        <p:txBody>
          <a:bodyPr wrap="square" lIns="0" tIns="0" rIns="0" bIns="0" anchor="ctr"/>
          <a:lstStyle/>
          <a:p>
            <a:pPr marL="0" indent="0" algn="l">
              <a:lnSpc>
                <a:spcPct val="100000"/>
              </a:lnSpc>
              <a:buNone/>
            </a:pPr>
            <a:r>
              <a:rPr lang="ru-RU" sz="2000" b="1" i="0">
                <a:solidFill>
                  <a:srgbClr val="FFFFFF"/>
                </a:solidFill>
                <a:latin typeface="Arial" panose="020B0604020202020204" pitchFamily="34" charset="0"/>
                <a:cs typeface="Arial"/>
              </a:rPr>
              <a:t>Итог
вариант без удаления строк</a:t>
            </a:r>
            <a:endParaRPr sz="2000" b="1" i="0">
              <a:solidFill>
                <a:srgbClr val="FFFFFF"/>
              </a:solidFill>
              <a:latin typeface="Arial" panose="020B0604020202020204" pitchFamily="34" charset="0"/>
              <a:cs typeface="Arial"/>
            </a:endParaRPr>
          </a:p>
        </p:txBody>
      </p:sp>
      <p:sp>
        <p:nvSpPr>
          <p:cNvPr id="83" name="TextBox 82"/>
          <p:cNvSpPr txBox="1"/>
          <p:nvPr/>
        </p:nvSpPr>
        <p:spPr>
          <a:xfrm>
            <a:off x="557784" y="3383280"/>
            <a:ext cx="11210544" cy="548640"/>
          </a:xfrm>
          <a:prstGeom prst="rect">
            <a:avLst/>
          </a:prstGeom>
          <a:noFill/>
        </p:spPr>
        <p:txBody>
          <a:bodyPr wrap="square" lIns="0" tIns="0" rIns="0" bIns="0" anchor="t"/>
          <a:lstStyle/>
          <a:p>
            <a:pPr marL="0" indent="0" algn="l">
              <a:lnSpc>
                <a:spcPct val="100000"/>
              </a:lnSpc>
              <a:buNone/>
            </a:pPr>
            <a:r>
              <a:rPr lang="ru-RU" sz="1500" i="0">
                <a:solidFill>
                  <a:srgbClr val="595959"/>
                </a:solidFill>
                <a:latin typeface="Arial" panose="020B0604020202020204" pitchFamily="34" charset="0"/>
                <a:cs typeface="Arial"/>
              </a:rPr>
              <a:t>Десять проверок показали: удаление отмеченных строк не улучшает результат.</a:t>
            </a:r>
            <a:endParaRPr sz="1500" i="0">
              <a:solidFill>
                <a:srgbClr val="595959"/>
              </a:solidFill>
              <a:latin typeface="Arial" panose="020B0604020202020204" pitchFamily="34" charset="0"/>
              <a:cs typeface="Arial"/>
            </a:endParaRPr>
          </a:p>
        </p:txBody>
      </p:sp>
      <p:sp>
        <p:nvSpPr>
          <p:cNvPr id="84" name="Rectangle 83"/>
          <p:cNvSpPr/>
          <p:nvPr/>
        </p:nvSpPr>
        <p:spPr>
          <a:xfrm>
            <a:off x="557784" y="4343400"/>
            <a:ext cx="3611880" cy="1371600"/>
          </a:xfrm>
          <a:prstGeom prst="rect">
            <a:avLst/>
          </a:prstGeom>
          <a:solidFill>
            <a:srgbClr val="E3F0FD"/>
          </a:solidFill>
          <a:ln>
            <a:noFill/>
          </a:ln>
        </p:spPr>
        <p:txBody>
          <a:bodyPr rtlCol="0" anchor="ctr"/>
          <a:lstStyle/>
          <a:p>
            <a:pPr algn="ctr"/>
            <a:endParaRPr/>
          </a:p>
        </p:txBody>
      </p:sp>
      <p:sp>
        <p:nvSpPr>
          <p:cNvPr id="85" name="TextBox 84"/>
          <p:cNvSpPr txBox="1"/>
          <p:nvPr/>
        </p:nvSpPr>
        <p:spPr>
          <a:xfrm>
            <a:off x="758952" y="4480560"/>
            <a:ext cx="3246120" cy="1188720"/>
          </a:xfrm>
          <a:prstGeom prst="rect">
            <a:avLst/>
          </a:prstGeom>
          <a:noFill/>
        </p:spPr>
        <p:txBody>
          <a:bodyPr wrap="square" lIns="0" tIns="0" rIns="0" bIns="0" anchor="t"/>
          <a:lstStyle/>
          <a:p>
            <a:pPr marL="0" indent="0" algn="l">
              <a:lnSpc>
                <a:spcPct val="100000"/>
              </a:lnSpc>
              <a:buNone/>
            </a:pPr>
            <a:r>
              <a:rPr lang="ru-RU" i="0">
                <a:solidFill>
                  <a:srgbClr val="065CAB"/>
                </a:solidFill>
                <a:latin typeface="Arial" panose="020B0604020202020204" pitchFamily="34" charset="0"/>
                <a:cs typeface="Arial"/>
              </a:rPr>
              <a:t>Угол 0° / 90°
два направления записаны как 0 / 1</a:t>
            </a:r>
            <a:endParaRPr i="0">
              <a:solidFill>
                <a:srgbClr val="262626"/>
              </a:solidFill>
              <a:latin typeface="Arial" panose="020B0604020202020204" pitchFamily="34" charset="0"/>
              <a:cs typeface="Arial"/>
            </a:endParaRPr>
          </a:p>
        </p:txBody>
      </p:sp>
      <p:sp>
        <p:nvSpPr>
          <p:cNvPr id="86" name="Rectangle 85"/>
          <p:cNvSpPr/>
          <p:nvPr/>
        </p:nvSpPr>
        <p:spPr>
          <a:xfrm>
            <a:off x="4334256" y="4343400"/>
            <a:ext cx="3611880" cy="1371600"/>
          </a:xfrm>
          <a:prstGeom prst="rect">
            <a:avLst/>
          </a:prstGeom>
          <a:solidFill>
            <a:srgbClr val="E3F0FD"/>
          </a:solidFill>
          <a:ln>
            <a:noFill/>
          </a:ln>
        </p:spPr>
        <p:txBody>
          <a:bodyPr rtlCol="0" anchor="ctr"/>
          <a:lstStyle/>
          <a:p>
            <a:pPr algn="ctr"/>
            <a:endParaRPr/>
          </a:p>
        </p:txBody>
      </p:sp>
      <p:sp>
        <p:nvSpPr>
          <p:cNvPr id="87" name="TextBox 86"/>
          <p:cNvSpPr txBox="1"/>
          <p:nvPr/>
        </p:nvSpPr>
        <p:spPr>
          <a:xfrm>
            <a:off x="4535424" y="4480560"/>
            <a:ext cx="3246120" cy="1188720"/>
          </a:xfrm>
          <a:prstGeom prst="rect">
            <a:avLst/>
          </a:prstGeom>
          <a:noFill/>
        </p:spPr>
        <p:txBody>
          <a:bodyPr wrap="square" lIns="0" tIns="0" rIns="0" bIns="0" anchor="t"/>
          <a:lstStyle/>
          <a:p>
            <a:pPr marL="0" indent="0" algn="l">
              <a:lnSpc>
                <a:spcPct val="100000"/>
              </a:lnSpc>
              <a:buNone/>
            </a:pPr>
            <a:r>
              <a:rPr lang="ru-RU" i="0">
                <a:solidFill>
                  <a:srgbClr val="065CAB"/>
                </a:solidFill>
                <a:latin typeface="Arial" panose="020B0604020202020204" pitchFamily="34" charset="0"/>
                <a:cs typeface="Arial"/>
              </a:rPr>
              <a:t>Единый масштаб
помогает чувствительным методам</a:t>
            </a:r>
            <a:endParaRPr i="0">
              <a:solidFill>
                <a:srgbClr val="262626"/>
              </a:solidFill>
              <a:latin typeface="Arial" panose="020B0604020202020204" pitchFamily="34" charset="0"/>
              <a:cs typeface="Arial"/>
            </a:endParaRPr>
          </a:p>
        </p:txBody>
      </p:sp>
      <p:sp>
        <p:nvSpPr>
          <p:cNvPr id="88" name="Rectangle 87"/>
          <p:cNvSpPr/>
          <p:nvPr/>
        </p:nvSpPr>
        <p:spPr>
          <a:xfrm>
            <a:off x="8110727" y="4343400"/>
            <a:ext cx="3611880" cy="1371600"/>
          </a:xfrm>
          <a:prstGeom prst="rect">
            <a:avLst/>
          </a:prstGeom>
          <a:solidFill>
            <a:srgbClr val="E3F0FD"/>
          </a:solidFill>
          <a:ln>
            <a:noFill/>
          </a:ln>
        </p:spPr>
        <p:txBody>
          <a:bodyPr rtlCol="0" anchor="ctr"/>
          <a:lstStyle/>
          <a:p>
            <a:pPr algn="ctr"/>
            <a:endParaRPr/>
          </a:p>
        </p:txBody>
      </p:sp>
      <p:sp>
        <p:nvSpPr>
          <p:cNvPr id="89" name="TextBox 88"/>
          <p:cNvSpPr txBox="1"/>
          <p:nvPr/>
        </p:nvSpPr>
        <p:spPr>
          <a:xfrm>
            <a:off x="8311896" y="4480560"/>
            <a:ext cx="3246120" cy="1188720"/>
          </a:xfrm>
          <a:prstGeom prst="rect">
            <a:avLst/>
          </a:prstGeom>
          <a:noFill/>
        </p:spPr>
        <p:txBody>
          <a:bodyPr wrap="square" lIns="0" tIns="0" rIns="0" bIns="0" anchor="t"/>
          <a:lstStyle/>
          <a:p>
            <a:pPr marL="0" indent="0" algn="l">
              <a:lnSpc>
                <a:spcPct val="100000"/>
              </a:lnSpc>
              <a:buNone/>
            </a:pPr>
            <a:r>
              <a:rPr lang="ru-RU" i="0">
                <a:solidFill>
                  <a:srgbClr val="065CAB"/>
                </a:solidFill>
                <a:latin typeface="Arial" panose="020B0604020202020204" pitchFamily="34" charset="0"/>
                <a:cs typeface="Arial"/>
              </a:rPr>
              <a:t>Масштаб рассчитывается заново
внутри каждой проверки</a:t>
            </a:r>
            <a:endParaRPr i="0">
              <a:solidFill>
                <a:srgbClr val="262626"/>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7</a:t>
            </a:fld>
            <a:endParaRPr lang="ru-RU" dirty="0">
              <a:cs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6092713" cy="666000"/>
            <a:chOff x="0" y="0"/>
            <a:chExt cx="609271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609271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Для двух свойств: пять подходов и две модели</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600266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8</a:t>
            </a:fld>
            <a:endParaRPr lang="ru-RU" dirty="0">
              <a:cs typeface="Arial"/>
            </a:endParaRPr>
          </a:p>
        </p:txBody>
      </p:sp>
      <p:graphicFrame>
        <p:nvGraphicFramePr>
          <p:cNvPr id="21" name="MethodsTable">
            <a:extLst>
              <a:ext uri="{FF2B5EF4-FFF2-40B4-BE49-F238E27FC236}">
                <a16:creationId xmlns:a16="http://schemas.microsoft.com/office/drawing/2014/main" id="{CBD47BF3-A79C-4A51-A322-78B04A679A38}"/>
              </a:ext>
            </a:extLst>
          </p:cNvPr>
          <p:cNvGraphicFramePr>
            <a:graphicFrameLocks noGrp="1"/>
          </p:cNvGraphicFramePr>
          <p:nvPr>
            <p:extLst>
              <p:ext uri="{D42A27DB-BD31-4B8C-83A1-F6EECF244321}">
                <p14:modId xmlns:p14="http://schemas.microsoft.com/office/powerpoint/2010/main" val="1286250782"/>
              </p:ext>
            </p:extLst>
          </p:nvPr>
        </p:nvGraphicFramePr>
        <p:xfrm>
          <a:off x="558800" y="1600200"/>
          <a:ext cx="7493000" cy="4191000"/>
        </p:xfrm>
        <a:graphic>
          <a:graphicData uri="http://schemas.openxmlformats.org/drawingml/2006/table">
            <a:tbl>
              <a:tblPr>
                <a:tableStyleId>{2D5ABB26-0587-4C30-8999-92F81FD0307C}</a:tableStyleId>
              </a:tblPr>
              <a:tblGrid>
                <a:gridCol w="2159000">
                  <a:extLst>
                    <a:ext uri="{9D8B030D-6E8A-4147-A177-3AD203B41FA5}">
                      <a16:colId xmlns:a16="http://schemas.microsoft.com/office/drawing/2014/main" val="20000"/>
                    </a:ext>
                  </a:extLst>
                </a:gridCol>
                <a:gridCol w="3873500">
                  <a:extLst>
                    <a:ext uri="{9D8B030D-6E8A-4147-A177-3AD203B41FA5}">
                      <a16:colId xmlns:a16="http://schemas.microsoft.com/office/drawing/2014/main" val="20001"/>
                    </a:ext>
                  </a:extLst>
                </a:gridCol>
                <a:gridCol w="1460500">
                  <a:extLst>
                    <a:ext uri="{9D8B030D-6E8A-4147-A177-3AD203B41FA5}">
                      <a16:colId xmlns:a16="http://schemas.microsoft.com/office/drawing/2014/main" val="20002"/>
                    </a:ext>
                  </a:extLst>
                </a:gridCol>
              </a:tblGrid>
              <a:tr h="698500">
                <a:tc>
                  <a:txBody>
                    <a:bodyPr/>
                    <a:lstStyle/>
                    <a:p>
                      <a:pPr marL="0" indent="0" algn="l">
                        <a:buNone/>
                      </a:pPr>
                      <a:r>
                        <a:rPr lang="ru-RU" sz="1400" b="1" i="0">
                          <a:solidFill>
                            <a:srgbClr val="262626"/>
                          </a:solidFill>
                          <a:latin typeface="Arial" panose="020B0604020202020204" pitchFamily="34" charset="0"/>
                          <a:cs typeface="Arial"/>
                        </a:rPr>
                        <a:t>Метод</a:t>
                      </a:r>
                      <a:endParaRPr sz="1400" b="1" i="0">
                        <a:solidFill>
                          <a:srgbClr val="262626"/>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DCE9F6"/>
                    </a:solidFill>
                  </a:tcPr>
                </a:tc>
                <a:tc>
                  <a:txBody>
                    <a:bodyPr/>
                    <a:lstStyle/>
                    <a:p>
                      <a:pPr marL="0" indent="0" algn="l">
                        <a:buNone/>
                      </a:pPr>
                      <a:r>
                        <a:rPr lang="ru-RU" sz="1400" b="1" i="0">
                          <a:solidFill>
                            <a:srgbClr val="262626"/>
                          </a:solidFill>
                          <a:latin typeface="Arial" panose="020B0604020202020204" pitchFamily="34" charset="0"/>
                          <a:cs typeface="Arial"/>
                        </a:rPr>
                        <a:t>Как получает прогноз</a:t>
                      </a:r>
                      <a:endParaRPr sz="1400" b="1" i="0">
                        <a:solidFill>
                          <a:srgbClr val="262626"/>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DCE9F6"/>
                    </a:solidFill>
                  </a:tcPr>
                </a:tc>
                <a:tc>
                  <a:txBody>
                    <a:bodyPr/>
                    <a:lstStyle/>
                    <a:p>
                      <a:pPr marL="0" indent="0" algn="l">
                        <a:buNone/>
                      </a:pPr>
                      <a:r>
                        <a:rPr lang="ru-RU" sz="1400" b="1" i="0">
                          <a:solidFill>
                            <a:srgbClr val="262626"/>
                          </a:solidFill>
                          <a:latin typeface="Arial" panose="020B0604020202020204" pitchFamily="34" charset="0"/>
                          <a:cs typeface="Arial"/>
                        </a:rPr>
                        <a:t>Роль</a:t>
                      </a:r>
                      <a:endParaRPr sz="1400" b="1" i="0">
                        <a:solidFill>
                          <a:srgbClr val="262626"/>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DCE9F6"/>
                    </a:solidFill>
                  </a:tcPr>
                </a:tc>
                <a:extLst>
                  <a:ext uri="{0D108BD9-81ED-4DB2-BD59-A6C34878D82A}">
                    <a16:rowId xmlns:a16="http://schemas.microsoft.com/office/drawing/2014/main" val="10000"/>
                  </a:ext>
                </a:extLst>
              </a:tr>
              <a:tr h="698500">
                <a:tc>
                  <a:txBody>
                    <a:bodyPr/>
                    <a:lstStyle/>
                    <a:p>
                      <a:pPr marL="0" indent="0" algn="l">
                        <a:buNone/>
                      </a:pPr>
                      <a:r>
                        <a:rPr lang="ru-RU" sz="1300" b="0" i="0">
                          <a:solidFill>
                            <a:srgbClr val="262626"/>
                          </a:solidFill>
                          <a:latin typeface="Arial" panose="020B0604020202020204" pitchFamily="34" charset="0"/>
                          <a:cs typeface="Arial"/>
                        </a:rPr>
                        <a:t>Прогноз среднего</a:t>
                      </a:r>
                      <a:endParaRPr sz="1300" b="0" i="0">
                        <a:solidFill>
                          <a:srgbClr val="262626"/>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solidFill>
                      <a:srgbClr val="FFFFFF"/>
                    </a:solidFill>
                  </a:tcPr>
                </a:tc>
                <a:tc>
                  <a:txBody>
                    <a:bodyPr/>
                    <a:lstStyle/>
                    <a:p>
                      <a:pPr marL="0" indent="0" algn="l">
                        <a:buNone/>
                      </a:pPr>
                      <a:r>
                        <a:rPr lang="ru-RU" sz="1300" b="0" i="0">
                          <a:solidFill>
                            <a:srgbClr val="262626"/>
                          </a:solidFill>
                          <a:latin typeface="Arial" panose="020B0604020202020204" pitchFamily="34" charset="0"/>
                          <a:cs typeface="Arial"/>
                        </a:rPr>
                        <a:t>Одно среднее для всех строк</a:t>
                      </a:r>
                      <a:endParaRPr sz="1300" b="0" i="0">
                        <a:solidFill>
                          <a:srgbClr val="262626"/>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solidFill>
                      <a:srgbClr val="FFFFFF"/>
                    </a:solidFill>
                  </a:tcPr>
                </a:tc>
                <a:tc>
                  <a:txBody>
                    <a:bodyPr/>
                    <a:lstStyle/>
                    <a:p>
                      <a:pPr marL="0" indent="0" algn="l">
                        <a:buNone/>
                      </a:pPr>
                      <a:r>
                        <a:rPr lang="ru-RU" sz="1300" b="0" i="0">
                          <a:solidFill>
                            <a:srgbClr val="262626"/>
                          </a:solidFill>
                          <a:latin typeface="Arial" panose="020B0604020202020204" pitchFamily="34" charset="0"/>
                          <a:cs typeface="Arial"/>
                        </a:rPr>
                        <a:t>ориентир</a:t>
                      </a:r>
                      <a:endParaRPr sz="1300" b="0" i="0">
                        <a:solidFill>
                          <a:srgbClr val="262626"/>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solidFill>
                      <a:srgbClr val="FFFFFF"/>
                    </a:solidFill>
                  </a:tcPr>
                </a:tc>
                <a:extLst>
                  <a:ext uri="{0D108BD9-81ED-4DB2-BD59-A6C34878D82A}">
                    <a16:rowId xmlns:a16="http://schemas.microsoft.com/office/drawing/2014/main" val="10001"/>
                  </a:ext>
                </a:extLst>
              </a:tr>
              <a:tr h="698500">
                <a:tc>
                  <a:txBody>
                    <a:bodyPr/>
                    <a:lstStyle/>
                    <a:p>
                      <a:pPr marL="0" indent="0" algn="l">
                        <a:buNone/>
                      </a:pPr>
                      <a:r>
                        <a:rPr lang="ru-RU" sz="1300" b="0" i="0">
                          <a:solidFill>
                            <a:srgbClr val="262626"/>
                          </a:solidFill>
                          <a:latin typeface="Arial" panose="020B0604020202020204" pitchFamily="34" charset="0"/>
                          <a:cs typeface="Arial"/>
                        </a:rPr>
                        <a:t>Гребневая регрессия (</a:t>
                      </a:r>
                      <a:r>
                        <a:rPr lang="en-US" sz="1300" b="0" i="0">
                          <a:solidFill>
                            <a:srgbClr val="262626"/>
                          </a:solidFill>
                          <a:latin typeface="Arial" panose="020B0604020202020204" pitchFamily="34" charset="0"/>
                          <a:cs typeface="Arial"/>
                        </a:rPr>
                        <a:t>Ridge)</a:t>
                      </a:r>
                      <a:endParaRPr sz="1300" b="0" i="0">
                        <a:solidFill>
                          <a:srgbClr val="262626"/>
                        </a:solidFill>
                        <a:latin typeface="Arial" panose="020B0604020202020204" pitchFamily="34" charset="0"/>
                        <a:cs typeface="Arial"/>
                      </a:endParaRPr>
                    </a:p>
                  </a:txBody>
                  <a:tcPr marT="27432" marB="27432" anchor="ctr">
                    <a:solidFill>
                      <a:srgbClr val="FFFFFF"/>
                    </a:solidFill>
                  </a:tcPr>
                </a:tc>
                <a:tc>
                  <a:txBody>
                    <a:bodyPr/>
                    <a:lstStyle/>
                    <a:p>
                      <a:pPr marL="0" indent="0" algn="l">
                        <a:buNone/>
                      </a:pPr>
                      <a:r>
                        <a:rPr lang="ru-RU" sz="1300" b="0" i="0">
                          <a:solidFill>
                            <a:srgbClr val="262626"/>
                          </a:solidFill>
                          <a:latin typeface="Arial" panose="020B0604020202020204" pitchFamily="34" charset="0"/>
                          <a:cs typeface="Arial"/>
                        </a:rPr>
                        <a:t>Складывает линейные вклады</a:t>
                      </a:r>
                      <a:endParaRPr sz="1300" b="0" i="0">
                        <a:solidFill>
                          <a:srgbClr val="262626"/>
                        </a:solidFill>
                        <a:latin typeface="Arial" panose="020B0604020202020204" pitchFamily="34" charset="0"/>
                        <a:cs typeface="Arial"/>
                      </a:endParaRPr>
                    </a:p>
                  </a:txBody>
                  <a:tcPr marT="27432" marB="27432" anchor="ctr">
                    <a:solidFill>
                      <a:srgbClr val="FFFFFF"/>
                    </a:solidFill>
                  </a:tcPr>
                </a:tc>
                <a:tc>
                  <a:txBody>
                    <a:bodyPr/>
                    <a:lstStyle/>
                    <a:p>
                      <a:pPr marL="0" indent="0" algn="l">
                        <a:buNone/>
                      </a:pPr>
                      <a:r>
                        <a:rPr lang="ru-RU" sz="1300" b="0" i="0">
                          <a:solidFill>
                            <a:srgbClr val="262626"/>
                          </a:solidFill>
                          <a:latin typeface="Arial" panose="020B0604020202020204" pitchFamily="34" charset="0"/>
                          <a:cs typeface="Arial"/>
                        </a:rPr>
                        <a:t>кандидат</a:t>
                      </a:r>
                      <a:endParaRPr sz="1300" b="0" i="0">
                        <a:solidFill>
                          <a:srgbClr val="262626"/>
                        </a:solidFill>
                        <a:latin typeface="Arial" panose="020B0604020202020204" pitchFamily="34" charset="0"/>
                        <a:cs typeface="Arial"/>
                      </a:endParaRPr>
                    </a:p>
                  </a:txBody>
                  <a:tcPr marT="27432" marB="27432" anchor="ctr">
                    <a:solidFill>
                      <a:srgbClr val="FFFFFF"/>
                    </a:solidFill>
                  </a:tcPr>
                </a:tc>
                <a:extLst>
                  <a:ext uri="{0D108BD9-81ED-4DB2-BD59-A6C34878D82A}">
                    <a16:rowId xmlns:a16="http://schemas.microsoft.com/office/drawing/2014/main" val="10002"/>
                  </a:ext>
                </a:extLst>
              </a:tr>
              <a:tr h="698500">
                <a:tc>
                  <a:txBody>
                    <a:bodyPr/>
                    <a:lstStyle/>
                    <a:p>
                      <a:pPr marL="0" indent="0" algn="l">
                        <a:buNone/>
                      </a:pPr>
                      <a:r>
                        <a:rPr lang="ru-RU" sz="1300" b="0" i="0">
                          <a:solidFill>
                            <a:srgbClr val="262626"/>
                          </a:solidFill>
                          <a:latin typeface="Arial" panose="020B0604020202020204" pitchFamily="34" charset="0"/>
                          <a:cs typeface="Arial"/>
                        </a:rPr>
                        <a:t>Случайный лес</a:t>
                      </a:r>
                      <a:endParaRPr sz="1300" b="0" i="0">
                        <a:solidFill>
                          <a:srgbClr val="262626"/>
                        </a:solidFill>
                        <a:latin typeface="Arial" panose="020B0604020202020204" pitchFamily="34" charset="0"/>
                        <a:cs typeface="Arial"/>
                      </a:endParaRPr>
                    </a:p>
                  </a:txBody>
                  <a:tcPr marT="27432" marB="27432" anchor="ctr">
                    <a:solidFill>
                      <a:srgbClr val="FFFFFF"/>
                    </a:solidFill>
                  </a:tcPr>
                </a:tc>
                <a:tc>
                  <a:txBody>
                    <a:bodyPr/>
                    <a:lstStyle/>
                    <a:p>
                      <a:pPr marL="0" indent="0" algn="l">
                        <a:buNone/>
                      </a:pPr>
                      <a:r>
                        <a:rPr lang="ru-RU" sz="1300" b="0" i="0">
                          <a:solidFill>
                            <a:srgbClr val="262626"/>
                          </a:solidFill>
                          <a:latin typeface="Arial" panose="020B0604020202020204" pitchFamily="34" charset="0"/>
                          <a:cs typeface="Arial"/>
                        </a:rPr>
                        <a:t>Усредняет много деревьев</a:t>
                      </a:r>
                      <a:endParaRPr sz="1300" b="0" i="0">
                        <a:solidFill>
                          <a:srgbClr val="262626"/>
                        </a:solidFill>
                        <a:latin typeface="Arial" panose="020B0604020202020204" pitchFamily="34" charset="0"/>
                        <a:cs typeface="Arial"/>
                      </a:endParaRPr>
                    </a:p>
                  </a:txBody>
                  <a:tcPr marT="27432" marB="27432" anchor="ctr">
                    <a:solidFill>
                      <a:srgbClr val="FFFFFF"/>
                    </a:solidFill>
                  </a:tcPr>
                </a:tc>
                <a:tc>
                  <a:txBody>
                    <a:bodyPr/>
                    <a:lstStyle/>
                    <a:p>
                      <a:pPr marL="0" indent="0" algn="l">
                        <a:buNone/>
                      </a:pPr>
                      <a:r>
                        <a:rPr lang="ru-RU" sz="1300" b="0" i="0">
                          <a:solidFill>
                            <a:srgbClr val="262626"/>
                          </a:solidFill>
                          <a:latin typeface="Arial" panose="020B0604020202020204" pitchFamily="34" charset="0"/>
                          <a:cs typeface="Arial"/>
                        </a:rPr>
                        <a:t>кандидат</a:t>
                      </a:r>
                      <a:endParaRPr sz="1300" b="0" i="0">
                        <a:solidFill>
                          <a:srgbClr val="262626"/>
                        </a:solidFill>
                        <a:latin typeface="Arial" panose="020B0604020202020204" pitchFamily="34" charset="0"/>
                        <a:cs typeface="Arial"/>
                      </a:endParaRPr>
                    </a:p>
                  </a:txBody>
                  <a:tcPr marT="27432" marB="27432" anchor="ctr">
                    <a:solidFill>
                      <a:srgbClr val="FFFFFF"/>
                    </a:solidFill>
                  </a:tcPr>
                </a:tc>
                <a:extLst>
                  <a:ext uri="{0D108BD9-81ED-4DB2-BD59-A6C34878D82A}">
                    <a16:rowId xmlns:a16="http://schemas.microsoft.com/office/drawing/2014/main" val="10003"/>
                  </a:ext>
                </a:extLst>
              </a:tr>
              <a:tr h="698500">
                <a:tc>
                  <a:txBody>
                    <a:bodyPr/>
                    <a:lstStyle/>
                    <a:p>
                      <a:pPr marL="0" indent="0" algn="l">
                        <a:buNone/>
                      </a:pPr>
                      <a:r>
                        <a:rPr lang="ru-RU" sz="1300" b="0" i="0">
                          <a:solidFill>
                            <a:srgbClr val="262626"/>
                          </a:solidFill>
                          <a:latin typeface="Arial" panose="020B0604020202020204" pitchFamily="34" charset="0"/>
                          <a:cs typeface="Arial"/>
                        </a:rPr>
                        <a:t>Градиентный бустинг</a:t>
                      </a:r>
                      <a:endParaRPr sz="1300" b="0" i="0">
                        <a:solidFill>
                          <a:srgbClr val="262626"/>
                        </a:solidFill>
                        <a:latin typeface="Arial" panose="020B0604020202020204" pitchFamily="34" charset="0"/>
                        <a:cs typeface="Arial"/>
                      </a:endParaRPr>
                    </a:p>
                  </a:txBody>
                  <a:tcPr marT="27432" marB="27432" anchor="ctr">
                    <a:solidFill>
                      <a:srgbClr val="FFFFFF"/>
                    </a:solidFill>
                  </a:tcPr>
                </a:tc>
                <a:tc>
                  <a:txBody>
                    <a:bodyPr/>
                    <a:lstStyle/>
                    <a:p>
                      <a:pPr marL="0" indent="0" algn="l">
                        <a:buNone/>
                      </a:pPr>
                      <a:r>
                        <a:rPr lang="ru-RU" sz="1300" b="0" i="0">
                          <a:solidFill>
                            <a:srgbClr val="262626"/>
                          </a:solidFill>
                          <a:latin typeface="Arial" panose="020B0604020202020204" pitchFamily="34" charset="0"/>
                          <a:cs typeface="Arial"/>
                        </a:rPr>
                        <a:t>Деревья исправляют ошибки по очереди</a:t>
                      </a:r>
                      <a:endParaRPr sz="1300" b="0" i="0">
                        <a:solidFill>
                          <a:srgbClr val="262626"/>
                        </a:solidFill>
                        <a:latin typeface="Arial" panose="020B0604020202020204" pitchFamily="34" charset="0"/>
                        <a:cs typeface="Arial"/>
                      </a:endParaRPr>
                    </a:p>
                  </a:txBody>
                  <a:tcPr marT="27432" marB="27432" anchor="ctr">
                    <a:solidFill>
                      <a:srgbClr val="FFFFFF"/>
                    </a:solidFill>
                  </a:tcPr>
                </a:tc>
                <a:tc>
                  <a:txBody>
                    <a:bodyPr/>
                    <a:lstStyle/>
                    <a:p>
                      <a:pPr marL="0" indent="0" algn="l">
                        <a:buNone/>
                      </a:pPr>
                      <a:r>
                        <a:rPr lang="ru-RU" sz="1300" b="0" i="0">
                          <a:solidFill>
                            <a:srgbClr val="262626"/>
                          </a:solidFill>
                          <a:latin typeface="Arial" panose="020B0604020202020204" pitchFamily="34" charset="0"/>
                          <a:cs typeface="Arial"/>
                        </a:rPr>
                        <a:t>кандидат</a:t>
                      </a:r>
                      <a:endParaRPr sz="1300" b="0" i="0">
                        <a:solidFill>
                          <a:srgbClr val="262626"/>
                        </a:solidFill>
                        <a:latin typeface="Arial" panose="020B0604020202020204" pitchFamily="34" charset="0"/>
                        <a:cs typeface="Arial"/>
                      </a:endParaRPr>
                    </a:p>
                  </a:txBody>
                  <a:tcPr marT="27432" marB="27432" anchor="ctr">
                    <a:solidFill>
                      <a:srgbClr val="FFFFFF"/>
                    </a:solidFill>
                  </a:tcPr>
                </a:tc>
                <a:extLst>
                  <a:ext uri="{0D108BD9-81ED-4DB2-BD59-A6C34878D82A}">
                    <a16:rowId xmlns:a16="http://schemas.microsoft.com/office/drawing/2014/main" val="10004"/>
                  </a:ext>
                </a:extLst>
              </a:tr>
              <a:tr h="698500">
                <a:tc>
                  <a:txBody>
                    <a:bodyPr/>
                    <a:lstStyle/>
                    <a:p>
                      <a:pPr marL="0" indent="0" algn="l">
                        <a:buNone/>
                      </a:pPr>
                      <a:r>
                        <a:rPr lang="ru-RU" sz="1300" b="0" i="0">
                          <a:solidFill>
                            <a:srgbClr val="262626"/>
                          </a:solidFill>
                          <a:latin typeface="Arial" panose="020B0604020202020204" pitchFamily="34" charset="0"/>
                          <a:cs typeface="Arial"/>
                        </a:rPr>
                        <a:t>Метод опорных векторов (</a:t>
                      </a:r>
                      <a:r>
                        <a:rPr lang="en-US" sz="1300" b="0" i="0">
                          <a:solidFill>
                            <a:srgbClr val="262626"/>
                          </a:solidFill>
                          <a:latin typeface="Arial" panose="020B0604020202020204" pitchFamily="34" charset="0"/>
                          <a:cs typeface="Arial"/>
                        </a:rPr>
                        <a:t>SVR)</a:t>
                      </a:r>
                      <a:endParaRPr sz="1300" b="0" i="0">
                        <a:solidFill>
                          <a:srgbClr val="262626"/>
                        </a:solidFill>
                        <a:latin typeface="Arial" panose="020B0604020202020204" pitchFamily="34" charset="0"/>
                        <a:cs typeface="Arial"/>
                      </a:endParaRPr>
                    </a:p>
                  </a:txBody>
                  <a:tcPr marT="27432" marB="27432" anchor="ctr">
                    <a:solidFill>
                      <a:srgbClr val="FFFFFF"/>
                    </a:solidFill>
                  </a:tcPr>
                </a:tc>
                <a:tc>
                  <a:txBody>
                    <a:bodyPr/>
                    <a:lstStyle/>
                    <a:p>
                      <a:pPr marL="0" indent="0" algn="l">
                        <a:buNone/>
                      </a:pPr>
                      <a:r>
                        <a:rPr lang="ru-RU" sz="1300" b="0" i="0">
                          <a:solidFill>
                            <a:srgbClr val="262626"/>
                          </a:solidFill>
                          <a:latin typeface="Arial" panose="020B0604020202020204" pitchFamily="34" charset="0"/>
                          <a:cs typeface="Arial"/>
                        </a:rPr>
                        <a:t>Ищет гладкую зависимость</a:t>
                      </a:r>
                      <a:endParaRPr sz="1300" b="0" i="0">
                        <a:solidFill>
                          <a:srgbClr val="262626"/>
                        </a:solidFill>
                        <a:latin typeface="Arial" panose="020B0604020202020204" pitchFamily="34" charset="0"/>
                        <a:cs typeface="Arial"/>
                      </a:endParaRPr>
                    </a:p>
                  </a:txBody>
                  <a:tcPr marT="27432" marB="27432" anchor="ctr">
                    <a:solidFill>
                      <a:srgbClr val="FFFFFF"/>
                    </a:solidFill>
                  </a:tcPr>
                </a:tc>
                <a:tc>
                  <a:txBody>
                    <a:bodyPr/>
                    <a:lstStyle/>
                    <a:p>
                      <a:pPr marL="0" indent="0" algn="l">
                        <a:buNone/>
                      </a:pPr>
                      <a:r>
                        <a:rPr lang="ru-RU" sz="1300" b="0" i="0">
                          <a:solidFill>
                            <a:srgbClr val="262626"/>
                          </a:solidFill>
                          <a:latin typeface="Arial" panose="020B0604020202020204" pitchFamily="34" charset="0"/>
                          <a:cs typeface="Arial"/>
                        </a:rPr>
                        <a:t>кандидат</a:t>
                      </a:r>
                      <a:endParaRPr sz="1300" b="0" i="0">
                        <a:solidFill>
                          <a:srgbClr val="262626"/>
                        </a:solidFill>
                        <a:latin typeface="Arial" panose="020B0604020202020204" pitchFamily="34" charset="0"/>
                        <a:cs typeface="Arial"/>
                      </a:endParaRPr>
                    </a:p>
                  </a:txBody>
                  <a:tcPr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6" name="TenChecks">
            <a:extLst>
              <a:ext uri="{FF2B5EF4-FFF2-40B4-BE49-F238E27FC236}">
                <a16:creationId xmlns:a16="http://schemas.microsoft.com/office/drawing/2014/main" id="{D83B49D7-1DA9-4EDF-8CEA-7A80676C78CB}"/>
              </a:ext>
            </a:extLst>
          </p:cNvPr>
          <p:cNvSpPr/>
          <p:nvPr/>
        </p:nvSpPr>
        <p:spPr>
          <a:xfrm>
            <a:off x="8382000" y="1600200"/>
            <a:ext cx="3378200" cy="1905000"/>
          </a:xfrm>
          <a:prstGeom prst="roundRect">
            <a:avLst/>
          </a:prstGeom>
          <a:solidFill>
            <a:srgbClr val="DCE9F6"/>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700" b="1">
                <a:solidFill>
                  <a:srgbClr val="262626"/>
                </a:solidFill>
                <a:latin typeface="Arial" panose="020B0604020202020204" pitchFamily="34" charset="0"/>
              </a:rPr>
              <a:t>10 проверок
внутри 716 строк
9 частей для обучения
1 часть для проверки</a:t>
            </a:r>
          </a:p>
        </p:txBody>
      </p:sp>
      <p:sp>
        <p:nvSpPr>
          <p:cNvPr id="17" name="SelectionRule">
            <a:extLst>
              <a:ext uri="{FF2B5EF4-FFF2-40B4-BE49-F238E27FC236}">
                <a16:creationId xmlns:a16="http://schemas.microsoft.com/office/drawing/2014/main" id="{F9D1049D-372D-4071-BBF2-C0662F72EC5A}"/>
              </a:ext>
            </a:extLst>
          </p:cNvPr>
          <p:cNvSpPr/>
          <p:nvPr/>
        </p:nvSpPr>
        <p:spPr>
          <a:xfrm>
            <a:off x="8382000" y="3708400"/>
            <a:ext cx="3378200" cy="2209800"/>
          </a:xfrm>
          <a:prstGeom prst="roundRect">
            <a:avLst/>
          </a:prstGeom>
          <a:solidFill>
            <a:srgbClr val="FFC000"/>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600" b="1">
                <a:solidFill>
                  <a:srgbClr val="262626"/>
                </a:solidFill>
                <a:latin typeface="Arial" panose="020B0604020202020204" pitchFamily="34" charset="0"/>
              </a:rPr>
              <a:t>Выбор до итоговой проверки
RMSE – среднеквадратичная ошибка
Меньше – лучше</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Модуль упругости: прогноз среднего оказался лучшим</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va_modulus.png"/>
          <p:cNvPicPr>
            <a:picLocks noChangeAspect="1"/>
          </p:cNvPicPr>
          <p:nvPr/>
        </p:nvPicPr>
        <p:blipFill>
          <a:blip r:embed="rId3"/>
          <a:stretch>
            <a:fillRect/>
          </a:stretch>
        </p:blipFill>
        <p:spPr>
          <a:xfrm>
            <a:off x="6012132" y="1481328"/>
            <a:ext cx="5756195" cy="4754880"/>
          </a:xfrm>
          <a:prstGeom prst="rect">
            <a:avLst/>
          </a:prstGeom>
          <a:ln w="9525">
            <a:solidFill>
              <a:srgbClr val="D9D9D9"/>
            </a:solidFill>
          </a:ln>
        </p:spPr>
      </p:pic>
      <p:sp>
        <p:nvSpPr>
          <p:cNvPr id="72" name="TextBox 71"/>
          <p:cNvSpPr txBox="1"/>
          <p:nvPr/>
        </p:nvSpPr>
        <p:spPr>
          <a:xfrm>
            <a:off x="557784" y="1481328"/>
            <a:ext cx="5270500" cy="1155700"/>
          </a:xfrm>
          <a:prstGeom prst="rect">
            <a:avLst/>
          </a:prstGeom>
          <a:noFill/>
        </p:spPr>
        <p:txBody>
          <a:bodyPr wrap="square" lIns="0" tIns="0" rIns="0" bIns="0" anchor="t"/>
          <a:lstStyle/>
          <a:p>
            <a:pPr marL="0" indent="0" algn="l">
              <a:lnSpc>
                <a:spcPct val="100000"/>
              </a:lnSpc>
              <a:buNone/>
            </a:pPr>
            <a:r>
              <a:rPr lang="ru-RU" sz="1300" b="1" i="0">
                <a:solidFill>
                  <a:srgbClr val="F1BE29"/>
                </a:solidFill>
                <a:latin typeface="Arial" panose="020B0604020202020204" pitchFamily="34" charset="0"/>
                <a:cs typeface="Arial"/>
              </a:rPr>
              <a:t>RMSE – среднеквадратичная ошибка; большие промахи увеличивают её сильнее
MAE – средний размер ошибки
R² – сравнение с прогнозом среднего, не процент точности</a:t>
            </a:r>
            <a:endParaRPr sz="1300" b="1" i="0">
              <a:solidFill>
                <a:srgbClr val="F1BE29"/>
              </a:solidFill>
              <a:latin typeface="Arial" panose="020B0604020202020204" pitchFamily="34" charset="0"/>
              <a:cs typeface="Arial"/>
            </a:endParaRPr>
          </a:p>
        </p:txBody>
      </p:sp>
      <p:graphicFrame>
        <p:nvGraphicFramePr>
          <p:cNvPr id="73" name="Метрики модуля"/>
          <p:cNvGraphicFramePr>
            <a:graphicFrameLocks noGrp="1"/>
          </p:cNvGraphicFramePr>
          <p:nvPr>
            <p:extLst>
              <p:ext uri="{D42A27DB-BD31-4B8C-83A1-F6EECF244321}">
                <p14:modId xmlns:p14="http://schemas.microsoft.com/office/powerpoint/2010/main" val="3676934964"/>
              </p:ext>
            </p:extLst>
          </p:nvPr>
        </p:nvGraphicFramePr>
        <p:xfrm>
          <a:off x="557784" y="2730500"/>
          <a:ext cx="5120640" cy="190500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476250">
                <a:tc>
                  <a:txBody>
                    <a:bodyPr/>
                    <a:lstStyle/>
                    <a:p>
                      <a:pPr marL="0" indent="0" algn="l">
                        <a:buNone/>
                      </a:pPr>
                      <a:r>
                        <a:rPr sz="1800" b="1" i="0">
                          <a:solidFill>
                            <a:srgbClr val="FFFFFF"/>
                          </a:solidFill>
                          <a:latin typeface="Arial" panose="020B0604020202020204" pitchFamily="34" charset="0"/>
                          <a:cs typeface="Arial"/>
                        </a:rPr>
                        <a:t>Метрика</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l">
                        <a:buNone/>
                      </a:pPr>
                      <a:r>
                        <a:rPr lang="ru-RU" sz="1200" b="1" i="0">
                          <a:solidFill>
                            <a:srgbClr val="FFFFFF"/>
                          </a:solidFill>
                          <a:latin typeface="Arial" panose="020B0604020202020204" pitchFamily="34" charset="0"/>
                          <a:cs typeface="Arial"/>
                        </a:rPr>
                        <a:t>716 строк</a:t>
                      </a:r>
                      <a:endParaRPr sz="12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E5DAB"/>
                    </a:solidFill>
                  </a:tcPr>
                </a:tc>
                <a:tc>
                  <a:txBody>
                    <a:bodyPr/>
                    <a:lstStyle/>
                    <a:p>
                      <a:pPr marL="0" indent="0" algn="l">
                        <a:buNone/>
                      </a:pPr>
                      <a:r>
                        <a:rPr lang="ru-RU" sz="1200" b="1" i="0">
                          <a:solidFill>
                            <a:srgbClr val="FFFFFF"/>
                          </a:solidFill>
                          <a:latin typeface="Arial" panose="020B0604020202020204" pitchFamily="34" charset="0"/>
                          <a:cs typeface="Arial"/>
                        </a:rPr>
                        <a:t>307 строк</a:t>
                      </a:r>
                      <a:endParaRPr sz="12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E5DAB"/>
                    </a:solidFill>
                  </a:tcPr>
                </a:tc>
                <a:extLst>
                  <a:ext uri="{0D108BD9-81ED-4DB2-BD59-A6C34878D82A}">
                    <a16:rowId xmlns:a16="http://schemas.microsoft.com/office/drawing/2014/main" val="10000"/>
                  </a:ext>
                </a:extLst>
              </a:tr>
              <a:tr h="476250">
                <a:tc>
                  <a:txBody>
                    <a:bodyPr/>
                    <a:lstStyle/>
                    <a:p>
                      <a:pPr marL="0" indent="0" algn="l">
                        <a:buNone/>
                      </a:pPr>
                      <a:r>
                        <a:rPr sz="2000" b="0" i="0">
                          <a:solidFill>
                            <a:srgbClr val="262626"/>
                          </a:solidFill>
                          <a:latin typeface="Arial" panose="020B0604020202020204" pitchFamily="34" charset="0"/>
                          <a:cs typeface="Arial"/>
                        </a:rPr>
                        <a:t>RMSE, ГПа</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000" b="0" i="0">
                          <a:solidFill>
                            <a:srgbClr val="262626"/>
                          </a:solidFill>
                          <a:latin typeface="Arial" panose="020B0604020202020204" pitchFamily="34" charset="0"/>
                          <a:cs typeface="Arial"/>
                        </a:rPr>
                        <a:t>3,095</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000" b="1" i="0">
                          <a:solidFill>
                            <a:srgbClr val="262626"/>
                          </a:solidFill>
                          <a:latin typeface="Arial" panose="020B0604020202020204" pitchFamily="34" charset="0"/>
                          <a:cs typeface="Arial"/>
                        </a:rPr>
                        <a:t>3,178</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476250">
                <a:tc>
                  <a:txBody>
                    <a:bodyPr/>
                    <a:lstStyle/>
                    <a:p>
                      <a:pPr marL="0" indent="0" algn="l">
                        <a:buNone/>
                      </a:pPr>
                      <a:r>
                        <a:rPr sz="2000" b="0" i="0">
                          <a:solidFill>
                            <a:srgbClr val="262626"/>
                          </a:solidFill>
                          <a:latin typeface="Arial" panose="020B0604020202020204" pitchFamily="34" charset="0"/>
                          <a:cs typeface="Arial"/>
                        </a:rPr>
                        <a:t>MAE, ГПа</a:t>
                      </a:r>
                    </a:p>
                  </a:txBody>
                  <a:tcPr marT="27432" marB="27432" anchor="ctr">
                    <a:noFill/>
                  </a:tcPr>
                </a:tc>
                <a:tc>
                  <a:txBody>
                    <a:bodyPr/>
                    <a:lstStyle/>
                    <a:p>
                      <a:pPr marL="0" indent="0" algn="r">
                        <a:buNone/>
                      </a:pPr>
                      <a:r>
                        <a:rPr sz="2000" b="0" i="0">
                          <a:solidFill>
                            <a:srgbClr val="262626"/>
                          </a:solidFill>
                          <a:latin typeface="Arial" panose="020B0604020202020204" pitchFamily="34" charset="0"/>
                          <a:cs typeface="Arial"/>
                        </a:rPr>
                        <a:t>2,480</a:t>
                      </a:r>
                    </a:p>
                  </a:txBody>
                  <a:tcPr marT="27432" marB="27432" anchor="ctr">
                    <a:noFill/>
                  </a:tcPr>
                </a:tc>
                <a:tc>
                  <a:txBody>
                    <a:bodyPr/>
                    <a:lstStyle/>
                    <a:p>
                      <a:pPr marL="0" indent="0" algn="r">
                        <a:buNone/>
                      </a:pPr>
                      <a:r>
                        <a:rPr sz="2000" b="1" i="0">
                          <a:solidFill>
                            <a:srgbClr val="262626"/>
                          </a:solidFill>
                          <a:latin typeface="Arial" panose="020B0604020202020204" pitchFamily="34" charset="0"/>
                          <a:cs typeface="Arial"/>
                        </a:rPr>
                        <a:t>2,556</a:t>
                      </a:r>
                    </a:p>
                  </a:txBody>
                  <a:tcPr marT="27432" marB="27432" anchor="ctr">
                    <a:noFill/>
                  </a:tcPr>
                </a:tc>
                <a:extLst>
                  <a:ext uri="{0D108BD9-81ED-4DB2-BD59-A6C34878D82A}">
                    <a16:rowId xmlns:a16="http://schemas.microsoft.com/office/drawing/2014/main" val="10002"/>
                  </a:ext>
                </a:extLst>
              </a:tr>
              <a:tr h="476250">
                <a:tc>
                  <a:txBody>
                    <a:bodyPr/>
                    <a:lstStyle/>
                    <a:p>
                      <a:pPr marL="0" indent="0" algn="l">
                        <a:buNone/>
                      </a:pPr>
                      <a:r>
                        <a:rPr sz="2000" b="0" i="0">
                          <a:solidFill>
                            <a:srgbClr val="262626"/>
                          </a:solidFill>
                          <a:latin typeface="Arial" panose="020B0604020202020204" pitchFamily="34" charset="0"/>
                          <a:cs typeface="Arial"/>
                        </a:rPr>
                        <a:t>R²</a:t>
                      </a:r>
                    </a:p>
                  </a:txBody>
                  <a:tcPr marT="27432" marB="27432" anchor="ctr">
                    <a:noFill/>
                  </a:tcPr>
                </a:tc>
                <a:tc>
                  <a:txBody>
                    <a:bodyPr/>
                    <a:lstStyle/>
                    <a:p>
                      <a:pPr marL="0" indent="0" algn="r">
                        <a:buNone/>
                      </a:pPr>
                      <a:r>
                        <a:rPr sz="2000" b="0" i="0">
                          <a:solidFill>
                            <a:srgbClr val="262626"/>
                          </a:solidFill>
                          <a:latin typeface="Arial" panose="020B0604020202020204" pitchFamily="34" charset="0"/>
                          <a:cs typeface="Arial"/>
                        </a:rPr>
                        <a:t>0,000</a:t>
                      </a:r>
                    </a:p>
                  </a:txBody>
                  <a:tcPr marT="27432" marB="27432" anchor="ctr">
                    <a:noFill/>
                  </a:tcPr>
                </a:tc>
                <a:tc>
                  <a:txBody>
                    <a:bodyPr/>
                    <a:lstStyle/>
                    <a:p>
                      <a:pPr marL="0" indent="0" algn="r">
                        <a:buNone/>
                      </a:pPr>
                      <a:r>
                        <a:rPr sz="2000" b="1" i="0">
                          <a:solidFill>
                            <a:srgbClr val="262626"/>
                          </a:solidFill>
                          <a:latin typeface="Arial" panose="020B0604020202020204" pitchFamily="34" charset="0"/>
                          <a:cs typeface="Arial"/>
                        </a:rPr>
                        <a:t>−0,016</a:t>
                      </a:r>
                    </a:p>
                  </a:txBody>
                  <a:tcPr marT="27432" marB="27432" anchor="ctr">
                    <a:noFill/>
                  </a:tcPr>
                </a:tc>
                <a:extLst>
                  <a:ext uri="{0D108BD9-81ED-4DB2-BD59-A6C34878D82A}">
                    <a16:rowId xmlns:a16="http://schemas.microsoft.com/office/drawing/2014/main" val="10003"/>
                  </a:ext>
                </a:extLst>
              </a:tr>
            </a:tbl>
          </a:graphicData>
        </a:graphic>
      </p:graphicFrame>
      <p:cxnSp>
        <p:nvCxnSpPr>
          <p:cNvPr id="74" name="Connector 73"/>
          <p:cNvCxnSpPr/>
          <p:nvPr/>
        </p:nvCxnSpPr>
        <p:spPr>
          <a:xfrm>
            <a:off x="557784" y="4800600"/>
            <a:ext cx="0" cy="1325880"/>
          </a:xfrm>
          <a:prstGeom prst="line">
            <a:avLst/>
          </a:prstGeom>
          <a:ln w="25400">
            <a:solidFill>
              <a:srgbClr val="065CAB"/>
            </a:solidFill>
          </a:ln>
        </p:spPr>
      </p:cxnSp>
      <p:cxnSp>
        <p:nvCxnSpPr>
          <p:cNvPr id="75" name="Connector 74"/>
          <p:cNvCxnSpPr/>
          <p:nvPr/>
        </p:nvCxnSpPr>
        <p:spPr>
          <a:xfrm>
            <a:off x="557784" y="4800600"/>
            <a:ext cx="457199" cy="0"/>
          </a:xfrm>
          <a:prstGeom prst="line">
            <a:avLst/>
          </a:prstGeom>
          <a:ln w="25400">
            <a:solidFill>
              <a:srgbClr val="065CAB"/>
            </a:solidFill>
          </a:ln>
        </p:spPr>
      </p:cxnSp>
      <p:cxnSp>
        <p:nvCxnSpPr>
          <p:cNvPr id="76" name="Connector 75"/>
          <p:cNvCxnSpPr/>
          <p:nvPr/>
        </p:nvCxnSpPr>
        <p:spPr>
          <a:xfrm>
            <a:off x="557784" y="6126480"/>
            <a:ext cx="457199" cy="0"/>
          </a:xfrm>
          <a:prstGeom prst="line">
            <a:avLst/>
          </a:prstGeom>
          <a:ln w="25400">
            <a:solidFill>
              <a:srgbClr val="065CAB"/>
            </a:solidFill>
          </a:ln>
        </p:spPr>
      </p:cxnSp>
      <p:sp>
        <p:nvSpPr>
          <p:cNvPr id="77" name="TextBox 76"/>
          <p:cNvSpPr txBox="1"/>
          <p:nvPr/>
        </p:nvSpPr>
        <p:spPr>
          <a:xfrm>
            <a:off x="813816" y="4873752"/>
            <a:ext cx="4864607" cy="1179576"/>
          </a:xfrm>
          <a:prstGeom prst="rect">
            <a:avLst/>
          </a:prstGeom>
          <a:noFill/>
        </p:spPr>
        <p:txBody>
          <a:bodyPr wrap="square" lIns="0" tIns="0" rIns="0" bIns="0" anchor="ctr"/>
          <a:lstStyle/>
          <a:p>
            <a:pPr marL="0" indent="0" algn="l">
              <a:buNone/>
            </a:pPr>
            <a:r>
              <a:rPr lang="ru-RU" i="0">
                <a:solidFill>
                  <a:srgbClr val="262626"/>
                </a:solidFill>
                <a:latin typeface="Arial" panose="020B0604020202020204" pitchFamily="34" charset="0"/>
                <a:cs typeface="Arial"/>
              </a:rPr>
              <a:t>Ось X – фактическое значение, ось Y – прогноз
Диагональ – идеальный ответ
Горизонтальная полоса – одно среднее для всех</a:t>
            </a:r>
            <a:endParaRPr i="0">
              <a:solidFill>
                <a:srgbClr val="262626"/>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9</a:t>
            </a:fld>
            <a:endParaRPr lang="ru-RU" dirty="0">
              <a:cs typeface="Arial"/>
            </a:endParaRPr>
          </a:p>
        </p:txBody>
      </p:sp>
      <p:sp>
        <p:nvSpPr>
          <p:cNvPr id="2" name="ModuleLegendCover">
            <a:extLst>
              <a:ext uri="{FF2B5EF4-FFF2-40B4-BE49-F238E27FC236}">
                <a16:creationId xmlns:a16="http://schemas.microsoft.com/office/drawing/2014/main" id="{FA231F85-6837-4344-9B7C-D6A595BDA11B}"/>
              </a:ext>
            </a:extLst>
          </p:cNvPr>
          <p:cNvSpPr/>
          <p:nvPr/>
        </p:nvSpPr>
        <p:spPr>
          <a:xfrm>
            <a:off x="6794500" y="1841500"/>
            <a:ext cx="2095500" cy="787400"/>
          </a:xfrm>
          <a:prstGeom prst="roundRect">
            <a:avLst/>
          </a:prstGeom>
          <a:solidFill>
            <a:srgbClr val="FFFFFF"/>
          </a:solidFill>
          <a:ln w="1778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000">
                <a:solidFill>
                  <a:srgbClr val="262626"/>
                </a:solidFill>
                <a:latin typeface="Arial" panose="020B0604020202020204" pitchFamily="34" charset="0"/>
              </a:rPr>
              <a:t>Синие точки – обучение, 716
Оранжевые – итоговая проверка, 307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090153" cy="666000"/>
            <a:chOff x="0" y="0"/>
            <a:chExt cx="809015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09015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Прочность: выигрыш бустинга слишком мал</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00010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va_strength.png"/>
          <p:cNvPicPr>
            <a:picLocks noChangeAspect="1"/>
          </p:cNvPicPr>
          <p:nvPr/>
        </p:nvPicPr>
        <p:blipFill>
          <a:blip r:embed="rId3"/>
          <a:stretch>
            <a:fillRect/>
          </a:stretch>
        </p:blipFill>
        <p:spPr>
          <a:xfrm>
            <a:off x="5890493" y="1417320"/>
            <a:ext cx="5877834" cy="4800600"/>
          </a:xfrm>
          <a:prstGeom prst="rect">
            <a:avLst/>
          </a:prstGeom>
          <a:ln w="9525">
            <a:solidFill>
              <a:srgbClr val="D9D9D9"/>
            </a:solidFill>
          </a:ln>
        </p:spPr>
      </p:pic>
      <p:graphicFrame>
        <p:nvGraphicFramePr>
          <p:cNvPr id="72" name="Метрики прочности"/>
          <p:cNvGraphicFramePr>
            <a:graphicFrameLocks noGrp="1"/>
          </p:cNvGraphicFramePr>
          <p:nvPr>
            <p:extLst>
              <p:ext uri="{D42A27DB-BD31-4B8C-83A1-F6EECF244321}">
                <p14:modId xmlns:p14="http://schemas.microsoft.com/office/powerpoint/2010/main" val="3772179708"/>
              </p:ext>
            </p:extLst>
          </p:nvPr>
        </p:nvGraphicFramePr>
        <p:xfrm>
          <a:off x="557784" y="1463040"/>
          <a:ext cx="5257800" cy="1975104"/>
        </p:xfrm>
        <a:graphic>
          <a:graphicData uri="http://schemas.openxmlformats.org/drawingml/2006/table">
            <a:tbl>
              <a:tblPr>
                <a:tableStyleId>{2D5ABB26-0587-4C30-8999-92F81FD0307C}</a:tableStyleId>
              </a:tblPr>
              <a:tblGrid>
                <a:gridCol w="21488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93776">
                <a:tc>
                  <a:txBody>
                    <a:bodyPr/>
                    <a:lstStyle/>
                    <a:p>
                      <a:pPr marL="0" indent="0" algn="l">
                        <a:buNone/>
                      </a:pPr>
                      <a:r>
                        <a:rPr lang="ru-RU" sz="1300" b="1" i="0">
                          <a:solidFill>
                            <a:srgbClr val="FFFFFF"/>
                          </a:solidFill>
                          <a:latin typeface="Arial" panose="020B0604020202020204" pitchFamily="34" charset="0"/>
                          <a:cs typeface="Arial"/>
                        </a:rPr>
                        <a:t>Градиентный бустинг</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E5DAB"/>
                    </a:solidFill>
                  </a:tcPr>
                </a:tc>
                <a:tc>
                  <a:txBody>
                    <a:bodyPr/>
                    <a:lstStyle/>
                    <a:p>
                      <a:pPr marL="0" indent="0" algn="l">
                        <a:buNone/>
                      </a:pPr>
                      <a:r>
                        <a:rPr lang="ru-RU" sz="1200" b="1" i="0">
                          <a:solidFill>
                            <a:srgbClr val="FFFFFF"/>
                          </a:solidFill>
                          <a:latin typeface="Arial" panose="020B0604020202020204" pitchFamily="34" charset="0"/>
                          <a:cs typeface="Arial"/>
                        </a:rPr>
                        <a:t>716 строк</a:t>
                      </a:r>
                      <a:endParaRPr sz="12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E5DAB"/>
                    </a:solidFill>
                  </a:tcPr>
                </a:tc>
                <a:tc>
                  <a:txBody>
                    <a:bodyPr/>
                    <a:lstStyle/>
                    <a:p>
                      <a:pPr marL="0" indent="0" algn="l">
                        <a:buNone/>
                      </a:pPr>
                      <a:r>
                        <a:rPr lang="ru-RU" sz="1200" b="1" i="0">
                          <a:solidFill>
                            <a:srgbClr val="FFFFFF"/>
                          </a:solidFill>
                          <a:latin typeface="Arial" panose="020B0604020202020204" pitchFamily="34" charset="0"/>
                          <a:cs typeface="Arial"/>
                        </a:rPr>
                        <a:t>307 строк</a:t>
                      </a:r>
                      <a:endParaRPr sz="12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E5DAB"/>
                    </a:solidFill>
                  </a:tcPr>
                </a:tc>
                <a:extLst>
                  <a:ext uri="{0D108BD9-81ED-4DB2-BD59-A6C34878D82A}">
                    <a16:rowId xmlns:a16="http://schemas.microsoft.com/office/drawing/2014/main" val="10000"/>
                  </a:ext>
                </a:extLst>
              </a:tr>
              <a:tr h="493776">
                <a:tc>
                  <a:txBody>
                    <a:bodyPr/>
                    <a:lstStyle/>
                    <a:p>
                      <a:pPr marL="0" indent="0" algn="l">
                        <a:buNone/>
                      </a:pPr>
                      <a:r>
                        <a:rPr sz="1900" b="0" i="0">
                          <a:solidFill>
                            <a:srgbClr val="262626"/>
                          </a:solidFill>
                          <a:latin typeface="Arial" panose="020B0604020202020204" pitchFamily="34" charset="0"/>
                          <a:cs typeface="Arial"/>
                        </a:rPr>
                        <a:t>RMSE, МПа</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900" b="0" i="0">
                          <a:solidFill>
                            <a:srgbClr val="262626"/>
                          </a:solidFill>
                          <a:latin typeface="Arial" panose="020B0604020202020204" pitchFamily="34" charset="0"/>
                          <a:cs typeface="Arial"/>
                        </a:rPr>
                        <a:t>447,149</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900" b="1" i="0">
                          <a:solidFill>
                            <a:srgbClr val="262626"/>
                          </a:solidFill>
                          <a:latin typeface="Arial" panose="020B0604020202020204" pitchFamily="34" charset="0"/>
                          <a:cs typeface="Arial"/>
                        </a:rPr>
                        <a:t>471,410</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493776">
                <a:tc>
                  <a:txBody>
                    <a:bodyPr/>
                    <a:lstStyle/>
                    <a:p>
                      <a:pPr marL="0" indent="0" algn="l">
                        <a:buNone/>
                      </a:pPr>
                      <a:r>
                        <a:rPr sz="1900" b="0" i="0">
                          <a:solidFill>
                            <a:srgbClr val="262626"/>
                          </a:solidFill>
                          <a:latin typeface="Arial" panose="020B0604020202020204" pitchFamily="34" charset="0"/>
                          <a:cs typeface="Arial"/>
                        </a:rPr>
                        <a:t>MAE, МПа</a:t>
                      </a:r>
                    </a:p>
                  </a:txBody>
                  <a:tcPr marT="27432" marB="27432" anchor="ctr">
                    <a:noFill/>
                  </a:tcPr>
                </a:tc>
                <a:tc>
                  <a:txBody>
                    <a:bodyPr/>
                    <a:lstStyle/>
                    <a:p>
                      <a:pPr marL="0" indent="0" algn="r">
                        <a:buNone/>
                      </a:pPr>
                      <a:r>
                        <a:rPr sz="1900" b="0" i="0">
                          <a:solidFill>
                            <a:srgbClr val="262626"/>
                          </a:solidFill>
                          <a:latin typeface="Arial" panose="020B0604020202020204" pitchFamily="34" charset="0"/>
                          <a:cs typeface="Arial"/>
                        </a:rPr>
                        <a:t>352,394</a:t>
                      </a:r>
                    </a:p>
                  </a:txBody>
                  <a:tcPr marT="27432" marB="27432" anchor="ctr">
                    <a:noFill/>
                  </a:tcPr>
                </a:tc>
                <a:tc>
                  <a:txBody>
                    <a:bodyPr/>
                    <a:lstStyle/>
                    <a:p>
                      <a:pPr marL="0" indent="0" algn="r">
                        <a:buNone/>
                      </a:pPr>
                      <a:r>
                        <a:rPr sz="1900" b="1" i="0">
                          <a:solidFill>
                            <a:srgbClr val="262626"/>
                          </a:solidFill>
                          <a:latin typeface="Arial" panose="020B0604020202020204" pitchFamily="34" charset="0"/>
                          <a:cs typeface="Arial"/>
                        </a:rPr>
                        <a:t>380,152</a:t>
                      </a:r>
                    </a:p>
                  </a:txBody>
                  <a:tcPr marT="27432" marB="27432" anchor="ctr">
                    <a:noFill/>
                  </a:tcPr>
                </a:tc>
                <a:extLst>
                  <a:ext uri="{0D108BD9-81ED-4DB2-BD59-A6C34878D82A}">
                    <a16:rowId xmlns:a16="http://schemas.microsoft.com/office/drawing/2014/main" val="10002"/>
                  </a:ext>
                </a:extLst>
              </a:tr>
              <a:tr h="493776">
                <a:tc>
                  <a:txBody>
                    <a:bodyPr/>
                    <a:lstStyle/>
                    <a:p>
                      <a:pPr marL="0" indent="0" algn="l">
                        <a:buNone/>
                      </a:pPr>
                      <a:r>
                        <a:rPr sz="1900" b="0" i="0">
                          <a:solidFill>
                            <a:srgbClr val="262626"/>
                          </a:solidFill>
                          <a:latin typeface="Arial" panose="020B0604020202020204" pitchFamily="34" charset="0"/>
                          <a:cs typeface="Arial"/>
                        </a:rPr>
                        <a:t>R²</a:t>
                      </a:r>
                    </a:p>
                  </a:txBody>
                  <a:tcPr marT="27432" marB="27432" anchor="ctr">
                    <a:noFill/>
                  </a:tcPr>
                </a:tc>
                <a:tc>
                  <a:txBody>
                    <a:bodyPr/>
                    <a:lstStyle/>
                    <a:p>
                      <a:pPr marL="0" indent="0" algn="r">
                        <a:buNone/>
                      </a:pPr>
                      <a:r>
                        <a:rPr sz="1900" b="0" i="0">
                          <a:solidFill>
                            <a:srgbClr val="262626"/>
                          </a:solidFill>
                          <a:latin typeface="Arial" panose="020B0604020202020204" pitchFamily="34" charset="0"/>
                          <a:cs typeface="Arial"/>
                        </a:rPr>
                        <a:t>0,169</a:t>
                      </a:r>
                    </a:p>
                  </a:txBody>
                  <a:tcPr marT="27432" marB="27432" anchor="ctr">
                    <a:noFill/>
                  </a:tcPr>
                </a:tc>
                <a:tc>
                  <a:txBody>
                    <a:bodyPr/>
                    <a:lstStyle/>
                    <a:p>
                      <a:pPr marL="0" indent="0" algn="r">
                        <a:buNone/>
                      </a:pPr>
                      <a:r>
                        <a:rPr sz="1900" b="1" i="0">
                          <a:solidFill>
                            <a:srgbClr val="262626"/>
                          </a:solidFill>
                          <a:latin typeface="Arial" panose="020B0604020202020204" pitchFamily="34" charset="0"/>
                          <a:cs typeface="Arial"/>
                        </a:rPr>
                        <a:t>0,008</a:t>
                      </a:r>
                    </a:p>
                  </a:txBody>
                  <a:tcPr marT="27432" marB="27432" anchor="ctr">
                    <a:noFill/>
                  </a:tcPr>
                </a:tc>
                <a:extLst>
                  <a:ext uri="{0D108BD9-81ED-4DB2-BD59-A6C34878D82A}">
                    <a16:rowId xmlns:a16="http://schemas.microsoft.com/office/drawing/2014/main" val="10003"/>
                  </a:ext>
                </a:extLst>
              </a:tr>
            </a:tbl>
          </a:graphicData>
        </a:graphic>
      </p:graphicFrame>
      <p:sp>
        <p:nvSpPr>
          <p:cNvPr id="73" name="TextBox 72"/>
          <p:cNvSpPr txBox="1"/>
          <p:nvPr/>
        </p:nvSpPr>
        <p:spPr>
          <a:xfrm>
            <a:off x="557784" y="3584448"/>
            <a:ext cx="5257800" cy="411480"/>
          </a:xfrm>
          <a:prstGeom prst="rect">
            <a:avLst/>
          </a:prstGeom>
          <a:noFill/>
        </p:spPr>
        <p:txBody>
          <a:bodyPr wrap="square" lIns="0" tIns="0" rIns="0" bIns="0" anchor="t"/>
          <a:lstStyle/>
          <a:p>
            <a:pPr marL="0" indent="0" algn="l">
              <a:buNone/>
            </a:pPr>
            <a:r>
              <a:rPr lang="ru-RU" b="1" i="0">
                <a:solidFill>
                  <a:srgbClr val="F1BE29"/>
                </a:solidFill>
                <a:latin typeface="Arial" panose="020B0604020202020204" pitchFamily="34" charset="0"/>
                <a:cs typeface="Arial"/>
              </a:rPr>
              <a:t>Десять проверок выбрали градиентный бустинг; он лучше среднего в 4 случаях из 10</a:t>
            </a:r>
            <a:endParaRPr b="1" i="0">
              <a:solidFill>
                <a:srgbClr val="F1BE29"/>
              </a:solidFill>
              <a:latin typeface="Arial" panose="020B0604020202020204" pitchFamily="34" charset="0"/>
              <a:cs typeface="Arial"/>
            </a:endParaRPr>
          </a:p>
        </p:txBody>
      </p:sp>
      <p:sp>
        <p:nvSpPr>
          <p:cNvPr id="74" name="Rectangle 73"/>
          <p:cNvSpPr/>
          <p:nvPr/>
        </p:nvSpPr>
        <p:spPr>
          <a:xfrm>
            <a:off x="557784" y="4023360"/>
            <a:ext cx="5257800" cy="585216"/>
          </a:xfrm>
          <a:prstGeom prst="rect">
            <a:avLst/>
          </a:prstGeom>
          <a:solidFill>
            <a:srgbClr val="E3F0FD"/>
          </a:solidFill>
          <a:ln>
            <a:noFill/>
          </a:ln>
        </p:spPr>
        <p:txBody>
          <a:bodyPr rtlCol="0" anchor="ctr"/>
          <a:lstStyle/>
          <a:p>
            <a:pPr algn="ctr"/>
            <a:endParaRPr/>
          </a:p>
        </p:txBody>
      </p:sp>
      <p:sp>
        <p:nvSpPr>
          <p:cNvPr id="75" name="TextBox 74"/>
          <p:cNvSpPr txBox="1"/>
          <p:nvPr/>
        </p:nvSpPr>
        <p:spPr>
          <a:xfrm>
            <a:off x="713232" y="4023360"/>
            <a:ext cx="914400" cy="585216"/>
          </a:xfrm>
          <a:prstGeom prst="rect">
            <a:avLst/>
          </a:prstGeom>
          <a:noFill/>
        </p:spPr>
        <p:txBody>
          <a:bodyPr wrap="square" lIns="0" tIns="0" rIns="0" bIns="0" anchor="ctr"/>
          <a:lstStyle/>
          <a:p>
            <a:pPr marL="0" indent="0" algn="l">
              <a:buNone/>
            </a:pPr>
            <a:r>
              <a:rPr sz="1800" b="1" i="0">
                <a:solidFill>
                  <a:srgbClr val="065CAB"/>
                </a:solidFill>
                <a:latin typeface="Arial" panose="020B0604020202020204" pitchFamily="34" charset="0"/>
                <a:cs typeface="Arial"/>
              </a:rPr>
              <a:t>RMSE</a:t>
            </a:r>
          </a:p>
        </p:txBody>
      </p:sp>
      <p:sp>
        <p:nvSpPr>
          <p:cNvPr id="76" name="TextBox 75"/>
          <p:cNvSpPr txBox="1"/>
          <p:nvPr/>
        </p:nvSpPr>
        <p:spPr>
          <a:xfrm>
            <a:off x="1600200" y="4023360"/>
            <a:ext cx="2286000" cy="585216"/>
          </a:xfrm>
          <a:prstGeom prst="rect">
            <a:avLst/>
          </a:prstGeom>
          <a:noFill/>
        </p:spPr>
        <p:txBody>
          <a:bodyPr wrap="square" lIns="0" tIns="0" rIns="0" bIns="0" anchor="ctr"/>
          <a:lstStyle/>
          <a:p>
            <a:pPr marL="0" indent="0" algn="l">
              <a:buNone/>
            </a:pPr>
            <a:r>
              <a:rPr lang="ru-RU" sz="1300" i="0">
                <a:solidFill>
                  <a:srgbClr val="262626"/>
                </a:solidFill>
                <a:latin typeface="Arial" panose="020B0604020202020204" pitchFamily="34" charset="0"/>
                <a:cs typeface="Arial"/>
              </a:rPr>
              <a:t>ошибка меньше на 1,878 МПа</a:t>
            </a:r>
            <a:endParaRPr sz="1300" i="0">
              <a:solidFill>
                <a:srgbClr val="262626"/>
              </a:solidFill>
              <a:latin typeface="Arial" panose="020B0604020202020204" pitchFamily="34" charset="0"/>
              <a:cs typeface="Arial"/>
            </a:endParaRPr>
          </a:p>
        </p:txBody>
      </p:sp>
      <p:sp>
        <p:nvSpPr>
          <p:cNvPr id="77" name="TextBox 76"/>
          <p:cNvSpPr txBox="1"/>
          <p:nvPr/>
        </p:nvSpPr>
        <p:spPr>
          <a:xfrm>
            <a:off x="3840480" y="4023360"/>
            <a:ext cx="1874519" cy="585216"/>
          </a:xfrm>
          <a:prstGeom prst="rect">
            <a:avLst/>
          </a:prstGeom>
          <a:noFill/>
        </p:spPr>
        <p:txBody>
          <a:bodyPr wrap="square" lIns="0" tIns="0" rIns="0" bIns="0" anchor="ctr"/>
          <a:lstStyle/>
          <a:p>
            <a:pPr marL="0" indent="0" algn="r">
              <a:buNone/>
            </a:pPr>
            <a:r>
              <a:rPr lang="ru-RU" sz="1300" i="0">
                <a:solidFill>
                  <a:srgbClr val="595959"/>
                </a:solidFill>
                <a:latin typeface="Arial" panose="020B0604020202020204" pitchFamily="34" charset="0"/>
                <a:cs typeface="Arial"/>
              </a:rPr>
              <a:t>471,410 и 473,288</a:t>
            </a:r>
            <a:endParaRPr sz="1300" i="0">
              <a:solidFill>
                <a:srgbClr val="595959"/>
              </a:solidFill>
              <a:latin typeface="Arial" panose="020B0604020202020204" pitchFamily="34" charset="0"/>
              <a:cs typeface="Arial"/>
            </a:endParaRPr>
          </a:p>
        </p:txBody>
      </p:sp>
      <p:sp>
        <p:nvSpPr>
          <p:cNvPr id="78" name="Rectangle 77"/>
          <p:cNvSpPr/>
          <p:nvPr/>
        </p:nvSpPr>
        <p:spPr>
          <a:xfrm>
            <a:off x="557784" y="4681728"/>
            <a:ext cx="5257800" cy="585216"/>
          </a:xfrm>
          <a:prstGeom prst="rect">
            <a:avLst/>
          </a:prstGeom>
          <a:solidFill>
            <a:srgbClr val="E3F0FD"/>
          </a:solidFill>
          <a:ln>
            <a:noFill/>
          </a:ln>
        </p:spPr>
        <p:txBody>
          <a:bodyPr rtlCol="0" anchor="ctr"/>
          <a:lstStyle/>
          <a:p>
            <a:pPr algn="ctr"/>
            <a:endParaRPr/>
          </a:p>
        </p:txBody>
      </p:sp>
      <p:sp>
        <p:nvSpPr>
          <p:cNvPr id="79" name="TextBox 78"/>
          <p:cNvSpPr txBox="1"/>
          <p:nvPr/>
        </p:nvSpPr>
        <p:spPr>
          <a:xfrm>
            <a:off x="713232" y="4681728"/>
            <a:ext cx="914400" cy="585216"/>
          </a:xfrm>
          <a:prstGeom prst="rect">
            <a:avLst/>
          </a:prstGeom>
          <a:noFill/>
        </p:spPr>
        <p:txBody>
          <a:bodyPr wrap="square" lIns="0" tIns="0" rIns="0" bIns="0" anchor="ctr"/>
          <a:lstStyle/>
          <a:p>
            <a:pPr marL="0" indent="0" algn="l">
              <a:buNone/>
            </a:pPr>
            <a:r>
              <a:rPr sz="1800" b="1" i="0">
                <a:solidFill>
                  <a:srgbClr val="065CAB"/>
                </a:solidFill>
                <a:latin typeface="Arial" panose="020B0604020202020204" pitchFamily="34" charset="0"/>
                <a:cs typeface="Arial"/>
              </a:rPr>
              <a:t>MAE</a:t>
            </a:r>
          </a:p>
        </p:txBody>
      </p:sp>
      <p:sp>
        <p:nvSpPr>
          <p:cNvPr id="80" name="TextBox 79"/>
          <p:cNvSpPr txBox="1"/>
          <p:nvPr/>
        </p:nvSpPr>
        <p:spPr>
          <a:xfrm>
            <a:off x="1600200" y="4681728"/>
            <a:ext cx="2286000" cy="585216"/>
          </a:xfrm>
          <a:prstGeom prst="rect">
            <a:avLst/>
          </a:prstGeom>
          <a:noFill/>
        </p:spPr>
        <p:txBody>
          <a:bodyPr wrap="square" lIns="0" tIns="0" rIns="0" bIns="0" anchor="ctr"/>
          <a:lstStyle/>
          <a:p>
            <a:pPr marL="0" indent="0" algn="l">
              <a:buNone/>
            </a:pPr>
            <a:r>
              <a:rPr lang="ru-RU" sz="1300" i="0">
                <a:solidFill>
                  <a:srgbClr val="262626"/>
                </a:solidFill>
                <a:latin typeface="Arial" panose="020B0604020202020204" pitchFamily="34" charset="0"/>
                <a:cs typeface="Arial"/>
              </a:rPr>
              <a:t>ошибка больше на 1,168 МПа</a:t>
            </a:r>
            <a:endParaRPr sz="1300" i="0">
              <a:solidFill>
                <a:srgbClr val="262626"/>
              </a:solidFill>
              <a:latin typeface="Arial" panose="020B0604020202020204" pitchFamily="34" charset="0"/>
              <a:cs typeface="Arial"/>
            </a:endParaRPr>
          </a:p>
        </p:txBody>
      </p:sp>
      <p:sp>
        <p:nvSpPr>
          <p:cNvPr id="81" name="TextBox 80"/>
          <p:cNvSpPr txBox="1"/>
          <p:nvPr/>
        </p:nvSpPr>
        <p:spPr>
          <a:xfrm>
            <a:off x="3840480" y="4681728"/>
            <a:ext cx="1874519" cy="585216"/>
          </a:xfrm>
          <a:prstGeom prst="rect">
            <a:avLst/>
          </a:prstGeom>
          <a:noFill/>
        </p:spPr>
        <p:txBody>
          <a:bodyPr wrap="square" lIns="0" tIns="0" rIns="0" bIns="0" anchor="ctr"/>
          <a:lstStyle/>
          <a:p>
            <a:pPr marL="0" indent="0" algn="r">
              <a:buNone/>
            </a:pPr>
            <a:r>
              <a:rPr lang="ru-RU" sz="1300" i="0">
                <a:solidFill>
                  <a:srgbClr val="595959"/>
                </a:solidFill>
                <a:latin typeface="Arial" panose="020B0604020202020204" pitchFamily="34" charset="0"/>
                <a:cs typeface="Arial"/>
              </a:rPr>
              <a:t>380,152 и 378,984</a:t>
            </a:r>
            <a:endParaRPr sz="1300" i="0">
              <a:solidFill>
                <a:srgbClr val="595959"/>
              </a:solidFill>
              <a:latin typeface="Arial" panose="020B0604020202020204" pitchFamily="34" charset="0"/>
              <a:cs typeface="Arial"/>
            </a:endParaRPr>
          </a:p>
        </p:txBody>
      </p:sp>
      <p:sp>
        <p:nvSpPr>
          <p:cNvPr id="82" name="TextBox 81"/>
          <p:cNvSpPr txBox="1"/>
          <p:nvPr/>
        </p:nvSpPr>
        <p:spPr>
          <a:xfrm>
            <a:off x="557784" y="5394960"/>
            <a:ext cx="5257800" cy="868680"/>
          </a:xfrm>
          <a:prstGeom prst="rect">
            <a:avLst/>
          </a:prstGeom>
          <a:noFill/>
        </p:spPr>
        <p:txBody>
          <a:bodyPr wrap="square" lIns="0" tIns="0" rIns="0" bIns="0" anchor="t"/>
          <a:lstStyle/>
          <a:p>
            <a:pPr marL="0" indent="0" algn="l">
              <a:lnSpc>
                <a:spcPct val="100000"/>
              </a:lnSpc>
              <a:buNone/>
            </a:pPr>
            <a:r>
              <a:rPr lang="ru-RU" sz="1500" b="1" i="0">
                <a:solidFill>
                  <a:srgbClr val="262626"/>
                </a:solidFill>
                <a:latin typeface="Arial" panose="020B0604020202020204" pitchFamily="34" charset="0"/>
                <a:cs typeface="Arial"/>
              </a:rPr>
              <a:t>R² = 0,008: различия между примерами почти не объяснены
Практическая точность не подтверждена</a:t>
            </a:r>
            <a:endParaRPr sz="1500" b="1"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10</a:t>
            </a:fld>
            <a:endParaRPr lang="ru-RU" dirty="0">
              <a:cs typeface="Arial"/>
            </a:endParaRPr>
          </a:p>
        </p:txBody>
      </p:sp>
      <p:sp>
        <p:nvSpPr>
          <p:cNvPr id="2" name="StrengthLegendCover">
            <a:extLst>
              <a:ext uri="{FF2B5EF4-FFF2-40B4-BE49-F238E27FC236}">
                <a16:creationId xmlns:a16="http://schemas.microsoft.com/office/drawing/2014/main" id="{AD8E38BD-7E90-41EB-A1BF-00CF2EABC494}"/>
              </a:ext>
            </a:extLst>
          </p:cNvPr>
          <p:cNvSpPr/>
          <p:nvPr/>
        </p:nvSpPr>
        <p:spPr>
          <a:xfrm>
            <a:off x="6731000" y="1778000"/>
            <a:ext cx="2159000" cy="787400"/>
          </a:xfrm>
          <a:prstGeom prst="roundRect">
            <a:avLst/>
          </a:prstGeom>
          <a:solidFill>
            <a:srgbClr val="FFFFFF"/>
          </a:solidFill>
          <a:ln w="1778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000">
                <a:solidFill>
                  <a:srgbClr val="262626"/>
                </a:solidFill>
                <a:latin typeface="Arial" panose="020B0604020202020204" pitchFamily="34" charset="0"/>
              </a:rPr>
              <a:t>Синие точки – обучение, 716
Оранжевые – итоговая проверка, 307</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480059" cy="666000"/>
            <a:chOff x="0" y="0"/>
            <a:chExt cx="848005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48005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Отдельная нейросеть для соотношения компонентов</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39001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TextBox 70"/>
          <p:cNvSpPr txBox="1"/>
          <p:nvPr/>
        </p:nvSpPr>
        <p:spPr>
          <a:xfrm>
            <a:off x="822960"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12</a:t>
            </a:r>
          </a:p>
        </p:txBody>
      </p:sp>
      <p:sp>
        <p:nvSpPr>
          <p:cNvPr id="72" name="TextBox 71"/>
          <p:cNvSpPr txBox="1"/>
          <p:nvPr/>
        </p:nvSpPr>
        <p:spPr>
          <a:xfrm>
            <a:off x="822960" y="3017520"/>
            <a:ext cx="1920240" cy="822960"/>
          </a:xfrm>
          <a:prstGeom prst="rect">
            <a:avLst/>
          </a:prstGeom>
          <a:noFill/>
        </p:spPr>
        <p:txBody>
          <a:bodyPr wrap="square" lIns="0" tIns="0" rIns="0" bIns="0" anchor="t"/>
          <a:lstStyle/>
          <a:p>
            <a:pPr marL="0" indent="0" algn="ctr">
              <a:lnSpc>
                <a:spcPct val="100000"/>
              </a:lnSpc>
              <a:buNone/>
            </a:pPr>
            <a:r>
              <a:rPr lang="ru-RU" sz="1500" i="0">
                <a:solidFill>
                  <a:srgbClr val="595959"/>
                </a:solidFill>
                <a:latin typeface="Arial" panose="020B0604020202020204" pitchFamily="34" charset="0"/>
                <a:cs typeface="Arial"/>
              </a:rPr>
              <a:t>известных показателей
13 − 1 = 12</a:t>
            </a:r>
            <a:endParaRPr sz="1500" i="0">
              <a:solidFill>
                <a:srgbClr val="595959"/>
              </a:solidFill>
              <a:latin typeface="Arial" panose="020B0604020202020204" pitchFamily="34" charset="0"/>
              <a:cs typeface="Arial"/>
            </a:endParaRPr>
          </a:p>
        </p:txBody>
      </p:sp>
      <p:cxnSp>
        <p:nvCxnSpPr>
          <p:cNvPr id="73" name="Connector 72"/>
          <p:cNvCxnSpPr/>
          <p:nvPr/>
        </p:nvCxnSpPr>
        <p:spPr>
          <a:xfrm>
            <a:off x="2926079" y="2212848"/>
            <a:ext cx="502921" cy="0"/>
          </a:xfrm>
          <a:prstGeom prst="line">
            <a:avLst/>
          </a:prstGeom>
          <a:ln w="38100">
            <a:solidFill>
              <a:srgbClr val="F1BE29"/>
            </a:solidFill>
            <a:tailEnd type="triangle" w="med" len="med"/>
          </a:ln>
        </p:spPr>
      </p:cxnSp>
      <p:sp>
        <p:nvSpPr>
          <p:cNvPr id="74" name="TextBox 73"/>
          <p:cNvSpPr txBox="1"/>
          <p:nvPr/>
        </p:nvSpPr>
        <p:spPr>
          <a:xfrm>
            <a:off x="3611879"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32</a:t>
            </a:r>
          </a:p>
        </p:txBody>
      </p:sp>
      <p:sp>
        <p:nvSpPr>
          <p:cNvPr id="75" name="TextBox 74"/>
          <p:cNvSpPr txBox="1"/>
          <p:nvPr/>
        </p:nvSpPr>
        <p:spPr>
          <a:xfrm>
            <a:off x="3611879" y="3017520"/>
            <a:ext cx="1920240" cy="822960"/>
          </a:xfrm>
          <a:prstGeom prst="rect">
            <a:avLst/>
          </a:prstGeom>
          <a:noFill/>
        </p:spPr>
        <p:txBody>
          <a:bodyPr wrap="square" lIns="0" tIns="0" rIns="0" bIns="0" anchor="t"/>
          <a:lstStyle/>
          <a:p>
            <a:pPr marL="0" indent="0" algn="ctr">
              <a:lnSpc>
                <a:spcPct val="100000"/>
              </a:lnSpc>
              <a:buNone/>
            </a:pPr>
            <a:r>
              <a:rPr lang="ru-RU" i="0">
                <a:solidFill>
                  <a:srgbClr val="595959"/>
                </a:solidFill>
                <a:latin typeface="Arial" panose="020B0604020202020204" pitchFamily="34" charset="0"/>
                <a:cs typeface="Arial"/>
              </a:rPr>
              <a:t>первый внутренний слой
32 нейрона</a:t>
            </a:r>
            <a:endParaRPr i="0">
              <a:solidFill>
                <a:srgbClr val="595959"/>
              </a:solidFill>
              <a:latin typeface="Arial" panose="020B0604020202020204" pitchFamily="34" charset="0"/>
              <a:cs typeface="Arial"/>
            </a:endParaRPr>
          </a:p>
        </p:txBody>
      </p:sp>
      <p:cxnSp>
        <p:nvCxnSpPr>
          <p:cNvPr id="76" name="Connector 75"/>
          <p:cNvCxnSpPr/>
          <p:nvPr/>
        </p:nvCxnSpPr>
        <p:spPr>
          <a:xfrm>
            <a:off x="5715000" y="2212848"/>
            <a:ext cx="502920" cy="0"/>
          </a:xfrm>
          <a:prstGeom prst="line">
            <a:avLst/>
          </a:prstGeom>
          <a:ln w="38100">
            <a:solidFill>
              <a:srgbClr val="F1BE29"/>
            </a:solidFill>
            <a:tailEnd type="triangle" w="med" len="med"/>
          </a:ln>
        </p:spPr>
      </p:cxnSp>
      <p:sp>
        <p:nvSpPr>
          <p:cNvPr id="77" name="TextBox 76"/>
          <p:cNvSpPr txBox="1"/>
          <p:nvPr/>
        </p:nvSpPr>
        <p:spPr>
          <a:xfrm>
            <a:off x="6400800"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16</a:t>
            </a:r>
          </a:p>
        </p:txBody>
      </p:sp>
      <p:sp>
        <p:nvSpPr>
          <p:cNvPr id="78" name="TextBox 77"/>
          <p:cNvSpPr txBox="1"/>
          <p:nvPr/>
        </p:nvSpPr>
        <p:spPr>
          <a:xfrm>
            <a:off x="6400800" y="3017520"/>
            <a:ext cx="1920240" cy="822960"/>
          </a:xfrm>
          <a:prstGeom prst="rect">
            <a:avLst/>
          </a:prstGeom>
          <a:noFill/>
        </p:spPr>
        <p:txBody>
          <a:bodyPr wrap="square" lIns="0" tIns="0" rIns="0" bIns="0" anchor="t"/>
          <a:lstStyle/>
          <a:p>
            <a:pPr marL="0" indent="0" algn="ctr">
              <a:lnSpc>
                <a:spcPct val="100000"/>
              </a:lnSpc>
              <a:buNone/>
            </a:pPr>
            <a:r>
              <a:rPr lang="ru-RU" i="0">
                <a:solidFill>
                  <a:srgbClr val="595959"/>
                </a:solidFill>
                <a:latin typeface="Arial" panose="020B0604020202020204" pitchFamily="34" charset="0"/>
                <a:cs typeface="Arial"/>
              </a:rPr>
              <a:t>второй внутренний слой
16 нейронов</a:t>
            </a:r>
            <a:endParaRPr i="0">
              <a:solidFill>
                <a:srgbClr val="595959"/>
              </a:solidFill>
              <a:latin typeface="Arial" panose="020B0604020202020204" pitchFamily="34" charset="0"/>
              <a:cs typeface="Arial"/>
            </a:endParaRPr>
          </a:p>
        </p:txBody>
      </p:sp>
      <p:cxnSp>
        <p:nvCxnSpPr>
          <p:cNvPr id="79" name="Connector 78"/>
          <p:cNvCxnSpPr/>
          <p:nvPr/>
        </p:nvCxnSpPr>
        <p:spPr>
          <a:xfrm>
            <a:off x="8503920" y="2212848"/>
            <a:ext cx="502920" cy="0"/>
          </a:xfrm>
          <a:prstGeom prst="line">
            <a:avLst/>
          </a:prstGeom>
          <a:ln w="38100">
            <a:solidFill>
              <a:srgbClr val="F1BE29"/>
            </a:solidFill>
            <a:tailEnd type="triangle" w="med" len="med"/>
          </a:ln>
        </p:spPr>
      </p:cxnSp>
      <p:sp>
        <p:nvSpPr>
          <p:cNvPr id="80" name="TextBox 79"/>
          <p:cNvSpPr txBox="1"/>
          <p:nvPr/>
        </p:nvSpPr>
        <p:spPr>
          <a:xfrm>
            <a:off x="9189719"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a:t>
            </a:r>
          </a:p>
        </p:txBody>
      </p:sp>
      <p:sp>
        <p:nvSpPr>
          <p:cNvPr id="81" name="TextBox 80"/>
          <p:cNvSpPr txBox="1"/>
          <p:nvPr/>
        </p:nvSpPr>
        <p:spPr>
          <a:xfrm>
            <a:off x="9189719" y="3017520"/>
            <a:ext cx="1920240" cy="822960"/>
          </a:xfrm>
          <a:prstGeom prst="rect">
            <a:avLst/>
          </a:prstGeom>
          <a:noFill/>
        </p:spPr>
        <p:txBody>
          <a:bodyPr wrap="square" lIns="0" tIns="0" rIns="0" bIns="0" anchor="t"/>
          <a:lstStyle/>
          <a:p>
            <a:pPr marL="0" indent="0" algn="ctr">
              <a:lnSpc>
                <a:spcPct val="100000"/>
              </a:lnSpc>
              <a:buNone/>
            </a:pPr>
            <a:r>
              <a:rPr lang="ru-RU" sz="1500" i="0">
                <a:solidFill>
                  <a:srgbClr val="595959"/>
                </a:solidFill>
                <a:latin typeface="Arial" panose="020B0604020202020204" pitchFamily="34" charset="0"/>
                <a:cs typeface="Arial"/>
              </a:rPr>
              <a:t>одна оценка
соотношения компонентов</a:t>
            </a:r>
            <a:endParaRPr sz="1500" i="0">
              <a:solidFill>
                <a:srgbClr val="595959"/>
              </a:solidFill>
              <a:latin typeface="Arial" panose="020B0604020202020204" pitchFamily="34" charset="0"/>
              <a:cs typeface="Arial"/>
            </a:endParaRPr>
          </a:p>
        </p:txBody>
      </p:sp>
      <p:cxnSp>
        <p:nvCxnSpPr>
          <p:cNvPr id="82" name="Connector 81"/>
          <p:cNvCxnSpPr/>
          <p:nvPr/>
        </p:nvCxnSpPr>
        <p:spPr>
          <a:xfrm>
            <a:off x="557784" y="4069080"/>
            <a:ext cx="11210544" cy="0"/>
          </a:xfrm>
          <a:prstGeom prst="line">
            <a:avLst/>
          </a:prstGeom>
          <a:ln w="12700">
            <a:solidFill>
              <a:srgbClr val="BFBFBF"/>
            </a:solidFill>
          </a:ln>
        </p:spPr>
      </p:cxn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11</a:t>
            </a:fld>
            <a:endParaRPr lang="ru-RU" dirty="0">
              <a:cs typeface="Arial"/>
            </a:endParaRPr>
          </a:p>
        </p:txBody>
      </p:sp>
      <p:sp>
        <p:nvSpPr>
          <p:cNvPr id="2" name="NNPurpose">
            <a:extLst>
              <a:ext uri="{FF2B5EF4-FFF2-40B4-BE49-F238E27FC236}">
                <a16:creationId xmlns:a16="http://schemas.microsoft.com/office/drawing/2014/main" id="{8DA77781-FAA6-4FF2-BA1C-CFA3C244FF03}"/>
              </a:ext>
            </a:extLst>
          </p:cNvPr>
          <p:cNvSpPr txBox="1"/>
          <p:nvPr/>
        </p:nvSpPr>
        <p:spPr>
          <a:xfrm>
            <a:off x="558800" y="1257300"/>
            <a:ext cx="11201400" cy="323165"/>
          </a:xfrm>
          <a:prstGeom prst="rect">
            <a:avLst/>
          </a:prstGeom>
          <a:noFill/>
        </p:spPr>
        <p:txBody>
          <a:bodyPr vert="horz" wrap="square" rtlCol="0" anchor="ctr">
            <a:noAutofit/>
          </a:bodyPr>
          <a:lstStyle/>
          <a:p>
            <a:pPr algn="ctr"/>
            <a:r>
              <a:rPr lang="ru-RU" sz="1500" b="1">
                <a:solidFill>
                  <a:srgbClr val="0E5DAB"/>
                </a:solidFill>
                <a:latin typeface="Arial" panose="020B0604020202020204" pitchFamily="34" charset="0"/>
              </a:rPr>
              <a:t>12 характеристик, включая известные модуль и прочность → соотношение компонентов</a:t>
            </a:r>
            <a:endParaRPr lang="ru-RU" sz="1500" b="1" dirty="0">
              <a:solidFill>
                <a:srgbClr val="0E5DAB"/>
              </a:solidFill>
              <a:latin typeface="Arial" panose="020B0604020202020204" pitchFamily="34" charset="0"/>
            </a:endParaRPr>
          </a:p>
        </p:txBody>
      </p:sp>
      <p:sp>
        <p:nvSpPr>
          <p:cNvPr id="3" name="NNTraining">
            <a:extLst>
              <a:ext uri="{FF2B5EF4-FFF2-40B4-BE49-F238E27FC236}">
                <a16:creationId xmlns:a16="http://schemas.microsoft.com/office/drawing/2014/main" id="{DB473981-65F0-4A38-A4C7-57D7042D5F40}"/>
              </a:ext>
            </a:extLst>
          </p:cNvPr>
          <p:cNvSpPr/>
          <p:nvPr/>
        </p:nvSpPr>
        <p:spPr>
          <a:xfrm>
            <a:off x="558800" y="4381500"/>
            <a:ext cx="5207000" cy="1397000"/>
          </a:xfrm>
          <a:prstGeom prst="roundRect">
            <a:avLst/>
          </a:prstGeom>
          <a:solidFill>
            <a:srgbClr val="DCE9F6"/>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700" b="1">
                <a:solidFill>
                  <a:srgbClr val="262626"/>
                </a:solidFill>
                <a:latin typeface="Arial" panose="020B0604020202020204" pitchFamily="34" charset="0"/>
              </a:rPr>
              <a:t>Обучение
часть из 716 строк следит, когда пора остановиться</a:t>
            </a:r>
          </a:p>
        </p:txBody>
      </p:sp>
      <p:sp>
        <p:nvSpPr>
          <p:cNvPr id="5" name="NNTest">
            <a:extLst>
              <a:ext uri="{FF2B5EF4-FFF2-40B4-BE49-F238E27FC236}">
                <a16:creationId xmlns:a16="http://schemas.microsoft.com/office/drawing/2014/main" id="{6580F9B2-843E-4A6B-9211-95A55FA4E5BF}"/>
              </a:ext>
            </a:extLst>
          </p:cNvPr>
          <p:cNvSpPr/>
          <p:nvPr/>
        </p:nvSpPr>
        <p:spPr>
          <a:xfrm>
            <a:off x="6553200" y="4381500"/>
            <a:ext cx="5207000" cy="1397000"/>
          </a:xfrm>
          <a:prstGeom prst="roundRect">
            <a:avLst/>
          </a:prstGeom>
          <a:solidFill>
            <a:srgbClr val="FFC000"/>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700" b="1">
                <a:solidFill>
                  <a:srgbClr val="262626"/>
                </a:solidFill>
                <a:latin typeface="Arial" panose="020B0604020202020204" pitchFamily="34" charset="0"/>
              </a:rPr>
              <a:t>Итоговая проверка
307 строк остаются закрытыми до конца</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6486429" cy="666000"/>
            <a:chOff x="0" y="0"/>
            <a:chExt cx="648642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648642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Нейросеть не улучшила прогноз среднего</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639638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12</a:t>
            </a:fld>
            <a:endParaRPr lang="ru-RU" dirty="0">
              <a:cs typeface="Arial"/>
            </a:endParaRPr>
          </a:p>
        </p:txBody>
      </p:sp>
      <p:sp>
        <p:nvSpPr>
          <p:cNvPr id="2" name="RMSEExplain">
            <a:extLst>
              <a:ext uri="{FF2B5EF4-FFF2-40B4-BE49-F238E27FC236}">
                <a16:creationId xmlns:a16="http://schemas.microsoft.com/office/drawing/2014/main" id="{6F07A398-7353-401C-9CA4-15E44754B9C2}"/>
              </a:ext>
            </a:extLst>
          </p:cNvPr>
          <p:cNvSpPr txBox="1"/>
          <p:nvPr/>
        </p:nvSpPr>
        <p:spPr>
          <a:xfrm>
            <a:off x="558800" y="1333500"/>
            <a:ext cx="11201400" cy="384721"/>
          </a:xfrm>
          <a:prstGeom prst="rect">
            <a:avLst/>
          </a:prstGeom>
          <a:noFill/>
        </p:spPr>
        <p:txBody>
          <a:bodyPr vert="horz" wrap="square" rtlCol="0" anchor="ctr">
            <a:noAutofit/>
          </a:bodyPr>
          <a:lstStyle/>
          <a:p>
            <a:pPr algn="ctr"/>
            <a:r>
              <a:rPr lang="ru-RU" sz="1900" b="1">
                <a:solidFill>
                  <a:srgbClr val="0E5DAB"/>
                </a:solidFill>
                <a:latin typeface="Arial" panose="020B0604020202020204" pitchFamily="34" charset="0"/>
              </a:rPr>
              <a:t>Ошибка RMSE на 307 строках: меньше – лучше</a:t>
            </a:r>
            <a:endParaRPr lang="ru-RU" sz="1900" b="1" dirty="0">
              <a:solidFill>
                <a:srgbClr val="0E5DAB"/>
              </a:solidFill>
              <a:latin typeface="Arial" panose="020B0604020202020204" pitchFamily="34" charset="0"/>
            </a:endParaRPr>
          </a:p>
        </p:txBody>
      </p:sp>
      <p:graphicFrame>
        <p:nvGraphicFramePr>
          <p:cNvPr id="3" name="MLPComparison">
            <a:extLst>
              <a:ext uri="{FF2B5EF4-FFF2-40B4-BE49-F238E27FC236}">
                <a16:creationId xmlns:a16="http://schemas.microsoft.com/office/drawing/2014/main" id="{EEF5B9FF-883A-4AF8-8A8A-2610ECF73160}"/>
              </a:ext>
            </a:extLst>
          </p:cNvPr>
          <p:cNvGraphicFramePr>
            <a:graphicFrameLocks noGrp="1"/>
          </p:cNvGraphicFramePr>
          <p:nvPr>
            <p:extLst>
              <p:ext uri="{D42A27DB-BD31-4B8C-83A1-F6EECF244321}">
                <p14:modId xmlns:p14="http://schemas.microsoft.com/office/powerpoint/2010/main" val="182152145"/>
              </p:ext>
            </p:extLst>
          </p:nvPr>
        </p:nvGraphicFramePr>
        <p:xfrm>
          <a:off x="1066800" y="2222500"/>
          <a:ext cx="10058400" cy="2514600"/>
        </p:xfrm>
        <a:graphic>
          <a:graphicData uri="http://schemas.openxmlformats.org/drawingml/2006/table">
            <a:tbl>
              <a:tblPr firstRow="1" bandRow="1">
                <a:tableStyleId>{5C22544A-7EE6-4342-B048-85BDC9FD1C3A}</a:tableStyleId>
              </a:tblPr>
              <a:tblGrid>
                <a:gridCol w="3429000">
                  <a:extLst>
                    <a:ext uri="{9D8B030D-6E8A-4147-A177-3AD203B41FA5}">
                      <a16:colId xmlns:a16="http://schemas.microsoft.com/office/drawing/2014/main" val="1367277442"/>
                    </a:ext>
                  </a:extLst>
                </a:gridCol>
                <a:gridCol w="2921000">
                  <a:extLst>
                    <a:ext uri="{9D8B030D-6E8A-4147-A177-3AD203B41FA5}">
                      <a16:colId xmlns:a16="http://schemas.microsoft.com/office/drawing/2014/main" val="1317315626"/>
                    </a:ext>
                  </a:extLst>
                </a:gridCol>
                <a:gridCol w="3708400">
                  <a:extLst>
                    <a:ext uri="{9D8B030D-6E8A-4147-A177-3AD203B41FA5}">
                      <a16:colId xmlns:a16="http://schemas.microsoft.com/office/drawing/2014/main" val="3079176535"/>
                    </a:ext>
                  </a:extLst>
                </a:gridCol>
              </a:tblGrid>
              <a:tr h="838200">
                <a:tc>
                  <a:txBody>
                    <a:bodyPr/>
                    <a:lstStyle/>
                    <a:p>
                      <a:pPr algn="l"/>
                      <a:r>
                        <a:rPr lang="ru-RU" sz="1600" b="1">
                          <a:solidFill>
                            <a:srgbClr val="262626"/>
                          </a:solidFill>
                          <a:latin typeface="Arial" panose="020B0604020202020204" pitchFamily="34" charset="0"/>
                        </a:rPr>
                        <a:t>Способ</a:t>
                      </a:r>
                    </a:p>
                  </a:txBody>
                  <a:tcPr anchor="ctr">
                    <a:solidFill>
                      <a:srgbClr val="DCE9F6"/>
                    </a:solidFill>
                  </a:tcPr>
                </a:tc>
                <a:tc>
                  <a:txBody>
                    <a:bodyPr/>
                    <a:lstStyle/>
                    <a:p>
                      <a:pPr algn="l"/>
                      <a:r>
                        <a:rPr lang="en-US" sz="1600" b="1">
                          <a:solidFill>
                            <a:srgbClr val="262626"/>
                          </a:solidFill>
                          <a:latin typeface="Arial" panose="020B0604020202020204" pitchFamily="34" charset="0"/>
                        </a:rPr>
                        <a:t>RMSE</a:t>
                      </a:r>
                      <a:endParaRPr lang="ru-RU" sz="1600" b="1">
                        <a:solidFill>
                          <a:srgbClr val="262626"/>
                        </a:solidFill>
                        <a:latin typeface="Arial" panose="020B0604020202020204" pitchFamily="34" charset="0"/>
                      </a:endParaRPr>
                    </a:p>
                  </a:txBody>
                  <a:tcPr anchor="ctr">
                    <a:solidFill>
                      <a:srgbClr val="DCE9F6"/>
                    </a:solidFill>
                  </a:tcPr>
                </a:tc>
                <a:tc>
                  <a:txBody>
                    <a:bodyPr/>
                    <a:lstStyle/>
                    <a:p>
                      <a:pPr algn="l"/>
                      <a:r>
                        <a:rPr lang="ru-RU" sz="1600" b="1">
                          <a:solidFill>
                            <a:srgbClr val="262626"/>
                          </a:solidFill>
                          <a:latin typeface="Arial" panose="020B0604020202020204" pitchFamily="34" charset="0"/>
                        </a:rPr>
                        <a:t>Что это означает</a:t>
                      </a:r>
                    </a:p>
                  </a:txBody>
                  <a:tcPr anchor="ctr">
                    <a:solidFill>
                      <a:srgbClr val="DCE9F6"/>
                    </a:solidFill>
                  </a:tcPr>
                </a:tc>
                <a:extLst>
                  <a:ext uri="{0D108BD9-81ED-4DB2-BD59-A6C34878D82A}">
                    <a16:rowId xmlns:a16="http://schemas.microsoft.com/office/drawing/2014/main" val="2563653261"/>
                  </a:ext>
                </a:extLst>
              </a:tr>
              <a:tr h="838200">
                <a:tc>
                  <a:txBody>
                    <a:bodyPr/>
                    <a:lstStyle/>
                    <a:p>
                      <a:pPr algn="l"/>
                      <a:r>
                        <a:rPr lang="ru-RU" sz="1800" b="1">
                          <a:solidFill>
                            <a:srgbClr val="262626"/>
                          </a:solidFill>
                          <a:latin typeface="Arial" panose="020B0604020202020204" pitchFamily="34" charset="0"/>
                        </a:rPr>
                        <a:t>Прогноз среднего</a:t>
                      </a:r>
                    </a:p>
                  </a:txBody>
                  <a:tcPr anchor="ctr">
                    <a:solidFill>
                      <a:srgbClr val="FFFFFF"/>
                    </a:solidFill>
                  </a:tcPr>
                </a:tc>
                <a:tc>
                  <a:txBody>
                    <a:bodyPr/>
                    <a:lstStyle/>
                    <a:p>
                      <a:pPr algn="l"/>
                      <a:r>
                        <a:rPr lang="ru-RU" sz="2400" b="1">
                          <a:solidFill>
                            <a:srgbClr val="262626"/>
                          </a:solidFill>
                          <a:latin typeface="Arial" panose="020B0604020202020204" pitchFamily="34" charset="0"/>
                        </a:rPr>
                        <a:t>0,926</a:t>
                      </a:r>
                    </a:p>
                  </a:txBody>
                  <a:tcPr anchor="ctr">
                    <a:solidFill>
                      <a:srgbClr val="FFFFFF"/>
                    </a:solidFill>
                  </a:tcPr>
                </a:tc>
                <a:tc>
                  <a:txBody>
                    <a:bodyPr/>
                    <a:lstStyle/>
                    <a:p>
                      <a:pPr algn="l"/>
                      <a:r>
                        <a:rPr lang="ru-RU" sz="1800" b="1">
                          <a:solidFill>
                            <a:srgbClr val="262626"/>
                          </a:solidFill>
                          <a:latin typeface="Arial" panose="020B0604020202020204" pitchFamily="34" charset="0"/>
                        </a:rPr>
                        <a:t>ошибка меньше</a:t>
                      </a:r>
                    </a:p>
                  </a:txBody>
                  <a:tcPr anchor="ctr">
                    <a:solidFill>
                      <a:srgbClr val="FFFFFF"/>
                    </a:solidFill>
                  </a:tcPr>
                </a:tc>
                <a:extLst>
                  <a:ext uri="{0D108BD9-81ED-4DB2-BD59-A6C34878D82A}">
                    <a16:rowId xmlns:a16="http://schemas.microsoft.com/office/drawing/2014/main" val="3252198863"/>
                  </a:ext>
                </a:extLst>
              </a:tr>
              <a:tr h="838200">
                <a:tc>
                  <a:txBody>
                    <a:bodyPr/>
                    <a:lstStyle/>
                    <a:p>
                      <a:pPr algn="l"/>
                      <a:r>
                        <a:rPr lang="ru-RU" sz="1800" b="0">
                          <a:solidFill>
                            <a:srgbClr val="262626"/>
                          </a:solidFill>
                          <a:latin typeface="Arial" panose="020B0604020202020204" pitchFamily="34" charset="0"/>
                        </a:rPr>
                        <a:t>Нейросеть</a:t>
                      </a:r>
                    </a:p>
                  </a:txBody>
                  <a:tcPr anchor="ctr">
                    <a:solidFill>
                      <a:srgbClr val="FFFFFF"/>
                    </a:solidFill>
                  </a:tcPr>
                </a:tc>
                <a:tc>
                  <a:txBody>
                    <a:bodyPr/>
                    <a:lstStyle/>
                    <a:p>
                      <a:pPr algn="l"/>
                      <a:r>
                        <a:rPr lang="ru-RU" sz="2400" b="0">
                          <a:solidFill>
                            <a:srgbClr val="262626"/>
                          </a:solidFill>
                          <a:latin typeface="Arial" panose="020B0604020202020204" pitchFamily="34" charset="0"/>
                        </a:rPr>
                        <a:t>0,944</a:t>
                      </a:r>
                    </a:p>
                  </a:txBody>
                  <a:tcPr anchor="ctr">
                    <a:solidFill>
                      <a:srgbClr val="FFFFFF"/>
                    </a:solidFill>
                  </a:tcPr>
                </a:tc>
                <a:tc>
                  <a:txBody>
                    <a:bodyPr/>
                    <a:lstStyle/>
                    <a:p>
                      <a:pPr algn="l"/>
                      <a:r>
                        <a:rPr lang="ru-RU" sz="1800" b="0">
                          <a:solidFill>
                            <a:srgbClr val="262626"/>
                          </a:solidFill>
                          <a:latin typeface="Arial" panose="020B0604020202020204" pitchFamily="34" charset="0"/>
                        </a:rPr>
                        <a:t>ошибка больше</a:t>
                      </a:r>
                    </a:p>
                  </a:txBody>
                  <a:tcPr anchor="ctr">
                    <a:solidFill>
                      <a:srgbClr val="FFFFFF"/>
                    </a:solidFill>
                  </a:tcPr>
                </a:tc>
                <a:extLst>
                  <a:ext uri="{0D108BD9-81ED-4DB2-BD59-A6C34878D82A}">
                    <a16:rowId xmlns:a16="http://schemas.microsoft.com/office/drawing/2014/main" val="1783141874"/>
                  </a:ext>
                </a:extLst>
              </a:tr>
            </a:tbl>
          </a:graphicData>
        </a:graphic>
      </p:graphicFrame>
      <p:sp>
        <p:nvSpPr>
          <p:cNvPr id="5" name="MLPConclusion">
            <a:extLst>
              <a:ext uri="{FF2B5EF4-FFF2-40B4-BE49-F238E27FC236}">
                <a16:creationId xmlns:a16="http://schemas.microsoft.com/office/drawing/2014/main" id="{83CEC55B-3D0C-4480-AFCF-F0AA30779602}"/>
              </a:ext>
            </a:extLst>
          </p:cNvPr>
          <p:cNvSpPr/>
          <p:nvPr/>
        </p:nvSpPr>
        <p:spPr>
          <a:xfrm>
            <a:off x="2032000" y="5067300"/>
            <a:ext cx="8128000" cy="863600"/>
          </a:xfrm>
          <a:prstGeom prst="roundRect">
            <a:avLst/>
          </a:prstGeom>
          <a:solidFill>
            <a:srgbClr val="FFC000"/>
          </a:solidFill>
          <a:ln w="1778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2000" b="1">
                <a:solidFill>
                  <a:srgbClr val="262626"/>
                </a:solidFill>
                <a:latin typeface="Arial" panose="020B0604020202020204" pitchFamily="34" charset="0"/>
              </a:rPr>
              <a:t>Нейросеть сложнее, но простой прогноз среднего оказался точнее</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417320"/>
            <a:ext cx="4114800" cy="2651760"/>
          </a:xfrm>
        </p:spPr>
        <p:txBody>
          <a:bodyPr wrap="square">
            <a:normAutofit/>
          </a:bodyPr>
          <a:lstStyle/>
          <a:p>
            <a:pPr marL="0" indent="0" algn="l">
              <a:lnSpc>
                <a:spcPct val="100000"/>
              </a:lnSpc>
              <a:buNone/>
            </a:pPr>
            <a:r>
              <a:rPr lang="ru-RU" sz="1600" i="0">
                <a:solidFill>
                  <a:srgbClr val="065CAB"/>
                </a:solidFill>
                <a:cs typeface="Arial"/>
              </a:rPr>
              <a:t>Один столбец перемешивают и снова измеряют ошибку
Если ошибка растёт, модель опиралась на эту характеристику</a:t>
            </a:r>
            <a:endParaRPr sz="1600" i="0">
              <a:solidFill>
                <a:srgbClr val="262626"/>
              </a:solidFill>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Какие характеристики использует модель</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erm_strength.png"/>
          <p:cNvPicPr>
            <a:picLocks noChangeAspect="1"/>
          </p:cNvPicPr>
          <p:nvPr/>
        </p:nvPicPr>
        <p:blipFill>
          <a:blip r:embed="rId3"/>
          <a:stretch>
            <a:fillRect/>
          </a:stretch>
        </p:blipFill>
        <p:spPr>
          <a:xfrm>
            <a:off x="4790341" y="1417320"/>
            <a:ext cx="6977986" cy="4800600"/>
          </a:xfrm>
          <a:prstGeom prst="rect">
            <a:avLst/>
          </a:prstGeom>
          <a:ln w="9525">
            <a:solidFill>
              <a:srgbClr val="D9D9D9"/>
            </a:solidFill>
          </a:ln>
        </p:spPr>
      </p:pic>
      <p:sp>
        <p:nvSpPr>
          <p:cNvPr id="72" name="Rectangle 71"/>
          <p:cNvSpPr/>
          <p:nvPr/>
        </p:nvSpPr>
        <p:spPr>
          <a:xfrm>
            <a:off x="557784" y="3429000"/>
            <a:ext cx="4114800" cy="1234440"/>
          </a:xfrm>
          <a:prstGeom prst="rect">
            <a:avLst/>
          </a:prstGeom>
          <a:solidFill>
            <a:srgbClr val="FDF3D4"/>
          </a:solidFill>
          <a:ln>
            <a:noFill/>
          </a:ln>
        </p:spPr>
        <p:txBody>
          <a:bodyPr rtlCol="0" anchor="ctr"/>
          <a:lstStyle/>
          <a:p>
            <a:pPr algn="ctr"/>
            <a:endParaRPr/>
          </a:p>
        </p:txBody>
      </p:sp>
      <p:sp>
        <p:nvSpPr>
          <p:cNvPr id="73" name="TextBox 72"/>
          <p:cNvSpPr txBox="1"/>
          <p:nvPr/>
        </p:nvSpPr>
        <p:spPr>
          <a:xfrm>
            <a:off x="713232" y="3429000"/>
            <a:ext cx="3840480" cy="1234440"/>
          </a:xfrm>
          <a:prstGeom prst="rect">
            <a:avLst/>
          </a:prstGeom>
          <a:noFill/>
        </p:spPr>
        <p:txBody>
          <a:bodyPr wrap="square" lIns="0" tIns="0" rIns="0" bIns="0" anchor="ctr"/>
          <a:lstStyle/>
          <a:p>
            <a:pPr marL="0" indent="0" algn="l">
              <a:lnSpc>
                <a:spcPct val="100000"/>
              </a:lnSpc>
              <a:buNone/>
            </a:pPr>
            <a:r>
              <a:rPr lang="ru-RU" sz="1500" b="1" i="0">
                <a:solidFill>
                  <a:srgbClr val="262626"/>
                </a:solidFill>
                <a:latin typeface="Arial" panose="020B0604020202020204" pitchFamily="34" charset="0"/>
                <a:cs typeface="Arial"/>
              </a:rPr>
              <a:t>Это описание поведения модели, а не физический закон и не способ подобрать рецептуру</a:t>
            </a:r>
            <a:endParaRPr sz="1500" b="1" i="0">
              <a:solidFill>
                <a:srgbClr val="262626"/>
              </a:solidFill>
              <a:latin typeface="Arial" panose="020B0604020202020204" pitchFamily="34" charset="0"/>
              <a:cs typeface="Arial"/>
            </a:endParaRPr>
          </a:p>
        </p:txBody>
      </p:sp>
      <p:cxnSp>
        <p:nvCxnSpPr>
          <p:cNvPr id="74" name="Connector 73"/>
          <p:cNvCxnSpPr/>
          <p:nvPr/>
        </p:nvCxnSpPr>
        <p:spPr>
          <a:xfrm>
            <a:off x="557784" y="4937760"/>
            <a:ext cx="0" cy="1188720"/>
          </a:xfrm>
          <a:prstGeom prst="line">
            <a:avLst/>
          </a:prstGeom>
          <a:ln w="25400">
            <a:solidFill>
              <a:srgbClr val="065CAB"/>
            </a:solidFill>
          </a:ln>
        </p:spPr>
      </p:cxnSp>
      <p:cxnSp>
        <p:nvCxnSpPr>
          <p:cNvPr id="75" name="Connector 74"/>
          <p:cNvCxnSpPr/>
          <p:nvPr/>
        </p:nvCxnSpPr>
        <p:spPr>
          <a:xfrm>
            <a:off x="557784" y="4937760"/>
            <a:ext cx="457199" cy="0"/>
          </a:xfrm>
          <a:prstGeom prst="line">
            <a:avLst/>
          </a:prstGeom>
          <a:ln w="25400">
            <a:solidFill>
              <a:srgbClr val="065CAB"/>
            </a:solidFill>
          </a:ln>
        </p:spPr>
      </p:cxnSp>
      <p:cxnSp>
        <p:nvCxnSpPr>
          <p:cNvPr id="76" name="Connector 75"/>
          <p:cNvCxnSpPr/>
          <p:nvPr/>
        </p:nvCxnSpPr>
        <p:spPr>
          <a:xfrm>
            <a:off x="557784" y="6126480"/>
            <a:ext cx="457199" cy="0"/>
          </a:xfrm>
          <a:prstGeom prst="line">
            <a:avLst/>
          </a:prstGeom>
          <a:ln w="25400">
            <a:solidFill>
              <a:srgbClr val="065CAB"/>
            </a:solidFill>
          </a:ln>
        </p:spPr>
      </p:cxnSp>
      <p:sp>
        <p:nvSpPr>
          <p:cNvPr id="77" name="TextBox 76"/>
          <p:cNvSpPr txBox="1"/>
          <p:nvPr/>
        </p:nvSpPr>
        <p:spPr>
          <a:xfrm>
            <a:off x="813816" y="5010912"/>
            <a:ext cx="3858768" cy="1042416"/>
          </a:xfrm>
          <a:prstGeom prst="rect">
            <a:avLst/>
          </a:prstGeom>
          <a:noFill/>
        </p:spPr>
        <p:txBody>
          <a:bodyPr wrap="square" lIns="0" tIns="0" rIns="0" bIns="0" anchor="ctr"/>
          <a:lstStyle/>
          <a:p>
            <a:pPr marL="0" indent="0" algn="l">
              <a:buNone/>
            </a:pPr>
            <a:r>
              <a:rPr lang="ru-RU" i="0">
                <a:solidFill>
                  <a:srgbClr val="262626"/>
                </a:solidFill>
                <a:latin typeface="Arial" panose="020B0604020202020204" pitchFamily="34" charset="0"/>
                <a:cs typeface="Arial"/>
              </a:rPr>
              <a:t>Ось X показывает изменение RMSE; линии показывают разброс 10 повторов</a:t>
            </a:r>
            <a:endParaRPr i="0">
              <a:solidFill>
                <a:srgbClr val="262626"/>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13</a:t>
            </a:fld>
            <a:endParaRPr lang="ru-RU" dirty="0">
              <a:cs typeface="Arial"/>
            </a:endParaRPr>
          </a:p>
        </p:txBody>
      </p:sp>
      <p:sp>
        <p:nvSpPr>
          <p:cNvPr id="2" name="ImportanceTitleCover">
            <a:extLst>
              <a:ext uri="{FF2B5EF4-FFF2-40B4-BE49-F238E27FC236}">
                <a16:creationId xmlns:a16="http://schemas.microsoft.com/office/drawing/2014/main" id="{931ACC15-F833-44C5-A600-B5AA1BE30FA7}"/>
              </a:ext>
            </a:extLst>
          </p:cNvPr>
          <p:cNvSpPr/>
          <p:nvPr/>
        </p:nvSpPr>
        <p:spPr>
          <a:xfrm>
            <a:off x="4800600" y="1409700"/>
            <a:ext cx="6959600" cy="495300"/>
          </a:xfrm>
          <a:prstGeom prst="roundRect">
            <a:avLst/>
          </a:prstGeom>
          <a:solidFill>
            <a:srgbClr val="FFFFFF"/>
          </a:solidFill>
          <a:ln w="1778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r>
              <a:rPr lang="ru-RU" sz="1200" b="1">
                <a:solidFill>
                  <a:srgbClr val="262626"/>
                </a:solidFill>
                <a:latin typeface="Arial" panose="020B0604020202020204" pitchFamily="34" charset="0"/>
              </a:rPr>
              <a:t>Как изменяется ошибка после перемешивания одной характеристики</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6903720" y="1261872"/>
            <a:ext cx="4864608" cy="457200"/>
          </a:xfrm>
        </p:spPr>
        <p:txBody>
          <a:bodyPr wrap="square">
            <a:normAutofit/>
          </a:bodyPr>
          <a:lstStyle/>
          <a:p>
            <a:pPr marL="0" indent="0" algn="l">
              <a:buNone/>
            </a:pPr>
            <a:r>
              <a:rPr lang="ru-RU" sz="1800" b="1" i="0">
                <a:solidFill>
                  <a:srgbClr val="F1BE29"/>
                </a:solidFill>
                <a:cs typeface="Arial"/>
              </a:rPr>
              <a:t>Воспроизводимый результат</a:t>
            </a:r>
            <a:endParaRPr sz="1800" b="1" i="0">
              <a:solidFill>
                <a:srgbClr val="F1BE29"/>
              </a:solidFill>
              <a:cs typeface="Arial"/>
            </a:endParaRPr>
          </a:p>
        </p:txBody>
      </p:sp>
      <p:sp>
        <p:nvSpPr>
          <p:cNvPr id="4" name="Text Placeholder 3"/>
          <p:cNvSpPr>
            <a:spLocks noGrp="1"/>
          </p:cNvSpPr>
          <p:nvPr>
            <p:ph type="body" idx="14"/>
          </p:nvPr>
        </p:nvSpPr>
        <p:spPr>
          <a:xfrm>
            <a:off x="557784" y="1261872"/>
            <a:ext cx="5669280" cy="457200"/>
          </a:xfrm>
        </p:spPr>
        <p:txBody>
          <a:bodyPr wrap="square">
            <a:normAutofit/>
          </a:bodyPr>
          <a:lstStyle/>
          <a:p>
            <a:pPr marL="0" indent="0" algn="l">
              <a:buNone/>
            </a:pPr>
            <a:r>
              <a:rPr lang="ru-RU" sz="1800" b="1" i="0">
                <a:solidFill>
                  <a:srgbClr val="F1BE29"/>
                </a:solidFill>
                <a:cs typeface="Arial"/>
              </a:rPr>
              <a:t>Путь одного расчёта</a:t>
            </a:r>
            <a:endParaRPr sz="1800" b="1" i="0">
              <a:solidFill>
                <a:srgbClr val="F1BE29"/>
              </a:solidFill>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947945" cy="666000"/>
            <a:chOff x="0" y="0"/>
            <a:chExt cx="7947945"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947945"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Приложение: 11 входов и два результата</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857896"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Rectangle 70"/>
          <p:cNvSpPr/>
          <p:nvPr/>
        </p:nvSpPr>
        <p:spPr>
          <a:xfrm>
            <a:off x="557784" y="1828800"/>
            <a:ext cx="1645920" cy="1417320"/>
          </a:xfrm>
          <a:prstGeom prst="rect">
            <a:avLst/>
          </a:prstGeom>
          <a:solidFill>
            <a:srgbClr val="E3F0FD"/>
          </a:solidFill>
          <a:ln>
            <a:noFill/>
          </a:ln>
        </p:spPr>
        <p:txBody>
          <a:bodyPr rtlCol="0" anchor="ctr"/>
          <a:lstStyle/>
          <a:p>
            <a:pPr algn="ctr"/>
            <a:endParaRPr/>
          </a:p>
        </p:txBody>
      </p:sp>
      <p:sp>
        <p:nvSpPr>
          <p:cNvPr id="72" name="TextBox 71"/>
          <p:cNvSpPr txBox="1"/>
          <p:nvPr/>
        </p:nvSpPr>
        <p:spPr>
          <a:xfrm>
            <a:off x="557784" y="1874519"/>
            <a:ext cx="1645920" cy="822960"/>
          </a:xfrm>
          <a:prstGeom prst="rect">
            <a:avLst/>
          </a:prstGeom>
          <a:noFill/>
        </p:spPr>
        <p:txBody>
          <a:bodyPr wrap="square" lIns="0" tIns="0" rIns="0" bIns="0" anchor="ctr"/>
          <a:lstStyle/>
          <a:p>
            <a:pPr marL="0" indent="0" algn="ctr">
              <a:buNone/>
            </a:pPr>
            <a:r>
              <a:rPr sz="4000" b="1" i="0">
                <a:solidFill>
                  <a:srgbClr val="065CAB"/>
                </a:solidFill>
                <a:latin typeface="Arial" panose="020B0604020202020204" pitchFamily="34" charset="0"/>
                <a:cs typeface="Arial"/>
              </a:rPr>
              <a:t>11</a:t>
            </a:r>
          </a:p>
        </p:txBody>
      </p:sp>
      <p:sp>
        <p:nvSpPr>
          <p:cNvPr id="73" name="TextBox 72"/>
          <p:cNvSpPr txBox="1"/>
          <p:nvPr/>
        </p:nvSpPr>
        <p:spPr>
          <a:xfrm>
            <a:off x="603504" y="2651760"/>
            <a:ext cx="1554480" cy="548640"/>
          </a:xfrm>
          <a:prstGeom prst="rect">
            <a:avLst/>
          </a:prstGeom>
          <a:noFill/>
        </p:spPr>
        <p:txBody>
          <a:bodyPr wrap="square" lIns="0" tIns="0" rIns="0" bIns="0" anchor="t"/>
          <a:lstStyle/>
          <a:p>
            <a:pPr marL="0" indent="0" algn="ctr">
              <a:lnSpc>
                <a:spcPct val="100000"/>
              </a:lnSpc>
              <a:buNone/>
            </a:pPr>
            <a:r>
              <a:rPr lang="ru-RU" i="0">
                <a:solidFill>
                  <a:srgbClr val="262626"/>
                </a:solidFill>
                <a:latin typeface="Arial" panose="020B0604020202020204" pitchFamily="34" charset="0"/>
                <a:cs typeface="Arial"/>
              </a:rPr>
              <a:t>известных
характеристик</a:t>
            </a:r>
            <a:endParaRPr i="0">
              <a:solidFill>
                <a:srgbClr val="262626"/>
              </a:solidFill>
              <a:latin typeface="Arial" panose="020B0604020202020204" pitchFamily="34" charset="0"/>
              <a:cs typeface="Arial"/>
            </a:endParaRPr>
          </a:p>
        </p:txBody>
      </p:sp>
      <p:cxnSp>
        <p:nvCxnSpPr>
          <p:cNvPr id="74" name="Connector 73"/>
          <p:cNvCxnSpPr/>
          <p:nvPr/>
        </p:nvCxnSpPr>
        <p:spPr>
          <a:xfrm>
            <a:off x="2276856" y="2537460"/>
            <a:ext cx="219456" cy="0"/>
          </a:xfrm>
          <a:prstGeom prst="line">
            <a:avLst/>
          </a:prstGeom>
          <a:ln w="31750">
            <a:solidFill>
              <a:srgbClr val="F1BE29"/>
            </a:solidFill>
            <a:tailEnd type="triangle" w="med" len="med"/>
          </a:ln>
        </p:spPr>
      </p:cxnSp>
      <p:sp>
        <p:nvSpPr>
          <p:cNvPr id="75" name="Rectangle 74"/>
          <p:cNvSpPr/>
          <p:nvPr/>
        </p:nvSpPr>
        <p:spPr>
          <a:xfrm>
            <a:off x="2569464" y="1828800"/>
            <a:ext cx="1645920" cy="1417320"/>
          </a:xfrm>
          <a:prstGeom prst="rect">
            <a:avLst/>
          </a:prstGeom>
          <a:solidFill>
            <a:srgbClr val="E3F0FD"/>
          </a:solidFill>
          <a:ln>
            <a:noFill/>
          </a:ln>
        </p:spPr>
        <p:txBody>
          <a:bodyPr rtlCol="0" anchor="ctr"/>
          <a:lstStyle/>
          <a:p>
            <a:pPr algn="ctr"/>
            <a:endParaRPr/>
          </a:p>
        </p:txBody>
      </p:sp>
      <p:sp>
        <p:nvSpPr>
          <p:cNvPr id="76" name="TextBox 75"/>
          <p:cNvSpPr txBox="1"/>
          <p:nvPr/>
        </p:nvSpPr>
        <p:spPr>
          <a:xfrm>
            <a:off x="2569464" y="1874519"/>
            <a:ext cx="1645920" cy="822960"/>
          </a:xfrm>
          <a:prstGeom prst="rect">
            <a:avLst/>
          </a:prstGeom>
          <a:noFill/>
        </p:spPr>
        <p:txBody>
          <a:bodyPr wrap="square" lIns="0" tIns="0" rIns="0" bIns="0" anchor="ctr"/>
          <a:lstStyle/>
          <a:p>
            <a:pPr marL="0" indent="0" algn="ctr">
              <a:buNone/>
            </a:pPr>
            <a:r>
              <a:rPr lang="ru-RU" sz="1700" b="1" i="0">
                <a:solidFill>
                  <a:srgbClr val="065CAB"/>
                </a:solidFill>
                <a:latin typeface="Arial" panose="020B0604020202020204" pitchFamily="34" charset="0"/>
                <a:cs typeface="Arial"/>
              </a:rPr>
              <a:t>проверка</a:t>
            </a:r>
            <a:endParaRPr sz="1700" b="1" i="0">
              <a:solidFill>
                <a:srgbClr val="065CAB"/>
              </a:solidFill>
              <a:latin typeface="Arial" panose="020B0604020202020204" pitchFamily="34" charset="0"/>
              <a:cs typeface="Arial"/>
            </a:endParaRPr>
          </a:p>
        </p:txBody>
      </p:sp>
      <p:sp>
        <p:nvSpPr>
          <p:cNvPr id="77" name="TextBox 76"/>
          <p:cNvSpPr txBox="1"/>
          <p:nvPr/>
        </p:nvSpPr>
        <p:spPr>
          <a:xfrm>
            <a:off x="2615184" y="2651760"/>
            <a:ext cx="1554480" cy="548640"/>
          </a:xfrm>
          <a:prstGeom prst="rect">
            <a:avLst/>
          </a:prstGeom>
          <a:noFill/>
        </p:spPr>
        <p:txBody>
          <a:bodyPr wrap="square" lIns="0" tIns="0" rIns="0" bIns="0" anchor="t"/>
          <a:lstStyle/>
          <a:p>
            <a:pPr marL="0" indent="0" algn="ctr">
              <a:lnSpc>
                <a:spcPct val="100000"/>
              </a:lnSpc>
              <a:buNone/>
            </a:pPr>
            <a:r>
              <a:rPr lang="ru-RU" sz="1200" i="0">
                <a:solidFill>
                  <a:srgbClr val="262626"/>
                </a:solidFill>
                <a:latin typeface="Arial" panose="020B0604020202020204" pitchFamily="34" charset="0"/>
                <a:cs typeface="Arial"/>
              </a:rPr>
              <a:t>формат и
предупреждение
о диапазоне</a:t>
            </a:r>
            <a:endParaRPr sz="1200" i="0">
              <a:solidFill>
                <a:srgbClr val="262626"/>
              </a:solidFill>
              <a:latin typeface="Arial" panose="020B0604020202020204" pitchFamily="34" charset="0"/>
              <a:cs typeface="Arial"/>
            </a:endParaRPr>
          </a:p>
        </p:txBody>
      </p:sp>
      <p:cxnSp>
        <p:nvCxnSpPr>
          <p:cNvPr id="78" name="Connector 77"/>
          <p:cNvCxnSpPr/>
          <p:nvPr/>
        </p:nvCxnSpPr>
        <p:spPr>
          <a:xfrm>
            <a:off x="4288536" y="2537460"/>
            <a:ext cx="219456" cy="0"/>
          </a:xfrm>
          <a:prstGeom prst="line">
            <a:avLst/>
          </a:prstGeom>
          <a:ln w="31750">
            <a:solidFill>
              <a:srgbClr val="F1BE29"/>
            </a:solidFill>
            <a:tailEnd type="triangle" w="med" len="med"/>
          </a:ln>
        </p:spPr>
      </p:cxnSp>
      <p:sp>
        <p:nvSpPr>
          <p:cNvPr id="79" name="Rectangle 78"/>
          <p:cNvSpPr/>
          <p:nvPr/>
        </p:nvSpPr>
        <p:spPr>
          <a:xfrm>
            <a:off x="4581144" y="1828800"/>
            <a:ext cx="1645920" cy="1417320"/>
          </a:xfrm>
          <a:prstGeom prst="rect">
            <a:avLst/>
          </a:prstGeom>
          <a:solidFill>
            <a:srgbClr val="E3F0FD"/>
          </a:solidFill>
          <a:ln>
            <a:noFill/>
          </a:ln>
        </p:spPr>
        <p:txBody>
          <a:bodyPr rtlCol="0" anchor="ctr"/>
          <a:lstStyle/>
          <a:p>
            <a:pPr algn="ctr"/>
            <a:endParaRPr/>
          </a:p>
        </p:txBody>
      </p:sp>
      <p:sp>
        <p:nvSpPr>
          <p:cNvPr id="80" name="TextBox 79"/>
          <p:cNvSpPr txBox="1"/>
          <p:nvPr/>
        </p:nvSpPr>
        <p:spPr>
          <a:xfrm>
            <a:off x="4581144" y="1874519"/>
            <a:ext cx="1645920" cy="822960"/>
          </a:xfrm>
          <a:prstGeom prst="rect">
            <a:avLst/>
          </a:prstGeom>
          <a:noFill/>
        </p:spPr>
        <p:txBody>
          <a:bodyPr wrap="square" lIns="0" tIns="0" rIns="0" bIns="0" anchor="ctr"/>
          <a:lstStyle/>
          <a:p>
            <a:pPr marL="0" indent="0" algn="ctr">
              <a:buNone/>
            </a:pPr>
            <a:r>
              <a:rPr sz="4000" b="1" i="0">
                <a:solidFill>
                  <a:srgbClr val="065CAB"/>
                </a:solidFill>
                <a:latin typeface="Arial" panose="020B0604020202020204" pitchFamily="34" charset="0"/>
                <a:cs typeface="Arial"/>
              </a:rPr>
              <a:t>2</a:t>
            </a:r>
          </a:p>
        </p:txBody>
      </p:sp>
      <p:sp>
        <p:nvSpPr>
          <p:cNvPr id="81" name="TextBox 80"/>
          <p:cNvSpPr txBox="1"/>
          <p:nvPr/>
        </p:nvSpPr>
        <p:spPr>
          <a:xfrm>
            <a:off x="4626864" y="2651760"/>
            <a:ext cx="1554480" cy="548640"/>
          </a:xfrm>
          <a:prstGeom prst="rect">
            <a:avLst/>
          </a:prstGeom>
          <a:noFill/>
        </p:spPr>
        <p:txBody>
          <a:bodyPr wrap="square" lIns="0" tIns="0" rIns="0" bIns="0" anchor="t"/>
          <a:lstStyle/>
          <a:p>
            <a:pPr marL="0" indent="0" algn="ctr">
              <a:lnSpc>
                <a:spcPct val="100000"/>
              </a:lnSpc>
              <a:buNone/>
            </a:pPr>
            <a:r>
              <a:rPr lang="ru-RU" i="0">
                <a:solidFill>
                  <a:srgbClr val="262626"/>
                </a:solidFill>
                <a:latin typeface="Arial" panose="020B0604020202020204" pitchFamily="34" charset="0"/>
                <a:cs typeface="Arial"/>
              </a:rPr>
              <a:t>прогноза</a:t>
            </a:r>
            <a:endParaRPr i="0">
              <a:solidFill>
                <a:srgbClr val="262626"/>
              </a:solidFill>
              <a:latin typeface="Arial" panose="020B0604020202020204" pitchFamily="34" charset="0"/>
              <a:cs typeface="Arial"/>
            </a:endParaRPr>
          </a:p>
        </p:txBody>
      </p:sp>
      <p:sp>
        <p:nvSpPr>
          <p:cNvPr id="82" name="TextBox 81"/>
          <p:cNvSpPr txBox="1"/>
          <p:nvPr/>
        </p:nvSpPr>
        <p:spPr>
          <a:xfrm>
            <a:off x="557784" y="3429000"/>
            <a:ext cx="5760720" cy="914400"/>
          </a:xfrm>
          <a:prstGeom prst="rect">
            <a:avLst/>
          </a:prstGeom>
          <a:noFill/>
        </p:spPr>
        <p:txBody>
          <a:bodyPr wrap="square" lIns="0" tIns="0" rIns="0" bIns="0" anchor="t"/>
          <a:lstStyle/>
          <a:p>
            <a:pPr marL="0" indent="0" algn="l">
              <a:lnSpc>
                <a:spcPct val="105000"/>
              </a:lnSpc>
              <a:buNone/>
            </a:pPr>
            <a:r>
              <a:rPr lang="ru-RU" sz="1500" i="0">
                <a:solidFill>
                  <a:srgbClr val="262626"/>
                </a:solidFill>
                <a:latin typeface="Arial" panose="020B0604020202020204" pitchFamily="34" charset="0"/>
                <a:cs typeface="Arial"/>
              </a:rPr>
              <a:t>Две прямые модели дают:
модуль упругости при растяжении
прочность при растяжении</a:t>
            </a:r>
            <a:endParaRPr sz="1500" i="0">
              <a:solidFill>
                <a:srgbClr val="595959"/>
              </a:solidFill>
              <a:latin typeface="Arial" panose="020B0604020202020204" pitchFamily="34" charset="0"/>
              <a:cs typeface="Arial"/>
            </a:endParaRPr>
          </a:p>
        </p:txBody>
      </p:sp>
      <p:cxnSp>
        <p:nvCxnSpPr>
          <p:cNvPr id="83" name="Connector 82"/>
          <p:cNvCxnSpPr/>
          <p:nvPr/>
        </p:nvCxnSpPr>
        <p:spPr>
          <a:xfrm>
            <a:off x="557784" y="4480560"/>
            <a:ext cx="0" cy="777240"/>
          </a:xfrm>
          <a:prstGeom prst="line">
            <a:avLst/>
          </a:prstGeom>
          <a:ln w="25400">
            <a:solidFill>
              <a:srgbClr val="065CAB"/>
            </a:solidFill>
          </a:ln>
        </p:spPr>
      </p:cxnSp>
      <p:cxnSp>
        <p:nvCxnSpPr>
          <p:cNvPr id="84" name="Connector 83"/>
          <p:cNvCxnSpPr/>
          <p:nvPr/>
        </p:nvCxnSpPr>
        <p:spPr>
          <a:xfrm>
            <a:off x="557784" y="4480560"/>
            <a:ext cx="457199" cy="0"/>
          </a:xfrm>
          <a:prstGeom prst="line">
            <a:avLst/>
          </a:prstGeom>
          <a:ln w="25400">
            <a:solidFill>
              <a:srgbClr val="065CAB"/>
            </a:solidFill>
          </a:ln>
        </p:spPr>
      </p:cxnSp>
      <p:cxnSp>
        <p:nvCxnSpPr>
          <p:cNvPr id="85" name="Connector 84"/>
          <p:cNvCxnSpPr/>
          <p:nvPr/>
        </p:nvCxnSpPr>
        <p:spPr>
          <a:xfrm>
            <a:off x="557784" y="5257800"/>
            <a:ext cx="457199" cy="0"/>
          </a:xfrm>
          <a:prstGeom prst="line">
            <a:avLst/>
          </a:prstGeom>
          <a:ln w="25400">
            <a:solidFill>
              <a:srgbClr val="065CAB"/>
            </a:solidFill>
          </a:ln>
        </p:spPr>
      </p:cxnSp>
      <p:sp>
        <p:nvSpPr>
          <p:cNvPr id="86" name="TextBox 85"/>
          <p:cNvSpPr txBox="1"/>
          <p:nvPr/>
        </p:nvSpPr>
        <p:spPr>
          <a:xfrm>
            <a:off x="813816" y="4553712"/>
            <a:ext cx="5504688" cy="630936"/>
          </a:xfrm>
          <a:prstGeom prst="rect">
            <a:avLst/>
          </a:prstGeom>
          <a:noFill/>
        </p:spPr>
        <p:txBody>
          <a:bodyPr wrap="square" lIns="0" tIns="0" rIns="0" bIns="0" anchor="ctr"/>
          <a:lstStyle/>
          <a:p>
            <a:pPr marL="0" indent="0" algn="l">
              <a:buNone/>
            </a:pPr>
            <a:r>
              <a:rPr lang="ru-RU" i="0">
                <a:solidFill>
                  <a:srgbClr val="262626"/>
                </a:solidFill>
                <a:latin typeface="Arial" panose="020B0604020202020204" pitchFamily="34" charset="0"/>
                <a:cs typeface="Arial"/>
              </a:rPr>
              <a:t>Демонстрационный профиль: 73,2073 ГПа и 2502,06 МПа</a:t>
            </a:r>
            <a:endParaRPr i="0">
              <a:solidFill>
                <a:srgbClr val="262626"/>
              </a:solidFill>
              <a:latin typeface="Arial" panose="020B0604020202020204" pitchFamily="34" charset="0"/>
              <a:cs typeface="Arial"/>
            </a:endParaRPr>
          </a:p>
        </p:txBody>
      </p:sp>
      <p:sp>
        <p:nvSpPr>
          <p:cNvPr id="87" name="TextBox 86"/>
          <p:cNvSpPr txBox="1"/>
          <p:nvPr/>
        </p:nvSpPr>
        <p:spPr>
          <a:xfrm>
            <a:off x="557784" y="5440680"/>
            <a:ext cx="5760720" cy="731520"/>
          </a:xfrm>
          <a:prstGeom prst="rect">
            <a:avLst/>
          </a:prstGeom>
          <a:noFill/>
        </p:spPr>
        <p:txBody>
          <a:bodyPr wrap="square" lIns="0" tIns="0" rIns="0" bIns="0" anchor="t"/>
          <a:lstStyle/>
          <a:p>
            <a:pPr marL="0" indent="0" algn="l">
              <a:lnSpc>
                <a:spcPct val="100000"/>
              </a:lnSpc>
              <a:buNone/>
            </a:pPr>
            <a:r>
              <a:rPr lang="ru-RU" b="1" i="0">
                <a:solidFill>
                  <a:srgbClr val="595959"/>
                </a:solidFill>
                <a:latin typeface="Arial" panose="020B0604020202020204" pitchFamily="34" charset="0"/>
                <a:cs typeface="Arial"/>
              </a:rPr>
              <a:t>Это расчёт моделей, а не лабораторное измерение нового образца</a:t>
            </a:r>
            <a:endParaRPr b="1" i="0">
              <a:solidFill>
                <a:srgbClr val="595959"/>
              </a:solidFill>
              <a:latin typeface="Arial" panose="020B0604020202020204" pitchFamily="34" charset="0"/>
              <a:cs typeface="Arial"/>
            </a:endParaRPr>
          </a:p>
        </p:txBody>
      </p:sp>
      <p:sp>
        <p:nvSpPr>
          <p:cNvPr id="88" name="Rectangle 87"/>
          <p:cNvSpPr/>
          <p:nvPr/>
        </p:nvSpPr>
        <p:spPr>
          <a:xfrm>
            <a:off x="6903720" y="1828800"/>
            <a:ext cx="4864608" cy="2743200"/>
          </a:xfrm>
          <a:prstGeom prst="rect">
            <a:avLst/>
          </a:prstGeom>
          <a:solidFill>
            <a:srgbClr val="F1BE29"/>
          </a:solidFill>
          <a:ln>
            <a:noFill/>
          </a:ln>
        </p:spPr>
        <p:txBody>
          <a:bodyPr rtlCol="0" anchor="ctr"/>
          <a:lstStyle/>
          <a:p>
            <a:pPr algn="ctr"/>
            <a:endParaRPr/>
          </a:p>
        </p:txBody>
      </p:sp>
      <p:sp>
        <p:nvSpPr>
          <p:cNvPr id="89" name="TextBox 88"/>
          <p:cNvSpPr txBox="1"/>
          <p:nvPr/>
        </p:nvSpPr>
        <p:spPr>
          <a:xfrm>
            <a:off x="7132320" y="1920240"/>
            <a:ext cx="4480560" cy="2560320"/>
          </a:xfrm>
          <a:prstGeom prst="rect">
            <a:avLst/>
          </a:prstGeom>
          <a:noFill/>
        </p:spPr>
        <p:txBody>
          <a:bodyPr wrap="square" lIns="0" tIns="0" rIns="0" bIns="0" anchor="ctr"/>
          <a:lstStyle/>
          <a:p>
            <a:pPr marL="0" indent="0" algn="l">
              <a:lnSpc>
                <a:spcPct val="105000"/>
              </a:lnSpc>
              <a:buNone/>
            </a:pPr>
            <a:r>
              <a:rPr lang="ru-RU" sz="1700" i="0">
                <a:solidFill>
                  <a:srgbClr val="262626"/>
                </a:solidFill>
                <a:latin typeface="Arial" panose="020B0604020202020204" pitchFamily="34" charset="0"/>
                <a:cs typeface="Arial"/>
              </a:rPr>
              <a:t>Репозиторий содержит
данные и код
зафиксированное разделение
модели и отчёты</a:t>
            </a:r>
            <a:endParaRPr sz="1700" i="0">
              <a:solidFill>
                <a:srgbClr val="262626"/>
              </a:solidFill>
              <a:latin typeface="Arial" panose="020B0604020202020204" pitchFamily="34" charset="0"/>
              <a:cs typeface="Arial"/>
            </a:endParaRPr>
          </a:p>
        </p:txBody>
      </p:sp>
      <p:sp>
        <p:nvSpPr>
          <p:cNvPr id="90" name="TextBox 89"/>
          <p:cNvSpPr txBox="1"/>
          <p:nvPr/>
        </p:nvSpPr>
        <p:spPr>
          <a:xfrm>
            <a:off x="6903720" y="4754880"/>
            <a:ext cx="4864608" cy="1097280"/>
          </a:xfrm>
          <a:prstGeom prst="rect">
            <a:avLst/>
          </a:prstGeom>
          <a:noFill/>
        </p:spPr>
        <p:txBody>
          <a:bodyPr wrap="square" lIns="0" tIns="0" rIns="0" bIns="0" anchor="t"/>
          <a:lstStyle/>
          <a:p>
            <a:pPr marL="0" indent="0" algn="l">
              <a:lnSpc>
                <a:spcPct val="105000"/>
              </a:lnSpc>
              <a:buNone/>
            </a:pPr>
            <a:r>
              <a:rPr sz="2000" b="0" i="0">
                <a:solidFill>
                  <a:srgbClr val="065CAB"/>
                </a:solidFill>
                <a:latin typeface="Arial" panose="020B0604020202020204" pitchFamily="34" charset="0"/>
                <a:cs typeface="Arial"/>
              </a:rPr>
              <a:t>github.com/fpvcstep/</a:t>
            </a:r>
          </a:p>
          <a:p>
            <a:pPr marL="0" indent="0" algn="l">
              <a:lnSpc>
                <a:spcPct val="105000"/>
              </a:lnSpc>
              <a:buNone/>
            </a:pPr>
            <a:r>
              <a:rPr sz="2000" b="1" i="0">
                <a:solidFill>
                  <a:srgbClr val="065CAB"/>
                </a:solidFill>
                <a:latin typeface="Arial" panose="020B0604020202020204" pitchFamily="34" charset="0"/>
                <a:cs typeface="Arial"/>
              </a:rPr>
              <a:t>composites-property-prediction</a:t>
            </a:r>
          </a:p>
        </p:txBody>
      </p:sp>
      <p:sp>
        <p:nvSpPr>
          <p:cNvPr id="2"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14</a:t>
            </a:fld>
            <a:endParaRPr lang="ru-RU" dirty="0">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325880"/>
            <a:ext cx="7498079" cy="457200"/>
          </a:xfrm>
        </p:spPr>
        <p:txBody>
          <a:bodyPr wrap="square">
            <a:normAutofit/>
          </a:bodyPr>
          <a:lstStyle/>
          <a:p>
            <a:pPr marL="0" indent="0" algn="l">
              <a:buNone/>
            </a:pPr>
            <a:r>
              <a:rPr lang="ru-RU" sz="1800" b="1" i="0">
                <a:solidFill>
                  <a:srgbClr val="F1BE29"/>
                </a:solidFill>
                <a:cs typeface="Arial"/>
              </a:rPr>
              <a:t>Полный процесс реализован, но качество прогнозов остаётся слабым</a:t>
            </a:r>
            <a:endParaRPr sz="1800" b="1" i="0">
              <a:solidFill>
                <a:srgbClr val="F1BE29"/>
              </a:solidFill>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2584513" cy="666000"/>
            <a:chOff x="0" y="0"/>
            <a:chExt cx="258451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258451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Итоги работы</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249446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TextBox 70"/>
          <p:cNvSpPr txBox="1"/>
          <p:nvPr/>
        </p:nvSpPr>
        <p:spPr>
          <a:xfrm>
            <a:off x="6309360" y="1874519"/>
            <a:ext cx="1600200" cy="365760"/>
          </a:xfrm>
          <a:prstGeom prst="rect">
            <a:avLst/>
          </a:prstGeom>
          <a:noFill/>
        </p:spPr>
        <p:txBody>
          <a:bodyPr wrap="square" lIns="0" tIns="0" rIns="0" bIns="0" anchor="t"/>
          <a:lstStyle/>
          <a:p>
            <a:pPr marL="0" indent="0" algn="r">
              <a:buNone/>
            </a:pPr>
            <a:r>
              <a:rPr lang="en-US" sz="1300" i="0">
                <a:solidFill>
                  <a:srgbClr val="595959"/>
                </a:solidFill>
                <a:latin typeface="Arial" panose="020B0604020202020204" pitchFamily="34" charset="0"/>
                <a:cs typeface="Arial"/>
              </a:rPr>
              <a:t>R² </a:t>
            </a:r>
            <a:r>
              <a:rPr lang="ru-RU" sz="1300" i="0">
                <a:solidFill>
                  <a:srgbClr val="595959"/>
                </a:solidFill>
                <a:latin typeface="Arial" panose="020B0604020202020204" pitchFamily="34" charset="0"/>
                <a:cs typeface="Arial"/>
              </a:rPr>
              <a:t>на итоговой проверке</a:t>
            </a:r>
            <a:endParaRPr sz="1300" i="0">
              <a:solidFill>
                <a:srgbClr val="595959"/>
              </a:solidFill>
              <a:latin typeface="Arial" panose="020B0604020202020204" pitchFamily="34" charset="0"/>
              <a:cs typeface="Arial"/>
            </a:endParaRPr>
          </a:p>
        </p:txBody>
      </p:sp>
      <p:cxnSp>
        <p:nvCxnSpPr>
          <p:cNvPr id="72" name="Connector 71"/>
          <p:cNvCxnSpPr/>
          <p:nvPr/>
        </p:nvCxnSpPr>
        <p:spPr>
          <a:xfrm>
            <a:off x="557784" y="2240280"/>
            <a:ext cx="0" cy="868680"/>
          </a:xfrm>
          <a:prstGeom prst="line">
            <a:avLst/>
          </a:prstGeom>
          <a:ln w="28575">
            <a:solidFill>
              <a:srgbClr val="065CAB"/>
            </a:solidFill>
          </a:ln>
        </p:spPr>
      </p:cxnSp>
      <p:cxnSp>
        <p:nvCxnSpPr>
          <p:cNvPr id="73" name="Connector 72"/>
          <p:cNvCxnSpPr/>
          <p:nvPr/>
        </p:nvCxnSpPr>
        <p:spPr>
          <a:xfrm>
            <a:off x="557784" y="2240280"/>
            <a:ext cx="384048" cy="0"/>
          </a:xfrm>
          <a:prstGeom prst="line">
            <a:avLst/>
          </a:prstGeom>
          <a:ln w="28575">
            <a:solidFill>
              <a:srgbClr val="065CAB"/>
            </a:solidFill>
          </a:ln>
        </p:spPr>
      </p:cxnSp>
      <p:cxnSp>
        <p:nvCxnSpPr>
          <p:cNvPr id="74" name="Connector 73"/>
          <p:cNvCxnSpPr/>
          <p:nvPr/>
        </p:nvCxnSpPr>
        <p:spPr>
          <a:xfrm>
            <a:off x="557784" y="3108960"/>
            <a:ext cx="384048" cy="0"/>
          </a:xfrm>
          <a:prstGeom prst="line">
            <a:avLst/>
          </a:prstGeom>
          <a:ln w="28575">
            <a:solidFill>
              <a:srgbClr val="065CAB"/>
            </a:solidFill>
          </a:ln>
        </p:spPr>
      </p:cxnSp>
      <p:sp>
        <p:nvSpPr>
          <p:cNvPr id="75" name="TextBox 74"/>
          <p:cNvSpPr txBox="1"/>
          <p:nvPr/>
        </p:nvSpPr>
        <p:spPr>
          <a:xfrm>
            <a:off x="713232" y="225856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1</a:t>
            </a:r>
          </a:p>
        </p:txBody>
      </p:sp>
      <p:sp>
        <p:nvSpPr>
          <p:cNvPr id="76" name="TextBox 75"/>
          <p:cNvSpPr txBox="1"/>
          <p:nvPr/>
        </p:nvSpPr>
        <p:spPr>
          <a:xfrm>
            <a:off x="1417320" y="2258568"/>
            <a:ext cx="4754880" cy="868680"/>
          </a:xfrm>
          <a:prstGeom prst="rect">
            <a:avLst/>
          </a:prstGeom>
          <a:noFill/>
        </p:spPr>
        <p:txBody>
          <a:bodyPr wrap="square" lIns="0" tIns="0" rIns="0" bIns="0" anchor="t"/>
          <a:lstStyle/>
          <a:p>
            <a:pPr marL="0" indent="0" algn="l">
              <a:lnSpc>
                <a:spcPct val="100000"/>
              </a:lnSpc>
              <a:buNone/>
            </a:pPr>
            <a:r>
              <a:rPr lang="ru-RU" sz="1600" i="0">
                <a:solidFill>
                  <a:srgbClr val="262626"/>
                </a:solidFill>
                <a:latin typeface="Arial" panose="020B0604020202020204" pitchFamily="34" charset="0"/>
                <a:cs typeface="Arial"/>
              </a:rPr>
              <a:t>Модуль упругости
лучше прогноз среднего</a:t>
            </a:r>
            <a:endParaRPr sz="1600" i="0">
              <a:solidFill>
                <a:srgbClr val="595959"/>
              </a:solidFill>
              <a:latin typeface="Arial" panose="020B0604020202020204" pitchFamily="34" charset="0"/>
              <a:cs typeface="Arial"/>
            </a:endParaRPr>
          </a:p>
        </p:txBody>
      </p:sp>
      <p:sp>
        <p:nvSpPr>
          <p:cNvPr id="77" name="TextBox 76"/>
          <p:cNvSpPr txBox="1"/>
          <p:nvPr/>
        </p:nvSpPr>
        <p:spPr>
          <a:xfrm>
            <a:off x="6126480" y="224028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−0,016</a:t>
            </a:r>
          </a:p>
        </p:txBody>
      </p:sp>
      <p:cxnSp>
        <p:nvCxnSpPr>
          <p:cNvPr id="78" name="Connector 77"/>
          <p:cNvCxnSpPr/>
          <p:nvPr/>
        </p:nvCxnSpPr>
        <p:spPr>
          <a:xfrm>
            <a:off x="557784" y="3429000"/>
            <a:ext cx="0" cy="868680"/>
          </a:xfrm>
          <a:prstGeom prst="line">
            <a:avLst/>
          </a:prstGeom>
          <a:ln w="28575">
            <a:solidFill>
              <a:srgbClr val="065CAB"/>
            </a:solidFill>
          </a:ln>
        </p:spPr>
      </p:cxnSp>
      <p:cxnSp>
        <p:nvCxnSpPr>
          <p:cNvPr id="79" name="Connector 78"/>
          <p:cNvCxnSpPr/>
          <p:nvPr/>
        </p:nvCxnSpPr>
        <p:spPr>
          <a:xfrm>
            <a:off x="557784" y="3429000"/>
            <a:ext cx="384048" cy="0"/>
          </a:xfrm>
          <a:prstGeom prst="line">
            <a:avLst/>
          </a:prstGeom>
          <a:ln w="28575">
            <a:solidFill>
              <a:srgbClr val="065CAB"/>
            </a:solidFill>
          </a:ln>
        </p:spPr>
      </p:cxnSp>
      <p:cxnSp>
        <p:nvCxnSpPr>
          <p:cNvPr id="80" name="Connector 79"/>
          <p:cNvCxnSpPr/>
          <p:nvPr/>
        </p:nvCxnSpPr>
        <p:spPr>
          <a:xfrm>
            <a:off x="557784" y="4297680"/>
            <a:ext cx="384048" cy="0"/>
          </a:xfrm>
          <a:prstGeom prst="line">
            <a:avLst/>
          </a:prstGeom>
          <a:ln w="28575">
            <a:solidFill>
              <a:srgbClr val="065CAB"/>
            </a:solidFill>
          </a:ln>
        </p:spPr>
      </p:cxnSp>
      <p:sp>
        <p:nvSpPr>
          <p:cNvPr id="81" name="TextBox 80"/>
          <p:cNvSpPr txBox="1"/>
          <p:nvPr/>
        </p:nvSpPr>
        <p:spPr>
          <a:xfrm>
            <a:off x="713232" y="344728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2</a:t>
            </a:r>
          </a:p>
        </p:txBody>
      </p:sp>
      <p:sp>
        <p:nvSpPr>
          <p:cNvPr id="82" name="TextBox 81"/>
          <p:cNvSpPr txBox="1"/>
          <p:nvPr/>
        </p:nvSpPr>
        <p:spPr>
          <a:xfrm>
            <a:off x="1417320" y="3447288"/>
            <a:ext cx="4754880" cy="868680"/>
          </a:xfrm>
          <a:prstGeom prst="rect">
            <a:avLst/>
          </a:prstGeom>
          <a:noFill/>
        </p:spPr>
        <p:txBody>
          <a:bodyPr wrap="square" lIns="0" tIns="0" rIns="0" bIns="0" anchor="t"/>
          <a:lstStyle/>
          <a:p>
            <a:pPr marL="0" indent="0" algn="l">
              <a:lnSpc>
                <a:spcPct val="100000"/>
              </a:lnSpc>
              <a:buNone/>
            </a:pPr>
            <a:r>
              <a:rPr lang="ru-RU" sz="1600" i="0">
                <a:solidFill>
                  <a:srgbClr val="262626"/>
                </a:solidFill>
                <a:latin typeface="Arial" panose="020B0604020202020204" pitchFamily="34" charset="0"/>
                <a:cs typeface="Arial"/>
              </a:rPr>
              <a:t>Прочность
бустинг почти равен среднему</a:t>
            </a:r>
            <a:endParaRPr sz="1600" i="0">
              <a:solidFill>
                <a:srgbClr val="595959"/>
              </a:solidFill>
              <a:latin typeface="Arial" panose="020B0604020202020204" pitchFamily="34" charset="0"/>
              <a:cs typeface="Arial"/>
            </a:endParaRPr>
          </a:p>
        </p:txBody>
      </p:sp>
      <p:sp>
        <p:nvSpPr>
          <p:cNvPr id="83" name="TextBox 82"/>
          <p:cNvSpPr txBox="1"/>
          <p:nvPr/>
        </p:nvSpPr>
        <p:spPr>
          <a:xfrm>
            <a:off x="6126480" y="342900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0,008</a:t>
            </a:r>
          </a:p>
        </p:txBody>
      </p:sp>
      <p:cxnSp>
        <p:nvCxnSpPr>
          <p:cNvPr id="84" name="Connector 83"/>
          <p:cNvCxnSpPr/>
          <p:nvPr/>
        </p:nvCxnSpPr>
        <p:spPr>
          <a:xfrm>
            <a:off x="557784" y="4617720"/>
            <a:ext cx="0" cy="868680"/>
          </a:xfrm>
          <a:prstGeom prst="line">
            <a:avLst/>
          </a:prstGeom>
          <a:ln w="28575">
            <a:solidFill>
              <a:srgbClr val="065CAB"/>
            </a:solidFill>
          </a:ln>
        </p:spPr>
      </p:cxnSp>
      <p:cxnSp>
        <p:nvCxnSpPr>
          <p:cNvPr id="85" name="Connector 84"/>
          <p:cNvCxnSpPr/>
          <p:nvPr/>
        </p:nvCxnSpPr>
        <p:spPr>
          <a:xfrm>
            <a:off x="557784" y="4617720"/>
            <a:ext cx="384048" cy="0"/>
          </a:xfrm>
          <a:prstGeom prst="line">
            <a:avLst/>
          </a:prstGeom>
          <a:ln w="28575">
            <a:solidFill>
              <a:srgbClr val="065CAB"/>
            </a:solidFill>
          </a:ln>
        </p:spPr>
      </p:cxnSp>
      <p:cxnSp>
        <p:nvCxnSpPr>
          <p:cNvPr id="86" name="Connector 85"/>
          <p:cNvCxnSpPr/>
          <p:nvPr/>
        </p:nvCxnSpPr>
        <p:spPr>
          <a:xfrm>
            <a:off x="557784" y="5486400"/>
            <a:ext cx="384048" cy="0"/>
          </a:xfrm>
          <a:prstGeom prst="line">
            <a:avLst/>
          </a:prstGeom>
          <a:ln w="28575">
            <a:solidFill>
              <a:srgbClr val="065CAB"/>
            </a:solidFill>
          </a:ln>
        </p:spPr>
      </p:cxnSp>
      <p:sp>
        <p:nvSpPr>
          <p:cNvPr id="87" name="TextBox 86"/>
          <p:cNvSpPr txBox="1"/>
          <p:nvPr/>
        </p:nvSpPr>
        <p:spPr>
          <a:xfrm>
            <a:off x="713232" y="463600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3</a:t>
            </a:r>
          </a:p>
        </p:txBody>
      </p:sp>
      <p:sp>
        <p:nvSpPr>
          <p:cNvPr id="88" name="TextBox 87"/>
          <p:cNvSpPr txBox="1"/>
          <p:nvPr/>
        </p:nvSpPr>
        <p:spPr>
          <a:xfrm>
            <a:off x="1417320" y="4636008"/>
            <a:ext cx="4754880" cy="868680"/>
          </a:xfrm>
          <a:prstGeom prst="rect">
            <a:avLst/>
          </a:prstGeom>
          <a:noFill/>
        </p:spPr>
        <p:txBody>
          <a:bodyPr wrap="square" lIns="0" tIns="0" rIns="0" bIns="0" anchor="t"/>
          <a:lstStyle/>
          <a:p>
            <a:pPr marL="0" indent="0" algn="l">
              <a:lnSpc>
                <a:spcPct val="100000"/>
              </a:lnSpc>
              <a:buNone/>
            </a:pPr>
            <a:r>
              <a:rPr lang="ru-RU" sz="1600" i="0">
                <a:solidFill>
                  <a:srgbClr val="262626"/>
                </a:solidFill>
                <a:latin typeface="Arial" panose="020B0604020202020204" pitchFamily="34" charset="0"/>
                <a:cs typeface="Arial"/>
              </a:rPr>
              <a:t>Отношение компонентов
нейросеть хуже среднего</a:t>
            </a:r>
            <a:endParaRPr sz="1600" i="0">
              <a:solidFill>
                <a:srgbClr val="595959"/>
              </a:solidFill>
              <a:latin typeface="Arial" panose="020B0604020202020204" pitchFamily="34" charset="0"/>
              <a:cs typeface="Arial"/>
            </a:endParaRPr>
          </a:p>
        </p:txBody>
      </p:sp>
      <p:sp>
        <p:nvSpPr>
          <p:cNvPr id="89" name="TextBox 88"/>
          <p:cNvSpPr txBox="1"/>
          <p:nvPr/>
        </p:nvSpPr>
        <p:spPr>
          <a:xfrm>
            <a:off x="6126480" y="461772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−0,040</a:t>
            </a:r>
          </a:p>
        </p:txBody>
      </p:sp>
      <p:sp>
        <p:nvSpPr>
          <p:cNvPr id="90" name="Rectangle 89"/>
          <p:cNvSpPr/>
          <p:nvPr/>
        </p:nvSpPr>
        <p:spPr>
          <a:xfrm>
            <a:off x="8183879" y="1417320"/>
            <a:ext cx="3584448" cy="4663440"/>
          </a:xfrm>
          <a:prstGeom prst="rect">
            <a:avLst/>
          </a:prstGeom>
          <a:solidFill>
            <a:srgbClr val="F1BE29"/>
          </a:solidFill>
          <a:ln>
            <a:noFill/>
          </a:ln>
        </p:spPr>
        <p:txBody>
          <a:bodyPr rtlCol="0" anchor="ctr"/>
          <a:lstStyle/>
          <a:p>
            <a:pPr algn="ctr"/>
            <a:endParaRPr/>
          </a:p>
        </p:txBody>
      </p:sp>
      <p:sp>
        <p:nvSpPr>
          <p:cNvPr id="91" name="TextBox 90"/>
          <p:cNvSpPr txBox="1"/>
          <p:nvPr/>
        </p:nvSpPr>
        <p:spPr>
          <a:xfrm>
            <a:off x="8412480" y="1645920"/>
            <a:ext cx="3154680" cy="4297680"/>
          </a:xfrm>
          <a:prstGeom prst="rect">
            <a:avLst/>
          </a:prstGeom>
          <a:noFill/>
        </p:spPr>
        <p:txBody>
          <a:bodyPr wrap="square" lIns="0" tIns="0" rIns="0" bIns="0" anchor="t"/>
          <a:lstStyle/>
          <a:p>
            <a:pPr marL="0" indent="0" algn="l">
              <a:lnSpc>
                <a:spcPct val="105000"/>
              </a:lnSpc>
              <a:buNone/>
            </a:pPr>
            <a:r>
              <a:rPr lang="ru-RU" sz="1600" i="0">
                <a:solidFill>
                  <a:srgbClr val="262626"/>
                </a:solidFill>
                <a:latin typeface="Arial" panose="020B0604020202020204" pitchFamily="34" charset="0"/>
                <a:cs typeface="Arial"/>
              </a:rPr>
              <a:t>Вывод по цели
Процесс работает и воспроизводится
Промышленная точность и подбор рецептуры не подтверждены
Дальше нужны внешние данные и лабораторная проверка</a:t>
            </a:r>
            <a:endParaRPr sz="1600" i="0">
              <a:solidFill>
                <a:srgbClr val="262626"/>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cs typeface="Arial"/>
              </a:rPr>
              <a:t>15</a:t>
            </a:fld>
            <a:endParaRPr lang="ru-RU" dirty="0">
              <a:cs typeface="Arial"/>
            </a:endParaRPr>
          </a:p>
        </p:txBody>
      </p:sp>
    </p:spTree>
  </p:cSld>
  <p:clrMapOvr>
    <a:masterClrMapping/>
  </p:clrMapOvr>
</p:sld>
</file>

<file path=ppt/theme/theme1.xml><?xml version="1.0" encoding="utf-8"?>
<a:theme xmlns:a="http://schemas.openxmlformats.org/drawingml/2006/main" name="МГТУ">
  <a:themeElements>
    <a:clrScheme name="МГТУ10128">
      <a:dk1>
        <a:srgbClr val="000000"/>
      </a:dk1>
      <a:lt1>
        <a:srgbClr val="FFFFFF"/>
      </a:lt1>
      <a:dk2>
        <a:srgbClr val="062646"/>
      </a:dk2>
      <a:lt2>
        <a:srgbClr val="E3F0FD"/>
      </a:lt2>
      <a:accent1>
        <a:srgbClr val="0E5DAB"/>
      </a:accent1>
      <a:accent2>
        <a:srgbClr val="7BC6DF"/>
      </a:accent2>
      <a:accent3>
        <a:srgbClr val="F99D27"/>
      </a:accent3>
      <a:accent4>
        <a:srgbClr val="BDD7EE"/>
      </a:accent4>
      <a:accent5>
        <a:srgbClr val="FFC000"/>
      </a:accent5>
      <a:accent6>
        <a:srgbClr val="A5A5A5"/>
      </a:accent6>
      <a:hlink>
        <a:srgbClr val="1F75E2"/>
      </a:hlink>
      <a:folHlink>
        <a:srgbClr val="FA34DE"/>
      </a:folHlink>
    </a:clrScheme>
    <a:fontScheme name="Основная">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lgn="l">
          <a:defRPr sz="2300" dirty="0">
            <a:latin typeface="+mn-lt"/>
          </a:defRPr>
        </a:defP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2590</Words>
  <Application>Microsoft Office PowerPoint</Application>
  <PresentationFormat>Широкоэкранный</PresentationFormat>
  <Paragraphs>212</Paragraphs>
  <Slides>15</Slides>
  <Notes>15</Notes>
  <HiddenSlides>0</HiddenSlides>
  <MMClips>0</MMClips>
  <ScaleCrop>false</ScaleCrop>
  <HeadingPairs>
    <vt:vector size="6" baseType="variant">
      <vt:variant>
        <vt:lpstr>Использованные шрифты</vt:lpstr>
      </vt:variant>
      <vt:variant>
        <vt:i4>1</vt:i4>
      </vt:variant>
      <vt:variant>
        <vt:lpstr>Тема</vt:lpstr>
      </vt:variant>
      <vt:variant>
        <vt:i4>1</vt:i4>
      </vt:variant>
      <vt:variant>
        <vt:lpstr>Заголовки слайдов</vt:lpstr>
      </vt:variant>
      <vt:variant>
        <vt:i4>15</vt:i4>
      </vt:variant>
    </vt:vector>
  </HeadingPairs>
  <TitlesOfParts>
    <vt:vector size="17" baseType="lpstr">
      <vt:lpstr>Arial</vt:lpstr>
      <vt:lpstr>МГТУ</vt:lpstr>
      <vt:lpstr>Прогнозирование конечных свойств новых материалов (композиционных материалов)</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Прогнозирование конечных свойств новых материалов (композиционных материалов)</dc:title>
  <dc:subject>Защита ВКР: регрессионные модели свойств композиционных материалов</dc:subject>
  <dc:creator/>
  <cp:keywords/>
  <dc:description/>
  <cp:lastModifiedBy>Geralt</cp:lastModifiedBy>
  <cp:revision>107</cp:revision>
  <dcterms:created xsi:type="dcterms:W3CDTF">2021-02-24T09:03:25Z</dcterms:created>
  <dcterms:modified xsi:type="dcterms:W3CDTF">2026-10-02T20:22:37Z</dcterms:modified>
</cp:coreProperties>
</file>