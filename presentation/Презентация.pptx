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media/image4.jpg" ContentType="image/png"/>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autoCompressPictures="0">
  <p:sldMasterIdLst>
    <p:sldMasterId id="2147483648" r:id="rId1"/>
  </p:sldMasterIdLst>
  <p:notesMasterIdLst>
    <p:notesMasterId r:id="rId17"/>
  </p:notesMasterIdLst>
  <p:sldIdLst>
    <p:sldId id="256" r:id="rId2"/>
    <p:sldId id="257" r:id="rId3"/>
    <p:sldId id="258" r:id="rId4"/>
    <p:sldId id="259" r:id="rId5"/>
    <p:sldId id="263" r:id="rId6"/>
    <p:sldId id="261" r:id="rId7"/>
    <p:sldId id="262" r:id="rId8"/>
    <p:sldId id="260" r:id="rId9"/>
    <p:sldId id="264" r:id="rId10"/>
    <p:sldId id="265" r:id="rId11"/>
    <p:sldId id="266" r:id="rId12"/>
    <p:sldId id="267" r:id="rId13"/>
    <p:sldId id="268" r:id="rId14"/>
    <p:sldId id="269" r:id="rId15"/>
    <p:sldId id="270" r:id="rId1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2" pos="347" userDrawn="1">
          <p15:clr>
            <a:srgbClr val="000000"/>
          </p15:clr>
        </p15:guide>
        <p15:guide id="3" orient="horz" pos="1344" userDrawn="1">
          <p15:clr>
            <a:srgbClr val="A4A3A4"/>
          </p15:clr>
        </p15:guide>
        <p15:guide id="4" orient="horz" pos="981" userDrawn="1">
          <p15:clr>
            <a:srgbClr val="A4A3A4"/>
          </p15:clr>
        </p15:guide>
      </p15:sldGuideLst>
    </p:ext>
    <p:ext uri="{2D200454-40CA-4A62-9FC3-DE9A4176ACB9}">
      <p15:notes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g2fLzW2NWhC2ejww7VA5lENbgL/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User" initials="U" lastIdx="3" clrIdx="0">
    <p:extLst>
      <p:ext uri="{19B8F6BF-5375-455C-9EA6-DF929625EA0E}">
        <p15:presenceInfo xmlns:p15="http://schemas.microsoft.com/office/powerpoint/2012/main" userId="User"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65CAB"/>
    <a:srgbClr val="0046A2"/>
    <a:srgbClr val="D1D1D1"/>
    <a:srgbClr val="F1BE29"/>
    <a:srgbClr val="7BC6D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76095" autoAdjust="0"/>
  </p:normalViewPr>
  <p:slideViewPr>
    <p:cSldViewPr snapToGrid="0">
      <p:cViewPr varScale="1">
        <p:scale>
          <a:sx n="66" d="100"/>
          <a:sy n="66" d="100"/>
        </p:scale>
        <p:origin x="1303" y="22"/>
      </p:cViewPr>
      <p:guideLst>
        <p:guide pos="347"/>
        <p:guide orient="horz" pos="1344"/>
        <p:guide orient="horz" pos="981"/>
      </p:guideLst>
    </p:cSldViewPr>
  </p:slideViewPr>
  <p:outlineViewPr>
    <p:cViewPr>
      <p:scale>
        <a:sx n="33" d="100"/>
        <a:sy n="33" d="100"/>
      </p:scale>
      <p:origin x="0" y="0"/>
    </p:cViewPr>
  </p:outlineViewPr>
  <p:notesTextViewPr>
    <p:cViewPr>
      <p:scale>
        <a:sx n="1" d="1"/>
        <a:sy n="1" d="1"/>
      </p:scale>
      <p:origin x="0" y="0"/>
    </p:cViewPr>
  </p:notesTextViewPr>
  <p:notesViewPr>
    <p:cSldViewPr snapToGrid="0">
      <p:cViewPr varScale="1">
        <p:scale>
          <a:sx n="87" d="100"/>
          <a:sy n="87" d="100"/>
        </p:scale>
        <p:origin x="3840" y="84"/>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26" Type="http://schemas.openxmlformats.org/officeDocument/2006/relationships/commentAuthors" Target="commentAuthor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5" Type="http://customschemas.google.com/relationships/presentationmetadata" Target="meta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Здравствуйте. Тема моей работы – прогнозирование конечных свойств композиционных материалов. Я последовательно расскажу о постановке задачи, исходных данных, методах, обучении и проверке моделей, а затем покажу практический результат.
Источники: РПЗ, введение.</a:t>
            </a:r>
            <a:endParaRPr>
              <a:latin typeface="Arial" panose="020B0604020202020204" pitchFamily="34"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Свойства готового материала зависят от сочетания компонентов и условий изготовления. Задача работы – прогнозировать эти свойства по имеющимся характеристикам.
Связующее, или матрица, соединяет компоненты в единый материал и передаёт нагрузку. Наполнитель влияет на свойства материала и может выполнять армирующую функцию, то есть усиливать материал.
В работе оцениваются две конечные характеристики. Модуль упругости при растяжении показывает сопротивление обратимому растяжению: после снятия нагрузки форма восстанавливается. Прочность при растяжении – предельное напряжение перед разрушением. Напряжение здесь означает нагрузку на единицу площади поперечного сечения.
Источники: РПЗ, введение.</a:t>
            </a:r>
            <a:endParaRPr>
              <a:latin typeface="Arial" panose="020B0604020202020204" pitchFamily="34" charset="0"/>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Исходные данные находились в двух таблицах Excel, которые дополняют друг друга. Применён INNER JOIN: таблицы сопоставили по исходному индексу и оставили только строки, присутствующие в обеих таблицах. Получено 1023 наблюдения с 13 показателями; 17 строк второй таблицы без пары не вошли в итоговый набор. Пропусков и полных дубликатов нет.
После объединения каждая строка содержит характеристики и известные конечные свойства. Такая строка служит примером, на котором можно обучать и проверять модель. Происхождение образцов, группы, партии и часть единиц измерения не описаны; это ограничение учитывается при интерпретации результатов.
Источники: РПЗ, таблица 5; docs/data_dictionary.md.</a:t>
            </a:r>
            <a:endParaRPr>
              <a:latin typeface="Arial" panose="020B0604020202020204" pitchFamily="34" charset="0"/>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прямого прогнозирования используются 11 характеристик состава и технологии. Из 1023 строк 716 образуют обучающую выборку, а 307 – независимую тестовую выборку. На обучающей части модель учится связывать 11 входных характеристик с известными конечными свойствами, а тестовая часть показывает качество на данных, которые не использовались при обучении.
Для нового набора из 11 характеристик модель выдаёт две оценки: модуль упругости при растяжении в гигапаскалях и прочность при растяжении в мегапаскалях. Сами конечные свойства в эти 11 входов не входят.
Отдельно решается дополнительная задача: по 12 другим известным показателям, включая известные модуль и прочность, оценивается соотношение матрица–наполнитель. Эта задача отделена от двух прямых прогнозов и в приложение не включена.
Источники: РПЗ, раздел 1.1; docs/data_dictionary.md.</a:t>
            </a:r>
            <a:endParaRPr>
              <a:latin typeface="Arial" panose="020B0604020202020204" pitchFamily="34" charset="0"/>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прямых задач сравнивались пять подходов. Прогноз среднего задаёт простой ориентир: для любой строки он выдаёт среднее значение обучающей выборки. Ridge ищет линейную зависимость и ограничивает слишком большие коэффициенты. Случайный лес строит много деревьев решений и усредняет их ответы. Градиентный бустинг строит деревья последовательно, и каждое следующее исправляет часть прежних ошибок. Метод опорных векторов, или SVR, может описывать гладкую нелинейную зависимость.
Все подходы сравнивались по одному протоколу. Подробные настройки приведены в таблице 6 РПЗ. Отдельную нейросеть для соотношения матрица–наполнитель я покажу позже.
Источники: РПЗ, раздел 2.2 и таблица 6; reports/modeling/cv_summary.csv.</a:t>
            </a:r>
            <a:endParaRPr>
              <a:latin typeface="Arial" panose="020B0604020202020204" pitchFamily="34" charset="0"/>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Разведочный анализ данных выполнялся только на 716 строках обучающей выборки. Рассматривались распределения, диаграммы размаха и попарные связи. Наибольшая абсолютная линейная корреляция составила около 0,119. Это означает, что простые линейные связи между отдельными парами показателей слабы. Однако такой результат не исключает более сложных взаимодействий нескольких признаков.
Угол нашивки в таблице принимает два значения: 0 и 90 градусов.
Источники: РПЗ, рисунок 1; docs/eda.md.</a:t>
            </a:r>
            <a:endParaRPr>
              <a:latin typeface="Arial" panose="020B0604020202020204" pitchFamily="34" charset="0"/>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На этапе предобработки проверили квартильное правило для поиска крайних значений. Для прямых задач оно отметило 53 строки из 716, а для задачи отношения – 61 строку. Это кандидаты на выбросы, а не доказанные ошибки измерения.
Перекрёстная проверка показала меньшую ошибку при сохранении всех строк, поэтому итоговые модели обучались без удаления. Угол 0 и 90 градусов закодировали числами 0 и 1. Для Ridge, SVR и нейросети признаки приводились к сопоставимому масштабу внутри каждого цикла проверки.
Источники: РПЗ, раздел 2.1.3; reports/modeling/preprocessing_audit.json.</a:t>
            </a:r>
            <a:endParaRPr>
              <a:latin typeface="Arial" panose="020B0604020202020204" pitchFamily="34" charset="0"/>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Данные один раз разделили на обучающую и тестовую выборки в пропорции 70 на 30: 716 и 307 строк. На обучающей части выполнялся поиск гиперпараметров по сетке с перекрёстной проверкой. Данные делились на 10 блоков: девять использовались для обучения и один для проверки, затем проверочный блок менялся. Так каждая строка обучающей выборки участвовала в проверке.
Модель выбиралась по средней RMSE. Это ошибка в единицах прогнозируемого свойства, которая сильнее учитывает крупные промахи. Для модуля минимум составил 3,087 ГПа у прогноза среднего. Для прочности градиентный бустинг получил 490,209 МПа против 490,500 МПа у прогноза среднего. Только после этого модели один раз оценили на тестовой выборке.
Источники: РПЗ, рисунок 7 и таблица 6; docs/validation_protocol.md.</a:t>
            </a:r>
            <a:endParaRPr>
              <a:latin typeface="Arial" panose="020B0604020202020204" pitchFamily="34"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модуля упругости при растяжении ни один испытанный метод не улучшил прогноз среднего. На тестовой выборке RMSE равна 3,178 ГПа, а MAE – 2,556 ГПа. MAE – средняя абсолютная ошибка. RMSE сильнее реагирует на крупные промахи. R² равно минус 0,016. R² сравнивает модель с прогнозом среднего и не является процентом точности.
На графике по горизонтали показано фактическое значение, по вертикали – прогноз. Идеальные прогнозы лежали бы на диагонали. Горизонтальная полоса показывает, что модель выдаёт одно и то же среднее значение.
Источники: РПЗ, рисунок 8; reports/evaluation/metrics.csv.</a:t>
            </a:r>
            <a:endParaRPr>
              <a:latin typeface="Arial" panose="020B0604020202020204" pitchFamily="34"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Для прочности при растяжении по перекрёстной проверке заранее выбрали градиентный бустинг. Он был лучше прогноза среднего только в четырёх из десяти блоков.
На тестовой выборке RMSE бустинга равна 471,410 МПа, что лучше ориентира на 1,878 МПа. Однако MAE равна 380,152 МПа и хуже ориентира на 1,168 МПа. R² составляет 0,008, то есть объяснённая доля разброса почти нулевая. На графике точки далеко от диагонали и образуют почти горизонтальное облако. Поэтому практически значимое преимущество не подтверждено.
Источники: РПЗ, рисунок 8; reports/evaluation/metrics.csv.</a:t>
            </a:r>
            <a:endParaRPr>
              <a:latin typeface="Arial" panose="020B0604020202020204" pitchFamily="34"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Отдельная нейросеть получает 12 известных показателей, включая известные модуль и прочность, и выдаёт оценку соотношения матрица–наполнитель. В ней два скрытых слоя на 32 и 16 нейронов. Они последовательно преобразуют входы и ищут сочетания признаков.
Всего сеть содержит 961 настраиваемый параметр. Из 716 строк 644 использовались для обновления весов, а 72 контролировали раннюю остановку. Эпоха – это один проход по обучающим примерам. Обучение продолжалось 76 эпох, после чего восстановлены лучшие веса эпохи 35. Отдельного дообучения весов на всех 716 строках не было.
Источники: РПЗ, раздел 2.4; docs/neural_network.md.</a:t>
            </a:r>
            <a:endParaRPr>
              <a:latin typeface="Arial" panose="020B0604020202020204" pitchFamily="34"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На тестовой выборке нейросеть дала RMSE 0,944, MAE 0,777 и R² минус 0,040. Прогноз среднего имел меньшую RMSE 0,926. Следовательно, нейросеть не улучшила простой ориентир.
На левой панели loss обучения уменьшается, а R² внутренней проверки после лучших весов начинает ухудшаться. Это и объясняет раннюю остановку. Справа показан разброс CV RMSE по трём заранее заданным значениям seed, а не R². Seed – это число, фиксирующее случайные действия для воспроизводимости. Основной вывод всё равно делается по независимой тестовой выборке.
Источники: РПЗ, рисунок 11 и таблица 8; reports/evaluation/metrics.csv.</a:t>
            </a:r>
            <a:endParaRPr>
              <a:latin typeface="Arial" panose="020B0604020202020204" pitchFamily="34"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Пермутационная важность показывает, насколько увеличивается ошибка модели после случайного перемешивания одного признака. Если ошибка растёт, модель опиралась на этот признак. Полосы на графике показывают разброс десяти повторов.
Эта важность описывает поведение модели, а не доказывает физическое влияние признака на материал. Для постоянного прогноза модуля значения равны нулю. Перенос на новые материалы и лабораторная проверка не выполнялись.
Источники: РПЗ, рисунок 10; reports/evaluation/permutation_importance.csv.</a:t>
            </a:r>
            <a:endParaRPr>
              <a:latin typeface="Arial" panose="020B0604020202020204" pitchFamily="34"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Практический результат – учебное приложение Streamlit. Оно принимает 11 входных параметров, проверяет введённые значения и выдаёт прогнозы модуля упругости и прочности при растяжении.
Для демонстрационного профиля с медианными значениями и углом 90 градусов приложение показывает 73,2073 ГПа и 2502,06 МПа. Это расчёт модели, а не результат испытания нового образца. Репозиторий сохраняет данные, разбиение, модели, отчёты и notebook, поэтому вычисления можно воспроизвести.
Источники: РПЗ, раздел 2.5; docs/application.md.</a:t>
            </a:r>
            <a:endParaRPr>
              <a:latin typeface="Arial" panose="020B0604020202020204" pitchFamily="34"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lang="ru-RU">
                <a:latin typeface="Arial" panose="020B0604020202020204" pitchFamily="34" charset="0"/>
              </a:rPr>
              <a:t>Работа построила воспроизводимый процесс по последовательности методички: постановка задачи, данные, методы, разведочный анализ, предобработка, обучение, тестирование, приложение и выводы.
Качество моделей слабое. Для модуля лучше оказался прогноз среднего. Для прочности качество бустинга близко к качеству прогноза среднего, хотя сами прогнозы различаются. Нейросеть для отношения оказалась хуже среднего. Эти модели не предназначены для промышленного прогнозирования или подбора рецептуры. Следующий шаг – описать происхождение данных, получить внешнюю выборку и провести лабораторную проверку. Спасибо за внимание.
Источники: reports/evaluation/metrics.csv; РПЗ, заключение.</a:t>
            </a:r>
            <a:endParaRPr>
              <a:latin typeface="Arial" panose="020B0604020202020204" pitchFamily="34" charset="0"/>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g"/><Relationship Id="rId1" Type="http://schemas.openxmlformats.org/officeDocument/2006/relationships/slideMaster" Target="../slideMasters/slideMaster1.xml"/><Relationship Id="rId4" Type="http://schemas.openxmlformats.org/officeDocument/2006/relationships/image" Target="../media/image4.jp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Титульный слайд" userDrawn="1">
  <p:cSld name="TITLE">
    <p:bg>
      <p:bgRef idx="1001">
        <a:schemeClr val="bg1"/>
      </p:bgRef>
    </p:bg>
    <p:spTree>
      <p:nvGrpSpPr>
        <p:cNvPr id="1" name="Shape 10"/>
        <p:cNvGrpSpPr/>
        <p:nvPr/>
      </p:nvGrpSpPr>
      <p:grpSpPr>
        <a:xfrm>
          <a:off x="0" y="0"/>
          <a:ext cx="0" cy="0"/>
          <a:chOff x="0" y="0"/>
          <a:chExt cx="0" cy="0"/>
        </a:xfrm>
      </p:grpSpPr>
      <p:pic>
        <p:nvPicPr>
          <p:cNvPr id="6" name="Google Shape;88;p1">
            <a:extLst>
              <a:ext uri="{FF2B5EF4-FFF2-40B4-BE49-F238E27FC236}">
                <a16:creationId xmlns:a16="http://schemas.microsoft.com/office/drawing/2014/main" id="{2D925FD8-DECC-4CD6-B8C0-B1ADCC5FA20A}"/>
              </a:ext>
            </a:extLst>
          </p:cNvPr>
          <p:cNvPicPr preferRelativeResize="0"/>
          <p:nvPr userDrawn="1"/>
        </p:nvPicPr>
        <p:blipFill rotWithShape="1">
          <a:blip r:embed="rId2">
            <a:alphaModFix/>
          </a:blip>
          <a:srcRect t="16270" b="8845"/>
          <a:stretch/>
        </p:blipFill>
        <p:spPr>
          <a:xfrm>
            <a:off x="0" y="0"/>
            <a:ext cx="12192000" cy="6858000"/>
          </a:xfrm>
          <a:prstGeom prst="rect">
            <a:avLst/>
          </a:prstGeom>
          <a:noFill/>
          <a:ln>
            <a:noFill/>
          </a:ln>
        </p:spPr>
      </p:pic>
      <p:grpSp>
        <p:nvGrpSpPr>
          <p:cNvPr id="7" name="Группа 6">
            <a:extLst>
              <a:ext uri="{FF2B5EF4-FFF2-40B4-BE49-F238E27FC236}">
                <a16:creationId xmlns:a16="http://schemas.microsoft.com/office/drawing/2014/main" id="{B0283559-7C69-4037-A5DE-025458FA127C}"/>
              </a:ext>
            </a:extLst>
          </p:cNvPr>
          <p:cNvGrpSpPr/>
          <p:nvPr userDrawn="1"/>
        </p:nvGrpSpPr>
        <p:grpSpPr>
          <a:xfrm>
            <a:off x="694478" y="633067"/>
            <a:ext cx="9502816" cy="4706741"/>
            <a:chOff x="694478" y="633067"/>
            <a:chExt cx="9502816" cy="4706741"/>
          </a:xfrm>
        </p:grpSpPr>
        <p:pic>
          <p:nvPicPr>
            <p:cNvPr id="9" name="Google Shape;13;p5">
              <a:extLst>
                <a:ext uri="{FF2B5EF4-FFF2-40B4-BE49-F238E27FC236}">
                  <a16:creationId xmlns:a16="http://schemas.microsoft.com/office/drawing/2014/main" id="{2F2230A9-DF50-482B-98EE-86D3A472B57F}"/>
                </a:ext>
              </a:extLst>
            </p:cNvPr>
            <p:cNvPicPr preferRelativeResize="0"/>
            <p:nvPr userDrawn="1"/>
          </p:nvPicPr>
          <p:blipFill rotWithShape="1">
            <a:blip r:embed="rId3">
              <a:alphaModFix/>
            </a:blip>
            <a:srcRect/>
            <a:stretch/>
          </p:blipFill>
          <p:spPr>
            <a:xfrm>
              <a:off x="694481" y="633067"/>
              <a:ext cx="9502813" cy="4706741"/>
            </a:xfrm>
            <a:prstGeom prst="rect">
              <a:avLst/>
            </a:prstGeom>
            <a:noFill/>
            <a:ln>
              <a:noFill/>
            </a:ln>
          </p:spPr>
        </p:pic>
        <p:sp>
          <p:nvSpPr>
            <p:cNvPr id="10" name="Прямоугольник 9">
              <a:extLst>
                <a:ext uri="{FF2B5EF4-FFF2-40B4-BE49-F238E27FC236}">
                  <a16:creationId xmlns:a16="http://schemas.microsoft.com/office/drawing/2014/main" id="{8967D30A-87B4-4421-A52A-46DC79DD78AC}"/>
                </a:ext>
              </a:extLst>
            </p:cNvPr>
            <p:cNvSpPr/>
            <p:nvPr userDrawn="1"/>
          </p:nvSpPr>
          <p:spPr>
            <a:xfrm>
              <a:off x="694478" y="5306991"/>
              <a:ext cx="9502813" cy="28800"/>
            </a:xfrm>
            <a:prstGeom prst="rect">
              <a:avLst/>
            </a:prstGeom>
            <a:solidFill>
              <a:srgbClr val="E6E7E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ru-RU" dirty="0">
                <a:latin typeface="Arial" panose="020B0604020202020204" pitchFamily="34" charset="0"/>
              </a:endParaRPr>
            </a:p>
          </p:txBody>
        </p:sp>
      </p:grpSp>
      <p:pic>
        <p:nvPicPr>
          <p:cNvPr id="3" name="Рисунок 2">
            <a:extLst>
              <a:ext uri="{FF2B5EF4-FFF2-40B4-BE49-F238E27FC236}">
                <a16:creationId xmlns:a16="http://schemas.microsoft.com/office/drawing/2014/main" id="{D20BDE73-1EE8-4C18-91ED-1CD26511FE5F}"/>
              </a:ext>
            </a:extLst>
          </p:cNvPr>
          <p:cNvPicPr>
            <a:picLocks noChangeAspect="1"/>
          </p:cNvPicPr>
          <p:nvPr userDrawn="1"/>
        </p:nvPicPr>
        <p:blipFill>
          <a:blip r:embed="rId4"/>
          <a:stretch>
            <a:fillRect/>
          </a:stretch>
        </p:blipFill>
        <p:spPr>
          <a:xfrm>
            <a:off x="9157539" y="611835"/>
            <a:ext cx="2361600" cy="721959"/>
          </a:xfrm>
          <a:prstGeom prst="rect">
            <a:avLst/>
          </a:prstGeom>
        </p:spPr>
      </p:pic>
      <p:sp>
        <p:nvSpPr>
          <p:cNvPr id="4" name="Google Shape;11;p5">
            <a:extLst>
              <a:ext uri="{FF2B5EF4-FFF2-40B4-BE49-F238E27FC236}">
                <a16:creationId xmlns:a16="http://schemas.microsoft.com/office/drawing/2014/main" id="{E3BFA7FB-261D-418C-AB36-0AE52A4CC41D}"/>
              </a:ext>
            </a:extLst>
          </p:cNvPr>
          <p:cNvSpPr txBox="1">
            <a:spLocks noGrp="1"/>
          </p:cNvSpPr>
          <p:nvPr>
            <p:ph type="ctrTitle" hasCustomPrompt="1"/>
          </p:nvPr>
        </p:nvSpPr>
        <p:spPr>
          <a:xfrm>
            <a:off x="1078287" y="831273"/>
            <a:ext cx="9119010" cy="3416636"/>
          </a:xfrm>
          <a:prstGeom prst="rect">
            <a:avLst/>
          </a:prstGeom>
          <a:noFill/>
          <a:ln>
            <a:noFill/>
          </a:ln>
        </p:spPr>
        <p:txBody>
          <a:bodyPr spcFirstLastPara="1" wrap="square" lIns="91425" tIns="45700" rIns="91425" bIns="45700" anchor="b" anchorCtr="0">
            <a:noAutofit/>
          </a:bodyPr>
          <a:lstStyle>
            <a:lvl1pPr lvl="0" algn="l">
              <a:lnSpc>
                <a:spcPct val="90000"/>
              </a:lnSpc>
              <a:spcBef>
                <a:spcPts val="0"/>
              </a:spcBef>
              <a:spcAft>
                <a:spcPts val="0"/>
              </a:spcAft>
              <a:buClr>
                <a:schemeClr val="lt1"/>
              </a:buClr>
              <a:buSzPts val="4400"/>
              <a:buFont typeface="Arial"/>
              <a:buNone/>
              <a:defRPr sz="4400" b="0">
                <a:solidFill>
                  <a:schemeClr val="lt1"/>
                </a:solidFill>
                <a:latin typeface="Arial" panose="020B0604020202020204" pitchFamily="34" charset="0"/>
                <a:ea typeface="Arial"/>
                <a:cs typeface="Arial"/>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dirty="0"/>
              <a:t>Заголовок слайда</a:t>
            </a:r>
            <a:endParaRPr dirty="0"/>
          </a:p>
        </p:txBody>
      </p:sp>
      <p:sp>
        <p:nvSpPr>
          <p:cNvPr id="5" name="Google Shape;12;p5">
            <a:extLst>
              <a:ext uri="{FF2B5EF4-FFF2-40B4-BE49-F238E27FC236}">
                <a16:creationId xmlns:a16="http://schemas.microsoft.com/office/drawing/2014/main" id="{84D6A78E-BD41-4E16-8DD7-8CD3958FF54B}"/>
              </a:ext>
            </a:extLst>
          </p:cNvPr>
          <p:cNvSpPr txBox="1">
            <a:spLocks noGrp="1"/>
          </p:cNvSpPr>
          <p:nvPr>
            <p:ph type="subTitle" idx="1" hasCustomPrompt="1"/>
          </p:nvPr>
        </p:nvSpPr>
        <p:spPr>
          <a:xfrm>
            <a:off x="1078286" y="4363657"/>
            <a:ext cx="9119010" cy="968117"/>
          </a:xfrm>
          <a:prstGeom prst="rect">
            <a:avLst/>
          </a:prstGeom>
          <a:noFill/>
          <a:ln>
            <a:noFill/>
          </a:ln>
        </p:spPr>
        <p:txBody>
          <a:bodyPr spcFirstLastPara="1" wrap="square" lIns="91425" tIns="45700" rIns="91425" bIns="45700" anchor="t" anchorCtr="0">
            <a:noAutofit/>
          </a:bodyPr>
          <a:lstStyle>
            <a:lvl1pPr lvl="0" algn="l">
              <a:lnSpc>
                <a:spcPct val="90000"/>
              </a:lnSpc>
              <a:spcBef>
                <a:spcPts val="750"/>
              </a:spcBef>
              <a:spcAft>
                <a:spcPts val="0"/>
              </a:spcAft>
              <a:buSzPts val="2800"/>
              <a:buNone/>
              <a:defRPr sz="2800">
                <a:solidFill>
                  <a:schemeClr val="lt1"/>
                </a:solidFill>
                <a:latin typeface="Arial" panose="020B0604020202020204" pitchFamily="34" charset="0"/>
                <a:ea typeface="Arial" panose="020B0606030504020204" pitchFamily="34" charset="0"/>
                <a:cs typeface="Arial" panose="020B0606030504020204" pitchFamily="34" charset="0"/>
                <a:sym typeface="Arial"/>
              </a:defRPr>
            </a:lvl1pPr>
            <a:lvl2pPr lvl="1" algn="ctr">
              <a:lnSpc>
                <a:spcPct val="90000"/>
              </a:lnSpc>
              <a:spcBef>
                <a:spcPts val="375"/>
              </a:spcBef>
              <a:spcAft>
                <a:spcPts val="0"/>
              </a:spcAft>
              <a:buSzPts val="1500"/>
              <a:buNone/>
              <a:defRPr sz="1500"/>
            </a:lvl2pPr>
            <a:lvl3pPr lvl="2" algn="ctr">
              <a:lnSpc>
                <a:spcPct val="90000"/>
              </a:lnSpc>
              <a:spcBef>
                <a:spcPts val="375"/>
              </a:spcBef>
              <a:spcAft>
                <a:spcPts val="0"/>
              </a:spcAft>
              <a:buSzPts val="1350"/>
              <a:buNone/>
              <a:defRPr sz="1350"/>
            </a:lvl3pPr>
            <a:lvl4pPr lvl="3" algn="ctr">
              <a:lnSpc>
                <a:spcPct val="90000"/>
              </a:lnSpc>
              <a:spcBef>
                <a:spcPts val="375"/>
              </a:spcBef>
              <a:spcAft>
                <a:spcPts val="0"/>
              </a:spcAft>
              <a:buSzPts val="1200"/>
              <a:buNone/>
              <a:defRPr sz="1200"/>
            </a:lvl4pPr>
            <a:lvl5pPr lvl="4" algn="ctr">
              <a:lnSpc>
                <a:spcPct val="90000"/>
              </a:lnSpc>
              <a:spcBef>
                <a:spcPts val="375"/>
              </a:spcBef>
              <a:spcAft>
                <a:spcPts val="0"/>
              </a:spcAft>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r>
              <a:rPr lang="ru-RU" dirty="0"/>
              <a:t>Подзаголовок слайда</a:t>
            </a:r>
            <a:endParaRPr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Заголовок, подзаголовок и объект" userDrawn="1">
  <p:cSld name="Заголовок, подзаголовок и объект">
    <p:bg>
      <p:bgRef idx="1001">
        <a:schemeClr val="bg1"/>
      </p:bgRef>
    </p:bg>
    <p:spTree>
      <p:nvGrpSpPr>
        <p:cNvPr id="1" name="Shape 26"/>
        <p:cNvGrpSpPr/>
        <p:nvPr/>
      </p:nvGrpSpPr>
      <p:grpSpPr>
        <a:xfrm>
          <a:off x="0" y="0"/>
          <a:ext cx="0" cy="0"/>
          <a:chOff x="0" y="0"/>
          <a:chExt cx="0" cy="0"/>
        </a:xfrm>
      </p:grpSpPr>
      <p:sp>
        <p:nvSpPr>
          <p:cNvPr id="28" name="Google Shape;28;p8"/>
          <p:cNvSpPr txBox="1">
            <a:spLocks noGrp="1"/>
          </p:cNvSpPr>
          <p:nvPr>
            <p:ph type="body" idx="1" hasCustomPrompt="1"/>
          </p:nvPr>
        </p:nvSpPr>
        <p:spPr>
          <a:xfrm>
            <a:off x="558782" y="1778092"/>
            <a:ext cx="11196533" cy="4473239"/>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30" name="Google Shape;30;p8"/>
          <p:cNvSpPr txBox="1">
            <a:spLocks noGrp="1"/>
          </p:cNvSpPr>
          <p:nvPr>
            <p:ph type="body" idx="2"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p>
          <a:p>
            <a:endParaRPr dirty="0"/>
          </a:p>
        </p:txBody>
      </p:sp>
      <p:sp>
        <p:nvSpPr>
          <p:cNvPr id="6" name="Google Shape;83;p17">
            <a:extLst>
              <a:ext uri="{FF2B5EF4-FFF2-40B4-BE49-F238E27FC236}">
                <a16:creationId xmlns:a16="http://schemas.microsoft.com/office/drawing/2014/main" id="{464BD804-D61C-41D4-836A-3F0D5620725E}"/>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Подзаголовок и Сравнение" userDrawn="1">
  <p:cSld name="Подзаголовок и Сравнение">
    <p:spTree>
      <p:nvGrpSpPr>
        <p:cNvPr id="1" name="Shape 63"/>
        <p:cNvGrpSpPr/>
        <p:nvPr/>
      </p:nvGrpSpPr>
      <p:grpSpPr>
        <a:xfrm>
          <a:off x="0" y="0"/>
          <a:ext cx="0" cy="0"/>
          <a:chOff x="0" y="0"/>
          <a:chExt cx="0" cy="0"/>
        </a:xfrm>
      </p:grpSpPr>
      <p:sp>
        <p:nvSpPr>
          <p:cNvPr id="7" name="Google Shape;83;p17">
            <a:extLst>
              <a:ext uri="{FF2B5EF4-FFF2-40B4-BE49-F238E27FC236}">
                <a16:creationId xmlns:a16="http://schemas.microsoft.com/office/drawing/2014/main" id="{A3BCCEBD-8EA8-458F-9BC3-430C03DA2D83}"/>
              </a:ext>
            </a:extLst>
          </p:cNvPr>
          <p:cNvSpPr txBox="1">
            <a:spLocks noGrp="1"/>
          </p:cNvSpPr>
          <p:nvPr>
            <p:ph type="sldNum" idx="12"/>
          </p:nvPr>
        </p:nvSpPr>
        <p:spPr>
          <a:xfrm>
            <a:off x="273628" y="6434051"/>
            <a:ext cx="63245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
        <p:nvSpPr>
          <p:cNvPr id="8" name="Google Shape;47;p11">
            <a:extLst>
              <a:ext uri="{FF2B5EF4-FFF2-40B4-BE49-F238E27FC236}">
                <a16:creationId xmlns:a16="http://schemas.microsoft.com/office/drawing/2014/main" id="{BE73FDE2-AD6D-4536-979A-DFD5A5A120FB}"/>
              </a:ext>
            </a:extLst>
          </p:cNvPr>
          <p:cNvSpPr txBox="1">
            <a:spLocks noGrp="1"/>
          </p:cNvSpPr>
          <p:nvPr>
            <p:ph type="body" idx="13" hasCustomPrompt="1"/>
          </p:nvPr>
        </p:nvSpPr>
        <p:spPr>
          <a:xfrm>
            <a:off x="558781"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9" name="Google Shape;48;p11">
            <a:extLst>
              <a:ext uri="{FF2B5EF4-FFF2-40B4-BE49-F238E27FC236}">
                <a16:creationId xmlns:a16="http://schemas.microsoft.com/office/drawing/2014/main" id="{CDC7DB9F-D126-4C0F-900F-3ED455B7D4B6}"/>
              </a:ext>
            </a:extLst>
          </p:cNvPr>
          <p:cNvSpPr txBox="1">
            <a:spLocks noGrp="1"/>
          </p:cNvSpPr>
          <p:nvPr>
            <p:ph type="body" idx="2" hasCustomPrompt="1"/>
          </p:nvPr>
        </p:nvSpPr>
        <p:spPr>
          <a:xfrm>
            <a:off x="6241899" y="1770664"/>
            <a:ext cx="5508000" cy="4507045"/>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None/>
              <a:defRPr sz="2300">
                <a:latin typeface="Arial" panose="020B0604020202020204" pitchFamily="34" charset="0"/>
                <a:ea typeface="Arial"/>
                <a:cs typeface="Arial" panose="02000000000000000000" pitchFamily="2" charset="0"/>
                <a:sym typeface="Arial"/>
              </a:defRPr>
            </a:lvl1pPr>
            <a:lvl2pPr marL="914400" lvl="1" indent="-355600" algn="l">
              <a:lnSpc>
                <a:spcPct val="90000"/>
              </a:lnSpc>
              <a:spcBef>
                <a:spcPts val="375"/>
              </a:spcBef>
              <a:spcAft>
                <a:spcPts val="0"/>
              </a:spcAft>
              <a:buClr>
                <a:schemeClr val="accent1"/>
              </a:buClr>
              <a:buSzPts val="2000"/>
              <a:buChar char="▪"/>
              <a:defRPr>
                <a:latin typeface="Arial"/>
                <a:ea typeface="Arial"/>
                <a:cs typeface="Arial"/>
                <a:sym typeface="Arial"/>
              </a:defRPr>
            </a:lvl2pPr>
            <a:lvl3pPr marL="1371600" lvl="2" indent="-330200" algn="l">
              <a:lnSpc>
                <a:spcPct val="90000"/>
              </a:lnSpc>
              <a:spcBef>
                <a:spcPts val="375"/>
              </a:spcBef>
              <a:spcAft>
                <a:spcPts val="0"/>
              </a:spcAft>
              <a:buClr>
                <a:schemeClr val="accent1"/>
              </a:buClr>
              <a:buSzPts val="1600"/>
              <a:buChar char="▪"/>
              <a:defRPr>
                <a:latin typeface="Arial"/>
                <a:ea typeface="Arial"/>
                <a:cs typeface="Arial"/>
                <a:sym typeface="Arial"/>
              </a:defRPr>
            </a:lvl3pPr>
            <a:lvl4pPr marL="1828800" lvl="3" indent="-317500" algn="l">
              <a:lnSpc>
                <a:spcPct val="90000"/>
              </a:lnSpc>
              <a:spcBef>
                <a:spcPts val="375"/>
              </a:spcBef>
              <a:spcAft>
                <a:spcPts val="0"/>
              </a:spcAft>
              <a:buClr>
                <a:schemeClr val="accent1"/>
              </a:buClr>
              <a:buSzPts val="1400"/>
              <a:buChar char="▪"/>
              <a:defRPr>
                <a:latin typeface="Arial"/>
                <a:ea typeface="Arial"/>
                <a:cs typeface="Arial"/>
                <a:sym typeface="Arial"/>
              </a:defRPr>
            </a:lvl4pPr>
            <a:lvl5pPr marL="2286000" lvl="4" indent="-317500" algn="l">
              <a:lnSpc>
                <a:spcPct val="90000"/>
              </a:lnSpc>
              <a:spcBef>
                <a:spcPts val="375"/>
              </a:spcBef>
              <a:spcAft>
                <a:spcPts val="0"/>
              </a:spcAft>
              <a:buClr>
                <a:schemeClr val="accent1"/>
              </a:buClr>
              <a:buSzPts val="1400"/>
              <a:buChar char="▪"/>
              <a:defRPr>
                <a:latin typeface="Arial"/>
                <a:ea typeface="Arial"/>
                <a:cs typeface="Arial"/>
                <a:sym typeface="Arial"/>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Текст слайда</a:t>
            </a:r>
            <a:endParaRPr dirty="0"/>
          </a:p>
        </p:txBody>
      </p:sp>
      <p:sp>
        <p:nvSpPr>
          <p:cNvPr id="6" name="Google Shape;30;p8">
            <a:extLst>
              <a:ext uri="{FF2B5EF4-FFF2-40B4-BE49-F238E27FC236}">
                <a16:creationId xmlns:a16="http://schemas.microsoft.com/office/drawing/2014/main" id="{0A0C615F-D144-44C1-91C6-0FB98026FAD0}"/>
              </a:ext>
            </a:extLst>
          </p:cNvPr>
          <p:cNvSpPr txBox="1">
            <a:spLocks noGrp="1"/>
          </p:cNvSpPr>
          <p:nvPr>
            <p:ph type="body" idx="14" hasCustomPrompt="1"/>
          </p:nvPr>
        </p:nvSpPr>
        <p:spPr>
          <a:xfrm>
            <a:off x="558782" y="1185979"/>
            <a:ext cx="11196533" cy="58468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SzPts val="3200"/>
              <a:buNone/>
              <a:defRPr sz="2700">
                <a:solidFill>
                  <a:srgbClr val="F1BE29"/>
                </a:solidFill>
                <a:latin typeface="Arial" panose="020B0604020202020204" pitchFamily="34" charset="0"/>
                <a:ea typeface="Arial"/>
                <a:cs typeface="Arial" panose="02000000000000000000" pitchFamily="2" charset="0"/>
                <a:sym typeface="Arial"/>
              </a:defRPr>
            </a:lvl1pPr>
            <a:lvl2pPr marL="914400" lvl="1" indent="-228600" algn="l">
              <a:lnSpc>
                <a:spcPct val="90000"/>
              </a:lnSpc>
              <a:spcBef>
                <a:spcPts val="375"/>
              </a:spcBef>
              <a:spcAft>
                <a:spcPts val="0"/>
              </a:spcAft>
              <a:buSzPts val="2000"/>
              <a:buNone/>
              <a:defRPr/>
            </a:lvl2pPr>
            <a:lvl3pPr marL="1371600" lvl="2" indent="-342900" algn="l">
              <a:lnSpc>
                <a:spcPct val="90000"/>
              </a:lnSpc>
              <a:spcBef>
                <a:spcPts val="375"/>
              </a:spcBef>
              <a:spcAft>
                <a:spcPts val="0"/>
              </a:spcAft>
              <a:buSzPts val="1800"/>
              <a:buChar char="▪"/>
              <a:defRPr/>
            </a:lvl3pPr>
            <a:lvl4pPr marL="1828800" lvl="3" indent="-342900" algn="l">
              <a:lnSpc>
                <a:spcPct val="90000"/>
              </a:lnSpc>
              <a:spcBef>
                <a:spcPts val="375"/>
              </a:spcBef>
              <a:spcAft>
                <a:spcPts val="0"/>
              </a:spcAft>
              <a:buSzPts val="1800"/>
              <a:buChar char="▪"/>
              <a:defRPr/>
            </a:lvl4pPr>
            <a:lvl5pPr marL="2286000" lvl="4" indent="-342900" algn="l">
              <a:lnSpc>
                <a:spcPct val="90000"/>
              </a:lnSpc>
              <a:spcBef>
                <a:spcPts val="375"/>
              </a:spcBef>
              <a:spcAft>
                <a:spcPts val="0"/>
              </a:spcAft>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r>
              <a:rPr lang="ru-RU" dirty="0"/>
              <a:t>Подзаголовок слайда</a:t>
            </a: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Только заголовок" userDrawn="1">
  <p:cSld name="TITLE_ONLY">
    <p:spTree>
      <p:nvGrpSpPr>
        <p:cNvPr id="1" name="Shape 69"/>
        <p:cNvGrpSpPr/>
        <p:nvPr/>
      </p:nvGrpSpPr>
      <p:grpSpPr>
        <a:xfrm>
          <a:off x="0" y="0"/>
          <a:ext cx="0" cy="0"/>
          <a:chOff x="0" y="0"/>
          <a:chExt cx="0" cy="0"/>
        </a:xfrm>
      </p:grpSpPr>
      <p:sp>
        <p:nvSpPr>
          <p:cNvPr id="4" name="Google Shape;83;p17">
            <a:extLst>
              <a:ext uri="{FF2B5EF4-FFF2-40B4-BE49-F238E27FC236}">
                <a16:creationId xmlns:a16="http://schemas.microsoft.com/office/drawing/2014/main" id="{3C33CCE7-3AA5-4E4A-9FB4-1EE49FE9D89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Пустой слайд" type="blank">
  <p:cSld name="BLANK">
    <p:spTree>
      <p:nvGrpSpPr>
        <p:cNvPr id="1" name="Shape 72"/>
        <p:cNvGrpSpPr/>
        <p:nvPr/>
      </p:nvGrpSpPr>
      <p:grpSpPr>
        <a:xfrm>
          <a:off x="0" y="0"/>
          <a:ext cx="0" cy="0"/>
          <a:chOff x="0" y="0"/>
          <a:chExt cx="0" cy="0"/>
        </a:xfrm>
      </p:grpSpPr>
      <p:sp>
        <p:nvSpPr>
          <p:cNvPr id="3" name="Google Shape;83;p17">
            <a:extLst>
              <a:ext uri="{FF2B5EF4-FFF2-40B4-BE49-F238E27FC236}">
                <a16:creationId xmlns:a16="http://schemas.microsoft.com/office/drawing/2014/main" id="{0CA1A5D0-6F6B-4B83-84EB-024B06E2BB76}"/>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Заголовок, текст и объект" userDrawn="1">
  <p:cSld name="Заголовок, текст и объект">
    <p:spTree>
      <p:nvGrpSpPr>
        <p:cNvPr id="1" name="Shape 79"/>
        <p:cNvGrpSpPr/>
        <p:nvPr/>
      </p:nvGrpSpPr>
      <p:grpSpPr>
        <a:xfrm>
          <a:off x="0" y="0"/>
          <a:ext cx="0" cy="0"/>
          <a:chOff x="0" y="0"/>
          <a:chExt cx="0" cy="0"/>
        </a:xfrm>
      </p:grpSpPr>
      <p:sp>
        <p:nvSpPr>
          <p:cNvPr id="81" name="Google Shape;81;p17"/>
          <p:cNvSpPr txBox="1">
            <a:spLocks noGrp="1"/>
          </p:cNvSpPr>
          <p:nvPr>
            <p:ph type="body" idx="1" hasCustomPrompt="1"/>
          </p:nvPr>
        </p:nvSpPr>
        <p:spPr>
          <a:xfrm>
            <a:off x="5183187" y="1301263"/>
            <a:ext cx="6735185"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300">
                <a:latin typeface="Arial" panose="020B0604020202020204" pitchFamily="34" charset="0"/>
                <a:ea typeface="Arial"/>
                <a:cs typeface="Arial" panose="02000000000000000000" pitchFamily="2" charset="0"/>
                <a:sym typeface="Arial"/>
              </a:defRPr>
            </a:lvl1pPr>
            <a:lvl2pPr marL="914400" lvl="1" indent="-361950" algn="l">
              <a:lnSpc>
                <a:spcPct val="90000"/>
              </a:lnSpc>
              <a:spcBef>
                <a:spcPts val="375"/>
              </a:spcBef>
              <a:spcAft>
                <a:spcPts val="0"/>
              </a:spcAft>
              <a:buClr>
                <a:schemeClr val="accent1"/>
              </a:buClr>
              <a:buSzPts val="2100"/>
              <a:buChar char="▪"/>
              <a:defRPr sz="2100">
                <a:latin typeface="Arial"/>
                <a:ea typeface="Arial"/>
                <a:cs typeface="Arial"/>
                <a:sym typeface="Arial"/>
              </a:defRPr>
            </a:lvl2pPr>
            <a:lvl3pPr marL="1371600" lvl="2" indent="-342900" algn="l">
              <a:lnSpc>
                <a:spcPct val="90000"/>
              </a:lnSpc>
              <a:spcBef>
                <a:spcPts val="375"/>
              </a:spcBef>
              <a:spcAft>
                <a:spcPts val="0"/>
              </a:spcAft>
              <a:buClr>
                <a:schemeClr val="accent1"/>
              </a:buClr>
              <a:buSzPts val="1800"/>
              <a:buChar char="▪"/>
              <a:defRPr sz="1800">
                <a:latin typeface="Arial"/>
                <a:ea typeface="Arial"/>
                <a:cs typeface="Arial"/>
                <a:sym typeface="Arial"/>
              </a:defRPr>
            </a:lvl3pPr>
            <a:lvl4pPr marL="1828800" lvl="3"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4pPr>
            <a:lvl5pPr marL="2286000" lvl="4" indent="-323850" algn="l">
              <a:lnSpc>
                <a:spcPct val="90000"/>
              </a:lnSpc>
              <a:spcBef>
                <a:spcPts val="375"/>
              </a:spcBef>
              <a:spcAft>
                <a:spcPts val="0"/>
              </a:spcAft>
              <a:buClr>
                <a:schemeClr val="accent1"/>
              </a:buClr>
              <a:buSzPts val="1500"/>
              <a:buChar char="▪"/>
              <a:defRPr sz="1500">
                <a:latin typeface="Arial"/>
                <a:ea typeface="Arial"/>
                <a:cs typeface="Arial"/>
                <a:sym typeface="Arial"/>
              </a:defRPr>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82" name="Google Shape;82;p17"/>
          <p:cNvSpPr txBox="1">
            <a:spLocks noGrp="1"/>
          </p:cNvSpPr>
          <p:nvPr>
            <p:ph type="body" idx="2" hasCustomPrompt="1"/>
          </p:nvPr>
        </p:nvSpPr>
        <p:spPr>
          <a:xfrm>
            <a:off x="273628" y="1301263"/>
            <a:ext cx="4784147" cy="4908344"/>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2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83" name="Google Shape;83;p17"/>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Объект с подписью" type="objTx">
  <p:cSld name="OBJECT_WITH_CAPTION_TEXT">
    <p:spTree>
      <p:nvGrpSpPr>
        <p:cNvPr id="1" name="Shape 74"/>
        <p:cNvGrpSpPr/>
        <p:nvPr/>
      </p:nvGrpSpPr>
      <p:grpSpPr>
        <a:xfrm>
          <a:off x="0" y="0"/>
          <a:ext cx="0" cy="0"/>
          <a:chOff x="0" y="0"/>
          <a:chExt cx="0" cy="0"/>
        </a:xfrm>
      </p:grpSpPr>
      <p:sp>
        <p:nvSpPr>
          <p:cNvPr id="75" name="Google Shape;75;p16"/>
          <p:cNvSpPr txBox="1">
            <a:spLocks noGrp="1"/>
          </p:cNvSpPr>
          <p:nvPr>
            <p:ph type="title" hasCustomPrompt="1"/>
          </p:nvPr>
        </p:nvSpPr>
        <p:spPr>
          <a:xfrm>
            <a:off x="273628" y="1213658"/>
            <a:ext cx="4702029" cy="843742"/>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2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76" name="Google Shape;76;p16"/>
          <p:cNvSpPr txBox="1">
            <a:spLocks noGrp="1"/>
          </p:cNvSpPr>
          <p:nvPr>
            <p:ph type="body" idx="1" hasCustomPrompt="1"/>
          </p:nvPr>
        </p:nvSpPr>
        <p:spPr>
          <a:xfrm>
            <a:off x="5183187" y="311727"/>
            <a:ext cx="6735185" cy="5549327"/>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Char char="▪"/>
              <a:defRPr sz="2700">
                <a:latin typeface="Arial" panose="020B0604020202020204" pitchFamily="34" charset="0"/>
                <a:cs typeface="Arial" panose="02000000000000000000" pitchFamily="2" charset="0"/>
              </a:defRPr>
            </a:lvl1pPr>
            <a:lvl2pPr marL="914400" lvl="1" indent="-361950" algn="l">
              <a:lnSpc>
                <a:spcPct val="90000"/>
              </a:lnSpc>
              <a:spcBef>
                <a:spcPts val="375"/>
              </a:spcBef>
              <a:spcAft>
                <a:spcPts val="0"/>
              </a:spcAft>
              <a:buClr>
                <a:schemeClr val="accent1"/>
              </a:buClr>
              <a:buSzPts val="2100"/>
              <a:buChar char="▪"/>
              <a:defRPr sz="2100"/>
            </a:lvl2pPr>
            <a:lvl3pPr marL="1371600" lvl="2" indent="-342900" algn="l">
              <a:lnSpc>
                <a:spcPct val="90000"/>
              </a:lnSpc>
              <a:spcBef>
                <a:spcPts val="375"/>
              </a:spcBef>
              <a:spcAft>
                <a:spcPts val="0"/>
              </a:spcAft>
              <a:buClr>
                <a:schemeClr val="accent1"/>
              </a:buClr>
              <a:buSzPts val="1800"/>
              <a:buChar char="▪"/>
              <a:defRPr sz="1800"/>
            </a:lvl3pPr>
            <a:lvl4pPr marL="1828800" lvl="3" indent="-323850" algn="l">
              <a:lnSpc>
                <a:spcPct val="90000"/>
              </a:lnSpc>
              <a:spcBef>
                <a:spcPts val="375"/>
              </a:spcBef>
              <a:spcAft>
                <a:spcPts val="0"/>
              </a:spcAft>
              <a:buClr>
                <a:schemeClr val="accent1"/>
              </a:buClr>
              <a:buSzPts val="1500"/>
              <a:buChar char="▪"/>
              <a:defRPr sz="1500"/>
            </a:lvl4pPr>
            <a:lvl5pPr marL="2286000" lvl="4" indent="-323850" algn="l">
              <a:lnSpc>
                <a:spcPct val="90000"/>
              </a:lnSpc>
              <a:spcBef>
                <a:spcPts val="375"/>
              </a:spcBef>
              <a:spcAft>
                <a:spcPts val="0"/>
              </a:spcAft>
              <a:buClr>
                <a:schemeClr val="accent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r>
              <a:rPr lang="ru-RU" dirty="0"/>
              <a:t>Текст слайда</a:t>
            </a:r>
            <a:endParaRPr dirty="0"/>
          </a:p>
        </p:txBody>
      </p:sp>
      <p:sp>
        <p:nvSpPr>
          <p:cNvPr id="77" name="Google Shape;77;p16"/>
          <p:cNvSpPr txBox="1">
            <a:spLocks noGrp="1"/>
          </p:cNvSpPr>
          <p:nvPr>
            <p:ph type="body" idx="2" hasCustomPrompt="1"/>
          </p:nvPr>
        </p:nvSpPr>
        <p:spPr>
          <a:xfrm>
            <a:off x="273628" y="2057400"/>
            <a:ext cx="4702029" cy="3811588"/>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accent1"/>
              </a:buClr>
              <a:buSzPts val="2400"/>
              <a:buFont typeface="Arial"/>
              <a:buChar char="▪"/>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375ED264-9BE6-45D1-BEF5-3485B756C4E8}"/>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Рисунок с подписью" type="picTx">
  <p:cSld name="PICTURE_WITH_CAPTION_TEXT">
    <p:spTree>
      <p:nvGrpSpPr>
        <p:cNvPr id="1" name="Shape 84"/>
        <p:cNvGrpSpPr/>
        <p:nvPr/>
      </p:nvGrpSpPr>
      <p:grpSpPr>
        <a:xfrm>
          <a:off x="0" y="0"/>
          <a:ext cx="0" cy="0"/>
          <a:chOff x="0" y="0"/>
          <a:chExt cx="0" cy="0"/>
        </a:xfrm>
      </p:grpSpPr>
      <p:sp>
        <p:nvSpPr>
          <p:cNvPr id="85" name="Google Shape;85;p18"/>
          <p:cNvSpPr txBox="1">
            <a:spLocks noGrp="1"/>
          </p:cNvSpPr>
          <p:nvPr>
            <p:ph type="title" hasCustomPrompt="1"/>
          </p:nvPr>
        </p:nvSpPr>
        <p:spPr>
          <a:xfrm>
            <a:off x="322118" y="1197033"/>
            <a:ext cx="4449907" cy="860366"/>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accent1"/>
              </a:buClr>
              <a:buSzPts val="3600"/>
              <a:buFont typeface="Arial"/>
              <a:buNone/>
              <a:defRPr sz="2700">
                <a:latin typeface="Arial" panose="020B0604020202020204" pitchFamily="34" charset="0"/>
                <a:ea typeface="Arial"/>
                <a:cs typeface="Arial" pitchFamily="2" charset="0"/>
                <a:sym typeface="Aria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ru-RU" sz="2700" dirty="0"/>
              <a:t>Заголовок слайда</a:t>
            </a:r>
            <a:endParaRPr dirty="0"/>
          </a:p>
        </p:txBody>
      </p:sp>
      <p:sp>
        <p:nvSpPr>
          <p:cNvPr id="86" name="Google Shape;86;p18"/>
          <p:cNvSpPr>
            <a:spLocks noGrp="1"/>
          </p:cNvSpPr>
          <p:nvPr>
            <p:ph type="pic" idx="2" hasCustomPrompt="1"/>
          </p:nvPr>
        </p:nvSpPr>
        <p:spPr>
          <a:xfrm>
            <a:off x="5287096" y="238509"/>
            <a:ext cx="6582785" cy="5627304"/>
          </a:xfrm>
          <a:prstGeom prst="rect">
            <a:avLst/>
          </a:prstGeom>
          <a:noFill/>
          <a:ln>
            <a:noFill/>
          </a:ln>
          <a:effectLst>
            <a:outerShdw blurRad="190500" dist="228600" dir="2700000" algn="ctr">
              <a:srgbClr val="000000">
                <a:alpha val="29803"/>
              </a:srgbClr>
            </a:outerShdw>
          </a:effectLst>
        </p:spPr>
        <p:txBody>
          <a:bodyPr>
            <a:normAutofit/>
          </a:bodyPr>
          <a:lstStyle>
            <a:lvl1pPr>
              <a:defRPr sz="2300">
                <a:latin typeface="Arial" panose="020B0604020202020204" pitchFamily="34" charset="0"/>
                <a:cs typeface="Arial" panose="02000000000000000000" pitchFamily="2" charset="0"/>
              </a:defRPr>
            </a:lvl1pPr>
          </a:lstStyle>
          <a:p>
            <a:r>
              <a:rPr lang="ru-RU" dirty="0"/>
              <a:t>Рисунок</a:t>
            </a:r>
          </a:p>
        </p:txBody>
      </p:sp>
      <p:sp>
        <p:nvSpPr>
          <p:cNvPr id="87" name="Google Shape;87;p18"/>
          <p:cNvSpPr txBox="1">
            <a:spLocks noGrp="1"/>
          </p:cNvSpPr>
          <p:nvPr>
            <p:ph type="body" idx="1" hasCustomPrompt="1"/>
          </p:nvPr>
        </p:nvSpPr>
        <p:spPr>
          <a:xfrm>
            <a:off x="322118" y="2057400"/>
            <a:ext cx="4449907" cy="3811588"/>
          </a:xfrm>
          <a:prstGeom prst="rect">
            <a:avLst/>
          </a:prstGeom>
          <a:noFill/>
          <a:ln>
            <a:noFill/>
          </a:ln>
        </p:spPr>
        <p:txBody>
          <a:bodyPr spcFirstLastPara="1" wrap="square" lIns="91425" tIns="45700" rIns="91425" bIns="45700" anchor="t" anchorCtr="0">
            <a:normAutofit/>
          </a:bodyPr>
          <a:lstStyle>
            <a:lvl1pPr marL="76200" lvl="0" indent="0" algn="l">
              <a:lnSpc>
                <a:spcPct val="90000"/>
              </a:lnSpc>
              <a:spcBef>
                <a:spcPts val="750"/>
              </a:spcBef>
              <a:spcAft>
                <a:spcPts val="0"/>
              </a:spcAft>
              <a:buClr>
                <a:schemeClr val="accent1"/>
              </a:buClr>
              <a:buSzPts val="2400"/>
              <a:buFont typeface="Arial"/>
              <a:buNone/>
              <a:defRPr sz="1300">
                <a:latin typeface="Arial" panose="020B0604020202020204" pitchFamily="34" charset="0"/>
                <a:ea typeface="Arial"/>
                <a:cs typeface="Arial" panose="02000000000000000000" pitchFamily="2" charset="0"/>
                <a:sym typeface="Arial"/>
              </a:defRPr>
            </a:lvl1pPr>
            <a:lvl2pPr marL="914400" lvl="1" indent="-342900" algn="l">
              <a:lnSpc>
                <a:spcPct val="90000"/>
              </a:lnSpc>
              <a:spcBef>
                <a:spcPts val="375"/>
              </a:spcBef>
              <a:spcAft>
                <a:spcPts val="0"/>
              </a:spcAft>
              <a:buClr>
                <a:schemeClr val="accent1"/>
              </a:buClr>
              <a:buSzPts val="1800"/>
              <a:buFont typeface="Arial"/>
              <a:buChar char="▪"/>
              <a:defRPr sz="1800">
                <a:latin typeface="Arial"/>
                <a:ea typeface="Arial"/>
                <a:cs typeface="Arial"/>
                <a:sym typeface="Arial"/>
              </a:defRPr>
            </a:lvl2pPr>
            <a:lvl3pPr marL="1371600" lvl="2" indent="-317500" algn="l">
              <a:lnSpc>
                <a:spcPct val="90000"/>
              </a:lnSpc>
              <a:spcBef>
                <a:spcPts val="375"/>
              </a:spcBef>
              <a:spcAft>
                <a:spcPts val="0"/>
              </a:spcAft>
              <a:buClr>
                <a:schemeClr val="accent1"/>
              </a:buClr>
              <a:buSzPts val="1400"/>
              <a:buFont typeface="Arial"/>
              <a:buChar char="▪"/>
              <a:defRPr sz="1400">
                <a:latin typeface="Arial"/>
                <a:ea typeface="Arial"/>
                <a:cs typeface="Arial"/>
                <a:sym typeface="Arial"/>
              </a:defRPr>
            </a:lvl3pPr>
            <a:lvl4pPr marL="1828800" lvl="3"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4pPr>
            <a:lvl5pPr marL="2286000" lvl="4" indent="-298450" algn="l">
              <a:lnSpc>
                <a:spcPct val="90000"/>
              </a:lnSpc>
              <a:spcBef>
                <a:spcPts val="375"/>
              </a:spcBef>
              <a:spcAft>
                <a:spcPts val="0"/>
              </a:spcAft>
              <a:buClr>
                <a:schemeClr val="accent1"/>
              </a:buClr>
              <a:buSzPts val="1100"/>
              <a:buFont typeface="Arial"/>
              <a:buChar char="▪"/>
              <a:defRPr sz="1100">
                <a:latin typeface="Arial"/>
                <a:ea typeface="Arial"/>
                <a:cs typeface="Arial"/>
                <a:sym typeface="Arial"/>
              </a:defRPr>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r>
              <a:rPr lang="ru-RU" dirty="0"/>
              <a:t>Текст слайда</a:t>
            </a:r>
            <a:endParaRPr dirty="0"/>
          </a:p>
        </p:txBody>
      </p:sp>
      <p:sp>
        <p:nvSpPr>
          <p:cNvPr id="6" name="Google Shape;83;p17">
            <a:extLst>
              <a:ext uri="{FF2B5EF4-FFF2-40B4-BE49-F238E27FC236}">
                <a16:creationId xmlns:a16="http://schemas.microsoft.com/office/drawing/2014/main" id="{BB71C74F-A570-498D-A002-6D7C372C65B0}"/>
              </a:ext>
            </a:extLst>
          </p:cNvPr>
          <p:cNvSpPr txBox="1">
            <a:spLocks noGrp="1"/>
          </p:cNvSpPr>
          <p:nvPr>
            <p:ph type="sldNum" idx="12"/>
          </p:nvPr>
        </p:nvSpPr>
        <p:spPr>
          <a:xfrm>
            <a:off x="273628" y="6434051"/>
            <a:ext cx="570309" cy="275255"/>
          </a:xfrm>
          <a:prstGeom prst="rect">
            <a:avLst/>
          </a:prstGeom>
          <a:noFill/>
          <a:ln>
            <a:noFill/>
          </a:ln>
        </p:spPr>
        <p:txBody>
          <a:bodyPr spcFirstLastPara="1" wrap="square" lIns="91425" tIns="45700" rIns="91425" bIns="45700" anchor="ctr" anchorCtr="0">
            <a:noAutofit/>
          </a:bodyPr>
          <a:lstStyle>
            <a:lvl1pPr marL="0" lvl="0" indent="0" algn="l">
              <a:spcBef>
                <a:spcPts val="0"/>
              </a:spcBef>
              <a:buNone/>
              <a:defRPr>
                <a:latin typeface="Arial" panose="020B0604020202020204" pitchFamily="34" charset="0"/>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fld id="{00000000-1234-1234-1234-123412341234}" type="slidenum">
              <a:rPr lang="ru-RU" smtClean="0"/>
              <a:pPr/>
              <a:t>‹#›</a:t>
            </a:fld>
            <a:endParaRPr lang="ru-RU" dirty="0"/>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Закрывающий слайд пустой" userDrawn="1">
  <p:cSld name="Закрывающий слайд пустой">
    <p:spTree>
      <p:nvGrpSpPr>
        <p:cNvPr id="1" name="Shape 19"/>
        <p:cNvGrpSpPr/>
        <p:nvPr/>
      </p:nvGrpSpPr>
      <p:grpSpPr>
        <a:xfrm>
          <a:off x="0" y="0"/>
          <a:ext cx="0" cy="0"/>
          <a:chOff x="0" y="0"/>
          <a:chExt cx="0" cy="0"/>
        </a:xfrm>
      </p:grpSpPr>
      <p:pic>
        <p:nvPicPr>
          <p:cNvPr id="28" name="Google Shape;88;p1">
            <a:extLst>
              <a:ext uri="{FF2B5EF4-FFF2-40B4-BE49-F238E27FC236}">
                <a16:creationId xmlns:a16="http://schemas.microsoft.com/office/drawing/2014/main" id="{12BBAE2F-1E25-4B32-9650-086D0CA2FEB3}"/>
              </a:ext>
            </a:extLst>
          </p:cNvPr>
          <p:cNvPicPr preferRelativeResize="0"/>
          <p:nvPr userDrawn="1"/>
        </p:nvPicPr>
        <p:blipFill rotWithShape="1">
          <a:blip r:embed="rId2">
            <a:alphaModFix/>
          </a:blip>
          <a:srcRect t="16270" b="8845"/>
          <a:stretch/>
        </p:blipFill>
        <p:spPr>
          <a:xfrm>
            <a:off x="1" y="0"/>
            <a:ext cx="12192000" cy="6858000"/>
          </a:xfrm>
          <a:prstGeom prst="rect">
            <a:avLst/>
          </a:prstGeom>
          <a:noFill/>
          <a:ln>
            <a:noFill/>
          </a:ln>
        </p:spPr>
      </p:pic>
      <p:pic>
        <p:nvPicPr>
          <p:cNvPr id="5" name="Рисунок 4">
            <a:extLst>
              <a:ext uri="{FF2B5EF4-FFF2-40B4-BE49-F238E27FC236}">
                <a16:creationId xmlns:a16="http://schemas.microsoft.com/office/drawing/2014/main" id="{2B857A83-5237-42B9-BA8A-BF8F445C1D41}"/>
              </a:ext>
            </a:extLst>
          </p:cNvPr>
          <p:cNvPicPr>
            <a:picLocks noChangeAspect="1"/>
          </p:cNvPicPr>
          <p:nvPr userDrawn="1"/>
        </p:nvPicPr>
        <p:blipFill>
          <a:blip r:embed="rId3"/>
          <a:stretch>
            <a:fillRect/>
          </a:stretch>
        </p:blipFill>
        <p:spPr>
          <a:xfrm>
            <a:off x="6575410" y="2096584"/>
            <a:ext cx="1332000" cy="1332000"/>
          </a:xfrm>
          <a:prstGeom prst="rect">
            <a:avLst/>
          </a:prstGeom>
        </p:spPr>
      </p:pic>
      <p:pic>
        <p:nvPicPr>
          <p:cNvPr id="4" name="Рисунок 3">
            <a:extLst>
              <a:ext uri="{FF2B5EF4-FFF2-40B4-BE49-F238E27FC236}">
                <a16:creationId xmlns:a16="http://schemas.microsoft.com/office/drawing/2014/main" id="{FDF32500-0827-4423-A3B8-9538CB7A7CD1}"/>
              </a:ext>
            </a:extLst>
          </p:cNvPr>
          <p:cNvPicPr>
            <a:picLocks noChangeAspect="1"/>
          </p:cNvPicPr>
          <p:nvPr userDrawn="1"/>
        </p:nvPicPr>
        <p:blipFill>
          <a:blip r:embed="rId4"/>
          <a:stretch>
            <a:fillRect/>
          </a:stretch>
        </p:blipFill>
        <p:spPr>
          <a:xfrm>
            <a:off x="1278526" y="2042584"/>
            <a:ext cx="4710383" cy="1440000"/>
          </a:xfrm>
          <a:prstGeom prst="rect">
            <a:avLst/>
          </a:prstGeom>
        </p:spPr>
      </p:pic>
      <p:sp>
        <p:nvSpPr>
          <p:cNvPr id="29" name="TextBox 28">
            <a:extLst>
              <a:ext uri="{FF2B5EF4-FFF2-40B4-BE49-F238E27FC236}">
                <a16:creationId xmlns:a16="http://schemas.microsoft.com/office/drawing/2014/main" id="{D5D1BD65-59E0-46AC-BC24-1B28D1FA30E4}"/>
              </a:ext>
            </a:extLst>
          </p:cNvPr>
          <p:cNvSpPr txBox="1"/>
          <p:nvPr userDrawn="1"/>
        </p:nvSpPr>
        <p:spPr>
          <a:xfrm>
            <a:off x="7849902" y="2522519"/>
            <a:ext cx="3048512" cy="480131"/>
          </a:xfrm>
          <a:prstGeom prst="rect">
            <a:avLst/>
          </a:prstGeom>
          <a:noFill/>
          <a:effectLst/>
        </p:spPr>
        <p:txBody>
          <a:bodyPr wrap="square">
            <a:spAutoFit/>
          </a:bodyPr>
          <a:lstStyle/>
          <a:p>
            <a:pPr algn="ctr">
              <a:lnSpc>
                <a:spcPct val="90000"/>
              </a:lnSpc>
            </a:pPr>
            <a:r>
              <a:rPr lang="en-US" sz="2800" dirty="0">
                <a:solidFill>
                  <a:schemeClr val="bg1"/>
                </a:solidFill>
                <a:latin typeface="Arial" panose="020B0604020202020204" pitchFamily="34" charset="0"/>
                <a:ea typeface="Arial" panose="02000000000000000000" pitchFamily="2" charset="0"/>
              </a:rPr>
              <a:t>do.bmstu.ru</a:t>
            </a:r>
            <a:endParaRPr lang="ru-RU" sz="2800" dirty="0">
              <a:solidFill>
                <a:schemeClr val="bg1"/>
              </a:solidFill>
              <a:latin typeface="Arial" panose="020B0604020202020204" pitchFamily="34" charset="0"/>
              <a:ea typeface="Arial" panose="02000000000000000000" pitchFamily="2" charset="0"/>
            </a:endParaRPr>
          </a:p>
        </p:txBody>
      </p:sp>
      <p:sp>
        <p:nvSpPr>
          <p:cNvPr id="32" name="Прямоугольник 58">
            <a:extLst>
              <a:ext uri="{FF2B5EF4-FFF2-40B4-BE49-F238E27FC236}">
                <a16:creationId xmlns:a16="http://schemas.microsoft.com/office/drawing/2014/main" id="{046CF162-1BBC-4CF7-9474-D6A32C635F92}"/>
              </a:ext>
            </a:extLst>
          </p:cNvPr>
          <p:cNvSpPr/>
          <p:nvPr userDrawn="1"/>
        </p:nvSpPr>
        <p:spPr>
          <a:xfrm flipH="1">
            <a:off x="10711835" y="2096584"/>
            <a:ext cx="130790" cy="1332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285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anose="020B0604020202020204" pitchFamily="34" charset="0"/>
            </a:endParaRPr>
          </a:p>
        </p:txBody>
      </p:sp>
    </p:spTree>
  </p:cSld>
  <p:clrMapOvr>
    <a:masterClrMapping/>
  </p:clrMapOvr>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
        <p:cNvGrpSpPr/>
        <p:nvPr/>
      </p:nvGrpSpPr>
      <p:grpSpPr>
        <a:xfrm>
          <a:off x="0" y="0"/>
          <a:ext cx="0" cy="0"/>
          <a:chOff x="0" y="0"/>
          <a:chExt cx="0" cy="0"/>
        </a:xfrm>
      </p:grpSpPr>
      <p:pic>
        <p:nvPicPr>
          <p:cNvPr id="3" name="Рисунок 2">
            <a:extLst>
              <a:ext uri="{FF2B5EF4-FFF2-40B4-BE49-F238E27FC236}">
                <a16:creationId xmlns:a16="http://schemas.microsoft.com/office/drawing/2014/main" id="{9E8EEF78-8EFF-47ED-8447-A3A1F67B89B9}"/>
              </a:ext>
            </a:extLst>
          </p:cNvPr>
          <p:cNvPicPr>
            <a:picLocks noChangeAspect="1"/>
          </p:cNvPicPr>
          <p:nvPr userDrawn="1"/>
        </p:nvPicPr>
        <p:blipFill>
          <a:blip r:embed="rId11"/>
          <a:stretch>
            <a:fillRect/>
          </a:stretch>
        </p:blipFill>
        <p:spPr>
          <a:xfrm>
            <a:off x="420566" y="446017"/>
            <a:ext cx="2361600" cy="722882"/>
          </a:xfrm>
          <a:prstGeom prst="rect">
            <a:avLst/>
          </a:prstGeom>
        </p:spPr>
      </p:pic>
      <p:sp>
        <p:nvSpPr>
          <p:cNvPr id="7" name="Google Shape;7;p4"/>
          <p:cNvSpPr txBox="1">
            <a:spLocks noGrp="1"/>
          </p:cNvSpPr>
          <p:nvPr>
            <p:ph type="body" idx="1"/>
          </p:nvPr>
        </p:nvSpPr>
        <p:spPr>
          <a:xfrm>
            <a:off x="420566" y="1301777"/>
            <a:ext cx="11350868" cy="4924709"/>
          </a:xfrm>
          <a:prstGeom prst="rect">
            <a:avLst/>
          </a:prstGeom>
          <a:noFill/>
          <a:ln>
            <a:noFill/>
          </a:ln>
        </p:spPr>
        <p:txBody>
          <a:bodyPr spcFirstLastPara="1" wrap="square" lIns="91425" tIns="45700" rIns="91425" bIns="45700" anchor="t" anchorCtr="0">
            <a:normAutofit/>
          </a:bodyPr>
          <a:lstStyle>
            <a:lvl1pPr marL="457200" marR="0" lvl="0" indent="-381000" algn="l" rtl="0">
              <a:lnSpc>
                <a:spcPct val="90000"/>
              </a:lnSpc>
              <a:spcBef>
                <a:spcPts val="750"/>
              </a:spcBef>
              <a:spcAft>
                <a:spcPts val="0"/>
              </a:spcAft>
              <a:buClr>
                <a:schemeClr val="accent1"/>
              </a:buClr>
              <a:buSzPts val="2400"/>
              <a:buFont typeface="Arial"/>
              <a:buChar char="▪"/>
              <a:defRPr sz="2400" b="0" i="0" u="none" strike="noStrike" cap="none">
                <a:solidFill>
                  <a:srgbClr val="262626"/>
                </a:solidFill>
                <a:latin typeface="Arial"/>
                <a:ea typeface="Arial"/>
                <a:cs typeface="Arial"/>
                <a:sym typeface="Arial"/>
              </a:defRPr>
            </a:lvl1pPr>
            <a:lvl2pPr marL="914400" marR="0" lvl="1" indent="-355600" algn="l" rtl="0">
              <a:lnSpc>
                <a:spcPct val="90000"/>
              </a:lnSpc>
              <a:spcBef>
                <a:spcPts val="375"/>
              </a:spcBef>
              <a:spcAft>
                <a:spcPts val="0"/>
              </a:spcAft>
              <a:buClr>
                <a:schemeClr val="accent1"/>
              </a:buClr>
              <a:buSzPts val="2000"/>
              <a:buFont typeface="Arial"/>
              <a:buChar char="▪"/>
              <a:defRPr sz="2000" b="0" i="0" u="none" strike="noStrike" cap="none">
                <a:solidFill>
                  <a:srgbClr val="262626"/>
                </a:solidFill>
                <a:latin typeface="Arial"/>
                <a:ea typeface="Arial"/>
                <a:cs typeface="Arial"/>
                <a:sym typeface="Arial"/>
              </a:defRPr>
            </a:lvl2pPr>
            <a:lvl3pPr marL="1371600" marR="0" lvl="2" indent="-330200" algn="l" rtl="0">
              <a:lnSpc>
                <a:spcPct val="90000"/>
              </a:lnSpc>
              <a:spcBef>
                <a:spcPts val="375"/>
              </a:spcBef>
              <a:spcAft>
                <a:spcPts val="0"/>
              </a:spcAft>
              <a:buClr>
                <a:schemeClr val="accent1"/>
              </a:buClr>
              <a:buSzPts val="1600"/>
              <a:buFont typeface="Arial"/>
              <a:buChar char="▪"/>
              <a:defRPr sz="1600" b="0" i="0" u="none" strike="noStrike" cap="none">
                <a:solidFill>
                  <a:srgbClr val="262626"/>
                </a:solidFill>
                <a:latin typeface="Arial"/>
                <a:ea typeface="Arial"/>
                <a:cs typeface="Arial"/>
                <a:sym typeface="Arial"/>
              </a:defRPr>
            </a:lvl3pPr>
            <a:lvl4pPr marL="1828800" marR="0" lvl="3"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4pPr>
            <a:lvl5pPr marL="2286000" marR="0" lvl="4" indent="-317500" algn="l" rtl="0">
              <a:lnSpc>
                <a:spcPct val="90000"/>
              </a:lnSpc>
              <a:spcBef>
                <a:spcPts val="375"/>
              </a:spcBef>
              <a:spcAft>
                <a:spcPts val="0"/>
              </a:spcAft>
              <a:buClr>
                <a:schemeClr val="accent1"/>
              </a:buClr>
              <a:buSzPts val="1400"/>
              <a:buFont typeface="Arial"/>
              <a:buChar char="▪"/>
              <a:defRPr sz="1400" b="0" i="0" u="none" strike="noStrike" cap="none">
                <a:solidFill>
                  <a:srgbClr val="262626"/>
                </a:solidFill>
                <a:latin typeface="Arial"/>
                <a:ea typeface="Arial"/>
                <a:cs typeface="Arial"/>
                <a:sym typeface="Arial"/>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Arial"/>
                <a:ea typeface="Arial"/>
                <a:cs typeface="Arial"/>
                <a:sym typeface="Arial"/>
              </a:defRPr>
            </a:lvl9pPr>
          </a:lstStyle>
          <a:p>
            <a:r>
              <a:rPr lang="ru-RU" dirty="0"/>
              <a:t>Текст слайда</a:t>
            </a:r>
            <a:endParaRPr lang="en-US" sz="2300" dirty="0">
              <a:latin typeface="Arial" panose="02000000000000000000" pitchFamily="2" charset="0"/>
              <a:cs typeface="Arial" panose="02000000000000000000" pitchFamily="2" charset="0"/>
            </a:endParaRPr>
          </a:p>
          <a:p>
            <a:endParaRPr dirty="0"/>
          </a:p>
        </p:txBody>
      </p:sp>
      <p:sp>
        <p:nvSpPr>
          <p:cNvPr id="8" name="Google Shape;8;p4"/>
          <p:cNvSpPr txBox="1">
            <a:spLocks noGrp="1"/>
          </p:cNvSpPr>
          <p:nvPr>
            <p:ph type="sldNum" idx="12"/>
          </p:nvPr>
        </p:nvSpPr>
        <p:spPr>
          <a:xfrm>
            <a:off x="668287" y="6360806"/>
            <a:ext cx="838198" cy="365125"/>
          </a:xfrm>
          <a:prstGeom prst="rect">
            <a:avLst/>
          </a:prstGeom>
          <a:noFill/>
          <a:ln>
            <a:noFill/>
          </a:ln>
        </p:spPr>
        <p:txBody>
          <a:bodyPr spcFirstLastPara="1" wrap="square" lIns="91425" tIns="45700" rIns="91425" bIns="45700" anchor="ctr" anchorCtr="0">
            <a:noAutofit/>
          </a:bodyPr>
          <a:lstStyle>
            <a:lvl1pPr marL="0" marR="0" lvl="0" indent="0" algn="l" rtl="0">
              <a:spcBef>
                <a:spcPts val="0"/>
              </a:spcBef>
              <a:buNone/>
              <a:defRPr sz="2400" b="0" i="0" u="none" strike="noStrike" cap="none">
                <a:solidFill>
                  <a:srgbClr val="898989"/>
                </a:solidFill>
                <a:latin typeface="Arial" panose="020B0604020202020204" pitchFamily="34" charset="0"/>
                <a:ea typeface="Arial"/>
                <a:cs typeface="Arial"/>
                <a:sym typeface="Arial"/>
              </a:defRPr>
            </a:lvl1pPr>
            <a:lvl2pPr marL="0" marR="0" lvl="1" indent="0" algn="l" rtl="0">
              <a:spcBef>
                <a:spcPts val="0"/>
              </a:spcBef>
              <a:buNone/>
              <a:defRPr sz="2400" b="0" i="0" u="none" strike="noStrike" cap="none">
                <a:solidFill>
                  <a:srgbClr val="898989"/>
                </a:solidFill>
                <a:latin typeface="Arial"/>
                <a:ea typeface="Arial"/>
                <a:cs typeface="Arial"/>
                <a:sym typeface="Arial"/>
              </a:defRPr>
            </a:lvl2pPr>
            <a:lvl3pPr marL="0" marR="0" lvl="2" indent="0" algn="l" rtl="0">
              <a:spcBef>
                <a:spcPts val="0"/>
              </a:spcBef>
              <a:buNone/>
              <a:defRPr sz="2400" b="0" i="0" u="none" strike="noStrike" cap="none">
                <a:solidFill>
                  <a:srgbClr val="898989"/>
                </a:solidFill>
                <a:latin typeface="Arial"/>
                <a:ea typeface="Arial"/>
                <a:cs typeface="Arial"/>
                <a:sym typeface="Arial"/>
              </a:defRPr>
            </a:lvl3pPr>
            <a:lvl4pPr marL="0" marR="0" lvl="3" indent="0" algn="l" rtl="0">
              <a:spcBef>
                <a:spcPts val="0"/>
              </a:spcBef>
              <a:buNone/>
              <a:defRPr sz="2400" b="0" i="0" u="none" strike="noStrike" cap="none">
                <a:solidFill>
                  <a:srgbClr val="898989"/>
                </a:solidFill>
                <a:latin typeface="Arial"/>
                <a:ea typeface="Arial"/>
                <a:cs typeface="Arial"/>
                <a:sym typeface="Arial"/>
              </a:defRPr>
            </a:lvl4pPr>
            <a:lvl5pPr marL="0" marR="0" lvl="4" indent="0" algn="l" rtl="0">
              <a:spcBef>
                <a:spcPts val="0"/>
              </a:spcBef>
              <a:buNone/>
              <a:defRPr sz="2400" b="0" i="0" u="none" strike="noStrike" cap="none">
                <a:solidFill>
                  <a:srgbClr val="898989"/>
                </a:solidFill>
                <a:latin typeface="Arial"/>
                <a:ea typeface="Arial"/>
                <a:cs typeface="Arial"/>
                <a:sym typeface="Arial"/>
              </a:defRPr>
            </a:lvl5pPr>
            <a:lvl6pPr marL="0" marR="0" lvl="5" indent="0" algn="l" rtl="0">
              <a:spcBef>
                <a:spcPts val="0"/>
              </a:spcBef>
              <a:buNone/>
              <a:defRPr sz="2400" b="0" i="0" u="none" strike="noStrike" cap="none">
                <a:solidFill>
                  <a:srgbClr val="898989"/>
                </a:solidFill>
                <a:latin typeface="Arial"/>
                <a:ea typeface="Arial"/>
                <a:cs typeface="Arial"/>
                <a:sym typeface="Arial"/>
              </a:defRPr>
            </a:lvl6pPr>
            <a:lvl7pPr marL="0" marR="0" lvl="6" indent="0" algn="l" rtl="0">
              <a:spcBef>
                <a:spcPts val="0"/>
              </a:spcBef>
              <a:buNone/>
              <a:defRPr sz="2400" b="0" i="0" u="none" strike="noStrike" cap="none">
                <a:solidFill>
                  <a:srgbClr val="898989"/>
                </a:solidFill>
                <a:latin typeface="Arial"/>
                <a:ea typeface="Arial"/>
                <a:cs typeface="Arial"/>
                <a:sym typeface="Arial"/>
              </a:defRPr>
            </a:lvl7pPr>
            <a:lvl8pPr marL="0" marR="0" lvl="7" indent="0" algn="l" rtl="0">
              <a:spcBef>
                <a:spcPts val="0"/>
              </a:spcBef>
              <a:buNone/>
              <a:defRPr sz="2400" b="0" i="0" u="none" strike="noStrike" cap="none">
                <a:solidFill>
                  <a:srgbClr val="898989"/>
                </a:solidFill>
                <a:latin typeface="Arial"/>
                <a:ea typeface="Arial"/>
                <a:cs typeface="Arial"/>
                <a:sym typeface="Arial"/>
              </a:defRPr>
            </a:lvl8pPr>
            <a:lvl9pPr marL="0" marR="0" lvl="8" indent="0" algn="l" rtl="0">
              <a:spcBef>
                <a:spcPts val="0"/>
              </a:spcBef>
              <a:buNone/>
              <a:defRPr sz="2400" b="0" i="0" u="none" strike="noStrike" cap="none">
                <a:solidFill>
                  <a:srgbClr val="898989"/>
                </a:solidFill>
                <a:latin typeface="Arial"/>
                <a:ea typeface="Arial"/>
                <a:cs typeface="Arial"/>
                <a:sym typeface="Arial"/>
              </a:defRPr>
            </a:lvl9pPr>
          </a:lstStyle>
          <a:p>
            <a:fld id="{00000000-1234-1234-1234-123412341234}" type="slidenum">
              <a:rPr lang="ru-RU" smtClean="0"/>
              <a:pPr/>
              <a:t>‹#›</a:t>
            </a:fld>
            <a:endParaRPr lang="ru-RU" dirty="0"/>
          </a:p>
        </p:txBody>
      </p:sp>
    </p:spTree>
  </p:cSld>
  <p:clrMap bg1="lt1" tx1="dk1" bg2="dk2" tx2="lt2" accent1="accent1" accent2="accent2" accent3="accent3" accent4="accent4" accent5="accent5" accent6="accent6" hlink="hlink" folHlink="folHlink"/>
  <p:sldLayoutIdLst>
    <p:sldLayoutId id="2147483649" r:id="rId1"/>
    <p:sldLayoutId id="2147483652" r:id="rId2"/>
    <p:sldLayoutId id="2147483657" r:id="rId3"/>
    <p:sldLayoutId id="2147483658" r:id="rId4"/>
    <p:sldLayoutId id="2147483659" r:id="rId5"/>
    <p:sldLayoutId id="2147483661" r:id="rId6"/>
    <p:sldLayoutId id="2147483660" r:id="rId7"/>
    <p:sldLayoutId id="2147483662" r:id="rId8"/>
    <p:sldLayoutId id="2147483651" r:id="rId9"/>
  </p:sldLayoutIdLst>
  <mc:AlternateContent xmlns:mc="http://schemas.openxmlformats.org/markup-compatibility/2006" xmlns:p14="http://schemas.microsoft.com/office/powerpoint/2010/main">
    <mc:Choice Requires="p14">
      <p:transition spd="slow" p14:dur="2500">
        <p:checker dir="vert"/>
      </p:transition>
    </mc:Choice>
    <mc:Fallback xmlns="">
      <p:transition spd="slow">
        <p:checker dir="vert"/>
      </p:transition>
    </mc:Fallback>
  </mc:AlternateConten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L="76200" marR="0" lvl="0" indent="0" algn="l" rtl="0">
        <a:lnSpc>
          <a:spcPct val="100000"/>
        </a:lnSpc>
        <a:spcBef>
          <a:spcPts val="0"/>
        </a:spcBef>
        <a:spcAft>
          <a:spcPts val="0"/>
        </a:spcAft>
        <a:buClr>
          <a:srgbClr val="000000"/>
        </a:buClr>
        <a:buFont typeface="Arial"/>
        <a:buNone/>
        <a:defRPr sz="2300" b="0" i="0" u="none" strike="noStrike" cap="none" baseline="0">
          <a:solidFill>
            <a:srgbClr val="000000"/>
          </a:solidFill>
          <a:latin typeface="Arial" panose="020B0604020202020204" pitchFamily="34" charset="0"/>
          <a:ea typeface="Arial" panose="02000000000000000000" pitchFamily="2" charset="0"/>
          <a:cs typeface="Arial" panose="02000000000000000000" pitchFamily="2" charset="0"/>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pPr marL="0" indent="0" algn="l">
              <a:lnSpc>
                <a:spcPct val="100000"/>
              </a:lnSpc>
              <a:buNone/>
            </a:pPr>
            <a:r>
              <a:rPr sz="4000" b="0" i="0" dirty="0" err="1">
                <a:solidFill>
                  <a:srgbClr val="FFFFFF"/>
                </a:solidFill>
                <a:latin typeface="Arial" panose="020B0604020202020204" pitchFamily="34" charset="0"/>
                <a:cs typeface="Arial"/>
              </a:rPr>
              <a:t>Прогнозирование</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конечных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свойств</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новых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материалов</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композиционных</a:t>
            </a:r>
            <a:r>
              <a:rPr sz="4000" b="0" i="0" dirty="0">
                <a:solidFill>
                  <a:srgbClr val="FFFFFF"/>
                </a:solidFill>
                <a:latin typeface="Arial" panose="020B0604020202020204" pitchFamily="34" charset="0"/>
                <a:cs typeface="Arial"/>
              </a:rPr>
              <a:t> </a:t>
            </a:r>
            <a:r>
              <a:rPr sz="4000" b="0" i="0" dirty="0" err="1">
                <a:solidFill>
                  <a:srgbClr val="FFFFFF"/>
                </a:solidFill>
                <a:latin typeface="Arial" panose="020B0604020202020204" pitchFamily="34" charset="0"/>
                <a:cs typeface="Arial"/>
              </a:rPr>
              <a:t>материалов</a:t>
            </a:r>
            <a:r>
              <a:rPr sz="4000" b="0" i="0" dirty="0">
                <a:solidFill>
                  <a:srgbClr val="FFFFFF"/>
                </a:solidFill>
                <a:latin typeface="Arial" panose="020B0604020202020204" pitchFamily="34" charset="0"/>
                <a:cs typeface="Arial"/>
              </a:rPr>
              <a:t>)</a:t>
            </a:r>
          </a:p>
        </p:txBody>
      </p:sp>
      <p:sp>
        <p:nvSpPr>
          <p:cNvPr id="3" name="Subtitle 2"/>
          <p:cNvSpPr>
            <a:spLocks noGrp="1"/>
          </p:cNvSpPr>
          <p:nvPr>
            <p:ph type="subTitle" idx="1"/>
          </p:nvPr>
        </p:nvSpPr>
        <p:spPr/>
        <p:txBody>
          <a:bodyPr/>
          <a:lstStyle/>
          <a:p>
            <a:pPr marL="0" indent="0" algn="l">
              <a:buNone/>
            </a:pPr>
            <a:r>
              <a:rPr lang="ru-RU" sz="2400" i="0">
                <a:solidFill>
                  <a:srgbClr val="FFFFFF"/>
                </a:solidFill>
                <a:latin typeface="Arial" panose="020B0604020202020204" pitchFamily="34" charset="0"/>
                <a:cs typeface="Arial"/>
              </a:rPr>
              <a:t>Фролов П.В.</a:t>
            </a:r>
            <a:endParaRPr sz="2400" i="0" dirty="0">
              <a:solidFill>
                <a:srgbClr val="FFFFFF"/>
              </a:solidFill>
              <a:latin typeface="Arial" panose="020B0604020202020204" pitchFamily="34" charset="0"/>
              <a:cs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315200" cy="822960"/>
          </a:xfrm>
        </p:spPr>
        <p:txBody>
          <a:bodyPr wrap="square">
            <a:normAutofit/>
          </a:bodyPr>
          <a:lstStyle/>
          <a:p>
            <a:pPr marL="0" indent="0" algn="l">
              <a:buNone/>
            </a:pPr>
            <a:r>
              <a:rPr lang="ru-RU" sz="2200" b="1" i="0">
                <a:solidFill>
                  <a:srgbClr val="F1BE29"/>
                </a:solidFill>
                <a:cs typeface="Arial"/>
              </a:rPr>
              <a:t>Свойства зависят от сочетания компонентов и условий изготовления</a:t>
            </a:r>
            <a:endParaRPr sz="2200" b="1" i="0">
              <a:solidFill>
                <a:srgbClr val="F1BE29"/>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5420963" cy="666000"/>
            <a:chOff x="0" y="0"/>
            <a:chExt cx="542096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542096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Композиционный материал и прогнозируемые свойства</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533091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2377440"/>
            <a:ext cx="0" cy="868680"/>
          </a:xfrm>
          <a:prstGeom prst="line">
            <a:avLst/>
          </a:prstGeom>
          <a:ln w="28575">
            <a:solidFill>
              <a:srgbClr val="065CAB"/>
            </a:solidFill>
          </a:ln>
        </p:spPr>
      </p:cxnSp>
      <p:cxnSp>
        <p:nvCxnSpPr>
          <p:cNvPr id="72" name="Connector 71"/>
          <p:cNvCxnSpPr/>
          <p:nvPr/>
        </p:nvCxnSpPr>
        <p:spPr>
          <a:xfrm>
            <a:off x="557784" y="2377440"/>
            <a:ext cx="384048" cy="0"/>
          </a:xfrm>
          <a:prstGeom prst="line">
            <a:avLst/>
          </a:prstGeom>
          <a:ln w="28575">
            <a:solidFill>
              <a:srgbClr val="065CAB"/>
            </a:solidFill>
          </a:ln>
        </p:spPr>
      </p:cxnSp>
      <p:cxnSp>
        <p:nvCxnSpPr>
          <p:cNvPr id="73" name="Connector 72"/>
          <p:cNvCxnSpPr/>
          <p:nvPr/>
        </p:nvCxnSpPr>
        <p:spPr>
          <a:xfrm>
            <a:off x="557784" y="3246120"/>
            <a:ext cx="384048" cy="0"/>
          </a:xfrm>
          <a:prstGeom prst="line">
            <a:avLst/>
          </a:prstGeom>
          <a:ln w="28575">
            <a:solidFill>
              <a:srgbClr val="065CAB"/>
            </a:solidFill>
          </a:ln>
        </p:spPr>
      </p:cxnSp>
      <p:sp>
        <p:nvSpPr>
          <p:cNvPr id="74" name="TextBox 73"/>
          <p:cNvSpPr txBox="1"/>
          <p:nvPr/>
        </p:nvSpPr>
        <p:spPr>
          <a:xfrm>
            <a:off x="713232" y="239572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5" name="TextBox 74"/>
          <p:cNvSpPr txBox="1"/>
          <p:nvPr/>
        </p:nvSpPr>
        <p:spPr>
          <a:xfrm>
            <a:off x="1417320" y="2395728"/>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Связующее (матрица)</a:t>
            </a:r>
          </a:p>
          <a:p>
            <a:pPr marL="0" indent="0" algn="l">
              <a:lnSpc>
                <a:spcPct val="100000"/>
              </a:lnSpc>
              <a:buNone/>
            </a:pPr>
            <a:r>
              <a:rPr lang="ru-RU" sz="1900" i="0">
                <a:solidFill>
                  <a:srgbClr val="595959"/>
                </a:solidFill>
                <a:latin typeface="Arial" panose="020B0604020202020204" pitchFamily="34" charset="0"/>
                <a:cs typeface="Arial"/>
              </a:rPr>
              <a:t>соединяет компоненты и передаёт нагрузку</a:t>
            </a:r>
            <a:endParaRPr sz="1900" i="0">
              <a:solidFill>
                <a:srgbClr val="262626"/>
              </a:solidFill>
              <a:latin typeface="Arial" panose="020B0604020202020204" pitchFamily="34" charset="0"/>
              <a:cs typeface="Arial"/>
            </a:endParaRPr>
          </a:p>
        </p:txBody>
      </p:sp>
      <p:cxnSp>
        <p:nvCxnSpPr>
          <p:cNvPr id="76" name="Connector 75"/>
          <p:cNvCxnSpPr/>
          <p:nvPr/>
        </p:nvCxnSpPr>
        <p:spPr>
          <a:xfrm>
            <a:off x="557784" y="3547872"/>
            <a:ext cx="0" cy="868680"/>
          </a:xfrm>
          <a:prstGeom prst="line">
            <a:avLst/>
          </a:prstGeom>
          <a:ln w="28575">
            <a:solidFill>
              <a:srgbClr val="065CAB"/>
            </a:solidFill>
          </a:ln>
        </p:spPr>
      </p:cxnSp>
      <p:cxnSp>
        <p:nvCxnSpPr>
          <p:cNvPr id="77" name="Connector 76"/>
          <p:cNvCxnSpPr/>
          <p:nvPr/>
        </p:nvCxnSpPr>
        <p:spPr>
          <a:xfrm>
            <a:off x="557784" y="3547872"/>
            <a:ext cx="384048" cy="0"/>
          </a:xfrm>
          <a:prstGeom prst="line">
            <a:avLst/>
          </a:prstGeom>
          <a:ln w="28575">
            <a:solidFill>
              <a:srgbClr val="065CAB"/>
            </a:solidFill>
          </a:ln>
        </p:spPr>
      </p:cxnSp>
      <p:cxnSp>
        <p:nvCxnSpPr>
          <p:cNvPr id="78" name="Connector 77"/>
          <p:cNvCxnSpPr/>
          <p:nvPr/>
        </p:nvCxnSpPr>
        <p:spPr>
          <a:xfrm>
            <a:off x="557784" y="4416552"/>
            <a:ext cx="384048" cy="0"/>
          </a:xfrm>
          <a:prstGeom prst="line">
            <a:avLst/>
          </a:prstGeom>
          <a:ln w="28575">
            <a:solidFill>
              <a:srgbClr val="065CAB"/>
            </a:solidFill>
          </a:ln>
        </p:spPr>
      </p:cxnSp>
      <p:sp>
        <p:nvSpPr>
          <p:cNvPr id="79" name="TextBox 78"/>
          <p:cNvSpPr txBox="1"/>
          <p:nvPr/>
        </p:nvSpPr>
        <p:spPr>
          <a:xfrm>
            <a:off x="713232" y="3566160"/>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0" name="TextBox 79"/>
          <p:cNvSpPr txBox="1"/>
          <p:nvPr/>
        </p:nvSpPr>
        <p:spPr>
          <a:xfrm>
            <a:off x="1417320" y="3566160"/>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Наполнитель</a:t>
            </a:r>
          </a:p>
          <a:p>
            <a:pPr marL="0" indent="0" algn="l">
              <a:lnSpc>
                <a:spcPct val="100000"/>
              </a:lnSpc>
              <a:buNone/>
            </a:pPr>
            <a:r>
              <a:rPr lang="ru-RU" sz="1900" i="0">
                <a:solidFill>
                  <a:srgbClr val="595959"/>
                </a:solidFill>
                <a:latin typeface="Arial" panose="020B0604020202020204" pitchFamily="34" charset="0"/>
                <a:cs typeface="Arial"/>
              </a:rPr>
              <a:t>влияет на свойства; может усиливать материал</a:t>
            </a:r>
            <a:endParaRPr sz="1900" i="0">
              <a:solidFill>
                <a:srgbClr val="262626"/>
              </a:solidFill>
              <a:latin typeface="Arial" panose="020B0604020202020204" pitchFamily="34" charset="0"/>
              <a:cs typeface="Arial"/>
            </a:endParaRPr>
          </a:p>
        </p:txBody>
      </p:sp>
      <p:cxnSp>
        <p:nvCxnSpPr>
          <p:cNvPr id="81" name="Connector 80"/>
          <p:cNvCxnSpPr/>
          <p:nvPr/>
        </p:nvCxnSpPr>
        <p:spPr>
          <a:xfrm>
            <a:off x="557784" y="4718304"/>
            <a:ext cx="0" cy="868680"/>
          </a:xfrm>
          <a:prstGeom prst="line">
            <a:avLst/>
          </a:prstGeom>
          <a:ln w="28575">
            <a:solidFill>
              <a:srgbClr val="065CAB"/>
            </a:solidFill>
          </a:ln>
        </p:spPr>
      </p:cxnSp>
      <p:cxnSp>
        <p:nvCxnSpPr>
          <p:cNvPr id="82" name="Connector 81"/>
          <p:cNvCxnSpPr/>
          <p:nvPr/>
        </p:nvCxnSpPr>
        <p:spPr>
          <a:xfrm>
            <a:off x="557784" y="4718304"/>
            <a:ext cx="384048" cy="0"/>
          </a:xfrm>
          <a:prstGeom prst="line">
            <a:avLst/>
          </a:prstGeom>
          <a:ln w="28575">
            <a:solidFill>
              <a:srgbClr val="065CAB"/>
            </a:solidFill>
          </a:ln>
        </p:spPr>
      </p:cxnSp>
      <p:cxnSp>
        <p:nvCxnSpPr>
          <p:cNvPr id="83" name="Connector 82"/>
          <p:cNvCxnSpPr/>
          <p:nvPr/>
        </p:nvCxnSpPr>
        <p:spPr>
          <a:xfrm>
            <a:off x="557784" y="5586984"/>
            <a:ext cx="384048" cy="0"/>
          </a:xfrm>
          <a:prstGeom prst="line">
            <a:avLst/>
          </a:prstGeom>
          <a:ln w="28575">
            <a:solidFill>
              <a:srgbClr val="065CAB"/>
            </a:solidFill>
          </a:ln>
        </p:spPr>
      </p:cxnSp>
      <p:sp>
        <p:nvSpPr>
          <p:cNvPr id="84" name="TextBox 83"/>
          <p:cNvSpPr txBox="1"/>
          <p:nvPr/>
        </p:nvSpPr>
        <p:spPr>
          <a:xfrm>
            <a:off x="713232" y="4736592"/>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5" name="TextBox 84"/>
          <p:cNvSpPr txBox="1"/>
          <p:nvPr/>
        </p:nvSpPr>
        <p:spPr>
          <a:xfrm>
            <a:off x="1417320" y="4736592"/>
            <a:ext cx="6309360" cy="868680"/>
          </a:xfrm>
          <a:prstGeom prst="rect">
            <a:avLst/>
          </a:prstGeom>
          <a:noFill/>
        </p:spPr>
        <p:txBody>
          <a:bodyPr wrap="square" lIns="0" tIns="0" rIns="0" bIns="0" anchor="t"/>
          <a:lstStyle/>
          <a:p>
            <a:pPr marL="0" indent="0" algn="l">
              <a:lnSpc>
                <a:spcPct val="100000"/>
              </a:lnSpc>
              <a:buNone/>
            </a:pPr>
            <a:r>
              <a:rPr lang="ru-RU" sz="1900" i="0">
                <a:solidFill>
                  <a:srgbClr val="595959"/>
                </a:solidFill>
                <a:latin typeface="Arial" panose="020B0604020202020204" pitchFamily="34" charset="0"/>
                <a:cs typeface="Arial"/>
              </a:rPr>
              <a:t>Задача работы</a:t>
            </a:r>
          </a:p>
          <a:p>
            <a:pPr marL="0" indent="0" algn="l">
              <a:lnSpc>
                <a:spcPct val="100000"/>
              </a:lnSpc>
              <a:buNone/>
            </a:pPr>
            <a:r>
              <a:rPr lang="ru-RU" sz="1900" i="0">
                <a:solidFill>
                  <a:srgbClr val="595959"/>
                </a:solidFill>
                <a:latin typeface="Arial" panose="020B0604020202020204" pitchFamily="34" charset="0"/>
                <a:cs typeface="Arial"/>
              </a:rPr>
              <a:t>прогнозировать свойства по имеющимся характеристикам</a:t>
            </a:r>
            <a:endParaRPr sz="1900" i="0">
              <a:solidFill>
                <a:srgbClr val="262626"/>
              </a:solidFill>
              <a:latin typeface="Arial" panose="020B0604020202020204" pitchFamily="34" charset="0"/>
              <a:cs typeface="Arial"/>
            </a:endParaRPr>
          </a:p>
        </p:txBody>
      </p:sp>
      <p:sp>
        <p:nvSpPr>
          <p:cNvPr id="86" name="Цель"/>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87" name="TextBox 86"/>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600" i="0">
                <a:solidFill>
                  <a:srgbClr val="262626"/>
                </a:solidFill>
                <a:latin typeface="Arial" panose="020B0604020202020204" pitchFamily="34" charset="0"/>
                <a:cs typeface="Arial"/>
              </a:rPr>
              <a:t>Что прогнозируем</a:t>
            </a:r>
          </a:p>
          <a:p>
            <a:pPr marL="0" indent="0" algn="l">
              <a:lnSpc>
                <a:spcPct val="105000"/>
              </a:lnSpc>
              <a:buNone/>
            </a:pPr>
            <a:endParaRPr lang="ru-RU" sz="1600" i="0">
              <a:solidFill>
                <a:srgbClr val="262626"/>
              </a:solidFill>
              <a:latin typeface="Arial" panose="020B0604020202020204" pitchFamily="34" charset="0"/>
              <a:cs typeface="Arial"/>
            </a:endParaRPr>
          </a:p>
          <a:p>
            <a:pPr marL="0" indent="0" algn="l">
              <a:lnSpc>
                <a:spcPct val="105000"/>
              </a:lnSpc>
              <a:buNone/>
            </a:pPr>
            <a:r>
              <a:rPr lang="ru-RU" sz="1600" i="0">
                <a:solidFill>
                  <a:srgbClr val="262626"/>
                </a:solidFill>
                <a:latin typeface="Arial" panose="020B0604020202020204" pitchFamily="34" charset="0"/>
                <a:cs typeface="Arial"/>
              </a:rPr>
              <a:t>Модуль упругости при растяжении</a:t>
            </a:r>
          </a:p>
          <a:p>
            <a:pPr marL="0" indent="0" algn="l">
              <a:lnSpc>
                <a:spcPct val="105000"/>
              </a:lnSpc>
              <a:buNone/>
            </a:pPr>
            <a:r>
              <a:rPr lang="ru-RU" sz="1600" i="0">
                <a:solidFill>
                  <a:srgbClr val="262626"/>
                </a:solidFill>
                <a:latin typeface="Arial" panose="020B0604020202020204" pitchFamily="34" charset="0"/>
                <a:cs typeface="Arial"/>
              </a:rPr>
              <a:t>сопротивление обратимому растяжению</a:t>
            </a:r>
          </a:p>
          <a:p>
            <a:pPr marL="0" indent="0" algn="l">
              <a:lnSpc>
                <a:spcPct val="105000"/>
              </a:lnSpc>
              <a:buNone/>
            </a:pPr>
            <a:endParaRPr lang="ru-RU" sz="1600" i="0">
              <a:solidFill>
                <a:srgbClr val="262626"/>
              </a:solidFill>
              <a:latin typeface="Arial" panose="020B0604020202020204" pitchFamily="34" charset="0"/>
              <a:cs typeface="Arial"/>
            </a:endParaRPr>
          </a:p>
          <a:p>
            <a:pPr marL="0" indent="0" algn="l">
              <a:lnSpc>
                <a:spcPct val="105000"/>
              </a:lnSpc>
              <a:buNone/>
            </a:pPr>
            <a:r>
              <a:rPr lang="ru-RU" sz="1600" i="0">
                <a:solidFill>
                  <a:srgbClr val="262626"/>
                </a:solidFill>
                <a:latin typeface="Arial" panose="020B0604020202020204" pitchFamily="34" charset="0"/>
                <a:cs typeface="Arial"/>
              </a:rPr>
              <a:t>Прочность при растяжении</a:t>
            </a:r>
          </a:p>
          <a:p>
            <a:pPr marL="0" indent="0" algn="l">
              <a:lnSpc>
                <a:spcPct val="105000"/>
              </a:lnSpc>
              <a:buNone/>
            </a:pPr>
            <a:r>
              <a:rPr lang="ru-RU" sz="1600" i="0">
                <a:solidFill>
                  <a:srgbClr val="262626"/>
                </a:solidFill>
                <a:latin typeface="Arial" panose="020B0604020202020204" pitchFamily="34" charset="0"/>
                <a:cs typeface="Arial"/>
              </a:rPr>
              <a:t>предельное напряжение до разрушения</a:t>
            </a:r>
            <a:endParaRPr sz="1600" i="0">
              <a:solidFill>
                <a:srgbClr val="262626"/>
              </a:solidFill>
              <a:latin typeface="Arial" panose="020B0604020202020204" pitchFamily="34" charset="0"/>
              <a:cs typeface="Arial"/>
            </a:endParaRPr>
          </a:p>
        </p:txBody>
      </p:sp>
      <p:sp>
        <p:nvSpPr>
          <p:cNvPr id="8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введение</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2</a:t>
            </a:fld>
            <a:endParaRPr lang="ru-RU" dirty="0">
              <a:latin typeface="Arial" panose="020B0604020202020204" pitchFamily="34" charset="0"/>
              <a:cs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527369" cy="666000"/>
            <a:chOff x="0" y="0"/>
            <a:chExt cx="752736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52736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Исходные данные из двух таблиц</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43732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graphicFrame>
        <p:nvGraphicFramePr>
          <p:cNvPr id="71" name="Таблица объединения"/>
          <p:cNvGraphicFramePr>
            <a:graphicFrameLocks noGrp="1"/>
          </p:cNvGraphicFramePr>
          <p:nvPr>
            <p:extLst>
              <p:ext uri="{D42A27DB-BD31-4B8C-83A1-F6EECF244321}">
                <p14:modId xmlns:p14="http://schemas.microsoft.com/office/powerpoint/2010/main" val="642001043"/>
              </p:ext>
            </p:extLst>
          </p:nvPr>
        </p:nvGraphicFramePr>
        <p:xfrm>
          <a:off x="557784" y="1600200"/>
          <a:ext cx="6766560" cy="2267712"/>
        </p:xfrm>
        <a:graphic>
          <a:graphicData uri="http://schemas.openxmlformats.org/drawingml/2006/table">
            <a:tbl>
              <a:tblPr>
                <a:tableStyleId>{2D5ABB26-0587-4C30-8999-92F81FD0307C}</a:tableStyleId>
              </a:tblPr>
              <a:tblGrid>
                <a:gridCol w="347472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566928">
                <a:tc>
                  <a:txBody>
                    <a:bodyPr/>
                    <a:lstStyle/>
                    <a:p>
                      <a:pPr marL="0" indent="0" algn="l">
                        <a:buNone/>
                      </a:pPr>
                      <a:r>
                        <a:rPr sz="2000" b="1" i="0">
                          <a:solidFill>
                            <a:srgbClr val="FFFFFF"/>
                          </a:solidFill>
                          <a:latin typeface="Arial" panose="020B0604020202020204" pitchFamily="34" charset="0"/>
                          <a:cs typeface="Arial"/>
                        </a:rPr>
                        <a:t>Источник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Строк</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sz="2000" b="1" i="0">
                          <a:solidFill>
                            <a:srgbClr val="FFFFFF"/>
                          </a:solidFill>
                          <a:latin typeface="Arial" panose="020B0604020202020204" pitchFamily="34" charset="0"/>
                          <a:cs typeface="Arial"/>
                        </a:rPr>
                        <a:t>Полей</a:t>
                      </a: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66928">
                <a:tc>
                  <a:txBody>
                    <a:bodyPr/>
                    <a:lstStyle/>
                    <a:p>
                      <a:pPr marL="0" indent="0" algn="l">
                        <a:buNone/>
                      </a:pPr>
                      <a:r>
                        <a:rPr sz="2200" b="0" i="0">
                          <a:solidFill>
                            <a:srgbClr val="262626"/>
                          </a:solidFill>
                          <a:latin typeface="Arial" panose="020B0604020202020204" pitchFamily="34" charset="0"/>
                          <a:cs typeface="Arial"/>
                        </a:rPr>
                        <a:t>X_bp.xlsx</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1023</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200" b="0" i="0">
                          <a:solidFill>
                            <a:srgbClr val="262626"/>
                          </a:solidFill>
                          <a:latin typeface="Arial" panose="020B0604020202020204" pitchFamily="34" charset="0"/>
                          <a:cs typeface="Arial"/>
                        </a:rPr>
                        <a:t>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66928">
                <a:tc>
                  <a:txBody>
                    <a:bodyPr/>
                    <a:lstStyle/>
                    <a:p>
                      <a:pPr marL="0" indent="0" algn="l">
                        <a:buNone/>
                      </a:pPr>
                      <a:r>
                        <a:rPr sz="2200" b="0" i="0">
                          <a:solidFill>
                            <a:srgbClr val="262626"/>
                          </a:solidFill>
                          <a:latin typeface="Arial" panose="020B0604020202020204" pitchFamily="34" charset="0"/>
                          <a:cs typeface="Arial"/>
                        </a:rPr>
                        <a:t>X_nup.xlsx</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1040</a:t>
                      </a:r>
                    </a:p>
                  </a:txBody>
                  <a:tcPr marT="27432" marB="27432" anchor="ctr">
                    <a:noFill/>
                  </a:tcPr>
                </a:tc>
                <a:tc>
                  <a:txBody>
                    <a:bodyPr/>
                    <a:lstStyle/>
                    <a:p>
                      <a:pPr marL="0" indent="0" algn="r">
                        <a:buNone/>
                      </a:pPr>
                      <a:r>
                        <a:rPr sz="2200" b="0" i="0">
                          <a:solidFill>
                            <a:srgbClr val="262626"/>
                          </a:solidFill>
                          <a:latin typeface="Arial" panose="020B0604020202020204" pitchFamily="34" charset="0"/>
                          <a:cs typeface="Arial"/>
                        </a:rPr>
                        <a:t>3</a:t>
                      </a:r>
                    </a:p>
                  </a:txBody>
                  <a:tcPr marT="27432" marB="27432" anchor="ctr">
                    <a:noFill/>
                  </a:tcPr>
                </a:tc>
                <a:extLst>
                  <a:ext uri="{0D108BD9-81ED-4DB2-BD59-A6C34878D82A}">
                    <a16:rowId xmlns:a16="http://schemas.microsoft.com/office/drawing/2014/main" val="10002"/>
                  </a:ext>
                </a:extLst>
              </a:tr>
              <a:tr h="566928">
                <a:tc>
                  <a:txBody>
                    <a:bodyPr/>
                    <a:lstStyle/>
                    <a:p>
                      <a:pPr marL="0" indent="0" algn="l">
                        <a:buNone/>
                      </a:pPr>
                      <a:r>
                        <a:rPr sz="2200" b="1" i="0">
                          <a:solidFill>
                            <a:srgbClr val="065CAB"/>
                          </a:solidFill>
                          <a:latin typeface="Arial" panose="020B0604020202020204" pitchFamily="34" charset="0"/>
                          <a:cs typeface="Arial"/>
                        </a:rPr>
                        <a:t>INNER JOIN</a:t>
                      </a:r>
                    </a:p>
                  </a:txBody>
                  <a:tcPr marT="27432" marB="27432" anchor="ctr">
                    <a:noFill/>
                  </a:tcPr>
                </a:tc>
                <a:tc>
                  <a:txBody>
                    <a:bodyPr/>
                    <a:lstStyle/>
                    <a:p>
                      <a:pPr marL="0" indent="0" algn="r">
                        <a:buNone/>
                      </a:pPr>
                      <a:r>
                        <a:rPr sz="2200" b="1" i="0">
                          <a:solidFill>
                            <a:srgbClr val="065CAB"/>
                          </a:solidFill>
                          <a:latin typeface="Arial" panose="020B0604020202020204" pitchFamily="34" charset="0"/>
                          <a:cs typeface="Arial"/>
                        </a:rPr>
                        <a:t>1023</a:t>
                      </a:r>
                    </a:p>
                  </a:txBody>
                  <a:tcPr marT="27432" marB="27432" anchor="ctr">
                    <a:noFill/>
                  </a:tcPr>
                </a:tc>
                <a:tc>
                  <a:txBody>
                    <a:bodyPr/>
                    <a:lstStyle/>
                    <a:p>
                      <a:pPr marL="0" indent="0" algn="r">
                        <a:buNone/>
                      </a:pPr>
                      <a:r>
                        <a:rPr sz="2200" b="1" i="0">
                          <a:solidFill>
                            <a:srgbClr val="065CAB"/>
                          </a:solidFill>
                          <a:latin typeface="Arial" panose="020B0604020202020204" pitchFamily="34" charset="0"/>
                          <a:cs typeface="Arial"/>
                        </a:rPr>
                        <a:t>13</a:t>
                      </a:r>
                    </a:p>
                  </a:txBody>
                  <a:tcPr marT="27432" marB="27432" anchor="ctr">
                    <a:noFill/>
                  </a:tcPr>
                </a:tc>
                <a:extLst>
                  <a:ext uri="{0D108BD9-81ED-4DB2-BD59-A6C34878D82A}">
                    <a16:rowId xmlns:a16="http://schemas.microsoft.com/office/drawing/2014/main" val="10003"/>
                  </a:ext>
                </a:extLst>
              </a:tr>
            </a:tbl>
          </a:graphicData>
        </a:graphic>
      </p:graphicFrame>
      <p:sp>
        <p:nvSpPr>
          <p:cNvPr id="72" name="TextBox 71"/>
          <p:cNvSpPr txBox="1"/>
          <p:nvPr/>
        </p:nvSpPr>
        <p:spPr>
          <a:xfrm>
            <a:off x="557784" y="3977639"/>
            <a:ext cx="6766560" cy="635000"/>
          </a:xfrm>
          <a:prstGeom prst="rect">
            <a:avLst/>
          </a:prstGeom>
          <a:noFill/>
        </p:spPr>
        <p:txBody>
          <a:bodyPr wrap="square" lIns="0" tIns="0" rIns="0" bIns="0" anchor="t"/>
          <a:lstStyle/>
          <a:p>
            <a:pPr marL="0" indent="0" algn="l">
              <a:buNone/>
            </a:pPr>
            <a:r>
              <a:rPr lang="ru-RU" sz="1300" i="0">
                <a:solidFill>
                  <a:srgbClr val="595959"/>
                </a:solidFill>
                <a:latin typeface="Arial" panose="020B0604020202020204" pitchFamily="34" charset="0"/>
                <a:cs typeface="Arial"/>
              </a:rPr>
              <a:t>INNER JOIN: оставлены строки, присутствующие в обеих таблицах.</a:t>
            </a:r>
          </a:p>
          <a:p>
            <a:pPr marL="0" indent="0" algn="l">
              <a:buNone/>
            </a:pPr>
            <a:r>
              <a:rPr lang="ru-RU" sz="1300" i="0">
                <a:solidFill>
                  <a:srgbClr val="595959"/>
                </a:solidFill>
                <a:latin typeface="Arial" panose="020B0604020202020204" pitchFamily="34" charset="0"/>
                <a:cs typeface="Arial"/>
              </a:rPr>
              <a:t>Каждая итоговая строка содержит характеристики и известные конечные свойства.</a:t>
            </a:r>
            <a:endParaRPr sz="1300" i="0">
              <a:solidFill>
                <a:srgbClr val="595959"/>
              </a:solidFill>
              <a:latin typeface="Arial" panose="020B0604020202020204" pitchFamily="34" charset="0"/>
              <a:cs typeface="Arial"/>
            </a:endParaRPr>
          </a:p>
        </p:txBody>
      </p:sp>
      <p:cxnSp>
        <p:nvCxnSpPr>
          <p:cNvPr id="73" name="Connector 72"/>
          <p:cNvCxnSpPr/>
          <p:nvPr/>
        </p:nvCxnSpPr>
        <p:spPr>
          <a:xfrm>
            <a:off x="8001000" y="1600200"/>
            <a:ext cx="0" cy="2377439"/>
          </a:xfrm>
          <a:prstGeom prst="line">
            <a:avLst/>
          </a:prstGeom>
          <a:ln w="28575">
            <a:solidFill>
              <a:srgbClr val="065CAB"/>
            </a:solidFill>
          </a:ln>
        </p:spPr>
      </p:cxnSp>
      <p:cxnSp>
        <p:nvCxnSpPr>
          <p:cNvPr id="74" name="Connector 73"/>
          <p:cNvCxnSpPr/>
          <p:nvPr/>
        </p:nvCxnSpPr>
        <p:spPr>
          <a:xfrm>
            <a:off x="8001000" y="1600200"/>
            <a:ext cx="457200" cy="0"/>
          </a:xfrm>
          <a:prstGeom prst="line">
            <a:avLst/>
          </a:prstGeom>
          <a:ln w="28575">
            <a:solidFill>
              <a:srgbClr val="065CAB"/>
            </a:solidFill>
          </a:ln>
        </p:spPr>
      </p:cxnSp>
      <p:cxnSp>
        <p:nvCxnSpPr>
          <p:cNvPr id="75" name="Connector 74"/>
          <p:cNvCxnSpPr/>
          <p:nvPr/>
        </p:nvCxnSpPr>
        <p:spPr>
          <a:xfrm>
            <a:off x="8001000" y="3977639"/>
            <a:ext cx="457200" cy="0"/>
          </a:xfrm>
          <a:prstGeom prst="line">
            <a:avLst/>
          </a:prstGeom>
          <a:ln w="28575">
            <a:solidFill>
              <a:srgbClr val="065CAB"/>
            </a:solidFill>
          </a:ln>
        </p:spPr>
      </p:cxnSp>
      <p:sp>
        <p:nvSpPr>
          <p:cNvPr id="76" name="TextBox 75"/>
          <p:cNvSpPr txBox="1"/>
          <p:nvPr/>
        </p:nvSpPr>
        <p:spPr>
          <a:xfrm>
            <a:off x="8275320" y="1645920"/>
            <a:ext cx="3474720" cy="1280160"/>
          </a:xfrm>
          <a:prstGeom prst="rect">
            <a:avLst/>
          </a:prstGeom>
          <a:noFill/>
        </p:spPr>
        <p:txBody>
          <a:bodyPr wrap="square" lIns="0" tIns="0" rIns="0" bIns="0" anchor="t"/>
          <a:lstStyle/>
          <a:p>
            <a:pPr marL="0" indent="0" algn="l">
              <a:lnSpc>
                <a:spcPct val="90000"/>
              </a:lnSpc>
              <a:buNone/>
            </a:pPr>
            <a:r>
              <a:rPr sz="8000" b="1" i="0">
                <a:solidFill>
                  <a:srgbClr val="065CAB"/>
                </a:solidFill>
                <a:latin typeface="Arial" panose="020B0604020202020204" pitchFamily="34" charset="0"/>
                <a:cs typeface="Arial"/>
              </a:rPr>
              <a:t>17</a:t>
            </a:r>
          </a:p>
        </p:txBody>
      </p:sp>
      <p:sp>
        <p:nvSpPr>
          <p:cNvPr id="77" name="TextBox 76"/>
          <p:cNvSpPr txBox="1"/>
          <p:nvPr/>
        </p:nvSpPr>
        <p:spPr>
          <a:xfrm>
            <a:off x="8275320" y="2834640"/>
            <a:ext cx="3474720" cy="1097280"/>
          </a:xfrm>
          <a:prstGeom prst="rect">
            <a:avLst/>
          </a:prstGeom>
          <a:noFill/>
        </p:spPr>
        <p:txBody>
          <a:bodyPr wrap="square" lIns="0" tIns="0" rIns="0" bIns="0" anchor="t"/>
          <a:lstStyle/>
          <a:p>
            <a:pPr marL="0" indent="0" algn="l">
              <a:buNone/>
            </a:pPr>
            <a:r>
              <a:rPr lang="ru-RU" sz="1900" i="0">
                <a:solidFill>
                  <a:srgbClr val="262626"/>
                </a:solidFill>
                <a:latin typeface="Arial" panose="020B0604020202020204" pitchFamily="34" charset="0"/>
                <a:cs typeface="Arial"/>
              </a:rPr>
              <a:t>строк второй таблицы без пары</a:t>
            </a:r>
          </a:p>
          <a:p>
            <a:pPr marL="0" indent="0" algn="l">
              <a:buNone/>
            </a:pPr>
            <a:r>
              <a:rPr lang="ru-RU" sz="1900" i="0">
                <a:solidFill>
                  <a:srgbClr val="262626"/>
                </a:solidFill>
                <a:latin typeface="Arial" panose="020B0604020202020204" pitchFamily="34" charset="0"/>
                <a:cs typeface="Arial"/>
              </a:rPr>
              <a:t>не вошли в итоговый набор</a:t>
            </a:r>
            <a:endParaRPr sz="1900" i="0">
              <a:solidFill>
                <a:srgbClr val="595959"/>
              </a:solidFill>
              <a:latin typeface="Arial" panose="020B0604020202020204" pitchFamily="34" charset="0"/>
              <a:cs typeface="Arial"/>
            </a:endParaRPr>
          </a:p>
        </p:txBody>
      </p:sp>
      <p:sp>
        <p:nvSpPr>
          <p:cNvPr id="78" name="Rectangle 77"/>
          <p:cNvSpPr/>
          <p:nvPr/>
        </p:nvSpPr>
        <p:spPr>
          <a:xfrm>
            <a:off x="557784" y="4754880"/>
            <a:ext cx="2468880" cy="1234440"/>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40664"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0" name="TextBox 79"/>
          <p:cNvSpPr txBox="1"/>
          <p:nvPr/>
        </p:nvSpPr>
        <p:spPr>
          <a:xfrm>
            <a:off x="1472184" y="4754880"/>
            <a:ext cx="14173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пропусков</a:t>
            </a:r>
          </a:p>
        </p:txBody>
      </p:sp>
      <p:sp>
        <p:nvSpPr>
          <p:cNvPr id="81" name="Rectangle 80"/>
          <p:cNvSpPr/>
          <p:nvPr/>
        </p:nvSpPr>
        <p:spPr>
          <a:xfrm>
            <a:off x="3191256" y="4754880"/>
            <a:ext cx="3383280" cy="1234440"/>
          </a:xfrm>
          <a:prstGeom prst="rect">
            <a:avLst/>
          </a:prstGeom>
          <a:solidFill>
            <a:srgbClr val="E3F0FD"/>
          </a:solidFill>
          <a:ln>
            <a:noFill/>
          </a:ln>
        </p:spPr>
        <p:txBody>
          <a:bodyPr rtlCol="0" anchor="ctr"/>
          <a:lstStyle/>
          <a:p>
            <a:pPr algn="ctr"/>
            <a:endParaRPr/>
          </a:p>
        </p:txBody>
      </p:sp>
      <p:sp>
        <p:nvSpPr>
          <p:cNvPr id="82" name="TextBox 81"/>
          <p:cNvSpPr txBox="1"/>
          <p:nvPr/>
        </p:nvSpPr>
        <p:spPr>
          <a:xfrm>
            <a:off x="3374136"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0</a:t>
            </a:r>
          </a:p>
        </p:txBody>
      </p:sp>
      <p:sp>
        <p:nvSpPr>
          <p:cNvPr id="83" name="TextBox 82"/>
          <p:cNvSpPr txBox="1"/>
          <p:nvPr/>
        </p:nvSpPr>
        <p:spPr>
          <a:xfrm>
            <a:off x="4105656" y="4754880"/>
            <a:ext cx="2331720" cy="1234440"/>
          </a:xfrm>
          <a:prstGeom prst="rect">
            <a:avLst/>
          </a:prstGeom>
          <a:noFill/>
        </p:spPr>
        <p:txBody>
          <a:bodyPr wrap="square" lIns="0" tIns="0" rIns="0" bIns="0" anchor="ctr"/>
          <a:lstStyle/>
          <a:p>
            <a:pPr marL="0" indent="0" algn="l">
              <a:buNone/>
            </a:pPr>
            <a:r>
              <a:rPr sz="2000" b="0" i="0">
                <a:solidFill>
                  <a:srgbClr val="262626"/>
                </a:solidFill>
                <a:latin typeface="Arial" panose="020B0604020202020204" pitchFamily="34" charset="0"/>
                <a:cs typeface="Arial"/>
              </a:rPr>
              <a:t>полных дубликатов</a:t>
            </a:r>
          </a:p>
        </p:txBody>
      </p:sp>
      <p:sp>
        <p:nvSpPr>
          <p:cNvPr id="84" name="Rectangle 83"/>
          <p:cNvSpPr/>
          <p:nvPr/>
        </p:nvSpPr>
        <p:spPr>
          <a:xfrm>
            <a:off x="6739128" y="4754880"/>
            <a:ext cx="5029200" cy="123444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6922008" y="4754880"/>
            <a:ext cx="731520" cy="1234440"/>
          </a:xfrm>
          <a:prstGeom prst="rect">
            <a:avLst/>
          </a:prstGeom>
          <a:noFill/>
        </p:spPr>
        <p:txBody>
          <a:bodyPr wrap="square" lIns="0" tIns="0" rIns="0" bIns="0" anchor="ctr"/>
          <a:lstStyle/>
          <a:p>
            <a:pPr marL="0" indent="0" algn="l">
              <a:buNone/>
            </a:pPr>
            <a:r>
              <a:rPr sz="4000" b="1" i="0">
                <a:solidFill>
                  <a:srgbClr val="065CAB"/>
                </a:solidFill>
                <a:latin typeface="Arial" panose="020B0604020202020204" pitchFamily="34" charset="0"/>
                <a:cs typeface="Arial"/>
              </a:rPr>
              <a:t>?</a:t>
            </a:r>
          </a:p>
        </p:txBody>
      </p:sp>
      <p:sp>
        <p:nvSpPr>
          <p:cNvPr id="86" name="TextBox 85"/>
          <p:cNvSpPr txBox="1"/>
          <p:nvPr/>
        </p:nvSpPr>
        <p:spPr>
          <a:xfrm>
            <a:off x="7653528" y="4754880"/>
            <a:ext cx="3977639" cy="1234440"/>
          </a:xfrm>
          <a:prstGeom prst="rect">
            <a:avLst/>
          </a:prstGeom>
          <a:noFill/>
        </p:spPr>
        <p:txBody>
          <a:bodyPr wrap="square" lIns="0" tIns="0" rIns="0" bIns="0" anchor="ctr"/>
          <a:lstStyle/>
          <a:p>
            <a:pPr marL="0" indent="0" algn="l">
              <a:buNone/>
            </a:pPr>
            <a:r>
              <a:rPr lang="ru-RU" sz="1600" i="0">
                <a:solidFill>
                  <a:srgbClr val="262626"/>
                </a:solidFill>
                <a:latin typeface="Arial" panose="020B0604020202020204" pitchFamily="34" charset="0"/>
                <a:cs typeface="Arial"/>
              </a:rPr>
              <a:t>происхождение, группы, партии и часть единиц не описаны</a:t>
            </a:r>
            <a:endParaRPr sz="1600" i="0">
              <a:solidFill>
                <a:srgbClr val="262626"/>
              </a:solidFill>
              <a:latin typeface="Arial" panose="020B0604020202020204" pitchFamily="34" charset="0"/>
              <a:cs typeface="Arial"/>
            </a:endParaRPr>
          </a:p>
        </p:txBody>
      </p:sp>
      <p:sp>
        <p:nvSpPr>
          <p:cNvPr id="87"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табл. 5; словарь данных репозитория</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3</a:t>
            </a:fld>
            <a:endParaRPr lang="ru-RU" dirty="0">
              <a:latin typeface="Arial" panose="020B0604020202020204" pitchFamily="34" charset="0"/>
              <a:cs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idx="13"/>
          </p:nvPr>
        </p:nvSpPr>
        <p:spPr>
          <a:xfrm>
            <a:off x="557784" y="1783080"/>
            <a:ext cx="6309360" cy="4434840"/>
          </a:xfrm>
        </p:spPr>
        <p:txBody>
          <a:bodyPr>
            <a:normAutofit/>
          </a:bodyPr>
          <a:lstStyle/>
          <a:p>
            <a:pPr marL="0" indent="0" algn="l">
              <a:lnSpc>
                <a:spcPct val="100000"/>
              </a:lnSpc>
              <a:spcBef>
                <a:spcPts val="0"/>
              </a:spcBef>
              <a:buNone/>
            </a:pPr>
            <a:r>
              <a:rPr lang="ru-RU" sz="1600" i="0">
                <a:solidFill>
                  <a:srgbClr val="065CAB"/>
                </a:solidFill>
                <a:cs typeface="Arial"/>
              </a:rPr>
              <a:t>Характеристики состава</a:t>
            </a:r>
          </a:p>
          <a:p>
            <a:pPr marL="0" indent="0" algn="l">
              <a:lnSpc>
                <a:spcPct val="100000"/>
              </a:lnSpc>
              <a:spcBef>
                <a:spcPts val="0"/>
              </a:spcBef>
              <a:buNone/>
            </a:pPr>
            <a:r>
              <a:rPr lang="ru-RU" sz="1600" i="0">
                <a:solidFill>
                  <a:srgbClr val="065CAB"/>
                </a:solidFill>
                <a:cs typeface="Arial"/>
              </a:rPr>
              <a:t>Соотношение матрица–наполнитель; плотность; модуль упругости; отвердитель; эпоксидные группы; температура вспышки</a:t>
            </a:r>
          </a:p>
          <a:p>
            <a:pPr marL="0" indent="0" algn="l">
              <a:lnSpc>
                <a:spcPct val="100000"/>
              </a:lnSpc>
              <a:spcBef>
                <a:spcPts val="0"/>
              </a:spcBef>
              <a:buNone/>
            </a:pPr>
            <a:endParaRPr lang="ru-RU" sz="1600" i="0">
              <a:solidFill>
                <a:srgbClr val="065CAB"/>
              </a:solidFill>
              <a:cs typeface="Arial"/>
            </a:endParaRPr>
          </a:p>
          <a:p>
            <a:pPr marL="0" indent="0" algn="l">
              <a:lnSpc>
                <a:spcPct val="100000"/>
              </a:lnSpc>
              <a:spcBef>
                <a:spcPts val="0"/>
              </a:spcBef>
              <a:buNone/>
            </a:pPr>
            <a:r>
              <a:rPr lang="ru-RU" sz="1600" i="0">
                <a:solidFill>
                  <a:srgbClr val="065CAB"/>
                </a:solidFill>
                <a:cs typeface="Arial"/>
              </a:rPr>
              <a:t>Характеристики изготовления</a:t>
            </a:r>
          </a:p>
          <a:p>
            <a:pPr marL="0" indent="0" algn="l">
              <a:lnSpc>
                <a:spcPct val="100000"/>
              </a:lnSpc>
              <a:spcBef>
                <a:spcPts val="0"/>
              </a:spcBef>
              <a:buNone/>
            </a:pPr>
            <a:r>
              <a:rPr lang="ru-RU" sz="1600" i="0">
                <a:solidFill>
                  <a:srgbClr val="065CAB"/>
                </a:solidFill>
                <a:cs typeface="Arial"/>
              </a:rPr>
              <a:t>Поверхностная плотность; потребление смолы; угол, шаг и плотность нашивки</a:t>
            </a:r>
            <a:endParaRPr sz="1600" i="0">
              <a:solidFill>
                <a:srgbClr val="262626"/>
              </a:solidFill>
              <a:cs typeface="Arial"/>
            </a:endParaRPr>
          </a:p>
        </p:txBody>
      </p:sp>
      <p:sp>
        <p:nvSpPr>
          <p:cNvPr id="3" name="Text Placeholder 2"/>
          <p:cNvSpPr>
            <a:spLocks noGrp="1"/>
          </p:cNvSpPr>
          <p:nvPr>
            <p:ph type="body" idx="2"/>
          </p:nvPr>
        </p:nvSpPr>
        <p:spPr>
          <a:xfrm>
            <a:off x="7269480" y="1280160"/>
            <a:ext cx="4498848" cy="457200"/>
          </a:xfrm>
        </p:spPr>
        <p:txBody>
          <a:bodyPr/>
          <a:lstStyle/>
          <a:p>
            <a:pPr marL="0" indent="0" algn="l">
              <a:buNone/>
            </a:pPr>
            <a:r>
              <a:rPr lang="ru-RU" sz="2000" b="1" i="0">
                <a:solidFill>
                  <a:srgbClr val="F1BE29"/>
                </a:solidFill>
                <a:cs typeface="Arial"/>
              </a:rPr>
              <a:t>Обучение, проверка и результат</a:t>
            </a:r>
            <a:endParaRPr sz="2000" b="1" i="0">
              <a:solidFill>
                <a:srgbClr val="F1BE29"/>
              </a:solidFill>
              <a:cs typeface="Arial"/>
            </a:endParaRPr>
          </a:p>
        </p:txBody>
      </p:sp>
      <p:sp>
        <p:nvSpPr>
          <p:cNvPr id="4" name="Text Placeholder 3"/>
          <p:cNvSpPr>
            <a:spLocks noGrp="1"/>
          </p:cNvSpPr>
          <p:nvPr>
            <p:ph type="body" idx="14"/>
          </p:nvPr>
        </p:nvSpPr>
        <p:spPr>
          <a:xfrm>
            <a:off x="557784" y="1261872"/>
            <a:ext cx="6400800" cy="457200"/>
          </a:xfrm>
        </p:spPr>
        <p:txBody>
          <a:bodyPr>
            <a:normAutofit/>
          </a:bodyPr>
          <a:lstStyle/>
          <a:p>
            <a:pPr marL="0" indent="0" algn="l">
              <a:buNone/>
            </a:pPr>
            <a:r>
              <a:rPr lang="ru-RU" sz="1800" b="1" i="0">
                <a:solidFill>
                  <a:srgbClr val="F1BE29"/>
                </a:solidFill>
                <a:cs typeface="Arial"/>
              </a:rPr>
              <a:t>Вход прямых моделей: 11 характеристик</a:t>
            </a:r>
            <a:endParaRPr sz="1800" b="1" i="0">
              <a:solidFill>
                <a:srgbClr val="F1BE29"/>
              </a:solidFill>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77044" cy="666000"/>
            <a:chOff x="0" y="0"/>
            <a:chExt cx="7977044"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77044"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Как модель получает прогноз</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86995"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Rectangle 70"/>
          <p:cNvSpPr/>
          <p:nvPr/>
        </p:nvSpPr>
        <p:spPr>
          <a:xfrm>
            <a:off x="7269480" y="1783080"/>
            <a:ext cx="4498848" cy="1874519"/>
          </a:xfrm>
          <a:prstGeom prst="rect">
            <a:avLst/>
          </a:prstGeom>
          <a:solidFill>
            <a:srgbClr val="E3F0FD"/>
          </a:solidFill>
          <a:ln>
            <a:noFill/>
          </a:ln>
        </p:spPr>
        <p:txBody>
          <a:bodyPr rtlCol="0" anchor="ctr"/>
          <a:lstStyle/>
          <a:p>
            <a:pPr algn="ctr"/>
            <a:endParaRPr/>
          </a:p>
        </p:txBody>
      </p:sp>
      <p:sp>
        <p:nvSpPr>
          <p:cNvPr id="72" name="TextBox 71"/>
          <p:cNvSpPr txBox="1"/>
          <p:nvPr/>
        </p:nvSpPr>
        <p:spPr>
          <a:xfrm>
            <a:off x="7452360" y="1874519"/>
            <a:ext cx="4160520" cy="173736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Обучение и проверка</a:t>
            </a:r>
          </a:p>
          <a:p>
            <a:pPr marL="0" indent="0" algn="l">
              <a:lnSpc>
                <a:spcPct val="100000"/>
              </a:lnSpc>
              <a:buNone/>
            </a:pPr>
            <a:r>
              <a:rPr lang="ru-RU" sz="1500" i="0">
                <a:solidFill>
                  <a:srgbClr val="595959"/>
                </a:solidFill>
                <a:latin typeface="Arial" panose="020B0604020202020204" pitchFamily="34" charset="0"/>
                <a:cs typeface="Arial"/>
              </a:rPr>
              <a:t>716 строк – обучающая выборка</a:t>
            </a:r>
          </a:p>
          <a:p>
            <a:pPr marL="0" indent="0" algn="l">
              <a:lnSpc>
                <a:spcPct val="100000"/>
              </a:lnSpc>
              <a:buNone/>
            </a:pPr>
            <a:r>
              <a:rPr lang="ru-RU" sz="1500" i="0">
                <a:solidFill>
                  <a:srgbClr val="595959"/>
                </a:solidFill>
                <a:latin typeface="Arial" panose="020B0604020202020204" pitchFamily="34" charset="0"/>
                <a:cs typeface="Arial"/>
              </a:rPr>
              <a:t>307 строк – независимая тестовая выборка</a:t>
            </a:r>
          </a:p>
          <a:p>
            <a:pPr marL="0" indent="0" algn="l">
              <a:lnSpc>
                <a:spcPct val="100000"/>
              </a:lnSpc>
              <a:buNone/>
            </a:pPr>
            <a:endParaRPr lang="ru-RU" sz="1500" i="0">
              <a:solidFill>
                <a:srgbClr val="595959"/>
              </a:solidFill>
              <a:latin typeface="Arial" panose="020B0604020202020204" pitchFamily="34" charset="0"/>
              <a:cs typeface="Arial"/>
            </a:endParaRPr>
          </a:p>
          <a:p>
            <a:pPr marL="0" indent="0" algn="l">
              <a:lnSpc>
                <a:spcPct val="100000"/>
              </a:lnSpc>
              <a:buNone/>
            </a:pPr>
            <a:r>
              <a:rPr lang="ru-RU" sz="1500" i="0">
                <a:solidFill>
                  <a:srgbClr val="595959"/>
                </a:solidFill>
                <a:latin typeface="Arial" panose="020B0604020202020204" pitchFamily="34" charset="0"/>
                <a:cs typeface="Arial"/>
              </a:rPr>
              <a:t>Новый набор из 11 характеристик →</a:t>
            </a:r>
          </a:p>
          <a:p>
            <a:pPr marL="0" indent="0" algn="l">
              <a:lnSpc>
                <a:spcPct val="100000"/>
              </a:lnSpc>
              <a:buNone/>
            </a:pPr>
            <a:r>
              <a:rPr lang="ru-RU" sz="1500" i="0">
                <a:solidFill>
                  <a:srgbClr val="595959"/>
                </a:solidFill>
                <a:latin typeface="Arial" panose="020B0604020202020204" pitchFamily="34" charset="0"/>
                <a:cs typeface="Arial"/>
              </a:rPr>
              <a:t>две оценки: модуль, ГПа, и прочность, МПа</a:t>
            </a:r>
            <a:endParaRPr sz="1500" i="0">
              <a:solidFill>
                <a:srgbClr val="595959"/>
              </a:solidFill>
              <a:latin typeface="Arial" panose="020B0604020202020204" pitchFamily="34" charset="0"/>
              <a:cs typeface="Arial"/>
            </a:endParaRPr>
          </a:p>
        </p:txBody>
      </p:sp>
      <p:sp>
        <p:nvSpPr>
          <p:cNvPr id="73" name="Rectangle 72"/>
          <p:cNvSpPr/>
          <p:nvPr/>
        </p:nvSpPr>
        <p:spPr>
          <a:xfrm>
            <a:off x="7269480" y="3794760"/>
            <a:ext cx="4498848" cy="1691640"/>
          </a:xfrm>
          <a:prstGeom prst="rect">
            <a:avLst/>
          </a:prstGeom>
          <a:solidFill>
            <a:srgbClr val="FDF3D4"/>
          </a:solidFill>
          <a:ln>
            <a:noFill/>
          </a:ln>
        </p:spPr>
        <p:txBody>
          <a:bodyPr rtlCol="0" anchor="ctr"/>
          <a:lstStyle/>
          <a:p>
            <a:pPr algn="ctr"/>
            <a:endParaRPr/>
          </a:p>
        </p:txBody>
      </p:sp>
      <p:sp>
        <p:nvSpPr>
          <p:cNvPr id="74" name="TextBox 73"/>
          <p:cNvSpPr txBox="1"/>
          <p:nvPr/>
        </p:nvSpPr>
        <p:spPr>
          <a:xfrm>
            <a:off x="7452360" y="3858768"/>
            <a:ext cx="4160520" cy="160020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Дополнительная задача</a:t>
            </a:r>
          </a:p>
          <a:p>
            <a:pPr marL="0" indent="0" algn="l">
              <a:lnSpc>
                <a:spcPct val="100000"/>
              </a:lnSpc>
              <a:buNone/>
            </a:pPr>
            <a:r>
              <a:rPr lang="ru-RU" i="0">
                <a:solidFill>
                  <a:srgbClr val="595959"/>
                </a:solidFill>
                <a:latin typeface="Arial" panose="020B0604020202020204" pitchFamily="34" charset="0"/>
                <a:cs typeface="Arial"/>
              </a:rPr>
              <a:t>12 известных показателей, включая известные модуль и прочность →</a:t>
            </a:r>
          </a:p>
          <a:p>
            <a:pPr marL="0" indent="0" algn="l">
              <a:lnSpc>
                <a:spcPct val="100000"/>
              </a:lnSpc>
              <a:buNone/>
            </a:pPr>
            <a:r>
              <a:rPr lang="ru-RU" i="0">
                <a:solidFill>
                  <a:srgbClr val="595959"/>
                </a:solidFill>
                <a:latin typeface="Arial" panose="020B0604020202020204" pitchFamily="34" charset="0"/>
                <a:cs typeface="Arial"/>
              </a:rPr>
              <a:t>соотношение матрица–наполнитель</a:t>
            </a:r>
          </a:p>
          <a:p>
            <a:pPr marL="0" indent="0" algn="l">
              <a:lnSpc>
                <a:spcPct val="100000"/>
              </a:lnSpc>
              <a:buNone/>
            </a:pPr>
            <a:r>
              <a:rPr lang="ru-RU" i="0">
                <a:solidFill>
                  <a:srgbClr val="595959"/>
                </a:solidFill>
                <a:latin typeface="Arial" panose="020B0604020202020204" pitchFamily="34" charset="0"/>
                <a:cs typeface="Arial"/>
              </a:rPr>
              <a:t>В приложение не включена</a:t>
            </a:r>
            <a:endParaRPr i="0">
              <a:solidFill>
                <a:srgbClr val="065CAB"/>
              </a:solidFill>
              <a:latin typeface="Arial" panose="020B0604020202020204" pitchFamily="34" charset="0"/>
              <a:cs typeface="Arial"/>
            </a:endParaRPr>
          </a:p>
        </p:txBody>
      </p:sp>
      <p:sp>
        <p:nvSpPr>
          <p:cNvPr id="75" name="TextBox 74"/>
          <p:cNvSpPr txBox="1"/>
          <p:nvPr/>
        </p:nvSpPr>
        <p:spPr>
          <a:xfrm>
            <a:off x="7269480" y="5577840"/>
            <a:ext cx="4498848" cy="731520"/>
          </a:xfrm>
          <a:prstGeom prst="rect">
            <a:avLst/>
          </a:prstGeom>
          <a:noFill/>
        </p:spPr>
        <p:txBody>
          <a:bodyPr wrap="square" lIns="0" tIns="0" rIns="0" bIns="0" anchor="t"/>
          <a:lstStyle/>
          <a:p>
            <a:pPr marL="0" indent="0" algn="l">
              <a:lnSpc>
                <a:spcPct val="100000"/>
              </a:lnSpc>
              <a:buNone/>
            </a:pPr>
            <a:r>
              <a:rPr lang="ru-RU" sz="1000" b="1" i="0">
                <a:solidFill>
                  <a:srgbClr val="595959"/>
                </a:solidFill>
                <a:latin typeface="Arial" panose="020B0604020202020204" pitchFamily="34" charset="0"/>
                <a:cs typeface="Arial"/>
              </a:rPr>
              <a:t>Конечные свойства исключены из 11 входов прямых моделей. Входной «модуль упругости» и целевой «модуль упругости при растяжении» – разные столбцы.</a:t>
            </a:r>
            <a:endParaRPr sz="1000" b="1" i="0">
              <a:solidFill>
                <a:srgbClr val="595959"/>
              </a:solidFill>
              <a:latin typeface="Arial" panose="020B0604020202020204" pitchFamily="34" charset="0"/>
              <a:cs typeface="Arial"/>
            </a:endParaRPr>
          </a:p>
        </p:txBody>
      </p:sp>
      <p:sp>
        <p:nvSpPr>
          <p:cNvPr id="76"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разд. 1.1; словарь данных репозитория</a:t>
            </a:r>
            <a:endParaRPr sz="1600" b="0" i="0">
              <a:solidFill>
                <a:srgbClr val="595959"/>
              </a:solidFill>
              <a:latin typeface="Arial" panose="020B0604020202020204" pitchFamily="34" charset="0"/>
              <a:cs typeface="Arial"/>
            </a:endParaRPr>
          </a:p>
        </p:txBody>
      </p:sp>
      <p:sp>
        <p:nvSpPr>
          <p:cNvPr id="5"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4</a:t>
            </a:fld>
            <a:endParaRPr lang="ru-RU" dirty="0">
              <a:latin typeface="Arial" panose="020B0604020202020204" pitchFamily="34" charset="0"/>
              <a:cs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Методы машинного обучения</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557784" y="1481328"/>
            <a:ext cx="7315200" cy="731520"/>
          </a:xfrm>
          <a:prstGeom prst="rect">
            <a:avLst/>
          </a:prstGeom>
          <a:noFill/>
        </p:spPr>
        <p:txBody>
          <a:bodyPr wrap="square" lIns="0" tIns="0" rIns="0" bIns="0" anchor="t"/>
          <a:lstStyle/>
          <a:p>
            <a:pPr marL="0" indent="0" algn="l">
              <a:lnSpc>
                <a:spcPct val="100000"/>
              </a:lnSpc>
              <a:buNone/>
            </a:pPr>
            <a:r>
              <a:rPr lang="ru-RU" sz="1900" b="1" i="0">
                <a:solidFill>
                  <a:srgbClr val="F1BE29"/>
                </a:solidFill>
                <a:latin typeface="Arial" panose="020B0604020202020204" pitchFamily="34" charset="0"/>
                <a:cs typeface="Arial"/>
              </a:rPr>
              <a:t>Пять подходов сравнивались на одинаковых данных</a:t>
            </a:r>
            <a:endParaRPr sz="1900" b="1" i="0">
              <a:solidFill>
                <a:srgbClr val="F1BE29"/>
              </a:solidFill>
              <a:latin typeface="Arial" panose="020B0604020202020204" pitchFamily="34" charset="0"/>
              <a:cs typeface="Arial"/>
            </a:endParaRPr>
          </a:p>
        </p:txBody>
      </p:sp>
      <p:graphicFrame>
        <p:nvGraphicFramePr>
          <p:cNvPr id="72" name="CV RMSE"/>
          <p:cNvGraphicFramePr>
            <a:graphicFrameLocks noGrp="1"/>
          </p:cNvGraphicFramePr>
          <p:nvPr>
            <p:extLst>
              <p:ext uri="{D42A27DB-BD31-4B8C-83A1-F6EECF244321}">
                <p14:modId xmlns:p14="http://schemas.microsoft.com/office/powerpoint/2010/main" val="2156917715"/>
              </p:ext>
            </p:extLst>
          </p:nvPr>
        </p:nvGraphicFramePr>
        <p:xfrm>
          <a:off x="557784" y="2286000"/>
          <a:ext cx="7315200" cy="3291840"/>
        </p:xfrm>
        <a:graphic>
          <a:graphicData uri="http://schemas.openxmlformats.org/drawingml/2006/table">
            <a:tbl>
              <a:tblPr>
                <a:tableStyleId>{2D5ABB26-0587-4C30-8999-92F81FD0307C}</a:tableStyleId>
              </a:tblPr>
              <a:tblGrid>
                <a:gridCol w="1609344">
                  <a:extLst>
                    <a:ext uri="{9D8B030D-6E8A-4147-A177-3AD203B41FA5}">
                      <a16:colId xmlns:a16="http://schemas.microsoft.com/office/drawing/2014/main" val="20000"/>
                    </a:ext>
                  </a:extLst>
                </a:gridCol>
                <a:gridCol w="3877056">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548640">
                <a:tc>
                  <a:txBody>
                    <a:bodyPr/>
                    <a:lstStyle/>
                    <a:p>
                      <a:pPr marL="0" indent="0" algn="l">
                        <a:buNone/>
                      </a:pPr>
                      <a:r>
                        <a:rPr lang="ru-RU" sz="1500" b="1" i="0">
                          <a:solidFill>
                            <a:srgbClr val="FFFFFF"/>
                          </a:solidFill>
                          <a:latin typeface="Arial" panose="020B0604020202020204" pitchFamily="34" charset="0"/>
                          <a:cs typeface="Arial"/>
                        </a:rPr>
                        <a:t>Модель</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500" b="1" i="0">
                          <a:solidFill>
                            <a:srgbClr val="FFFFFF"/>
                          </a:solidFill>
                          <a:latin typeface="Arial" panose="020B0604020202020204" pitchFamily="34" charset="0"/>
                          <a:cs typeface="Arial"/>
                        </a:rPr>
                        <a:t>Принцип работы</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500" b="1" i="0">
                          <a:solidFill>
                            <a:srgbClr val="FFFFFF"/>
                          </a:solidFill>
                          <a:latin typeface="Arial" panose="020B0604020202020204" pitchFamily="34" charset="0"/>
                          <a:cs typeface="Arial"/>
                        </a:rPr>
                        <a:t>Роль</a:t>
                      </a:r>
                      <a:endParaRPr sz="15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48640">
                <a:tc>
                  <a:txBody>
                    <a:bodyPr/>
                    <a:lstStyle/>
                    <a:p>
                      <a:pPr marL="0" indent="0" algn="l">
                        <a:buNone/>
                      </a:pPr>
                      <a:r>
                        <a:rPr lang="ru-RU" sz="1400" b="0" i="0">
                          <a:solidFill>
                            <a:srgbClr val="262626"/>
                          </a:solidFill>
                          <a:latin typeface="Arial" panose="020B0604020202020204" pitchFamily="34" charset="0"/>
                          <a:cs typeface="Arial"/>
                        </a:rPr>
                        <a:t>Прогноз среднего</a:t>
                      </a:r>
                      <a:endParaRPr sz="1400" b="0"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lang="ru-RU" sz="1400" b="0" i="0">
                          <a:solidFill>
                            <a:srgbClr val="065CAB"/>
                          </a:solidFill>
                          <a:latin typeface="Arial" panose="020B0604020202020204" pitchFamily="34" charset="0"/>
                          <a:cs typeface="Arial"/>
                        </a:rPr>
                        <a:t>Одно среднее обучающей выборки для всех строк</a:t>
                      </a:r>
                      <a:endParaRPr sz="1400" b="0" i="0">
                        <a:solidFill>
                          <a:srgbClr val="595959"/>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lang="ru-RU" sz="1400" b="0" i="0">
                          <a:solidFill>
                            <a:srgbClr val="262626"/>
                          </a:solidFill>
                          <a:latin typeface="Arial" panose="020B0604020202020204" pitchFamily="34" charset="0"/>
                          <a:cs typeface="Arial"/>
                        </a:rPr>
                        <a:t>базовый ориентир</a:t>
                      </a:r>
                      <a:endParaRPr sz="1400" b="0" i="0">
                        <a:solidFill>
                          <a:srgbClr val="595959"/>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48640">
                <a:tc>
                  <a:txBody>
                    <a:bodyPr/>
                    <a:lstStyle/>
                    <a:p>
                      <a:pPr marL="0" indent="0" algn="l">
                        <a:buNone/>
                      </a:pPr>
                      <a:r>
                        <a:rPr lang="ru-RU" sz="1400" b="0" i="0">
                          <a:solidFill>
                            <a:srgbClr val="262626"/>
                          </a:solidFill>
                          <a:latin typeface="Arial" panose="020B0604020202020204" pitchFamily="34" charset="0"/>
                          <a:cs typeface="Arial"/>
                        </a:rPr>
                        <a:t>Гребневая регрессия (</a:t>
                      </a:r>
                      <a:r>
                        <a:rPr lang="en-US" sz="1400" b="0" i="0">
                          <a:solidFill>
                            <a:srgbClr val="262626"/>
                          </a:solidFill>
                          <a:latin typeface="Arial" panose="020B0604020202020204" pitchFamily="34" charset="0"/>
                          <a:cs typeface="Arial"/>
                        </a:rPr>
                        <a:t>Ridge)</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Линейная модель со штрафом за большие коэффициенты</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2"/>
                  </a:ext>
                </a:extLst>
              </a:tr>
              <a:tr h="548640">
                <a:tc>
                  <a:txBody>
                    <a:bodyPr/>
                    <a:lstStyle/>
                    <a:p>
                      <a:pPr marL="0" indent="0" algn="l">
                        <a:buNone/>
                      </a:pPr>
                      <a:r>
                        <a:rPr lang="ru-RU" sz="1400" b="0" i="0">
                          <a:solidFill>
                            <a:srgbClr val="262626"/>
                          </a:solidFill>
                          <a:latin typeface="Arial" panose="020B0604020202020204" pitchFamily="34" charset="0"/>
                          <a:cs typeface="Arial"/>
                        </a:rPr>
                        <a:t>Случайный лес (</a:t>
                      </a:r>
                      <a:r>
                        <a:rPr lang="en-US" sz="1400" b="0" i="0">
                          <a:solidFill>
                            <a:srgbClr val="262626"/>
                          </a:solidFill>
                          <a:latin typeface="Arial" panose="020B0604020202020204" pitchFamily="34" charset="0"/>
                          <a:cs typeface="Arial"/>
                        </a:rPr>
                        <a:t>Random Forest)</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Много деревьев решений; ответы усредняются</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3"/>
                  </a:ext>
                </a:extLst>
              </a:tr>
              <a:tr h="548640">
                <a:tc>
                  <a:txBody>
                    <a:bodyPr/>
                    <a:lstStyle/>
                    <a:p>
                      <a:pPr marL="0" indent="0" algn="l">
                        <a:buNone/>
                      </a:pPr>
                      <a:r>
                        <a:rPr lang="ru-RU" sz="1400" b="0" i="0">
                          <a:solidFill>
                            <a:srgbClr val="262626"/>
                          </a:solidFill>
                          <a:latin typeface="Arial" panose="020B0604020202020204" pitchFamily="34" charset="0"/>
                          <a:cs typeface="Arial"/>
                        </a:rPr>
                        <a:t>Градиентный бустинг</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Деревья по очереди исправляют ошибки</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065CAB"/>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4"/>
                  </a:ext>
                </a:extLst>
              </a:tr>
              <a:tr h="548640">
                <a:tc>
                  <a:txBody>
                    <a:bodyPr/>
                    <a:lstStyle/>
                    <a:p>
                      <a:pPr marL="0" indent="0" algn="l">
                        <a:buNone/>
                      </a:pPr>
                      <a:r>
                        <a:rPr lang="ru-RU" sz="1400" b="0" i="0">
                          <a:solidFill>
                            <a:srgbClr val="262626"/>
                          </a:solidFill>
                          <a:latin typeface="Arial" panose="020B0604020202020204" pitchFamily="34" charset="0"/>
                          <a:cs typeface="Arial"/>
                        </a:rPr>
                        <a:t>Метод опорных векторов (</a:t>
                      </a:r>
                      <a:r>
                        <a:rPr lang="en-US" sz="1400" b="0" i="0">
                          <a:solidFill>
                            <a:srgbClr val="262626"/>
                          </a:solidFill>
                          <a:latin typeface="Arial" panose="020B0604020202020204" pitchFamily="34" charset="0"/>
                          <a:cs typeface="Arial"/>
                        </a:rPr>
                        <a:t>SVR)</a:t>
                      </a:r>
                      <a:endParaRPr sz="14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Гладкая линейная или нелинейная зависимость</a:t>
                      </a:r>
                      <a:endParaRPr sz="1400" b="0" i="0">
                        <a:solidFill>
                          <a:srgbClr val="595959"/>
                        </a:solidFill>
                        <a:latin typeface="Arial" panose="020B0604020202020204" pitchFamily="34" charset="0"/>
                        <a:cs typeface="Arial"/>
                      </a:endParaRPr>
                    </a:p>
                  </a:txBody>
                  <a:tcPr marT="27432" marB="27432" anchor="ctr">
                    <a:noFill/>
                  </a:tcPr>
                </a:tc>
                <a:tc>
                  <a:txBody>
                    <a:bodyPr/>
                    <a:lstStyle/>
                    <a:p>
                      <a:pPr marL="0" indent="0" algn="r">
                        <a:buNone/>
                      </a:pPr>
                      <a:r>
                        <a:rPr lang="ru-RU" sz="1400" b="0" i="0">
                          <a:solidFill>
                            <a:srgbClr val="262626"/>
                          </a:solidFill>
                          <a:latin typeface="Arial" panose="020B0604020202020204" pitchFamily="34" charset="0"/>
                          <a:cs typeface="Arial"/>
                        </a:rPr>
                        <a:t>кандидат</a:t>
                      </a:r>
                      <a:endParaRPr sz="1400" b="0" i="0">
                        <a:solidFill>
                          <a:srgbClr val="595959"/>
                        </a:solidFill>
                        <a:latin typeface="Arial" panose="020B0604020202020204" pitchFamily="34" charset="0"/>
                        <a:cs typeface="Arial"/>
                      </a:endParaRPr>
                    </a:p>
                  </a:txBody>
                  <a:tcPr marT="27432" marB="27432" anchor="ctr">
                    <a:noFill/>
                  </a:tcPr>
                </a:tc>
                <a:extLst>
                  <a:ext uri="{0D108BD9-81ED-4DB2-BD59-A6C34878D82A}">
                    <a16:rowId xmlns:a16="http://schemas.microsoft.com/office/drawing/2014/main" val="10005"/>
                  </a:ext>
                </a:extLst>
              </a:tr>
            </a:tbl>
          </a:graphicData>
        </a:graphic>
      </p:graphicFrame>
      <p:sp>
        <p:nvSpPr>
          <p:cNvPr id="73" name="TextBox 72"/>
          <p:cNvSpPr txBox="1"/>
          <p:nvPr/>
        </p:nvSpPr>
        <p:spPr>
          <a:xfrm>
            <a:off x="557784" y="5806440"/>
            <a:ext cx="7315200" cy="411480"/>
          </a:xfrm>
          <a:prstGeom prst="rect">
            <a:avLst/>
          </a:prstGeom>
          <a:noFill/>
        </p:spPr>
        <p:txBody>
          <a:bodyPr wrap="square" lIns="0" tIns="0" rIns="0" bIns="0" anchor="t"/>
          <a:lstStyle/>
          <a:p>
            <a:pPr marL="0" indent="0" algn="l">
              <a:buNone/>
            </a:pPr>
            <a:r>
              <a:rPr lang="ru-RU" sz="1500" i="0">
                <a:solidFill>
                  <a:srgbClr val="595959"/>
                </a:solidFill>
                <a:latin typeface="Arial" panose="020B0604020202020204" pitchFamily="34" charset="0"/>
                <a:cs typeface="Arial"/>
              </a:rPr>
              <a:t>Результаты сравнения: РПЗ, таблица 6</a:t>
            </a:r>
            <a:endParaRPr sz="1500" i="0">
              <a:solidFill>
                <a:srgbClr val="595959"/>
              </a:solidFill>
              <a:latin typeface="Arial" panose="020B0604020202020204" pitchFamily="34" charset="0"/>
              <a:cs typeface="Arial"/>
            </a:endParaRPr>
          </a:p>
        </p:txBody>
      </p:sp>
      <p:sp>
        <p:nvSpPr>
          <p:cNvPr id="74" name="TextBox 73"/>
          <p:cNvSpPr txBox="1"/>
          <p:nvPr/>
        </p:nvSpPr>
        <p:spPr>
          <a:xfrm>
            <a:off x="8321040" y="1481328"/>
            <a:ext cx="3447288" cy="731520"/>
          </a:xfrm>
          <a:prstGeom prst="rect">
            <a:avLst/>
          </a:prstGeom>
          <a:noFill/>
        </p:spPr>
        <p:txBody>
          <a:bodyPr wrap="square" lIns="0" tIns="0" rIns="0" bIns="0" anchor="t"/>
          <a:lstStyle/>
          <a:p>
            <a:pPr marL="0" indent="0" algn="l">
              <a:lnSpc>
                <a:spcPct val="100000"/>
              </a:lnSpc>
              <a:buNone/>
            </a:pPr>
            <a:r>
              <a:rPr lang="ru-RU" sz="1700" b="1" i="0">
                <a:solidFill>
                  <a:srgbClr val="F1BE29"/>
                </a:solidFill>
                <a:latin typeface="Arial" panose="020B0604020202020204" pitchFamily="34" charset="0"/>
                <a:cs typeface="Arial"/>
              </a:rPr>
              <a:t>Отдельный метод
Многослойный перцептрон (MLP) – нейросеть для задачи отношения</a:t>
            </a:r>
            <a:endParaRPr sz="1700" b="1" i="0">
              <a:solidFill>
                <a:srgbClr val="F1BE29"/>
              </a:solidFill>
              <a:latin typeface="Arial" panose="020B0604020202020204" pitchFamily="34" charset="0"/>
              <a:cs typeface="Arial"/>
            </a:endParaRPr>
          </a:p>
        </p:txBody>
      </p:sp>
      <p:sp>
        <p:nvSpPr>
          <p:cNvPr id="8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табл. 6; </a:t>
            </a:r>
            <a:r>
              <a:rPr lang="en-US" sz="1600" b="0" i="0">
                <a:solidFill>
                  <a:srgbClr val="595959"/>
                </a:solidFill>
                <a:latin typeface="Arial" panose="020B0604020202020204" pitchFamily="34" charset="0"/>
                <a:cs typeface="Arial"/>
              </a:rPr>
              <a:t>reports/modeling/cv_summary.csv</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5</a:t>
            </a:fld>
            <a:endParaRPr lang="ru-RU" dirty="0">
              <a:latin typeface="Arial" panose="020B0604020202020204" pitchFamily="34" charset="0"/>
              <a:cs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356425" cy="666000"/>
            <a:chOff x="0" y="0"/>
            <a:chExt cx="835642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35642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Разведочный анализ обучающей выборки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26637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eda_panels.png"/>
          <p:cNvPicPr>
            <a:picLocks noChangeAspect="1"/>
          </p:cNvPicPr>
          <p:nvPr/>
        </p:nvPicPr>
        <p:blipFill>
          <a:blip r:embed="rId3"/>
          <a:stretch>
            <a:fillRect/>
          </a:stretch>
        </p:blipFill>
        <p:spPr>
          <a:xfrm>
            <a:off x="420624" y="1463040"/>
            <a:ext cx="7635240" cy="3380095"/>
          </a:xfrm>
          <a:prstGeom prst="rect">
            <a:avLst/>
          </a:prstGeom>
          <a:ln w="9525">
            <a:solidFill>
              <a:srgbClr val="D9D9D9"/>
            </a:solidFill>
          </a:ln>
        </p:spPr>
      </p:pic>
      <p:sp>
        <p:nvSpPr>
          <p:cNvPr id="72" name="TextBox 71"/>
          <p:cNvSpPr txBox="1"/>
          <p:nvPr/>
        </p:nvSpPr>
        <p:spPr>
          <a:xfrm>
            <a:off x="420624" y="4937760"/>
            <a:ext cx="7635240" cy="45720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Показаны распределение, диаграмма размаха и связь двух показателей</a:t>
            </a:r>
            <a:endParaRPr sz="1600" i="0">
              <a:solidFill>
                <a:srgbClr val="595959"/>
              </a:solidFill>
              <a:latin typeface="Arial" panose="020B0604020202020204" pitchFamily="34" charset="0"/>
              <a:cs typeface="Arial"/>
            </a:endParaRPr>
          </a:p>
        </p:txBody>
      </p:sp>
      <p:sp>
        <p:nvSpPr>
          <p:cNvPr id="73" name="TextBox 72"/>
          <p:cNvSpPr txBox="1"/>
          <p:nvPr/>
        </p:nvSpPr>
        <p:spPr>
          <a:xfrm>
            <a:off x="8458200" y="1417320"/>
            <a:ext cx="3310128" cy="457200"/>
          </a:xfrm>
          <a:prstGeom prst="rect">
            <a:avLst/>
          </a:prstGeom>
          <a:noFill/>
        </p:spPr>
        <p:txBody>
          <a:bodyPr wrap="square" lIns="0" tIns="0" rIns="0" bIns="0" anchor="t"/>
          <a:lstStyle/>
          <a:p>
            <a:pPr marL="0" indent="0" algn="l">
              <a:buNone/>
            </a:pPr>
            <a:r>
              <a:rPr lang="ru-RU" sz="1700" b="1" i="0">
                <a:solidFill>
                  <a:srgbClr val="F1BE29"/>
                </a:solidFill>
                <a:latin typeface="Arial" panose="020B0604020202020204" pitchFamily="34" charset="0"/>
                <a:cs typeface="Arial"/>
              </a:rPr>
              <a:t>Анализ: только 716 обучающих строк</a:t>
            </a:r>
            <a:endParaRPr sz="1700" b="1" i="0">
              <a:solidFill>
                <a:srgbClr val="F1BE29"/>
              </a:solidFill>
              <a:latin typeface="Arial" panose="020B0604020202020204" pitchFamily="34" charset="0"/>
              <a:cs typeface="Arial"/>
            </a:endParaRPr>
          </a:p>
        </p:txBody>
      </p:sp>
      <p:sp>
        <p:nvSpPr>
          <p:cNvPr id="74" name="TextBox 73"/>
          <p:cNvSpPr txBox="1"/>
          <p:nvPr/>
        </p:nvSpPr>
        <p:spPr>
          <a:xfrm>
            <a:off x="8458200" y="1965960"/>
            <a:ext cx="3310128" cy="411480"/>
          </a:xfrm>
          <a:prstGeom prst="rect">
            <a:avLst/>
          </a:prstGeom>
          <a:noFill/>
        </p:spPr>
        <p:txBody>
          <a:bodyPr wrap="square" lIns="0" tIns="0" rIns="0" bIns="0" anchor="t"/>
          <a:lstStyle/>
          <a:p>
            <a:pPr marL="0" indent="0" algn="l">
              <a:buNone/>
            </a:pPr>
            <a:r>
              <a:rPr lang="ru-RU" sz="1600" i="0">
                <a:solidFill>
                  <a:srgbClr val="595959"/>
                </a:solidFill>
                <a:latin typeface="Arial" panose="020B0604020202020204" pitchFamily="34" charset="0"/>
                <a:cs typeface="Arial"/>
              </a:rPr>
              <a:t>Наибольшая парная корреляция</a:t>
            </a:r>
            <a:endParaRPr sz="1600" i="0">
              <a:solidFill>
                <a:srgbClr val="595959"/>
              </a:solidFill>
              <a:latin typeface="Arial" panose="020B0604020202020204" pitchFamily="34" charset="0"/>
              <a:cs typeface="Arial"/>
            </a:endParaRPr>
          </a:p>
        </p:txBody>
      </p:sp>
      <p:sp>
        <p:nvSpPr>
          <p:cNvPr id="75" name="TextBox 74"/>
          <p:cNvSpPr txBox="1"/>
          <p:nvPr/>
        </p:nvSpPr>
        <p:spPr>
          <a:xfrm>
            <a:off x="8458200" y="2286000"/>
            <a:ext cx="3310128" cy="822960"/>
          </a:xfrm>
          <a:prstGeom prst="rect">
            <a:avLst/>
          </a:prstGeom>
          <a:noFill/>
        </p:spPr>
        <p:txBody>
          <a:bodyPr wrap="square" lIns="0" tIns="0" rIns="0" bIns="0" anchor="t"/>
          <a:lstStyle/>
          <a:p>
            <a:pPr marL="0" indent="0" algn="l">
              <a:buNone/>
            </a:pPr>
            <a:r>
              <a:rPr sz="4400" b="1" i="0">
                <a:solidFill>
                  <a:srgbClr val="065CAB"/>
                </a:solidFill>
                <a:latin typeface="Arial" panose="020B0604020202020204" pitchFamily="34" charset="0"/>
                <a:cs typeface="Arial"/>
              </a:rPr>
              <a:t>≈ 0,119</a:t>
            </a:r>
          </a:p>
        </p:txBody>
      </p:sp>
      <p:cxnSp>
        <p:nvCxnSpPr>
          <p:cNvPr id="76" name="Connector 75"/>
          <p:cNvCxnSpPr/>
          <p:nvPr/>
        </p:nvCxnSpPr>
        <p:spPr>
          <a:xfrm>
            <a:off x="8458200" y="3246120"/>
            <a:ext cx="3310128" cy="0"/>
          </a:xfrm>
          <a:prstGeom prst="line">
            <a:avLst/>
          </a:prstGeom>
          <a:ln w="12700">
            <a:solidFill>
              <a:srgbClr val="BFBFBF"/>
            </a:solidFill>
          </a:ln>
        </p:spPr>
      </p:cxnSp>
      <p:sp>
        <p:nvSpPr>
          <p:cNvPr id="77" name="TextBox 76"/>
          <p:cNvSpPr txBox="1"/>
          <p:nvPr/>
        </p:nvSpPr>
        <p:spPr>
          <a:xfrm>
            <a:off x="8458200" y="3383280"/>
            <a:ext cx="3310128" cy="1097280"/>
          </a:xfrm>
          <a:prstGeom prst="rect">
            <a:avLst/>
          </a:prstGeom>
          <a:noFill/>
        </p:spPr>
        <p:txBody>
          <a:bodyPr wrap="square" lIns="0" tIns="0" rIns="0" bIns="0" anchor="t"/>
          <a:lstStyle/>
          <a:p>
            <a:pPr marL="0" indent="0" algn="l">
              <a:lnSpc>
                <a:spcPct val="105000"/>
              </a:lnSpc>
              <a:buNone/>
            </a:pPr>
            <a:r>
              <a:rPr sz="1800" b="0" i="0">
                <a:solidFill>
                  <a:srgbClr val="595959"/>
                </a:solidFill>
                <a:latin typeface="Arial" panose="020B0604020202020204" pitchFamily="34" charset="0"/>
                <a:cs typeface="Arial"/>
              </a:rPr>
              <a:t>Угол нашивки:</a:t>
            </a:r>
          </a:p>
          <a:p>
            <a:pPr marL="0" indent="0" algn="l">
              <a:lnSpc>
                <a:spcPct val="105000"/>
              </a:lnSpc>
              <a:buNone/>
            </a:pPr>
            <a:r>
              <a:rPr sz="2200" b="1" i="0">
                <a:solidFill>
                  <a:srgbClr val="065CAB"/>
                </a:solidFill>
                <a:latin typeface="Arial" panose="020B0604020202020204" pitchFamily="34" charset="0"/>
                <a:cs typeface="Arial"/>
              </a:rPr>
              <a:t>356</a:t>
            </a:r>
            <a:r>
              <a:rPr sz="2000" b="0" i="0">
                <a:solidFill>
                  <a:srgbClr val="262626"/>
                </a:solidFill>
                <a:latin typeface="Arial" panose="020B0604020202020204" pitchFamily="34" charset="0"/>
                <a:cs typeface="Arial"/>
              </a:rPr>
              <a:t> × 0°   </a:t>
            </a:r>
            <a:r>
              <a:rPr sz="2200" b="1" i="0">
                <a:solidFill>
                  <a:srgbClr val="065CAB"/>
                </a:solidFill>
                <a:latin typeface="Arial" panose="020B0604020202020204" pitchFamily="34" charset="0"/>
                <a:cs typeface="Arial"/>
              </a:rPr>
              <a:t>360</a:t>
            </a:r>
            <a:r>
              <a:rPr sz="2000" b="0" i="0">
                <a:solidFill>
                  <a:srgbClr val="262626"/>
                </a:solidFill>
                <a:latin typeface="Arial" panose="020B0604020202020204" pitchFamily="34" charset="0"/>
                <a:cs typeface="Arial"/>
              </a:rPr>
              <a:t> × 90°</a:t>
            </a:r>
          </a:p>
        </p:txBody>
      </p:sp>
      <p:cxnSp>
        <p:nvCxnSpPr>
          <p:cNvPr id="78" name="Connector 77"/>
          <p:cNvCxnSpPr/>
          <p:nvPr/>
        </p:nvCxnSpPr>
        <p:spPr>
          <a:xfrm>
            <a:off x="8458200" y="4526280"/>
            <a:ext cx="0" cy="1417320"/>
          </a:xfrm>
          <a:prstGeom prst="line">
            <a:avLst/>
          </a:prstGeom>
          <a:ln w="25400">
            <a:solidFill>
              <a:srgbClr val="065CAB"/>
            </a:solidFill>
          </a:ln>
        </p:spPr>
      </p:cxnSp>
      <p:cxnSp>
        <p:nvCxnSpPr>
          <p:cNvPr id="79" name="Connector 78"/>
          <p:cNvCxnSpPr/>
          <p:nvPr/>
        </p:nvCxnSpPr>
        <p:spPr>
          <a:xfrm>
            <a:off x="8458200" y="4526280"/>
            <a:ext cx="457200" cy="0"/>
          </a:xfrm>
          <a:prstGeom prst="line">
            <a:avLst/>
          </a:prstGeom>
          <a:ln w="25400">
            <a:solidFill>
              <a:srgbClr val="065CAB"/>
            </a:solidFill>
          </a:ln>
        </p:spPr>
      </p:cxnSp>
      <p:cxnSp>
        <p:nvCxnSpPr>
          <p:cNvPr id="80" name="Connector 79"/>
          <p:cNvCxnSpPr/>
          <p:nvPr/>
        </p:nvCxnSpPr>
        <p:spPr>
          <a:xfrm>
            <a:off x="8458200" y="5943600"/>
            <a:ext cx="457200" cy="0"/>
          </a:xfrm>
          <a:prstGeom prst="line">
            <a:avLst/>
          </a:prstGeom>
          <a:ln w="25400">
            <a:solidFill>
              <a:srgbClr val="065CAB"/>
            </a:solidFill>
          </a:ln>
        </p:spPr>
      </p:cxnSp>
      <p:sp>
        <p:nvSpPr>
          <p:cNvPr id="81" name="TextBox 80"/>
          <p:cNvSpPr txBox="1"/>
          <p:nvPr/>
        </p:nvSpPr>
        <p:spPr>
          <a:xfrm>
            <a:off x="8714232" y="4599432"/>
            <a:ext cx="3054096" cy="1271016"/>
          </a:xfrm>
          <a:prstGeom prst="rect">
            <a:avLst/>
          </a:prstGeom>
          <a:noFill/>
        </p:spPr>
        <p:txBody>
          <a:bodyPr wrap="square" lIns="0" tIns="0" rIns="0" bIns="0" anchor="ctr"/>
          <a:lstStyle/>
          <a:p>
            <a:pPr marL="0" indent="0" algn="l">
              <a:buNone/>
            </a:pPr>
            <a:r>
              <a:rPr lang="ru-RU" sz="1600" i="0">
                <a:solidFill>
                  <a:srgbClr val="262626"/>
                </a:solidFill>
                <a:latin typeface="Arial" panose="020B0604020202020204" pitchFamily="34" charset="0"/>
                <a:cs typeface="Arial"/>
              </a:rPr>
              <a:t>Слабая парная связь не исключает более сложной зависимости</a:t>
            </a:r>
            <a:endParaRPr sz="1600" i="0">
              <a:solidFill>
                <a:srgbClr val="262626"/>
              </a:solidFill>
              <a:latin typeface="Arial" panose="020B0604020202020204" pitchFamily="34" charset="0"/>
              <a:cs typeface="Arial"/>
            </a:endParaRPr>
          </a:p>
        </p:txBody>
      </p:sp>
      <p:sp>
        <p:nvSpPr>
          <p:cNvPr id="82"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рис. 1</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6</a:t>
            </a:fld>
            <a:endParaRPr lang="ru-RU" dirty="0">
              <a:latin typeface="Arial" panose="020B0604020202020204" pitchFamily="34" charset="0"/>
              <a:cs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6632" cy="666000"/>
            <a:chOff x="0" y="0"/>
            <a:chExt cx="8486632"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6632"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Предобработка данных</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6583"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cxnSp>
        <p:nvCxnSpPr>
          <p:cNvPr id="71" name="Connector 70"/>
          <p:cNvCxnSpPr/>
          <p:nvPr/>
        </p:nvCxnSpPr>
        <p:spPr>
          <a:xfrm>
            <a:off x="557784" y="1508760"/>
            <a:ext cx="0" cy="1600200"/>
          </a:xfrm>
          <a:prstGeom prst="line">
            <a:avLst/>
          </a:prstGeom>
          <a:ln w="28575">
            <a:solidFill>
              <a:srgbClr val="065CAB"/>
            </a:solidFill>
          </a:ln>
        </p:spPr>
      </p:cxnSp>
      <p:cxnSp>
        <p:nvCxnSpPr>
          <p:cNvPr id="72" name="Connector 71"/>
          <p:cNvCxnSpPr/>
          <p:nvPr/>
        </p:nvCxnSpPr>
        <p:spPr>
          <a:xfrm>
            <a:off x="557784" y="1508760"/>
            <a:ext cx="411480" cy="0"/>
          </a:xfrm>
          <a:prstGeom prst="line">
            <a:avLst/>
          </a:prstGeom>
          <a:ln w="28575">
            <a:solidFill>
              <a:srgbClr val="065CAB"/>
            </a:solidFill>
          </a:ln>
        </p:spPr>
      </p:cxnSp>
      <p:cxnSp>
        <p:nvCxnSpPr>
          <p:cNvPr id="73" name="Connector 72"/>
          <p:cNvCxnSpPr/>
          <p:nvPr/>
        </p:nvCxnSpPr>
        <p:spPr>
          <a:xfrm>
            <a:off x="557784" y="3108960"/>
            <a:ext cx="411480" cy="0"/>
          </a:xfrm>
          <a:prstGeom prst="line">
            <a:avLst/>
          </a:prstGeom>
          <a:ln w="28575">
            <a:solidFill>
              <a:srgbClr val="065CAB"/>
            </a:solidFill>
          </a:ln>
        </p:spPr>
      </p:cxnSp>
      <p:sp>
        <p:nvSpPr>
          <p:cNvPr id="74" name="TextBox 73"/>
          <p:cNvSpPr txBox="1"/>
          <p:nvPr/>
        </p:nvSpPr>
        <p:spPr>
          <a:xfrm>
            <a:off x="832103" y="1554480"/>
            <a:ext cx="3200400" cy="41148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Кандидаты в выбросы: прямые задачи</a:t>
            </a:r>
            <a:endParaRPr sz="1600" i="0">
              <a:solidFill>
                <a:srgbClr val="595959"/>
              </a:solidFill>
              <a:latin typeface="Arial" panose="020B0604020202020204" pitchFamily="34" charset="0"/>
              <a:cs typeface="Arial"/>
            </a:endParaRPr>
          </a:p>
        </p:txBody>
      </p:sp>
      <p:sp>
        <p:nvSpPr>
          <p:cNvPr id="75" name="TextBox 74"/>
          <p:cNvSpPr txBox="1"/>
          <p:nvPr/>
        </p:nvSpPr>
        <p:spPr>
          <a:xfrm>
            <a:off x="832103" y="2057400"/>
            <a:ext cx="3291840" cy="914400"/>
          </a:xfrm>
          <a:prstGeom prst="rect">
            <a:avLst/>
          </a:prstGeom>
          <a:noFill/>
        </p:spPr>
        <p:txBody>
          <a:bodyPr wrap="square" lIns="0" tIns="0" rIns="0" bIns="0" anchor="t"/>
          <a:lstStyle/>
          <a:p>
            <a:pPr marL="0" indent="0" algn="l">
              <a:buNone/>
            </a:pPr>
            <a:r>
              <a:rPr lang="ru-RU" sz="2000" b="1" i="0">
                <a:solidFill>
                  <a:srgbClr val="595959"/>
                </a:solidFill>
                <a:latin typeface="Arial" panose="020B0604020202020204" pitchFamily="34" charset="0"/>
                <a:cs typeface="Arial"/>
              </a:rPr>
              <a:t>53 из 716 отмечены</a:t>
            </a:r>
            <a:endParaRPr sz="2000" b="1" i="0">
              <a:solidFill>
                <a:srgbClr val="262626"/>
              </a:solidFill>
              <a:latin typeface="Arial" panose="020B0604020202020204" pitchFamily="34" charset="0"/>
              <a:cs typeface="Arial"/>
            </a:endParaRPr>
          </a:p>
        </p:txBody>
      </p:sp>
      <p:cxnSp>
        <p:nvCxnSpPr>
          <p:cNvPr id="76" name="Connector 75"/>
          <p:cNvCxnSpPr/>
          <p:nvPr/>
        </p:nvCxnSpPr>
        <p:spPr>
          <a:xfrm>
            <a:off x="4169664" y="1508760"/>
            <a:ext cx="0" cy="1600200"/>
          </a:xfrm>
          <a:prstGeom prst="line">
            <a:avLst/>
          </a:prstGeom>
          <a:ln w="28575">
            <a:solidFill>
              <a:srgbClr val="065CAB"/>
            </a:solidFill>
          </a:ln>
        </p:spPr>
      </p:cxnSp>
      <p:cxnSp>
        <p:nvCxnSpPr>
          <p:cNvPr id="77" name="Connector 76"/>
          <p:cNvCxnSpPr/>
          <p:nvPr/>
        </p:nvCxnSpPr>
        <p:spPr>
          <a:xfrm>
            <a:off x="4169664" y="1508760"/>
            <a:ext cx="411480" cy="0"/>
          </a:xfrm>
          <a:prstGeom prst="line">
            <a:avLst/>
          </a:prstGeom>
          <a:ln w="28575">
            <a:solidFill>
              <a:srgbClr val="065CAB"/>
            </a:solidFill>
          </a:ln>
        </p:spPr>
      </p:cxnSp>
      <p:cxnSp>
        <p:nvCxnSpPr>
          <p:cNvPr id="78" name="Connector 77"/>
          <p:cNvCxnSpPr/>
          <p:nvPr/>
        </p:nvCxnSpPr>
        <p:spPr>
          <a:xfrm>
            <a:off x="4169664" y="3108960"/>
            <a:ext cx="411480" cy="0"/>
          </a:xfrm>
          <a:prstGeom prst="line">
            <a:avLst/>
          </a:prstGeom>
          <a:ln w="28575">
            <a:solidFill>
              <a:srgbClr val="065CAB"/>
            </a:solidFill>
          </a:ln>
        </p:spPr>
      </p:cxnSp>
      <p:sp>
        <p:nvSpPr>
          <p:cNvPr id="79" name="TextBox 78"/>
          <p:cNvSpPr txBox="1"/>
          <p:nvPr/>
        </p:nvSpPr>
        <p:spPr>
          <a:xfrm>
            <a:off x="4443984" y="1554480"/>
            <a:ext cx="3200400" cy="411480"/>
          </a:xfrm>
          <a:prstGeom prst="rect">
            <a:avLst/>
          </a:prstGeom>
          <a:noFill/>
        </p:spPr>
        <p:txBody>
          <a:bodyPr wrap="square" lIns="0" tIns="0" rIns="0" bIns="0" anchor="t"/>
          <a:lstStyle/>
          <a:p>
            <a:pPr marL="0" indent="0" algn="l">
              <a:lnSpc>
                <a:spcPct val="100000"/>
              </a:lnSpc>
              <a:buNone/>
            </a:pPr>
            <a:r>
              <a:rPr lang="ru-RU" sz="1600" i="0">
                <a:solidFill>
                  <a:srgbClr val="595959"/>
                </a:solidFill>
                <a:latin typeface="Arial" panose="020B0604020202020204" pitchFamily="34" charset="0"/>
                <a:cs typeface="Arial"/>
              </a:rPr>
              <a:t>Кандидаты в выбросы: задача отношения</a:t>
            </a:r>
            <a:endParaRPr sz="1600" i="0">
              <a:solidFill>
                <a:srgbClr val="595959"/>
              </a:solidFill>
              <a:latin typeface="Arial" panose="020B0604020202020204" pitchFamily="34" charset="0"/>
              <a:cs typeface="Arial"/>
            </a:endParaRPr>
          </a:p>
        </p:txBody>
      </p:sp>
      <p:sp>
        <p:nvSpPr>
          <p:cNvPr id="80" name="TextBox 79"/>
          <p:cNvSpPr txBox="1"/>
          <p:nvPr/>
        </p:nvSpPr>
        <p:spPr>
          <a:xfrm>
            <a:off x="4443984" y="2057400"/>
            <a:ext cx="3291840" cy="914400"/>
          </a:xfrm>
          <a:prstGeom prst="rect">
            <a:avLst/>
          </a:prstGeom>
          <a:noFill/>
        </p:spPr>
        <p:txBody>
          <a:bodyPr wrap="square" lIns="0" tIns="0" rIns="0" bIns="0" anchor="t"/>
          <a:lstStyle/>
          <a:p>
            <a:pPr marL="0" indent="0" algn="l">
              <a:buNone/>
            </a:pPr>
            <a:r>
              <a:rPr lang="ru-RU" sz="2000" b="1" i="0">
                <a:solidFill>
                  <a:srgbClr val="595959"/>
                </a:solidFill>
                <a:latin typeface="Arial" panose="020B0604020202020204" pitchFamily="34" charset="0"/>
                <a:cs typeface="Arial"/>
              </a:rPr>
              <a:t>61 из 716 отмечены</a:t>
            </a:r>
            <a:endParaRPr sz="2000" b="1" i="0">
              <a:solidFill>
                <a:srgbClr val="262626"/>
              </a:solidFill>
              <a:latin typeface="Arial" panose="020B0604020202020204" pitchFamily="34" charset="0"/>
              <a:cs typeface="Arial"/>
            </a:endParaRPr>
          </a:p>
        </p:txBody>
      </p:sp>
      <p:sp>
        <p:nvSpPr>
          <p:cNvPr id="81" name="Rectangle 80"/>
          <p:cNvSpPr/>
          <p:nvPr/>
        </p:nvSpPr>
        <p:spPr>
          <a:xfrm>
            <a:off x="7909560" y="1508760"/>
            <a:ext cx="3858768" cy="1600200"/>
          </a:xfrm>
          <a:prstGeom prst="rect">
            <a:avLst/>
          </a:prstGeom>
          <a:solidFill>
            <a:srgbClr val="065CAB"/>
          </a:solidFill>
          <a:ln>
            <a:noFill/>
          </a:ln>
        </p:spPr>
        <p:txBody>
          <a:bodyPr rtlCol="0" anchor="ctr"/>
          <a:lstStyle/>
          <a:p>
            <a:pPr algn="ctr"/>
            <a:endParaRPr/>
          </a:p>
        </p:txBody>
      </p:sp>
      <p:sp>
        <p:nvSpPr>
          <p:cNvPr id="82" name="TextBox 81"/>
          <p:cNvSpPr txBox="1"/>
          <p:nvPr/>
        </p:nvSpPr>
        <p:spPr>
          <a:xfrm>
            <a:off x="8138160" y="1508760"/>
            <a:ext cx="3474720" cy="1600200"/>
          </a:xfrm>
          <a:prstGeom prst="rect">
            <a:avLst/>
          </a:prstGeom>
          <a:noFill/>
        </p:spPr>
        <p:txBody>
          <a:bodyPr wrap="square" lIns="0" tIns="0" rIns="0" bIns="0" anchor="ctr"/>
          <a:lstStyle/>
          <a:p>
            <a:pPr marL="0" indent="0" algn="l">
              <a:lnSpc>
                <a:spcPct val="100000"/>
              </a:lnSpc>
              <a:buNone/>
            </a:pPr>
            <a:r>
              <a:rPr lang="ru-RU" sz="2000" b="1" i="0">
                <a:solidFill>
                  <a:srgbClr val="FFFFFF"/>
                </a:solidFill>
                <a:latin typeface="Arial" panose="020B0604020202020204" pitchFamily="34" charset="0"/>
                <a:cs typeface="Arial"/>
              </a:rPr>
              <a:t>Итоговый вариант
все 716 строк сохранены</a:t>
            </a:r>
            <a:endParaRPr sz="2000" b="1" i="0">
              <a:solidFill>
                <a:srgbClr val="FFFFFF"/>
              </a:solidFill>
              <a:latin typeface="Arial" panose="020B0604020202020204" pitchFamily="34" charset="0"/>
              <a:cs typeface="Arial"/>
            </a:endParaRPr>
          </a:p>
        </p:txBody>
      </p:sp>
      <p:sp>
        <p:nvSpPr>
          <p:cNvPr id="83" name="TextBox 82"/>
          <p:cNvSpPr txBox="1"/>
          <p:nvPr/>
        </p:nvSpPr>
        <p:spPr>
          <a:xfrm>
            <a:off x="557784" y="3383280"/>
            <a:ext cx="11210544" cy="548640"/>
          </a:xfrm>
          <a:prstGeom prst="rect">
            <a:avLst/>
          </a:prstGeom>
          <a:noFill/>
        </p:spPr>
        <p:txBody>
          <a:bodyPr wrap="square" lIns="0" tIns="0" rIns="0" bIns="0" anchor="t"/>
          <a:lstStyle/>
          <a:p>
            <a:pPr marL="0" indent="0" algn="l">
              <a:lnSpc>
                <a:spcPct val="100000"/>
              </a:lnSpc>
              <a:buNone/>
            </a:pPr>
            <a:r>
              <a:rPr lang="ru-RU" sz="1500" i="0">
                <a:solidFill>
                  <a:srgbClr val="595959"/>
                </a:solidFill>
                <a:latin typeface="Arial" panose="020B0604020202020204" pitchFamily="34" charset="0"/>
                <a:cs typeface="Arial"/>
              </a:rPr>
              <a:t>Квартильное правило проверено как вариант предобработки. Перекрёстная проверка выбрала обучение без удаления строк.</a:t>
            </a:r>
            <a:endParaRPr sz="1500" i="0">
              <a:solidFill>
                <a:srgbClr val="595959"/>
              </a:solidFill>
              <a:latin typeface="Arial" panose="020B0604020202020204" pitchFamily="34" charset="0"/>
              <a:cs typeface="Arial"/>
            </a:endParaRPr>
          </a:p>
        </p:txBody>
      </p:sp>
      <p:sp>
        <p:nvSpPr>
          <p:cNvPr id="84" name="Rectangle 83"/>
          <p:cNvSpPr/>
          <p:nvPr/>
        </p:nvSpPr>
        <p:spPr>
          <a:xfrm>
            <a:off x="557784" y="4343400"/>
            <a:ext cx="3611880" cy="1371600"/>
          </a:xfrm>
          <a:prstGeom prst="rect">
            <a:avLst/>
          </a:prstGeom>
          <a:solidFill>
            <a:srgbClr val="E3F0FD"/>
          </a:solidFill>
          <a:ln>
            <a:noFill/>
          </a:ln>
        </p:spPr>
        <p:txBody>
          <a:bodyPr rtlCol="0" anchor="ctr"/>
          <a:lstStyle/>
          <a:p>
            <a:pPr algn="ctr"/>
            <a:endParaRPr/>
          </a:p>
        </p:txBody>
      </p:sp>
      <p:sp>
        <p:nvSpPr>
          <p:cNvPr id="85" name="TextBox 84"/>
          <p:cNvSpPr txBox="1"/>
          <p:nvPr/>
        </p:nvSpPr>
        <p:spPr>
          <a:xfrm>
            <a:off x="758952" y="4480560"/>
            <a:ext cx="3246120" cy="1188720"/>
          </a:xfrm>
          <a:prstGeom prst="rect">
            <a:avLst/>
          </a:prstGeom>
          <a:noFill/>
        </p:spPr>
        <p:txBody>
          <a:bodyPr wrap="square" lIns="0" tIns="0" rIns="0" bIns="0" anchor="t"/>
          <a:lstStyle/>
          <a:p>
            <a:pPr marL="0" indent="0" algn="l">
              <a:lnSpc>
                <a:spcPct val="100000"/>
              </a:lnSpc>
              <a:buNone/>
            </a:pPr>
            <a:r>
              <a:rPr lang="ru-RU" sz="1500" i="0">
                <a:solidFill>
                  <a:srgbClr val="065CAB"/>
                </a:solidFill>
                <a:latin typeface="Arial" panose="020B0604020202020204" pitchFamily="34" charset="0"/>
                <a:cs typeface="Arial"/>
              </a:rPr>
              <a:t>Угол 0° / 90°
закодирован как 0 / 1</a:t>
            </a:r>
            <a:endParaRPr sz="1500" i="0">
              <a:solidFill>
                <a:srgbClr val="262626"/>
              </a:solidFill>
              <a:latin typeface="Arial" panose="020B0604020202020204" pitchFamily="34" charset="0"/>
              <a:cs typeface="Arial"/>
            </a:endParaRPr>
          </a:p>
        </p:txBody>
      </p:sp>
      <p:sp>
        <p:nvSpPr>
          <p:cNvPr id="86" name="Rectangle 85"/>
          <p:cNvSpPr/>
          <p:nvPr/>
        </p:nvSpPr>
        <p:spPr>
          <a:xfrm>
            <a:off x="4334256" y="4343400"/>
            <a:ext cx="3611880" cy="1371600"/>
          </a:xfrm>
          <a:prstGeom prst="rect">
            <a:avLst/>
          </a:prstGeom>
          <a:solidFill>
            <a:srgbClr val="E3F0FD"/>
          </a:solidFill>
          <a:ln>
            <a:noFill/>
          </a:ln>
        </p:spPr>
        <p:txBody>
          <a:bodyPr rtlCol="0" anchor="ctr"/>
          <a:lstStyle/>
          <a:p>
            <a:pPr algn="ctr"/>
            <a:endParaRPr/>
          </a:p>
        </p:txBody>
      </p:sp>
      <p:sp>
        <p:nvSpPr>
          <p:cNvPr id="87" name="TextBox 86"/>
          <p:cNvSpPr txBox="1"/>
          <p:nvPr/>
        </p:nvSpPr>
        <p:spPr>
          <a:xfrm>
            <a:off x="4535424"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Масштабирование
приводит признаки к сопоставимому масштабу</a:t>
            </a:r>
            <a:endParaRPr i="0">
              <a:solidFill>
                <a:srgbClr val="262626"/>
              </a:solidFill>
              <a:latin typeface="Arial" panose="020B0604020202020204" pitchFamily="34" charset="0"/>
              <a:cs typeface="Arial"/>
            </a:endParaRPr>
          </a:p>
        </p:txBody>
      </p:sp>
      <p:sp>
        <p:nvSpPr>
          <p:cNvPr id="88" name="Rectangle 87"/>
          <p:cNvSpPr/>
          <p:nvPr/>
        </p:nvSpPr>
        <p:spPr>
          <a:xfrm>
            <a:off x="8110727" y="4343400"/>
            <a:ext cx="3611880" cy="1371600"/>
          </a:xfrm>
          <a:prstGeom prst="rect">
            <a:avLst/>
          </a:prstGeom>
          <a:solidFill>
            <a:srgbClr val="E3F0FD"/>
          </a:solidFill>
          <a:ln>
            <a:noFill/>
          </a:ln>
        </p:spPr>
        <p:txBody>
          <a:bodyPr rtlCol="0" anchor="ctr"/>
          <a:lstStyle/>
          <a:p>
            <a:pPr algn="ctr"/>
            <a:endParaRPr/>
          </a:p>
        </p:txBody>
      </p:sp>
      <p:sp>
        <p:nvSpPr>
          <p:cNvPr id="89" name="TextBox 88"/>
          <p:cNvSpPr txBox="1"/>
          <p:nvPr/>
        </p:nvSpPr>
        <p:spPr>
          <a:xfrm>
            <a:off x="8311896" y="4480560"/>
            <a:ext cx="3246120" cy="1188720"/>
          </a:xfrm>
          <a:prstGeom prst="rect">
            <a:avLst/>
          </a:prstGeom>
          <a:noFill/>
        </p:spPr>
        <p:txBody>
          <a:bodyPr wrap="square" lIns="0" tIns="0" rIns="0" bIns="0" anchor="t"/>
          <a:lstStyle/>
          <a:p>
            <a:pPr marL="0" indent="0" algn="l">
              <a:lnSpc>
                <a:spcPct val="100000"/>
              </a:lnSpc>
              <a:buNone/>
            </a:pPr>
            <a:r>
              <a:rPr lang="ru-RU" i="0">
                <a:solidFill>
                  <a:srgbClr val="065CAB"/>
                </a:solidFill>
                <a:latin typeface="Arial" panose="020B0604020202020204" pitchFamily="34" charset="0"/>
                <a:cs typeface="Arial"/>
              </a:rPr>
              <a:t>Применено внутри каждой проверки
для Ridge, SVR и нейросети</a:t>
            </a:r>
            <a:endParaRPr i="0">
              <a:solidFill>
                <a:srgbClr val="262626"/>
              </a:solidFill>
              <a:latin typeface="Arial" panose="020B0604020202020204" pitchFamily="34" charset="0"/>
              <a:cs typeface="Arial"/>
            </a:endParaRPr>
          </a:p>
        </p:txBody>
      </p:sp>
      <p:sp>
        <p:nvSpPr>
          <p:cNvPr id="90"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разд. 2.1.3</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7</a:t>
            </a:fld>
            <a:endParaRPr lang="ru-RU" dirty="0">
              <a:latin typeface="Arial" panose="020B0604020202020204" pitchFamily="34" charset="0"/>
              <a:cs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092713" cy="666000"/>
            <a:chOff x="0" y="0"/>
            <a:chExt cx="60927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0927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Разработка, обучение и выбор моделей</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0026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9"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i="0">
                <a:solidFill>
                  <a:srgbClr val="595959"/>
                </a:solidFill>
                <a:latin typeface="Arial" panose="020B0604020202020204" pitchFamily="34" charset="0"/>
                <a:cs typeface="Arial"/>
              </a:rPr>
              <a:t>Источник: РПЗ, рис. 7; </a:t>
            </a:r>
            <a:r>
              <a:rPr lang="en-US" sz="1600" i="0">
                <a:solidFill>
                  <a:srgbClr val="595959"/>
                </a:solidFill>
                <a:latin typeface="Arial" panose="020B0604020202020204" pitchFamily="34" charset="0"/>
                <a:cs typeface="Arial"/>
              </a:rPr>
              <a:t>docs/validation_protocol.md</a:t>
            </a:r>
            <a:endParaRPr sz="160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8</a:t>
            </a:fld>
            <a:endParaRPr lang="ru-RU" dirty="0">
              <a:latin typeface="Arial" panose="020B0604020202020204" pitchFamily="34" charset="0"/>
              <a:cs typeface="Arial"/>
            </a:endParaRPr>
          </a:p>
        </p:txBody>
      </p:sp>
      <p:sp>
        <p:nvSpPr>
          <p:cNvPr id="2" name="ProtocolStep1">
            <a:extLst>
              <a:ext uri="{FF2B5EF4-FFF2-40B4-BE49-F238E27FC236}">
                <a16:creationId xmlns:a16="http://schemas.microsoft.com/office/drawing/2014/main" id="{9FBA58AF-956C-48ED-A159-04361E526A47}"/>
              </a:ext>
            </a:extLst>
          </p:cNvPr>
          <p:cNvSpPr/>
          <p:nvPr/>
        </p:nvSpPr>
        <p:spPr>
          <a:xfrm>
            <a:off x="57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1
Исходные данные
1023 строки</a:t>
            </a:r>
          </a:p>
        </p:txBody>
      </p:sp>
      <p:cxnSp>
        <p:nvCxnSpPr>
          <p:cNvPr id="3" name="ProtocolArrow1">
            <a:extLst>
              <a:ext uri="{FF2B5EF4-FFF2-40B4-BE49-F238E27FC236}">
                <a16:creationId xmlns:a16="http://schemas.microsoft.com/office/drawing/2014/main" id="{EA998185-B7EB-4623-AA94-E39214B63C8A}"/>
              </a:ext>
            </a:extLst>
          </p:cNvPr>
          <p:cNvCxnSpPr/>
          <p:nvPr/>
        </p:nvCxnSpPr>
        <p:spPr>
          <a:xfrm>
            <a:off x="215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5" name="ProtocolStep2">
            <a:extLst>
              <a:ext uri="{FF2B5EF4-FFF2-40B4-BE49-F238E27FC236}">
                <a16:creationId xmlns:a16="http://schemas.microsoft.com/office/drawing/2014/main" id="{45FCEF45-3809-4CDC-A8CE-204C9A5976C5}"/>
              </a:ext>
            </a:extLst>
          </p:cNvPr>
          <p:cNvSpPr/>
          <p:nvPr/>
        </p:nvSpPr>
        <p:spPr>
          <a:xfrm>
            <a:off x="2476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2
Разделение 70 / 30
716 – обучающая
307 – тестовая</a:t>
            </a:r>
          </a:p>
        </p:txBody>
      </p:sp>
      <p:cxnSp>
        <p:nvCxnSpPr>
          <p:cNvPr id="6" name="ProtocolArrow2">
            <a:extLst>
              <a:ext uri="{FF2B5EF4-FFF2-40B4-BE49-F238E27FC236}">
                <a16:creationId xmlns:a16="http://schemas.microsoft.com/office/drawing/2014/main" id="{F4534B64-DAA5-4520-A816-E4E1E8684E58}"/>
              </a:ext>
            </a:extLst>
          </p:cNvPr>
          <p:cNvCxnSpPr/>
          <p:nvPr/>
        </p:nvCxnSpPr>
        <p:spPr>
          <a:xfrm>
            <a:off x="4064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7" name="ProtocolStep3">
            <a:extLst>
              <a:ext uri="{FF2B5EF4-FFF2-40B4-BE49-F238E27FC236}">
                <a16:creationId xmlns:a16="http://schemas.microsoft.com/office/drawing/2014/main" id="{E28D10C8-A293-407B-8574-1A237A4FD148}"/>
              </a:ext>
            </a:extLst>
          </p:cNvPr>
          <p:cNvSpPr/>
          <p:nvPr/>
        </p:nvSpPr>
        <p:spPr>
          <a:xfrm>
            <a:off x="438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3
10 блоков
9 частей учатся
1 часть проверяется</a:t>
            </a:r>
          </a:p>
        </p:txBody>
      </p:sp>
      <p:cxnSp>
        <p:nvCxnSpPr>
          <p:cNvPr id="8" name="ProtocolArrow3">
            <a:extLst>
              <a:ext uri="{FF2B5EF4-FFF2-40B4-BE49-F238E27FC236}">
                <a16:creationId xmlns:a16="http://schemas.microsoft.com/office/drawing/2014/main" id="{D63EFA29-62D2-4998-867B-0521D7618B81}"/>
              </a:ext>
            </a:extLst>
          </p:cNvPr>
          <p:cNvCxnSpPr/>
          <p:nvPr/>
        </p:nvCxnSpPr>
        <p:spPr>
          <a:xfrm>
            <a:off x="596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9" name="ProtocolStep4">
            <a:extLst>
              <a:ext uri="{FF2B5EF4-FFF2-40B4-BE49-F238E27FC236}">
                <a16:creationId xmlns:a16="http://schemas.microsoft.com/office/drawing/2014/main" id="{CAC1052B-9958-4434-B8D5-E5A88D2C895A}"/>
              </a:ext>
            </a:extLst>
          </p:cNvPr>
          <p:cNvSpPr/>
          <p:nvPr/>
        </p:nvSpPr>
        <p:spPr>
          <a:xfrm>
            <a:off x="6286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4
Настройка модели
по сетке</a:t>
            </a:r>
          </a:p>
        </p:txBody>
      </p:sp>
      <p:cxnSp>
        <p:nvCxnSpPr>
          <p:cNvPr id="10" name="ProtocolArrow4">
            <a:extLst>
              <a:ext uri="{FF2B5EF4-FFF2-40B4-BE49-F238E27FC236}">
                <a16:creationId xmlns:a16="http://schemas.microsoft.com/office/drawing/2014/main" id="{9E77D747-5578-4393-B957-0E7156AF554B}"/>
              </a:ext>
            </a:extLst>
          </p:cNvPr>
          <p:cNvCxnSpPr/>
          <p:nvPr/>
        </p:nvCxnSpPr>
        <p:spPr>
          <a:xfrm>
            <a:off x="7874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11" name="ProtocolStep5">
            <a:extLst>
              <a:ext uri="{FF2B5EF4-FFF2-40B4-BE49-F238E27FC236}">
                <a16:creationId xmlns:a16="http://schemas.microsoft.com/office/drawing/2014/main" id="{CD1DF90D-3100-43E6-86E4-A8AAFB23661D}"/>
              </a:ext>
            </a:extLst>
          </p:cNvPr>
          <p:cNvSpPr/>
          <p:nvPr/>
        </p:nvSpPr>
        <p:spPr>
          <a:xfrm>
            <a:off x="8191500" y="2095500"/>
            <a:ext cx="1587500" cy="1422400"/>
          </a:xfrm>
          <a:prstGeom prst="roundRect">
            <a:avLst/>
          </a:prstGeom>
          <a:solidFill>
            <a:srgbClr val="DCE9F6"/>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5
Выбранная модель
обучается на 716 строках</a:t>
            </a:r>
          </a:p>
        </p:txBody>
      </p:sp>
      <p:cxnSp>
        <p:nvCxnSpPr>
          <p:cNvPr id="12" name="ProtocolArrow5">
            <a:extLst>
              <a:ext uri="{FF2B5EF4-FFF2-40B4-BE49-F238E27FC236}">
                <a16:creationId xmlns:a16="http://schemas.microsoft.com/office/drawing/2014/main" id="{C13A9BF7-E43D-4D3A-901F-93E942D7D8F2}"/>
              </a:ext>
            </a:extLst>
          </p:cNvPr>
          <p:cNvCxnSpPr/>
          <p:nvPr/>
        </p:nvCxnSpPr>
        <p:spPr>
          <a:xfrm>
            <a:off x="9779000" y="2806700"/>
            <a:ext cx="317500" cy="0"/>
          </a:xfrm>
          <a:prstGeom prst="straightConnector1">
            <a:avLst/>
          </a:prstGeom>
          <a:ln w="25400">
            <a:solidFill>
              <a:srgbClr val="0E5DAB"/>
            </a:solidFill>
            <a:tailEnd type="arrow"/>
          </a:ln>
        </p:spPr>
        <p:style>
          <a:lnRef idx="1">
            <a:schemeClr val="accent1"/>
          </a:lnRef>
          <a:fillRef idx="0">
            <a:schemeClr val="accent1"/>
          </a:fillRef>
          <a:effectRef idx="0">
            <a:schemeClr val="accent1"/>
          </a:effectRef>
          <a:fontRef idx="minor">
            <a:schemeClr val="tx1"/>
          </a:fontRef>
        </p:style>
      </p:cxnSp>
      <p:sp>
        <p:nvSpPr>
          <p:cNvPr id="13" name="ProtocolStep6">
            <a:extLst>
              <a:ext uri="{FF2B5EF4-FFF2-40B4-BE49-F238E27FC236}">
                <a16:creationId xmlns:a16="http://schemas.microsoft.com/office/drawing/2014/main" id="{223F862C-189C-4EC8-B58D-7EB3646DFD8D}"/>
              </a:ext>
            </a:extLst>
          </p:cNvPr>
          <p:cNvSpPr/>
          <p:nvPr/>
        </p:nvSpPr>
        <p:spPr>
          <a:xfrm>
            <a:off x="10096500" y="2095500"/>
            <a:ext cx="1587500" cy="1422400"/>
          </a:xfrm>
          <a:prstGeom prst="roundRect">
            <a:avLst/>
          </a:prstGeom>
          <a:solidFill>
            <a:srgbClr val="FFC000"/>
          </a:solidFill>
          <a:ln w="19050">
            <a:solidFill>
              <a:srgbClr val="0E5DA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ru-RU" sz="1300">
                <a:solidFill>
                  <a:srgbClr val="262626"/>
                </a:solidFill>
                <a:latin typeface="Arial" panose="020B0604020202020204" pitchFamily="34" charset="0"/>
              </a:rPr>
              <a:t>Шаг 6
Одна итоговая проверка
на 307 строках</a:t>
            </a:r>
          </a:p>
        </p:txBody>
      </p:sp>
      <p:sp>
        <p:nvSpPr>
          <p:cNvPr id="14" name="ProtocolRule">
            <a:extLst>
              <a:ext uri="{FF2B5EF4-FFF2-40B4-BE49-F238E27FC236}">
                <a16:creationId xmlns:a16="http://schemas.microsoft.com/office/drawing/2014/main" id="{E5336EF0-7172-4304-AFAB-6BEA2328F67B}"/>
              </a:ext>
            </a:extLst>
          </p:cNvPr>
          <p:cNvSpPr txBox="1"/>
          <p:nvPr/>
        </p:nvSpPr>
        <p:spPr>
          <a:xfrm>
            <a:off x="825500" y="4000500"/>
            <a:ext cx="10541000" cy="646331"/>
          </a:xfrm>
          <a:prstGeom prst="rect">
            <a:avLst/>
          </a:prstGeom>
          <a:noFill/>
        </p:spPr>
        <p:txBody>
          <a:bodyPr vert="horz" wrap="square" rtlCol="0">
            <a:spAutoFit/>
          </a:bodyPr>
          <a:lstStyle/>
          <a:p>
            <a:pPr algn="l"/>
            <a:r>
              <a:rPr lang="ru-RU" sz="1800" b="1">
                <a:solidFill>
                  <a:srgbClr val="0E5DAB"/>
                </a:solidFill>
                <a:latin typeface="Arial" panose="020B0604020202020204" pitchFamily="34" charset="0"/>
              </a:rPr>
              <a:t>В каждом цикле предобработка и модель обучаются заново. Тестовая выборка не участвует в выборе.</a:t>
            </a:r>
            <a:endParaRPr lang="ru-RU" sz="1800" b="1" dirty="0">
              <a:solidFill>
                <a:srgbClr val="0E5DAB"/>
              </a:solidFill>
              <a:latin typeface="Arial" panose="020B0604020202020204" pitchFamily="34" charset="0"/>
            </a:endParaRPr>
          </a:p>
        </p:txBody>
      </p:sp>
      <p:sp>
        <p:nvSpPr>
          <p:cNvPr id="15" name="ProtocolMetric">
            <a:extLst>
              <a:ext uri="{FF2B5EF4-FFF2-40B4-BE49-F238E27FC236}">
                <a16:creationId xmlns:a16="http://schemas.microsoft.com/office/drawing/2014/main" id="{9E91C863-2DD8-4CA7-B746-1494FB1C5CD5}"/>
              </a:ext>
            </a:extLst>
          </p:cNvPr>
          <p:cNvSpPr txBox="1"/>
          <p:nvPr/>
        </p:nvSpPr>
        <p:spPr>
          <a:xfrm>
            <a:off x="825500" y="5080000"/>
            <a:ext cx="10541000" cy="615553"/>
          </a:xfrm>
          <a:prstGeom prst="rect">
            <a:avLst/>
          </a:prstGeom>
          <a:noFill/>
        </p:spPr>
        <p:txBody>
          <a:bodyPr vert="horz" wrap="square" rtlCol="0">
            <a:spAutoFit/>
          </a:bodyPr>
          <a:lstStyle/>
          <a:p>
            <a:pPr algn="l"/>
            <a:r>
              <a:rPr lang="ru-RU" sz="1700">
                <a:latin typeface="Arial" panose="020B0604020202020204" pitchFamily="34" charset="0"/>
              </a:rPr>
              <a:t>Критерий выбора: средняя RMSE – ошибка в единицах свойства, которая сильнее учитывает крупные промахи.</a:t>
            </a:r>
            <a:endParaRPr lang="ru-RU" sz="1700" dirty="0">
              <a:latin typeface="Arial" panose="020B0604020202020204" pitchFamily="34" charset="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Тестирование модуля упругости при растяжении</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modulus.png"/>
          <p:cNvPicPr>
            <a:picLocks noChangeAspect="1"/>
          </p:cNvPicPr>
          <p:nvPr/>
        </p:nvPicPr>
        <p:blipFill>
          <a:blip r:embed="rId3"/>
          <a:stretch>
            <a:fillRect/>
          </a:stretch>
        </p:blipFill>
        <p:spPr>
          <a:xfrm>
            <a:off x="6012132" y="1481328"/>
            <a:ext cx="5756195" cy="4754880"/>
          </a:xfrm>
          <a:prstGeom prst="rect">
            <a:avLst/>
          </a:prstGeom>
          <a:ln w="9525">
            <a:solidFill>
              <a:srgbClr val="D9D9D9"/>
            </a:solidFill>
          </a:ln>
        </p:spPr>
      </p:pic>
      <p:sp>
        <p:nvSpPr>
          <p:cNvPr id="72" name="TextBox 71"/>
          <p:cNvSpPr txBox="1"/>
          <p:nvPr/>
        </p:nvSpPr>
        <p:spPr>
          <a:xfrm>
            <a:off x="557784" y="1481328"/>
            <a:ext cx="5120640" cy="822960"/>
          </a:xfrm>
          <a:prstGeom prst="rect">
            <a:avLst/>
          </a:prstGeom>
          <a:noFill/>
        </p:spPr>
        <p:txBody>
          <a:bodyPr wrap="square" lIns="0" tIns="0" rIns="0" bIns="0" anchor="t"/>
          <a:lstStyle/>
          <a:p>
            <a:pPr marL="0" indent="0" algn="l">
              <a:lnSpc>
                <a:spcPct val="100000"/>
              </a:lnSpc>
              <a:buNone/>
            </a:pPr>
            <a:r>
              <a:rPr lang="ru-RU" b="1" i="0">
                <a:solidFill>
                  <a:srgbClr val="F1BE29"/>
                </a:solidFill>
                <a:latin typeface="Arial" panose="020B0604020202020204" pitchFamily="34" charset="0"/>
                <a:cs typeface="Arial"/>
              </a:rPr>
              <a:t>Выбор по перекрёстной проверке: прогноз среднего, RMSE 3,087 ГПа
MAE – средняя абсолютная ошибка; R² сравнивает модель с прогнозом среднего и не является процентом точности</a:t>
            </a:r>
            <a:endParaRPr b="1" i="0">
              <a:solidFill>
                <a:srgbClr val="F1BE29"/>
              </a:solidFill>
              <a:latin typeface="Arial" panose="020B0604020202020204" pitchFamily="34" charset="0"/>
              <a:cs typeface="Arial"/>
            </a:endParaRPr>
          </a:p>
        </p:txBody>
      </p:sp>
      <p:graphicFrame>
        <p:nvGraphicFramePr>
          <p:cNvPr id="73" name="Метрики модуля"/>
          <p:cNvGraphicFramePr>
            <a:graphicFrameLocks noGrp="1"/>
          </p:cNvGraphicFramePr>
          <p:nvPr>
            <p:extLst>
              <p:ext uri="{D42A27DB-BD31-4B8C-83A1-F6EECF244321}">
                <p14:modId xmlns:p14="http://schemas.microsoft.com/office/powerpoint/2010/main" val="73827123"/>
              </p:ext>
            </p:extLst>
          </p:nvPr>
        </p:nvGraphicFramePr>
        <p:xfrm>
          <a:off x="557784" y="2377440"/>
          <a:ext cx="5120640" cy="219456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69164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548640">
                <a:tc>
                  <a:txBody>
                    <a:bodyPr/>
                    <a:lstStyle/>
                    <a:p>
                      <a:pPr marL="0" indent="0" algn="l">
                        <a:buNone/>
                      </a:pPr>
                      <a:r>
                        <a:rPr sz="1800" b="1" i="0">
                          <a:solidFill>
                            <a:srgbClr val="FFFFFF"/>
                          </a:solidFill>
                          <a:latin typeface="Arial" panose="020B0604020202020204" pitchFamily="34" charset="0"/>
                          <a:cs typeface="Arial"/>
                        </a:rPr>
                        <a:t>Метрика</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обучение, </a:t>
                      </a:r>
                      <a:r>
                        <a:rPr lang="en-US" sz="1300" b="1" i="0">
                          <a:solidFill>
                            <a:srgbClr val="FFFFFF"/>
                          </a:solidFill>
                          <a:latin typeface="Arial" panose="020B0604020202020204" pitchFamily="34" charset="0"/>
                          <a:cs typeface="Arial"/>
                        </a:rPr>
                        <a:t>n = 716</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тест, </a:t>
                      </a:r>
                      <a:r>
                        <a:rPr lang="en-US" sz="1300" b="1" i="0">
                          <a:solidFill>
                            <a:srgbClr val="FFFFFF"/>
                          </a:solidFill>
                          <a:latin typeface="Arial" panose="020B0604020202020204" pitchFamily="34" charset="0"/>
                          <a:cs typeface="Arial"/>
                        </a:rPr>
                        <a:t>n = 307</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548640">
                <a:tc>
                  <a:txBody>
                    <a:bodyPr/>
                    <a:lstStyle/>
                    <a:p>
                      <a:pPr marL="0" indent="0" algn="l">
                        <a:buNone/>
                      </a:pPr>
                      <a:r>
                        <a:rPr sz="2000" b="0" i="0">
                          <a:solidFill>
                            <a:srgbClr val="262626"/>
                          </a:solidFill>
                          <a:latin typeface="Arial" panose="020B0604020202020204" pitchFamily="34" charset="0"/>
                          <a:cs typeface="Arial"/>
                        </a:rPr>
                        <a:t>RMSE, ГПа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0" i="0">
                          <a:solidFill>
                            <a:srgbClr val="262626"/>
                          </a:solidFill>
                          <a:latin typeface="Arial" panose="020B0604020202020204" pitchFamily="34" charset="0"/>
                          <a:cs typeface="Arial"/>
                        </a:rPr>
                        <a:t>3,095</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2000" b="1" i="0">
                          <a:solidFill>
                            <a:srgbClr val="262626"/>
                          </a:solidFill>
                          <a:latin typeface="Arial" panose="020B0604020202020204" pitchFamily="34" charset="0"/>
                          <a:cs typeface="Arial"/>
                        </a:rPr>
                        <a:t>3,178</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548640">
                <a:tc>
                  <a:txBody>
                    <a:bodyPr/>
                    <a:lstStyle/>
                    <a:p>
                      <a:pPr marL="0" indent="0" algn="l">
                        <a:buNone/>
                      </a:pPr>
                      <a:r>
                        <a:rPr sz="2000" b="0" i="0">
                          <a:solidFill>
                            <a:srgbClr val="262626"/>
                          </a:solidFill>
                          <a:latin typeface="Arial" panose="020B0604020202020204" pitchFamily="34" charset="0"/>
                          <a:cs typeface="Arial"/>
                        </a:rPr>
                        <a:t>MAE, ГПа</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2,480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2,556</a:t>
                      </a:r>
                    </a:p>
                  </a:txBody>
                  <a:tcPr marT="27432" marB="27432" anchor="ctr">
                    <a:noFill/>
                  </a:tcPr>
                </a:tc>
                <a:extLst>
                  <a:ext uri="{0D108BD9-81ED-4DB2-BD59-A6C34878D82A}">
                    <a16:rowId xmlns:a16="http://schemas.microsoft.com/office/drawing/2014/main" val="10002"/>
                  </a:ext>
                </a:extLst>
              </a:tr>
              <a:tr h="548640">
                <a:tc>
                  <a:txBody>
                    <a:bodyPr/>
                    <a:lstStyle/>
                    <a:p>
                      <a:pPr marL="0" indent="0" algn="l">
                        <a:buNone/>
                      </a:pPr>
                      <a:r>
                        <a:rPr sz="20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2000" b="0" i="0">
                          <a:solidFill>
                            <a:srgbClr val="262626"/>
                          </a:solidFill>
                          <a:latin typeface="Arial" panose="020B0604020202020204" pitchFamily="34" charset="0"/>
                          <a:cs typeface="Arial"/>
                        </a:rPr>
                        <a:t>0,000</a:t>
                      </a:r>
                    </a:p>
                  </a:txBody>
                  <a:tcPr marT="27432" marB="27432" anchor="ctr">
                    <a:noFill/>
                  </a:tcPr>
                </a:tc>
                <a:tc>
                  <a:txBody>
                    <a:bodyPr/>
                    <a:lstStyle/>
                    <a:p>
                      <a:pPr marL="0" indent="0" algn="r">
                        <a:buNone/>
                      </a:pPr>
                      <a:r>
                        <a:rPr sz="2000" b="1" i="0">
                          <a:solidFill>
                            <a:srgbClr val="262626"/>
                          </a:solidFill>
                          <a:latin typeface="Arial" panose="020B0604020202020204" pitchFamily="34" charset="0"/>
                          <a:cs typeface="Arial"/>
                        </a:rPr>
                        <a:t>−0,016</a:t>
                      </a:r>
                    </a:p>
                  </a:txBody>
                  <a:tcPr marT="27432" marB="27432" anchor="ctr">
                    <a:noFill/>
                  </a:tcPr>
                </a:tc>
                <a:extLst>
                  <a:ext uri="{0D108BD9-81ED-4DB2-BD59-A6C34878D82A}">
                    <a16:rowId xmlns:a16="http://schemas.microsoft.com/office/drawing/2014/main" val="10003"/>
                  </a:ext>
                </a:extLst>
              </a:tr>
            </a:tbl>
          </a:graphicData>
        </a:graphic>
      </p:graphicFrame>
      <p:cxnSp>
        <p:nvCxnSpPr>
          <p:cNvPr id="74" name="Connector 73"/>
          <p:cNvCxnSpPr/>
          <p:nvPr/>
        </p:nvCxnSpPr>
        <p:spPr>
          <a:xfrm>
            <a:off x="557784" y="4800600"/>
            <a:ext cx="0" cy="1325880"/>
          </a:xfrm>
          <a:prstGeom prst="line">
            <a:avLst/>
          </a:prstGeom>
          <a:ln w="25400">
            <a:solidFill>
              <a:srgbClr val="065CAB"/>
            </a:solidFill>
          </a:ln>
        </p:spPr>
      </p:cxnSp>
      <p:cxnSp>
        <p:nvCxnSpPr>
          <p:cNvPr id="75" name="Connector 74"/>
          <p:cNvCxnSpPr/>
          <p:nvPr/>
        </p:nvCxnSpPr>
        <p:spPr>
          <a:xfrm>
            <a:off x="557784" y="480060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4873752"/>
            <a:ext cx="4864607" cy="1179576"/>
          </a:xfrm>
          <a:prstGeom prst="rect">
            <a:avLst/>
          </a:prstGeom>
          <a:noFill/>
        </p:spPr>
        <p:txBody>
          <a:bodyPr wrap="square" lIns="0" tIns="0" rIns="0" bIns="0" anchor="ctr"/>
          <a:lstStyle/>
          <a:p>
            <a:pPr marL="0" indent="0" algn="l">
              <a:buNone/>
            </a:pPr>
            <a:r>
              <a:rPr lang="ru-RU" sz="1500" i="0">
                <a:solidFill>
                  <a:srgbClr val="262626"/>
                </a:solidFill>
                <a:latin typeface="Arial" panose="020B0604020202020204" pitchFamily="34" charset="0"/>
                <a:cs typeface="Arial"/>
              </a:rPr>
              <a:t>Горизонталь – фактическое значение, вертикаль – прогноз
Диагональ означает идеальный прогноз; горизонтальная полоса – постоянный прогноз</a:t>
            </a:r>
            <a:endParaRPr sz="1500" i="0">
              <a:solidFill>
                <a:srgbClr val="262626"/>
              </a:solidFill>
              <a:latin typeface="Arial" panose="020B0604020202020204" pitchFamily="34" charset="0"/>
              <a:cs typeface="Arial"/>
            </a:endParaRPr>
          </a:p>
        </p:txBody>
      </p:sp>
      <p:sp>
        <p:nvSpPr>
          <p:cNvPr id="7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рис. 8; </a:t>
            </a:r>
            <a:r>
              <a:rPr lang="en-US" sz="1600" b="0" i="0">
                <a:solidFill>
                  <a:srgbClr val="595959"/>
                </a:solidFill>
                <a:latin typeface="Arial" panose="020B0604020202020204" pitchFamily="34" charset="0"/>
                <a:cs typeface="Arial"/>
              </a:rPr>
              <a:t>reports/evaluation/metrics.csv</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9</a:t>
            </a:fld>
            <a:endParaRPr lang="ru-RU" dirty="0">
              <a:latin typeface="Arial" panose="020B0604020202020204" pitchFamily="34" charset="0"/>
              <a:cs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090153" cy="666000"/>
            <a:chOff x="0" y="0"/>
            <a:chExt cx="809015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09015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Тестирование прочности: улучшение не подтверждено</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00010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va_strength.png"/>
          <p:cNvPicPr>
            <a:picLocks noChangeAspect="1"/>
          </p:cNvPicPr>
          <p:nvPr/>
        </p:nvPicPr>
        <p:blipFill>
          <a:blip r:embed="rId3"/>
          <a:stretch>
            <a:fillRect/>
          </a:stretch>
        </p:blipFill>
        <p:spPr>
          <a:xfrm>
            <a:off x="5890493" y="1417320"/>
            <a:ext cx="5877834" cy="4800600"/>
          </a:xfrm>
          <a:prstGeom prst="rect">
            <a:avLst/>
          </a:prstGeom>
          <a:ln w="9525">
            <a:solidFill>
              <a:srgbClr val="D9D9D9"/>
            </a:solidFill>
          </a:ln>
        </p:spPr>
      </p:pic>
      <p:graphicFrame>
        <p:nvGraphicFramePr>
          <p:cNvPr id="72" name="Метрики прочности"/>
          <p:cNvGraphicFramePr>
            <a:graphicFrameLocks noGrp="1"/>
          </p:cNvGraphicFramePr>
          <p:nvPr>
            <p:extLst>
              <p:ext uri="{D42A27DB-BD31-4B8C-83A1-F6EECF244321}">
                <p14:modId xmlns:p14="http://schemas.microsoft.com/office/powerpoint/2010/main" val="84380366"/>
              </p:ext>
            </p:extLst>
          </p:nvPr>
        </p:nvGraphicFramePr>
        <p:xfrm>
          <a:off x="557784" y="1463040"/>
          <a:ext cx="5257800" cy="1975104"/>
        </p:xfrm>
        <a:graphic>
          <a:graphicData uri="http://schemas.openxmlformats.org/drawingml/2006/table">
            <a:tbl>
              <a:tblPr>
                <a:tableStyleId>{2D5ABB26-0587-4C30-8999-92F81FD0307C}</a:tableStyleId>
              </a:tblPr>
              <a:tblGrid>
                <a:gridCol w="21488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93776">
                <a:tc>
                  <a:txBody>
                    <a:bodyPr/>
                    <a:lstStyle/>
                    <a:p>
                      <a:pPr marL="0" indent="0" algn="l">
                        <a:buNone/>
                      </a:pPr>
                      <a:r>
                        <a:rPr sz="1700" b="1" i="0">
                          <a:solidFill>
                            <a:srgbClr val="FFFFFF"/>
                          </a:solidFill>
                          <a:latin typeface="Arial" panose="020B0604020202020204" pitchFamily="34" charset="0"/>
                          <a:cs typeface="Arial"/>
                        </a:rPr>
                        <a:t>Gradient Boosting</a:t>
                      </a: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обучение, </a:t>
                      </a:r>
                      <a:r>
                        <a:rPr lang="en-US" sz="1300" b="1" i="0">
                          <a:solidFill>
                            <a:srgbClr val="FFFFFF"/>
                          </a:solidFill>
                          <a:latin typeface="Arial" panose="020B0604020202020204" pitchFamily="34" charset="0"/>
                          <a:cs typeface="Arial"/>
                        </a:rPr>
                        <a:t>n = 716</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1300" b="1" i="0">
                          <a:solidFill>
                            <a:srgbClr val="FFFFFF"/>
                          </a:solidFill>
                          <a:latin typeface="Arial" panose="020B0604020202020204" pitchFamily="34" charset="0"/>
                          <a:cs typeface="Arial"/>
                        </a:rPr>
                        <a:t>тест, </a:t>
                      </a:r>
                      <a:r>
                        <a:rPr lang="en-US" sz="1300" b="1" i="0">
                          <a:solidFill>
                            <a:srgbClr val="FFFFFF"/>
                          </a:solidFill>
                          <a:latin typeface="Arial" panose="020B0604020202020204" pitchFamily="34" charset="0"/>
                          <a:cs typeface="Arial"/>
                        </a:rPr>
                        <a:t>n = 307</a:t>
                      </a:r>
                      <a:endParaRPr sz="13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493776">
                <a:tc>
                  <a:txBody>
                    <a:bodyPr/>
                    <a:lstStyle/>
                    <a:p>
                      <a:pPr marL="0" indent="0" algn="l">
                        <a:buNone/>
                      </a:pPr>
                      <a:r>
                        <a:rPr sz="1900" b="0" i="0">
                          <a:solidFill>
                            <a:srgbClr val="262626"/>
                          </a:solidFill>
                          <a:latin typeface="Arial" panose="020B0604020202020204" pitchFamily="34" charset="0"/>
                          <a:cs typeface="Arial"/>
                        </a:rPr>
                        <a:t>RMSE, МПа</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0" i="0">
                          <a:solidFill>
                            <a:srgbClr val="262626"/>
                          </a:solidFill>
                          <a:latin typeface="Arial" panose="020B0604020202020204" pitchFamily="34" charset="0"/>
                          <a:cs typeface="Arial"/>
                        </a:rPr>
                        <a:t>447,149</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900" b="1" i="0">
                          <a:solidFill>
                            <a:srgbClr val="262626"/>
                          </a:solidFill>
                          <a:latin typeface="Arial" panose="020B0604020202020204" pitchFamily="34" charset="0"/>
                          <a:cs typeface="Arial"/>
                        </a:rPr>
                        <a:t>471,410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493776">
                <a:tc>
                  <a:txBody>
                    <a:bodyPr/>
                    <a:lstStyle/>
                    <a:p>
                      <a:pPr marL="0" indent="0" algn="l">
                        <a:buNone/>
                      </a:pPr>
                      <a:r>
                        <a:rPr sz="1900" b="0" i="0">
                          <a:solidFill>
                            <a:srgbClr val="262626"/>
                          </a:solidFill>
                          <a:latin typeface="Arial" panose="020B0604020202020204" pitchFamily="34" charset="0"/>
                          <a:cs typeface="Arial"/>
                        </a:rPr>
                        <a:t>MAE, МПа</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352,394</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380,152</a:t>
                      </a:r>
                    </a:p>
                  </a:txBody>
                  <a:tcPr marT="27432" marB="27432" anchor="ctr">
                    <a:noFill/>
                  </a:tcPr>
                </a:tc>
                <a:extLst>
                  <a:ext uri="{0D108BD9-81ED-4DB2-BD59-A6C34878D82A}">
                    <a16:rowId xmlns:a16="http://schemas.microsoft.com/office/drawing/2014/main" val="10002"/>
                  </a:ext>
                </a:extLst>
              </a:tr>
              <a:tr h="493776">
                <a:tc>
                  <a:txBody>
                    <a:bodyPr/>
                    <a:lstStyle/>
                    <a:p>
                      <a:pPr marL="0" indent="0" algn="l">
                        <a:buNone/>
                      </a:pPr>
                      <a:r>
                        <a:rPr sz="1900" b="0" i="0">
                          <a:solidFill>
                            <a:srgbClr val="262626"/>
                          </a:solidFill>
                          <a:latin typeface="Arial" panose="020B0604020202020204" pitchFamily="34" charset="0"/>
                          <a:cs typeface="Arial"/>
                        </a:rPr>
                        <a:t>R²</a:t>
                      </a:r>
                    </a:p>
                  </a:txBody>
                  <a:tcPr marT="27432" marB="27432" anchor="ctr">
                    <a:noFill/>
                  </a:tcPr>
                </a:tc>
                <a:tc>
                  <a:txBody>
                    <a:bodyPr/>
                    <a:lstStyle/>
                    <a:p>
                      <a:pPr marL="0" indent="0" algn="r">
                        <a:buNone/>
                      </a:pPr>
                      <a:r>
                        <a:rPr sz="1900" b="0" i="0">
                          <a:solidFill>
                            <a:srgbClr val="262626"/>
                          </a:solidFill>
                          <a:latin typeface="Arial" panose="020B0604020202020204" pitchFamily="34" charset="0"/>
                          <a:cs typeface="Arial"/>
                        </a:rPr>
                        <a:t>0,169</a:t>
                      </a:r>
                    </a:p>
                  </a:txBody>
                  <a:tcPr marT="27432" marB="27432" anchor="ctr">
                    <a:noFill/>
                  </a:tcPr>
                </a:tc>
                <a:tc>
                  <a:txBody>
                    <a:bodyPr/>
                    <a:lstStyle/>
                    <a:p>
                      <a:pPr marL="0" indent="0" algn="r">
                        <a:buNone/>
                      </a:pPr>
                      <a:r>
                        <a:rPr sz="1900" b="1" i="0">
                          <a:solidFill>
                            <a:srgbClr val="262626"/>
                          </a:solidFill>
                          <a:latin typeface="Arial" panose="020B0604020202020204" pitchFamily="34" charset="0"/>
                          <a:cs typeface="Arial"/>
                        </a:rPr>
                        <a:t>0,008</a:t>
                      </a:r>
                    </a:p>
                  </a:txBody>
                  <a:tcPr marT="27432" marB="27432" anchor="ctr">
                    <a:noFill/>
                  </a:tcPr>
                </a:tc>
                <a:extLst>
                  <a:ext uri="{0D108BD9-81ED-4DB2-BD59-A6C34878D82A}">
                    <a16:rowId xmlns:a16="http://schemas.microsoft.com/office/drawing/2014/main" val="10003"/>
                  </a:ext>
                </a:extLst>
              </a:tr>
            </a:tbl>
          </a:graphicData>
        </a:graphic>
      </p:graphicFrame>
      <p:sp>
        <p:nvSpPr>
          <p:cNvPr id="73" name="TextBox 72"/>
          <p:cNvSpPr txBox="1"/>
          <p:nvPr/>
        </p:nvSpPr>
        <p:spPr>
          <a:xfrm>
            <a:off x="557784" y="3584448"/>
            <a:ext cx="5257800" cy="411480"/>
          </a:xfrm>
          <a:prstGeom prst="rect">
            <a:avLst/>
          </a:prstGeom>
          <a:noFill/>
        </p:spPr>
        <p:txBody>
          <a:bodyPr wrap="square" lIns="0" tIns="0" rIns="0" bIns="0" anchor="t"/>
          <a:lstStyle/>
          <a:p>
            <a:pPr marL="0" indent="0" algn="l">
              <a:buNone/>
            </a:pPr>
            <a:r>
              <a:rPr lang="ru-RU" b="1" i="0">
                <a:solidFill>
                  <a:srgbClr val="F1BE29"/>
                </a:solidFill>
                <a:latin typeface="Arial" panose="020B0604020202020204" pitchFamily="34" charset="0"/>
                <a:cs typeface="Arial"/>
              </a:rPr>
              <a:t>Выбор по перекрёстной проверке: бустинг, RMSE 490,209 МПа</a:t>
            </a:r>
            <a:endParaRPr b="1" i="0">
              <a:solidFill>
                <a:srgbClr val="F1BE29"/>
              </a:solidFill>
              <a:latin typeface="Arial" panose="020B0604020202020204" pitchFamily="34" charset="0"/>
              <a:cs typeface="Arial"/>
            </a:endParaRPr>
          </a:p>
        </p:txBody>
      </p:sp>
      <p:sp>
        <p:nvSpPr>
          <p:cNvPr id="74" name="Rectangle 73"/>
          <p:cNvSpPr/>
          <p:nvPr/>
        </p:nvSpPr>
        <p:spPr>
          <a:xfrm>
            <a:off x="557784" y="4023360"/>
            <a:ext cx="5257800" cy="585216"/>
          </a:xfrm>
          <a:prstGeom prst="rect">
            <a:avLst/>
          </a:prstGeom>
          <a:solidFill>
            <a:srgbClr val="E3F0FD"/>
          </a:solidFill>
          <a:ln>
            <a:noFill/>
          </a:ln>
        </p:spPr>
        <p:txBody>
          <a:bodyPr rtlCol="0" anchor="ctr"/>
          <a:lstStyle/>
          <a:p>
            <a:pPr algn="ctr"/>
            <a:endParaRPr/>
          </a:p>
        </p:txBody>
      </p:sp>
      <p:sp>
        <p:nvSpPr>
          <p:cNvPr id="75" name="TextBox 74"/>
          <p:cNvSpPr txBox="1"/>
          <p:nvPr/>
        </p:nvSpPr>
        <p:spPr>
          <a:xfrm>
            <a:off x="713232" y="4023360"/>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RMSE</a:t>
            </a:r>
          </a:p>
        </p:txBody>
      </p:sp>
      <p:sp>
        <p:nvSpPr>
          <p:cNvPr id="76" name="TextBox 75"/>
          <p:cNvSpPr txBox="1"/>
          <p:nvPr/>
        </p:nvSpPr>
        <p:spPr>
          <a:xfrm>
            <a:off x="1600200" y="4023360"/>
            <a:ext cx="2286000" cy="585216"/>
          </a:xfrm>
          <a:prstGeom prst="rect">
            <a:avLst/>
          </a:prstGeom>
          <a:noFill/>
        </p:spPr>
        <p:txBody>
          <a:bodyPr wrap="square" lIns="0" tIns="0" rIns="0" bIns="0" anchor="ctr"/>
          <a:lstStyle/>
          <a:p>
            <a:pPr marL="0" indent="0" algn="l">
              <a:buNone/>
            </a:pPr>
            <a:r>
              <a:rPr sz="1800" b="1" i="0">
                <a:solidFill>
                  <a:srgbClr val="262626"/>
                </a:solidFill>
                <a:latin typeface="Arial" panose="020B0604020202020204" pitchFamily="34" charset="0"/>
                <a:cs typeface="Arial"/>
              </a:rPr>
              <a:t>лучше на 1,878 МПа</a:t>
            </a:r>
          </a:p>
        </p:txBody>
      </p:sp>
      <p:sp>
        <p:nvSpPr>
          <p:cNvPr id="77" name="TextBox 76"/>
          <p:cNvSpPr txBox="1"/>
          <p:nvPr/>
        </p:nvSpPr>
        <p:spPr>
          <a:xfrm>
            <a:off x="3840480" y="4023360"/>
            <a:ext cx="1874519" cy="585216"/>
          </a:xfrm>
          <a:prstGeom prst="rect">
            <a:avLst/>
          </a:prstGeom>
          <a:noFill/>
        </p:spPr>
        <p:txBody>
          <a:bodyPr wrap="square" lIns="0" tIns="0" rIns="0" bIns="0" anchor="ctr"/>
          <a:lstStyle/>
          <a:p>
            <a:pPr marL="0" indent="0" algn="r">
              <a:buNone/>
            </a:pPr>
            <a:r>
              <a:rPr sz="1500" b="0" i="0">
                <a:solidFill>
                  <a:srgbClr val="595959"/>
                </a:solidFill>
                <a:latin typeface="Arial" panose="020B0604020202020204" pitchFamily="34" charset="0"/>
                <a:cs typeface="Arial"/>
              </a:rPr>
              <a:t>471,410 vs 473,288</a:t>
            </a:r>
          </a:p>
        </p:txBody>
      </p:sp>
      <p:sp>
        <p:nvSpPr>
          <p:cNvPr id="78" name="Rectangle 77"/>
          <p:cNvSpPr/>
          <p:nvPr/>
        </p:nvSpPr>
        <p:spPr>
          <a:xfrm>
            <a:off x="557784" y="4681728"/>
            <a:ext cx="5257800" cy="585216"/>
          </a:xfrm>
          <a:prstGeom prst="rect">
            <a:avLst/>
          </a:prstGeom>
          <a:solidFill>
            <a:srgbClr val="E3F0FD"/>
          </a:solidFill>
          <a:ln>
            <a:noFill/>
          </a:ln>
        </p:spPr>
        <p:txBody>
          <a:bodyPr rtlCol="0" anchor="ctr"/>
          <a:lstStyle/>
          <a:p>
            <a:pPr algn="ctr"/>
            <a:endParaRPr/>
          </a:p>
        </p:txBody>
      </p:sp>
      <p:sp>
        <p:nvSpPr>
          <p:cNvPr id="79" name="TextBox 78"/>
          <p:cNvSpPr txBox="1"/>
          <p:nvPr/>
        </p:nvSpPr>
        <p:spPr>
          <a:xfrm>
            <a:off x="713232" y="4681728"/>
            <a:ext cx="914400" cy="585216"/>
          </a:xfrm>
          <a:prstGeom prst="rect">
            <a:avLst/>
          </a:prstGeom>
          <a:noFill/>
        </p:spPr>
        <p:txBody>
          <a:bodyPr wrap="square" lIns="0" tIns="0" rIns="0" bIns="0" anchor="ctr"/>
          <a:lstStyle/>
          <a:p>
            <a:pPr marL="0" indent="0" algn="l">
              <a:buNone/>
            </a:pPr>
            <a:r>
              <a:rPr sz="1800" b="1" i="0">
                <a:solidFill>
                  <a:srgbClr val="065CAB"/>
                </a:solidFill>
                <a:latin typeface="Arial" panose="020B0604020202020204" pitchFamily="34" charset="0"/>
                <a:cs typeface="Arial"/>
              </a:rPr>
              <a:t>MAE</a:t>
            </a:r>
          </a:p>
        </p:txBody>
      </p:sp>
      <p:sp>
        <p:nvSpPr>
          <p:cNvPr id="80" name="TextBox 79"/>
          <p:cNvSpPr txBox="1"/>
          <p:nvPr/>
        </p:nvSpPr>
        <p:spPr>
          <a:xfrm>
            <a:off x="1600200" y="4681728"/>
            <a:ext cx="2286000" cy="585216"/>
          </a:xfrm>
          <a:prstGeom prst="rect">
            <a:avLst/>
          </a:prstGeom>
          <a:noFill/>
        </p:spPr>
        <p:txBody>
          <a:bodyPr wrap="square" lIns="0" tIns="0" rIns="0" bIns="0" anchor="ctr"/>
          <a:lstStyle/>
          <a:p>
            <a:pPr marL="0" indent="0" algn="l">
              <a:buNone/>
            </a:pPr>
            <a:r>
              <a:rPr sz="1800" b="1" i="0">
                <a:solidFill>
                  <a:srgbClr val="262626"/>
                </a:solidFill>
                <a:latin typeface="Arial" panose="020B0604020202020204" pitchFamily="34" charset="0"/>
                <a:cs typeface="Arial"/>
              </a:rPr>
              <a:t>хуже на 1,168 МПа</a:t>
            </a:r>
          </a:p>
        </p:txBody>
      </p:sp>
      <p:sp>
        <p:nvSpPr>
          <p:cNvPr id="81" name="TextBox 80"/>
          <p:cNvSpPr txBox="1"/>
          <p:nvPr/>
        </p:nvSpPr>
        <p:spPr>
          <a:xfrm>
            <a:off x="3840480" y="4681728"/>
            <a:ext cx="1874519" cy="585216"/>
          </a:xfrm>
          <a:prstGeom prst="rect">
            <a:avLst/>
          </a:prstGeom>
          <a:noFill/>
        </p:spPr>
        <p:txBody>
          <a:bodyPr wrap="square" lIns="0" tIns="0" rIns="0" bIns="0" anchor="ctr"/>
          <a:lstStyle/>
          <a:p>
            <a:pPr marL="0" indent="0" algn="r">
              <a:buNone/>
            </a:pPr>
            <a:r>
              <a:rPr sz="1500" b="0" i="0">
                <a:solidFill>
                  <a:srgbClr val="595959"/>
                </a:solidFill>
                <a:latin typeface="Arial" panose="020B0604020202020204" pitchFamily="34" charset="0"/>
                <a:cs typeface="Arial"/>
              </a:rPr>
              <a:t>380,152 vs 378,984</a:t>
            </a:r>
          </a:p>
        </p:txBody>
      </p:sp>
      <p:sp>
        <p:nvSpPr>
          <p:cNvPr id="82" name="TextBox 81"/>
          <p:cNvSpPr txBox="1"/>
          <p:nvPr/>
        </p:nvSpPr>
        <p:spPr>
          <a:xfrm>
            <a:off x="557784" y="5394960"/>
            <a:ext cx="5257800" cy="868680"/>
          </a:xfrm>
          <a:prstGeom prst="rect">
            <a:avLst/>
          </a:prstGeom>
          <a:noFill/>
        </p:spPr>
        <p:txBody>
          <a:bodyPr wrap="square" lIns="0" tIns="0" rIns="0" bIns="0" anchor="t"/>
          <a:lstStyle/>
          <a:p>
            <a:pPr marL="0" indent="0" algn="l">
              <a:lnSpc>
                <a:spcPct val="100000"/>
              </a:lnSpc>
              <a:buNone/>
            </a:pPr>
            <a:r>
              <a:rPr lang="ru-RU" sz="1600" b="1" i="0">
                <a:solidFill>
                  <a:srgbClr val="262626"/>
                </a:solidFill>
                <a:latin typeface="Arial" panose="020B0604020202020204" pitchFamily="34" charset="0"/>
                <a:cs typeface="Arial"/>
              </a:rPr>
              <a:t>R² = 0,008: объяснённая доля разброса почти нулевая
Практически значимое превосходство не установлено</a:t>
            </a:r>
            <a:endParaRPr sz="1600" b="1" i="0">
              <a:solidFill>
                <a:srgbClr val="595959"/>
              </a:solidFill>
              <a:latin typeface="Arial" panose="020B0604020202020204" pitchFamily="34" charset="0"/>
              <a:cs typeface="Arial"/>
            </a:endParaRPr>
          </a:p>
        </p:txBody>
      </p:sp>
      <p:sp>
        <p:nvSpPr>
          <p:cNvPr id="8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рис. 8; </a:t>
            </a:r>
            <a:r>
              <a:rPr lang="en-US" sz="1600" b="0" i="0">
                <a:solidFill>
                  <a:srgbClr val="595959"/>
                </a:solidFill>
                <a:latin typeface="Arial" panose="020B0604020202020204" pitchFamily="34" charset="0"/>
                <a:cs typeface="Arial"/>
              </a:rPr>
              <a:t>reports/evaluation/metrics.csv</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10</a:t>
            </a:fld>
            <a:endParaRPr lang="ru-RU" dirty="0">
              <a:latin typeface="Arial" panose="020B0604020202020204" pitchFamily="34" charset="0"/>
              <a:cs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480059" cy="666000"/>
            <a:chOff x="0" y="0"/>
            <a:chExt cx="848005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48005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Нейросеть для соотношения матрица–наполнитель</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39001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82296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12</a:t>
            </a:r>
          </a:p>
        </p:txBody>
      </p:sp>
      <p:sp>
        <p:nvSpPr>
          <p:cNvPr id="72" name="TextBox 71"/>
          <p:cNvSpPr txBox="1"/>
          <p:nvPr/>
        </p:nvSpPr>
        <p:spPr>
          <a:xfrm>
            <a:off x="822960"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известных показателей
включая модуль и прочность</a:t>
            </a:r>
            <a:endParaRPr sz="1500" i="0">
              <a:solidFill>
                <a:srgbClr val="595959"/>
              </a:solidFill>
              <a:latin typeface="Arial" panose="020B0604020202020204" pitchFamily="34" charset="0"/>
              <a:cs typeface="Arial"/>
            </a:endParaRPr>
          </a:p>
        </p:txBody>
      </p:sp>
      <p:cxnSp>
        <p:nvCxnSpPr>
          <p:cNvPr id="73" name="Connector 72"/>
          <p:cNvCxnSpPr/>
          <p:nvPr/>
        </p:nvCxnSpPr>
        <p:spPr>
          <a:xfrm>
            <a:off x="2926079" y="2212848"/>
            <a:ext cx="502921" cy="0"/>
          </a:xfrm>
          <a:prstGeom prst="line">
            <a:avLst/>
          </a:prstGeom>
          <a:ln w="38100">
            <a:solidFill>
              <a:srgbClr val="F1BE29"/>
            </a:solidFill>
            <a:tailEnd type="triangle" w="med" len="med"/>
          </a:ln>
        </p:spPr>
      </p:cxnSp>
      <p:sp>
        <p:nvSpPr>
          <p:cNvPr id="74" name="TextBox 73"/>
          <p:cNvSpPr txBox="1"/>
          <p:nvPr/>
        </p:nvSpPr>
        <p:spPr>
          <a:xfrm>
            <a:off x="361187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32</a:t>
            </a:r>
          </a:p>
        </p:txBody>
      </p:sp>
      <p:sp>
        <p:nvSpPr>
          <p:cNvPr id="75" name="TextBox 74"/>
          <p:cNvSpPr txBox="1"/>
          <p:nvPr/>
        </p:nvSpPr>
        <p:spPr>
          <a:xfrm>
            <a:off x="3611879"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первый скрытый слой
32 нейрона преобразуют входы</a:t>
            </a:r>
            <a:endParaRPr i="0">
              <a:solidFill>
                <a:srgbClr val="595959"/>
              </a:solidFill>
              <a:latin typeface="Arial" panose="020B0604020202020204" pitchFamily="34" charset="0"/>
              <a:cs typeface="Arial"/>
            </a:endParaRPr>
          </a:p>
        </p:txBody>
      </p:sp>
      <p:cxnSp>
        <p:nvCxnSpPr>
          <p:cNvPr id="76" name="Connector 75"/>
          <p:cNvCxnSpPr/>
          <p:nvPr/>
        </p:nvCxnSpPr>
        <p:spPr>
          <a:xfrm>
            <a:off x="5715000" y="2212848"/>
            <a:ext cx="502920" cy="0"/>
          </a:xfrm>
          <a:prstGeom prst="line">
            <a:avLst/>
          </a:prstGeom>
          <a:ln w="38100">
            <a:solidFill>
              <a:srgbClr val="F1BE29"/>
            </a:solidFill>
            <a:tailEnd type="triangle" w="med" len="med"/>
          </a:ln>
        </p:spPr>
      </p:cxnSp>
      <p:sp>
        <p:nvSpPr>
          <p:cNvPr id="77" name="TextBox 76"/>
          <p:cNvSpPr txBox="1"/>
          <p:nvPr/>
        </p:nvSpPr>
        <p:spPr>
          <a:xfrm>
            <a:off x="6400800"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16</a:t>
            </a:r>
          </a:p>
        </p:txBody>
      </p:sp>
      <p:sp>
        <p:nvSpPr>
          <p:cNvPr id="78" name="TextBox 77"/>
          <p:cNvSpPr txBox="1"/>
          <p:nvPr/>
        </p:nvSpPr>
        <p:spPr>
          <a:xfrm>
            <a:off x="6400800" y="3017520"/>
            <a:ext cx="1920240" cy="822960"/>
          </a:xfrm>
          <a:prstGeom prst="rect">
            <a:avLst/>
          </a:prstGeom>
          <a:noFill/>
        </p:spPr>
        <p:txBody>
          <a:bodyPr wrap="square" lIns="0" tIns="0" rIns="0" bIns="0" anchor="t"/>
          <a:lstStyle/>
          <a:p>
            <a:pPr marL="0" indent="0" algn="ctr">
              <a:lnSpc>
                <a:spcPct val="100000"/>
              </a:lnSpc>
              <a:buNone/>
            </a:pPr>
            <a:r>
              <a:rPr lang="ru-RU" i="0">
                <a:solidFill>
                  <a:srgbClr val="595959"/>
                </a:solidFill>
                <a:latin typeface="Arial" panose="020B0604020202020204" pitchFamily="34" charset="0"/>
                <a:cs typeface="Arial"/>
              </a:rPr>
              <a:t>второй скрытый слой
16 нейронов преобразуют выходы первого слоя</a:t>
            </a:r>
            <a:endParaRPr i="0">
              <a:solidFill>
                <a:srgbClr val="595959"/>
              </a:solidFill>
              <a:latin typeface="Arial" panose="020B0604020202020204" pitchFamily="34" charset="0"/>
              <a:cs typeface="Arial"/>
            </a:endParaRPr>
          </a:p>
        </p:txBody>
      </p:sp>
      <p:cxnSp>
        <p:nvCxnSpPr>
          <p:cNvPr id="79" name="Connector 78"/>
          <p:cNvCxnSpPr/>
          <p:nvPr/>
        </p:nvCxnSpPr>
        <p:spPr>
          <a:xfrm>
            <a:off x="8503920" y="2212848"/>
            <a:ext cx="502920" cy="0"/>
          </a:xfrm>
          <a:prstGeom prst="line">
            <a:avLst/>
          </a:prstGeom>
          <a:ln w="38100">
            <a:solidFill>
              <a:srgbClr val="F1BE29"/>
            </a:solidFill>
            <a:tailEnd type="triangle" w="med" len="med"/>
          </a:ln>
        </p:spPr>
      </p:cxnSp>
      <p:sp>
        <p:nvSpPr>
          <p:cNvPr id="80" name="TextBox 79"/>
          <p:cNvSpPr txBox="1"/>
          <p:nvPr/>
        </p:nvSpPr>
        <p:spPr>
          <a:xfrm>
            <a:off x="9189719" y="1600200"/>
            <a:ext cx="1920240" cy="1371600"/>
          </a:xfrm>
          <a:prstGeom prst="rect">
            <a:avLst/>
          </a:prstGeom>
          <a:noFill/>
        </p:spPr>
        <p:txBody>
          <a:bodyPr wrap="square" lIns="0" tIns="0" rIns="0" bIns="0" anchor="t"/>
          <a:lstStyle/>
          <a:p>
            <a:pPr marL="0" indent="0" algn="ctr">
              <a:lnSpc>
                <a:spcPct val="90000"/>
              </a:lnSpc>
              <a:buNone/>
            </a:pPr>
            <a:r>
              <a:rPr sz="8800" b="1" i="0">
                <a:solidFill>
                  <a:srgbClr val="065CAB"/>
                </a:solidFill>
                <a:latin typeface="Arial" panose="020B0604020202020204" pitchFamily="34" charset="0"/>
                <a:cs typeface="Arial"/>
              </a:rPr>
              <a:t>1</a:t>
            </a:r>
          </a:p>
        </p:txBody>
      </p:sp>
      <p:sp>
        <p:nvSpPr>
          <p:cNvPr id="81" name="TextBox 80"/>
          <p:cNvSpPr txBox="1"/>
          <p:nvPr/>
        </p:nvSpPr>
        <p:spPr>
          <a:xfrm>
            <a:off x="9189719" y="3017520"/>
            <a:ext cx="1920240" cy="822960"/>
          </a:xfrm>
          <a:prstGeom prst="rect">
            <a:avLst/>
          </a:prstGeom>
          <a:noFill/>
        </p:spPr>
        <p:txBody>
          <a:bodyPr wrap="square" lIns="0" tIns="0" rIns="0" bIns="0" anchor="t"/>
          <a:lstStyle/>
          <a:p>
            <a:pPr marL="0" indent="0" algn="ctr">
              <a:lnSpc>
                <a:spcPct val="100000"/>
              </a:lnSpc>
              <a:buNone/>
            </a:pPr>
            <a:r>
              <a:rPr lang="ru-RU" sz="1500" i="0">
                <a:solidFill>
                  <a:srgbClr val="595959"/>
                </a:solidFill>
                <a:latin typeface="Arial" panose="020B0604020202020204" pitchFamily="34" charset="0"/>
                <a:cs typeface="Arial"/>
              </a:rPr>
              <a:t>оценка отношения
матрица–наполнитель</a:t>
            </a:r>
            <a:endParaRPr sz="1500" i="0">
              <a:solidFill>
                <a:srgbClr val="595959"/>
              </a:solidFill>
              <a:latin typeface="Arial" panose="020B0604020202020204" pitchFamily="34" charset="0"/>
              <a:cs typeface="Arial"/>
            </a:endParaRPr>
          </a:p>
        </p:txBody>
      </p:sp>
      <p:cxnSp>
        <p:nvCxnSpPr>
          <p:cNvPr id="82" name="Connector 81"/>
          <p:cNvCxnSpPr/>
          <p:nvPr/>
        </p:nvCxnSpPr>
        <p:spPr>
          <a:xfrm>
            <a:off x="557784" y="4069080"/>
            <a:ext cx="11210544" cy="0"/>
          </a:xfrm>
          <a:prstGeom prst="line">
            <a:avLst/>
          </a:prstGeom>
          <a:ln w="12700">
            <a:solidFill>
              <a:srgbClr val="BFBFBF"/>
            </a:solidFill>
          </a:ln>
        </p:spPr>
      </p:cxnSp>
      <p:sp>
        <p:nvSpPr>
          <p:cNvPr id="83" name="TextBox 82"/>
          <p:cNvSpPr txBox="1"/>
          <p:nvPr/>
        </p:nvSpPr>
        <p:spPr>
          <a:xfrm>
            <a:off x="557784"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Обновление весов</a:t>
            </a:r>
            <a:endParaRPr sz="1800" b="1" i="0">
              <a:solidFill>
                <a:srgbClr val="262626"/>
              </a:solidFill>
              <a:latin typeface="Arial" panose="020B0604020202020204" pitchFamily="34" charset="0"/>
              <a:cs typeface="Arial"/>
            </a:endParaRPr>
          </a:p>
        </p:txBody>
      </p:sp>
      <p:sp>
        <p:nvSpPr>
          <p:cNvPr id="84" name="TextBox 83"/>
          <p:cNvSpPr txBox="1"/>
          <p:nvPr/>
        </p:nvSpPr>
        <p:spPr>
          <a:xfrm>
            <a:off x="557784"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644 строки</a:t>
            </a:r>
            <a:endParaRPr i="0">
              <a:solidFill>
                <a:srgbClr val="595959"/>
              </a:solidFill>
              <a:latin typeface="Arial" panose="020B0604020202020204" pitchFamily="34" charset="0"/>
              <a:cs typeface="Arial"/>
            </a:endParaRPr>
          </a:p>
        </p:txBody>
      </p:sp>
      <p:sp>
        <p:nvSpPr>
          <p:cNvPr id="85" name="TextBox 84"/>
          <p:cNvSpPr txBox="1"/>
          <p:nvPr/>
        </p:nvSpPr>
        <p:spPr>
          <a:xfrm>
            <a:off x="2889503"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Ранняя остановка</a:t>
            </a:r>
            <a:endParaRPr sz="1800" b="1" i="0">
              <a:solidFill>
                <a:srgbClr val="262626"/>
              </a:solidFill>
              <a:latin typeface="Arial" panose="020B0604020202020204" pitchFamily="34" charset="0"/>
              <a:cs typeface="Arial"/>
            </a:endParaRPr>
          </a:p>
        </p:txBody>
      </p:sp>
      <p:sp>
        <p:nvSpPr>
          <p:cNvPr id="86" name="TextBox 85"/>
          <p:cNvSpPr txBox="1"/>
          <p:nvPr/>
        </p:nvSpPr>
        <p:spPr>
          <a:xfrm>
            <a:off x="2889503"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72 строки</a:t>
            </a:r>
            <a:endParaRPr i="0">
              <a:solidFill>
                <a:srgbClr val="595959"/>
              </a:solidFill>
              <a:latin typeface="Arial" panose="020B0604020202020204" pitchFamily="34" charset="0"/>
              <a:cs typeface="Arial"/>
            </a:endParaRPr>
          </a:p>
        </p:txBody>
      </p:sp>
      <p:sp>
        <p:nvSpPr>
          <p:cNvPr id="87" name="TextBox 86"/>
          <p:cNvSpPr txBox="1"/>
          <p:nvPr/>
        </p:nvSpPr>
        <p:spPr>
          <a:xfrm>
            <a:off x="5221224" y="4297680"/>
            <a:ext cx="2240280" cy="548640"/>
          </a:xfrm>
          <a:prstGeom prst="rect">
            <a:avLst/>
          </a:prstGeom>
          <a:noFill/>
        </p:spPr>
        <p:txBody>
          <a:bodyPr wrap="square" lIns="0" tIns="0" rIns="0" bIns="0" anchor="t"/>
          <a:lstStyle/>
          <a:p>
            <a:pPr marL="0" indent="0" algn="l">
              <a:buNone/>
            </a:pPr>
            <a:r>
              <a:rPr lang="ru-RU" sz="1800" b="1" i="0">
                <a:solidFill>
                  <a:srgbClr val="262626"/>
                </a:solidFill>
                <a:latin typeface="Arial" panose="020B0604020202020204" pitchFamily="34" charset="0"/>
                <a:cs typeface="Arial"/>
              </a:rPr>
              <a:t>Обучающая выборка</a:t>
            </a:r>
            <a:endParaRPr sz="1800" b="1" i="0">
              <a:solidFill>
                <a:srgbClr val="262626"/>
              </a:solidFill>
              <a:latin typeface="Arial" panose="020B0604020202020204" pitchFamily="34" charset="0"/>
              <a:cs typeface="Arial"/>
            </a:endParaRPr>
          </a:p>
        </p:txBody>
      </p:sp>
      <p:sp>
        <p:nvSpPr>
          <p:cNvPr id="88" name="TextBox 87"/>
          <p:cNvSpPr txBox="1"/>
          <p:nvPr/>
        </p:nvSpPr>
        <p:spPr>
          <a:xfrm>
            <a:off x="5221224" y="4846320"/>
            <a:ext cx="2240280" cy="822960"/>
          </a:xfrm>
          <a:prstGeom prst="rect">
            <a:avLst/>
          </a:prstGeom>
          <a:noFill/>
        </p:spPr>
        <p:txBody>
          <a:bodyPr wrap="square" lIns="0" tIns="0" rIns="0" bIns="0" anchor="t"/>
          <a:lstStyle/>
          <a:p>
            <a:pPr marL="0" indent="0" algn="l">
              <a:lnSpc>
                <a:spcPct val="100000"/>
              </a:lnSpc>
              <a:buNone/>
            </a:pPr>
            <a:r>
              <a:rPr lang="ru-RU" i="0">
                <a:solidFill>
                  <a:srgbClr val="595959"/>
                </a:solidFill>
                <a:latin typeface="Arial" panose="020B0604020202020204" pitchFamily="34" charset="0"/>
                <a:cs typeface="Arial"/>
              </a:rPr>
              <a:t>Всего 716 строк: 644 + 72</a:t>
            </a:r>
            <a:endParaRPr i="0">
              <a:solidFill>
                <a:srgbClr val="595959"/>
              </a:solidFill>
              <a:latin typeface="Arial" panose="020B0604020202020204" pitchFamily="34" charset="0"/>
              <a:cs typeface="Arial"/>
            </a:endParaRPr>
          </a:p>
        </p:txBody>
      </p:sp>
      <p:sp>
        <p:nvSpPr>
          <p:cNvPr id="89" name="Rectangle 88"/>
          <p:cNvSpPr/>
          <p:nvPr/>
        </p:nvSpPr>
        <p:spPr>
          <a:xfrm>
            <a:off x="7680960" y="4297680"/>
            <a:ext cx="4087368" cy="1783080"/>
          </a:xfrm>
          <a:prstGeom prst="rect">
            <a:avLst/>
          </a:prstGeom>
          <a:solidFill>
            <a:srgbClr val="F1BE29"/>
          </a:solidFill>
          <a:ln>
            <a:noFill/>
          </a:ln>
        </p:spPr>
        <p:txBody>
          <a:bodyPr rtlCol="0" anchor="ctr"/>
          <a:lstStyle/>
          <a:p>
            <a:pPr algn="ctr"/>
            <a:endParaRPr/>
          </a:p>
        </p:txBody>
      </p:sp>
      <p:sp>
        <p:nvSpPr>
          <p:cNvPr id="90" name="TextBox 89"/>
          <p:cNvSpPr txBox="1"/>
          <p:nvPr/>
        </p:nvSpPr>
        <p:spPr>
          <a:xfrm>
            <a:off x="7909560" y="4297680"/>
            <a:ext cx="3657600" cy="1783080"/>
          </a:xfrm>
          <a:prstGeom prst="rect">
            <a:avLst/>
          </a:prstGeom>
          <a:noFill/>
        </p:spPr>
        <p:txBody>
          <a:bodyPr wrap="square" lIns="0" tIns="0" rIns="0" bIns="0" anchor="ctr"/>
          <a:lstStyle/>
          <a:p>
            <a:pPr marL="0" indent="0" algn="l">
              <a:lnSpc>
                <a:spcPct val="105000"/>
              </a:lnSpc>
              <a:buNone/>
            </a:pPr>
            <a:r>
              <a:rPr lang="ru-RU" sz="1800" b="1" i="0">
                <a:solidFill>
                  <a:srgbClr val="262626"/>
                </a:solidFill>
                <a:latin typeface="Arial" panose="020B0604020202020204" pitchFamily="34" charset="0"/>
                <a:cs typeface="Arial"/>
              </a:rPr>
              <a:t>961 настраиваемый параметр
76 эпох; лучшие веса эпохи 35</a:t>
            </a:r>
            <a:endParaRPr sz="1800" b="1" i="0">
              <a:solidFill>
                <a:srgbClr val="262626"/>
              </a:solidFill>
              <a:latin typeface="Arial" panose="020B0604020202020204" pitchFamily="34" charset="0"/>
              <a:cs typeface="Arial"/>
            </a:endParaRPr>
          </a:p>
        </p:txBody>
      </p:sp>
      <p:sp>
        <p:nvSpPr>
          <p:cNvPr id="91"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разд. 2.4</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11</a:t>
            </a:fld>
            <a:endParaRPr lang="ru-RU" dirty="0">
              <a:latin typeface="Arial" panose="020B0604020202020204" pitchFamily="34" charset="0"/>
              <a:cs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6486429" cy="666000"/>
            <a:chOff x="0" y="0"/>
            <a:chExt cx="6486429"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6486429"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Нейросеть не превзошла прогноз среднего</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6396380"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nn_diagnostics.png"/>
          <p:cNvPicPr>
            <a:picLocks noChangeAspect="1"/>
          </p:cNvPicPr>
          <p:nvPr/>
        </p:nvPicPr>
        <p:blipFill>
          <a:blip r:embed="rId3"/>
          <a:stretch>
            <a:fillRect/>
          </a:stretch>
        </p:blipFill>
        <p:spPr>
          <a:xfrm>
            <a:off x="731520" y="1216152"/>
            <a:ext cx="10698480" cy="4129690"/>
          </a:xfrm>
          <a:prstGeom prst="rect">
            <a:avLst/>
          </a:prstGeom>
          <a:ln w="9525">
            <a:solidFill>
              <a:srgbClr val="D9D9D9"/>
            </a:solidFill>
          </a:ln>
        </p:spPr>
      </p:pic>
      <p:graphicFrame>
        <p:nvGraphicFramePr>
          <p:cNvPr id="72" name="Метрики MLP"/>
          <p:cNvGraphicFramePr>
            <a:graphicFrameLocks noGrp="1"/>
          </p:cNvGraphicFramePr>
          <p:nvPr>
            <p:extLst>
              <p:ext uri="{D42A27DB-BD31-4B8C-83A1-F6EECF244321}">
                <p14:modId xmlns:p14="http://schemas.microsoft.com/office/powerpoint/2010/main" val="3303965866"/>
              </p:ext>
            </p:extLst>
          </p:nvPr>
        </p:nvGraphicFramePr>
        <p:xfrm>
          <a:off x="557784" y="5413248"/>
          <a:ext cx="11207798" cy="905256"/>
        </p:xfrm>
        <a:graphic>
          <a:graphicData uri="http://schemas.openxmlformats.org/drawingml/2006/table">
            <a:tbl>
              <a:tblPr>
                <a:tableStyleId>{2D5ABB26-0587-4C30-8999-92F81FD0307C}</a:tableStyleId>
              </a:tblPr>
              <a:tblGrid>
                <a:gridCol w="1524000">
                  <a:extLst>
                    <a:ext uri="{9D8B030D-6E8A-4147-A177-3AD203B41FA5}">
                      <a16:colId xmlns:a16="http://schemas.microsoft.com/office/drawing/2014/main" val="20000"/>
                    </a:ext>
                  </a:extLst>
                </a:gridCol>
                <a:gridCol w="1372514">
                  <a:extLst>
                    <a:ext uri="{9D8B030D-6E8A-4147-A177-3AD203B41FA5}">
                      <a16:colId xmlns:a16="http://schemas.microsoft.com/office/drawing/2014/main" val="20001"/>
                    </a:ext>
                  </a:extLst>
                </a:gridCol>
                <a:gridCol w="1372514">
                  <a:extLst>
                    <a:ext uri="{9D8B030D-6E8A-4147-A177-3AD203B41FA5}">
                      <a16:colId xmlns:a16="http://schemas.microsoft.com/office/drawing/2014/main" val="20002"/>
                    </a:ext>
                  </a:extLst>
                </a:gridCol>
                <a:gridCol w="1372514">
                  <a:extLst>
                    <a:ext uri="{9D8B030D-6E8A-4147-A177-3AD203B41FA5}">
                      <a16:colId xmlns:a16="http://schemas.microsoft.com/office/drawing/2014/main" val="20003"/>
                    </a:ext>
                  </a:extLst>
                </a:gridCol>
                <a:gridCol w="1372514">
                  <a:extLst>
                    <a:ext uri="{9D8B030D-6E8A-4147-A177-3AD203B41FA5}">
                      <a16:colId xmlns:a16="http://schemas.microsoft.com/office/drawing/2014/main" val="20004"/>
                    </a:ext>
                  </a:extLst>
                </a:gridCol>
                <a:gridCol w="1372514">
                  <a:extLst>
                    <a:ext uri="{9D8B030D-6E8A-4147-A177-3AD203B41FA5}">
                      <a16:colId xmlns:a16="http://schemas.microsoft.com/office/drawing/2014/main" val="20005"/>
                    </a:ext>
                  </a:extLst>
                </a:gridCol>
                <a:gridCol w="1372514">
                  <a:extLst>
                    <a:ext uri="{9D8B030D-6E8A-4147-A177-3AD203B41FA5}">
                      <a16:colId xmlns:a16="http://schemas.microsoft.com/office/drawing/2014/main" val="20006"/>
                    </a:ext>
                  </a:extLst>
                </a:gridCol>
                <a:gridCol w="1372514">
                  <a:extLst>
                    <a:ext uri="{9D8B030D-6E8A-4147-A177-3AD203B41FA5}">
                      <a16:colId xmlns:a16="http://schemas.microsoft.com/office/drawing/2014/main" val="20007"/>
                    </a:ext>
                  </a:extLst>
                </a:gridCol>
              </a:tblGrid>
              <a:tr h="304800">
                <a:tc>
                  <a:txBody>
                    <a:bodyPr/>
                    <a:lstStyle/>
                    <a:p>
                      <a:pPr marL="0" indent="0" algn="l">
                        <a:buNone/>
                      </a:pPr>
                      <a:r>
                        <a:rPr lang="ru-RU" sz="900" b="1" i="0">
                          <a:solidFill>
                            <a:srgbClr val="FFFFFF"/>
                          </a:solidFill>
                          <a:latin typeface="Arial" panose="020B0604020202020204" pitchFamily="34" charset="0"/>
                          <a:cs typeface="Arial"/>
                        </a:rPr>
                        <a:t>Модель</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en-US" sz="900" b="1" i="0">
                          <a:solidFill>
                            <a:srgbClr val="FFFFFF"/>
                          </a:solidFill>
                          <a:latin typeface="Arial" panose="020B0604020202020204" pitchFamily="34" charset="0"/>
                          <a:cs typeface="Arial"/>
                        </a:rPr>
                        <a:t>CV 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MAE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обучение </a:t>
                      </a:r>
                      <a:r>
                        <a:rPr lang="en-US" sz="900" b="1" i="0">
                          <a:solidFill>
                            <a:srgbClr val="FFFFFF"/>
                          </a:solidFill>
                          <a:latin typeface="Arial" panose="020B0604020202020204" pitchFamily="34" charset="0"/>
                          <a:cs typeface="Arial"/>
                        </a:rPr>
                        <a:t>R²</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RMSE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MAE</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tc>
                  <a:txBody>
                    <a:bodyPr/>
                    <a:lstStyle/>
                    <a:p>
                      <a:pPr marL="0" indent="0" algn="r">
                        <a:buNone/>
                      </a:pPr>
                      <a:r>
                        <a:rPr lang="ru-RU" sz="900" b="1" i="0">
                          <a:solidFill>
                            <a:srgbClr val="FFFFFF"/>
                          </a:solidFill>
                          <a:latin typeface="Arial" panose="020B0604020202020204" pitchFamily="34" charset="0"/>
                          <a:cs typeface="Arial"/>
                        </a:rPr>
                        <a:t>тест </a:t>
                      </a:r>
                      <a:r>
                        <a:rPr lang="en-US" sz="900" b="1" i="0">
                          <a:solidFill>
                            <a:srgbClr val="FFFFFF"/>
                          </a:solidFill>
                          <a:latin typeface="Arial" panose="020B0604020202020204" pitchFamily="34" charset="0"/>
                          <a:cs typeface="Arial"/>
                        </a:rPr>
                        <a:t>R²</a:t>
                      </a:r>
                      <a:endParaRPr sz="900" b="1" i="0">
                        <a:solidFill>
                          <a:srgbClr val="FFFFFF"/>
                        </a:solidFill>
                        <a:latin typeface="Arial" panose="020B0604020202020204" pitchFamily="34" charset="0"/>
                        <a:cs typeface="Arial"/>
                      </a:endParaRPr>
                    </a:p>
                  </a:txBody>
                  <a:tcPr marT="27432" marB="27432" anchor="ctr">
                    <a:lnL w="0">
                      <a:noFill/>
                    </a:lnL>
                    <a:lnR w="0">
                      <a:noFill/>
                    </a:lnR>
                    <a:lnT w="0">
                      <a:noFill/>
                    </a:lnT>
                    <a:lnB w="19050">
                      <a:solidFill>
                        <a:srgbClr val="065CAB"/>
                      </a:solidFill>
                    </a:lnB>
                    <a:solidFill>
                      <a:srgbClr val="065CAB"/>
                    </a:solidFill>
                  </a:tcPr>
                </a:tc>
                <a:extLst>
                  <a:ext uri="{0D108BD9-81ED-4DB2-BD59-A6C34878D82A}">
                    <a16:rowId xmlns:a16="http://schemas.microsoft.com/office/drawing/2014/main" val="10000"/>
                  </a:ext>
                </a:extLst>
              </a:tr>
              <a:tr h="241300">
                <a:tc>
                  <a:txBody>
                    <a:bodyPr/>
                    <a:lstStyle/>
                    <a:p>
                      <a:pPr marL="0" indent="0" algn="l">
                        <a:buNone/>
                      </a:pPr>
                      <a:r>
                        <a:rPr lang="ru-RU" sz="1000" b="1" i="0">
                          <a:solidFill>
                            <a:srgbClr val="262626"/>
                          </a:solidFill>
                          <a:latin typeface="Arial" panose="020B0604020202020204" pitchFamily="34" charset="0"/>
                          <a:cs typeface="Arial"/>
                        </a:rPr>
                        <a:t>нейросеть</a:t>
                      </a:r>
                      <a:endParaRPr sz="1000" b="1" i="0">
                        <a:solidFill>
                          <a:srgbClr val="262626"/>
                        </a:solidFill>
                        <a:latin typeface="Arial" panose="020B0604020202020204" pitchFamily="34" charset="0"/>
                        <a:cs typeface="Arial"/>
                      </a:endParaRP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0,935</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0,870</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0,692</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0" i="0">
                          <a:solidFill>
                            <a:srgbClr val="262626"/>
                          </a:solidFill>
                          <a:latin typeface="Arial" panose="020B0604020202020204" pitchFamily="34" charset="0"/>
                          <a:cs typeface="Arial"/>
                        </a:rPr>
                        <a:t>0,079</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0,944</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0,777</a:t>
                      </a:r>
                    </a:p>
                  </a:txBody>
                  <a:tcPr marT="27432" marB="27432" anchor="ctr">
                    <a:lnT w="19050" cap="flat" cmpd="sng" algn="ctr">
                      <a:solidFill>
                        <a:srgbClr val="065CAB"/>
                      </a:solidFill>
                      <a:prstDash val="solid"/>
                      <a:round/>
                      <a:headEnd type="none" w="med" len="med"/>
                      <a:tailEnd type="none" w="med" len="med"/>
                    </a:lnT>
                    <a:noFill/>
                  </a:tcPr>
                </a:tc>
                <a:tc>
                  <a:txBody>
                    <a:bodyPr/>
                    <a:lstStyle/>
                    <a:p>
                      <a:pPr marL="0" indent="0" algn="r">
                        <a:buNone/>
                      </a:pPr>
                      <a:r>
                        <a:rPr sz="1000" b="1" i="0">
                          <a:solidFill>
                            <a:srgbClr val="262626"/>
                          </a:solidFill>
                          <a:latin typeface="Arial" panose="020B0604020202020204" pitchFamily="34" charset="0"/>
                          <a:cs typeface="Arial"/>
                        </a:rPr>
                        <a:t>−0,040</a:t>
                      </a:r>
                    </a:p>
                  </a:txBody>
                  <a:tcPr marT="27432" marB="27432" anchor="ctr">
                    <a:lnT w="19050" cap="flat" cmpd="sng" algn="ctr">
                      <a:solidFill>
                        <a:srgbClr val="065CAB"/>
                      </a:solidFill>
                      <a:prstDash val="solid"/>
                      <a:round/>
                      <a:headEnd type="none" w="med" len="med"/>
                      <a:tailEnd type="none" w="med" len="med"/>
                    </a:lnT>
                    <a:noFill/>
                  </a:tcPr>
                </a:tc>
                <a:extLst>
                  <a:ext uri="{0D108BD9-81ED-4DB2-BD59-A6C34878D82A}">
                    <a16:rowId xmlns:a16="http://schemas.microsoft.com/office/drawing/2014/main" val="10001"/>
                  </a:ext>
                </a:extLst>
              </a:tr>
              <a:tr h="241300">
                <a:tc>
                  <a:txBody>
                    <a:bodyPr/>
                    <a:lstStyle/>
                    <a:p>
                      <a:pPr marL="0" indent="0" algn="l">
                        <a:buNone/>
                      </a:pPr>
                      <a:r>
                        <a:rPr lang="ru-RU" sz="1000" b="0" i="0">
                          <a:solidFill>
                            <a:srgbClr val="262626"/>
                          </a:solidFill>
                          <a:latin typeface="Arial" panose="020B0604020202020204" pitchFamily="34" charset="0"/>
                          <a:cs typeface="Arial"/>
                        </a:rPr>
                        <a:t>прогноз среднего</a:t>
                      </a:r>
                      <a:endParaRPr sz="1000" b="0" i="0">
                        <a:solidFill>
                          <a:srgbClr val="262626"/>
                        </a:solidFill>
                        <a:latin typeface="Arial" panose="020B0604020202020204" pitchFamily="34" charset="0"/>
                        <a:cs typeface="Arial"/>
                      </a:endParaRP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0,906</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0,907</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0,718</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0,000</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0,926</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0,752</a:t>
                      </a:r>
                    </a:p>
                  </a:txBody>
                  <a:tcPr marT="27432" marB="27432" anchor="ctr">
                    <a:noFill/>
                  </a:tcPr>
                </a:tc>
                <a:tc>
                  <a:txBody>
                    <a:bodyPr/>
                    <a:lstStyle/>
                    <a:p>
                      <a:pPr marL="0" indent="0" algn="r">
                        <a:buNone/>
                      </a:pPr>
                      <a:r>
                        <a:rPr sz="1000" b="0" i="0">
                          <a:solidFill>
                            <a:srgbClr val="262626"/>
                          </a:solidFill>
                          <a:latin typeface="Arial" panose="020B0604020202020204" pitchFamily="34" charset="0"/>
                          <a:cs typeface="Arial"/>
                        </a:rPr>
                        <a:t>−0,001</a:t>
                      </a:r>
                    </a:p>
                  </a:txBody>
                  <a:tcPr marT="27432" marB="27432" anchor="ctr">
                    <a:noFill/>
                  </a:tcPr>
                </a:tc>
                <a:extLst>
                  <a:ext uri="{0D108BD9-81ED-4DB2-BD59-A6C34878D82A}">
                    <a16:rowId xmlns:a16="http://schemas.microsoft.com/office/drawing/2014/main" val="10002"/>
                  </a:ext>
                </a:extLst>
              </a:tr>
            </a:tbl>
          </a:graphicData>
        </a:graphic>
      </p:graphicFrame>
      <p:sp>
        <p:nvSpPr>
          <p:cNvPr id="73"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i="0">
                <a:solidFill>
                  <a:srgbClr val="595959"/>
                </a:solidFill>
                <a:latin typeface="Arial" panose="020B0604020202020204" pitchFamily="34" charset="0"/>
                <a:cs typeface="Arial"/>
              </a:rPr>
              <a:t>Источник: РПЗ, рис. 11 и табл. 8; </a:t>
            </a:r>
            <a:r>
              <a:rPr lang="en-US" sz="1600" i="0">
                <a:solidFill>
                  <a:srgbClr val="595959"/>
                </a:solidFill>
                <a:latin typeface="Arial" panose="020B0604020202020204" pitchFamily="34" charset="0"/>
                <a:cs typeface="Arial"/>
              </a:rPr>
              <a:t>reports/evaluation/metrics.csv</a:t>
            </a:r>
            <a:endParaRPr sz="160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12</a:t>
            </a:fld>
            <a:endParaRPr lang="ru-RU" dirty="0">
              <a:latin typeface="Arial" panose="020B0604020202020204" pitchFamily="34" charset="0"/>
              <a:cs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417320"/>
            <a:ext cx="4114800" cy="2651760"/>
          </a:xfrm>
        </p:spPr>
        <p:txBody>
          <a:bodyPr wrap="square">
            <a:normAutofit/>
          </a:bodyPr>
          <a:lstStyle/>
          <a:p>
            <a:pPr marL="0" indent="0" algn="l">
              <a:lnSpc>
                <a:spcPct val="100000"/>
              </a:lnSpc>
              <a:buNone/>
            </a:pPr>
            <a:r>
              <a:rPr lang="ru-RU" sz="1600" i="0">
                <a:solidFill>
                  <a:srgbClr val="065CAB"/>
                </a:solidFill>
                <a:latin typeface="Arial" panose="020B0604020202020204" pitchFamily="34" charset="0"/>
                <a:cs typeface="Arial"/>
              </a:rPr>
              <a:t>Если перемешать один признак и ошибка растёт, модель на него опиралась
Синие столбцы – изменение RMSE; чёрные отрезки – разброс 10 повторов</a:t>
            </a:r>
            <a:endParaRPr sz="1600" i="0">
              <a:solidFill>
                <a:srgbClr val="262626"/>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8600448" cy="896112"/>
            <a:chOff x="0" y="0"/>
            <a:chExt cx="8600448" cy="896112"/>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8600448" cy="89611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Важность признаков описывает модель, а не физический закон</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8510399" y="0"/>
              <a:ext cx="90049" cy="896112"/>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pic>
        <p:nvPicPr>
          <p:cNvPr id="71" name="Picture 70" descr="perm_strength.png"/>
          <p:cNvPicPr>
            <a:picLocks noChangeAspect="1"/>
          </p:cNvPicPr>
          <p:nvPr/>
        </p:nvPicPr>
        <p:blipFill>
          <a:blip r:embed="rId3"/>
          <a:stretch>
            <a:fillRect/>
          </a:stretch>
        </p:blipFill>
        <p:spPr>
          <a:xfrm>
            <a:off x="4790341" y="1417320"/>
            <a:ext cx="6977986" cy="4800600"/>
          </a:xfrm>
          <a:prstGeom prst="rect">
            <a:avLst/>
          </a:prstGeom>
          <a:ln w="9525">
            <a:solidFill>
              <a:srgbClr val="D9D9D9"/>
            </a:solidFill>
          </a:ln>
        </p:spPr>
      </p:pic>
      <p:sp>
        <p:nvSpPr>
          <p:cNvPr id="72" name="Rectangle 71"/>
          <p:cNvSpPr/>
          <p:nvPr/>
        </p:nvSpPr>
        <p:spPr>
          <a:xfrm>
            <a:off x="557784" y="3429000"/>
            <a:ext cx="4114800" cy="1234440"/>
          </a:xfrm>
          <a:prstGeom prst="rect">
            <a:avLst/>
          </a:prstGeom>
          <a:solidFill>
            <a:srgbClr val="FDF3D4"/>
          </a:solidFill>
          <a:ln>
            <a:noFill/>
          </a:ln>
        </p:spPr>
        <p:txBody>
          <a:bodyPr rtlCol="0" anchor="ctr"/>
          <a:lstStyle/>
          <a:p>
            <a:pPr algn="ctr"/>
            <a:endParaRPr/>
          </a:p>
        </p:txBody>
      </p:sp>
      <p:sp>
        <p:nvSpPr>
          <p:cNvPr id="73" name="TextBox 72"/>
          <p:cNvSpPr txBox="1"/>
          <p:nvPr/>
        </p:nvSpPr>
        <p:spPr>
          <a:xfrm>
            <a:off x="713232" y="3429000"/>
            <a:ext cx="3840480" cy="1234440"/>
          </a:xfrm>
          <a:prstGeom prst="rect">
            <a:avLst/>
          </a:prstGeom>
          <a:noFill/>
        </p:spPr>
        <p:txBody>
          <a:bodyPr wrap="square" lIns="0" tIns="0" rIns="0" bIns="0" anchor="ctr"/>
          <a:lstStyle/>
          <a:p>
            <a:pPr marL="0" indent="0" algn="l">
              <a:lnSpc>
                <a:spcPct val="100000"/>
              </a:lnSpc>
              <a:buNone/>
            </a:pPr>
            <a:r>
              <a:rPr lang="ru-RU" sz="1500" i="0">
                <a:solidFill>
                  <a:srgbClr val="262626"/>
                </a:solidFill>
                <a:latin typeface="Arial" panose="020B0604020202020204" pitchFamily="34" charset="0"/>
                <a:cs typeface="Arial"/>
              </a:rPr>
              <a:t>Ограничения: группы и партии неизвестны; перенос на новые материалы и лабораторная проверка не выполнены</a:t>
            </a:r>
            <a:endParaRPr sz="1500" i="0">
              <a:solidFill>
                <a:srgbClr val="262626"/>
              </a:solidFill>
              <a:latin typeface="Arial" panose="020B0604020202020204" pitchFamily="34" charset="0"/>
              <a:cs typeface="Arial"/>
            </a:endParaRPr>
          </a:p>
        </p:txBody>
      </p:sp>
      <p:cxnSp>
        <p:nvCxnSpPr>
          <p:cNvPr id="74" name="Connector 73"/>
          <p:cNvCxnSpPr/>
          <p:nvPr/>
        </p:nvCxnSpPr>
        <p:spPr>
          <a:xfrm>
            <a:off x="557784" y="4937760"/>
            <a:ext cx="0" cy="1188720"/>
          </a:xfrm>
          <a:prstGeom prst="line">
            <a:avLst/>
          </a:prstGeom>
          <a:ln w="25400">
            <a:solidFill>
              <a:srgbClr val="065CAB"/>
            </a:solidFill>
          </a:ln>
        </p:spPr>
      </p:cxnSp>
      <p:cxnSp>
        <p:nvCxnSpPr>
          <p:cNvPr id="75" name="Connector 74"/>
          <p:cNvCxnSpPr/>
          <p:nvPr/>
        </p:nvCxnSpPr>
        <p:spPr>
          <a:xfrm>
            <a:off x="557784" y="4937760"/>
            <a:ext cx="457199" cy="0"/>
          </a:xfrm>
          <a:prstGeom prst="line">
            <a:avLst/>
          </a:prstGeom>
          <a:ln w="25400">
            <a:solidFill>
              <a:srgbClr val="065CAB"/>
            </a:solidFill>
          </a:ln>
        </p:spPr>
      </p:cxnSp>
      <p:cxnSp>
        <p:nvCxnSpPr>
          <p:cNvPr id="76" name="Connector 75"/>
          <p:cNvCxnSpPr/>
          <p:nvPr/>
        </p:nvCxnSpPr>
        <p:spPr>
          <a:xfrm>
            <a:off x="557784" y="6126480"/>
            <a:ext cx="457199" cy="0"/>
          </a:xfrm>
          <a:prstGeom prst="line">
            <a:avLst/>
          </a:prstGeom>
          <a:ln w="25400">
            <a:solidFill>
              <a:srgbClr val="065CAB"/>
            </a:solidFill>
          </a:ln>
        </p:spPr>
      </p:cxnSp>
      <p:sp>
        <p:nvSpPr>
          <p:cNvPr id="77" name="TextBox 76"/>
          <p:cNvSpPr txBox="1"/>
          <p:nvPr/>
        </p:nvSpPr>
        <p:spPr>
          <a:xfrm>
            <a:off x="813816" y="5010912"/>
            <a:ext cx="3858768" cy="1042416"/>
          </a:xfrm>
          <a:prstGeom prst="rect">
            <a:avLst/>
          </a:prstGeom>
          <a:noFill/>
        </p:spPr>
        <p:txBody>
          <a:bodyPr wrap="square" lIns="0" tIns="0" rIns="0" bIns="0" anchor="ctr"/>
          <a:lstStyle/>
          <a:p>
            <a:pPr marL="0" indent="0" algn="l">
              <a:buNone/>
            </a:pPr>
            <a:r>
              <a:rPr lang="ru-RU" sz="1500" i="0">
                <a:solidFill>
                  <a:srgbClr val="262626"/>
                </a:solidFill>
                <a:latin typeface="Arial" panose="020B0604020202020204" pitchFamily="34" charset="0"/>
                <a:cs typeface="Arial"/>
              </a:rPr>
              <a:t>Для модуля важности нулевые, потому что модель всегда выдаёт одно среднее значение</a:t>
            </a:r>
            <a:endParaRPr sz="1500" i="0">
              <a:solidFill>
                <a:srgbClr val="262626"/>
              </a:solidFill>
              <a:latin typeface="Arial" panose="020B0604020202020204" pitchFamily="34" charset="0"/>
              <a:cs typeface="Arial"/>
            </a:endParaRPr>
          </a:p>
        </p:txBody>
      </p:sp>
      <p:sp>
        <p:nvSpPr>
          <p:cNvPr id="78"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рис. 10</a:t>
            </a:r>
            <a:endParaRPr sz="1600" b="0" i="0">
              <a:solidFill>
                <a:srgbClr val="595959"/>
              </a:solidFill>
              <a:latin typeface="Arial" panose="020B0604020202020204" pitchFamily="34" charset="0"/>
              <a:cs typeface="Arial"/>
            </a:endParaRP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13</a:t>
            </a:fld>
            <a:endParaRPr lang="ru-RU" dirty="0">
              <a:latin typeface="Arial" panose="020B0604020202020204" pitchFamily="34" charset="0"/>
              <a:cs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6903720" y="1261872"/>
            <a:ext cx="4864608" cy="457200"/>
          </a:xfrm>
        </p:spPr>
        <p:txBody>
          <a:bodyPr/>
          <a:lstStyle/>
          <a:p>
            <a:pPr marL="0" indent="0" algn="l">
              <a:buNone/>
            </a:pPr>
            <a:r>
              <a:rPr sz="2000" b="1" i="0">
                <a:solidFill>
                  <a:srgbClr val="F1BE29"/>
                </a:solidFill>
                <a:latin typeface="Arial" panose="020B0604020202020204" pitchFamily="34" charset="0"/>
                <a:cs typeface="Arial"/>
              </a:rPr>
              <a:t>Воспроизводимость</a:t>
            </a:r>
          </a:p>
        </p:txBody>
      </p:sp>
      <p:sp>
        <p:nvSpPr>
          <p:cNvPr id="4" name="Text Placeholder 3"/>
          <p:cNvSpPr>
            <a:spLocks noGrp="1"/>
          </p:cNvSpPr>
          <p:nvPr>
            <p:ph type="body" idx="14"/>
          </p:nvPr>
        </p:nvSpPr>
        <p:spPr>
          <a:xfrm>
            <a:off x="557784" y="1261872"/>
            <a:ext cx="5669280" cy="457200"/>
          </a:xfrm>
        </p:spPr>
        <p:txBody>
          <a:bodyPr/>
          <a:lstStyle/>
          <a:p>
            <a:pPr marL="0" indent="0" algn="l">
              <a:buNone/>
            </a:pPr>
            <a:r>
              <a:rPr sz="2000" b="1" i="0">
                <a:solidFill>
                  <a:srgbClr val="F1BE29"/>
                </a:solidFill>
                <a:latin typeface="Arial" panose="020B0604020202020204" pitchFamily="34" charset="0"/>
                <a:cs typeface="Arial"/>
              </a:rPr>
              <a:t>Учебное приложение Streamlit</a:t>
            </a: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7947945" cy="666000"/>
            <a:chOff x="0" y="0"/>
            <a:chExt cx="7947945"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7947945"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Приложение и воспроизводимый репозиторий</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7857896"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Rectangle 70"/>
          <p:cNvSpPr/>
          <p:nvPr/>
        </p:nvSpPr>
        <p:spPr>
          <a:xfrm>
            <a:off x="557784" y="1828800"/>
            <a:ext cx="1645920" cy="1417320"/>
          </a:xfrm>
          <a:prstGeom prst="rect">
            <a:avLst/>
          </a:prstGeom>
          <a:solidFill>
            <a:srgbClr val="E3F0FD"/>
          </a:solidFill>
          <a:ln>
            <a:noFill/>
          </a:ln>
        </p:spPr>
        <p:txBody>
          <a:bodyPr rtlCol="0" anchor="ctr"/>
          <a:lstStyle/>
          <a:p>
            <a:pPr algn="ctr"/>
            <a:endParaRPr/>
          </a:p>
        </p:txBody>
      </p:sp>
      <p:sp>
        <p:nvSpPr>
          <p:cNvPr id="72" name="TextBox 71"/>
          <p:cNvSpPr txBox="1"/>
          <p:nvPr/>
        </p:nvSpPr>
        <p:spPr>
          <a:xfrm>
            <a:off x="55778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11</a:t>
            </a:r>
          </a:p>
        </p:txBody>
      </p:sp>
      <p:sp>
        <p:nvSpPr>
          <p:cNvPr id="73" name="TextBox 72"/>
          <p:cNvSpPr txBox="1"/>
          <p:nvPr/>
        </p:nvSpPr>
        <p:spPr>
          <a:xfrm>
            <a:off x="603504" y="2651760"/>
            <a:ext cx="1554480" cy="548640"/>
          </a:xfrm>
          <a:prstGeom prst="rect">
            <a:avLst/>
          </a:prstGeom>
          <a:noFill/>
        </p:spPr>
        <p:txBody>
          <a:bodyPr wrap="square" lIns="0" tIns="0" rIns="0" bIns="0" anchor="t"/>
          <a:lstStyle/>
          <a:p>
            <a:pPr marL="0" indent="0" algn="ctr">
              <a:lnSpc>
                <a:spcPct val="100000"/>
              </a:lnSpc>
              <a:buNone/>
            </a:pPr>
            <a:r>
              <a:rPr sz="1600" b="0" i="0">
                <a:solidFill>
                  <a:srgbClr val="262626"/>
                </a:solidFill>
                <a:latin typeface="Arial" panose="020B0604020202020204" pitchFamily="34" charset="0"/>
                <a:cs typeface="Arial"/>
              </a:rPr>
              <a:t>входов</a:t>
            </a:r>
          </a:p>
        </p:txBody>
      </p:sp>
      <p:cxnSp>
        <p:nvCxnSpPr>
          <p:cNvPr id="74" name="Connector 73"/>
          <p:cNvCxnSpPr/>
          <p:nvPr/>
        </p:nvCxnSpPr>
        <p:spPr>
          <a:xfrm>
            <a:off x="2276856" y="2537460"/>
            <a:ext cx="219456" cy="0"/>
          </a:xfrm>
          <a:prstGeom prst="line">
            <a:avLst/>
          </a:prstGeom>
          <a:ln w="31750">
            <a:solidFill>
              <a:srgbClr val="F1BE29"/>
            </a:solidFill>
            <a:tailEnd type="triangle" w="med" len="med"/>
          </a:ln>
        </p:spPr>
      </p:cxnSp>
      <p:sp>
        <p:nvSpPr>
          <p:cNvPr id="75" name="Rectangle 74"/>
          <p:cNvSpPr/>
          <p:nvPr/>
        </p:nvSpPr>
        <p:spPr>
          <a:xfrm>
            <a:off x="2569464" y="1828800"/>
            <a:ext cx="1645920" cy="1417320"/>
          </a:xfrm>
          <a:prstGeom prst="rect">
            <a:avLst/>
          </a:prstGeom>
          <a:solidFill>
            <a:srgbClr val="E3F0FD"/>
          </a:solidFill>
          <a:ln>
            <a:noFill/>
          </a:ln>
        </p:spPr>
        <p:txBody>
          <a:bodyPr rtlCol="0" anchor="ctr"/>
          <a:lstStyle/>
          <a:p>
            <a:pPr algn="ctr"/>
            <a:endParaRPr/>
          </a:p>
        </p:txBody>
      </p:sp>
      <p:sp>
        <p:nvSpPr>
          <p:cNvPr id="76" name="TextBox 75"/>
          <p:cNvSpPr txBox="1"/>
          <p:nvPr/>
        </p:nvSpPr>
        <p:spPr>
          <a:xfrm>
            <a:off x="2569464" y="1874519"/>
            <a:ext cx="1645920" cy="822960"/>
          </a:xfrm>
          <a:prstGeom prst="rect">
            <a:avLst/>
          </a:prstGeom>
          <a:noFill/>
        </p:spPr>
        <p:txBody>
          <a:bodyPr wrap="square" lIns="0" tIns="0" rIns="0" bIns="0" anchor="ctr"/>
          <a:lstStyle/>
          <a:p>
            <a:pPr marL="0" indent="0" algn="ctr">
              <a:buNone/>
            </a:pPr>
            <a:r>
              <a:rPr sz="2200" b="1" i="0">
                <a:solidFill>
                  <a:srgbClr val="065CAB"/>
                </a:solidFill>
                <a:latin typeface="Arial" panose="020B0604020202020204" pitchFamily="34" charset="0"/>
                <a:cs typeface="Arial"/>
              </a:rPr>
              <a:t>проверка</a:t>
            </a:r>
          </a:p>
        </p:txBody>
      </p:sp>
      <p:sp>
        <p:nvSpPr>
          <p:cNvPr id="77" name="TextBox 76"/>
          <p:cNvSpPr txBox="1"/>
          <p:nvPr/>
        </p:nvSpPr>
        <p:spPr>
          <a:xfrm>
            <a:off x="2615184" y="2651760"/>
            <a:ext cx="1554480" cy="548640"/>
          </a:xfrm>
          <a:prstGeom prst="rect">
            <a:avLst/>
          </a:prstGeom>
          <a:noFill/>
        </p:spPr>
        <p:txBody>
          <a:bodyPr wrap="square" lIns="0" tIns="0" rIns="0" bIns="0" anchor="t"/>
          <a:lstStyle/>
          <a:p>
            <a:pPr marL="0" indent="0" algn="ctr">
              <a:lnSpc>
                <a:spcPct val="100000"/>
              </a:lnSpc>
              <a:buNone/>
            </a:pPr>
            <a:r>
              <a:rPr lang="ru-RU" sz="1300" i="0">
                <a:solidFill>
                  <a:srgbClr val="262626"/>
                </a:solidFill>
                <a:latin typeface="Arial" panose="020B0604020202020204" pitchFamily="34" charset="0"/>
                <a:cs typeface="Arial"/>
              </a:rPr>
              <a:t>проверка
ввода</a:t>
            </a:r>
            <a:endParaRPr sz="1300" i="0">
              <a:solidFill>
                <a:srgbClr val="262626"/>
              </a:solidFill>
              <a:latin typeface="Arial" panose="020B0604020202020204" pitchFamily="34" charset="0"/>
              <a:cs typeface="Arial"/>
            </a:endParaRPr>
          </a:p>
        </p:txBody>
      </p:sp>
      <p:cxnSp>
        <p:nvCxnSpPr>
          <p:cNvPr id="78" name="Connector 77"/>
          <p:cNvCxnSpPr/>
          <p:nvPr/>
        </p:nvCxnSpPr>
        <p:spPr>
          <a:xfrm>
            <a:off x="4288536" y="2537460"/>
            <a:ext cx="219456" cy="0"/>
          </a:xfrm>
          <a:prstGeom prst="line">
            <a:avLst/>
          </a:prstGeom>
          <a:ln w="31750">
            <a:solidFill>
              <a:srgbClr val="F1BE29"/>
            </a:solidFill>
            <a:tailEnd type="triangle" w="med" len="med"/>
          </a:ln>
        </p:spPr>
      </p:cxnSp>
      <p:sp>
        <p:nvSpPr>
          <p:cNvPr id="79" name="Rectangle 78"/>
          <p:cNvSpPr/>
          <p:nvPr/>
        </p:nvSpPr>
        <p:spPr>
          <a:xfrm>
            <a:off x="4581144" y="1828800"/>
            <a:ext cx="1645920" cy="1417320"/>
          </a:xfrm>
          <a:prstGeom prst="rect">
            <a:avLst/>
          </a:prstGeom>
          <a:solidFill>
            <a:srgbClr val="E3F0FD"/>
          </a:solidFill>
          <a:ln>
            <a:noFill/>
          </a:ln>
        </p:spPr>
        <p:txBody>
          <a:bodyPr rtlCol="0" anchor="ctr"/>
          <a:lstStyle/>
          <a:p>
            <a:pPr algn="ctr"/>
            <a:endParaRPr/>
          </a:p>
        </p:txBody>
      </p:sp>
      <p:sp>
        <p:nvSpPr>
          <p:cNvPr id="80" name="TextBox 79"/>
          <p:cNvSpPr txBox="1"/>
          <p:nvPr/>
        </p:nvSpPr>
        <p:spPr>
          <a:xfrm>
            <a:off x="4581144" y="1874519"/>
            <a:ext cx="1645920" cy="822960"/>
          </a:xfrm>
          <a:prstGeom prst="rect">
            <a:avLst/>
          </a:prstGeom>
          <a:noFill/>
        </p:spPr>
        <p:txBody>
          <a:bodyPr wrap="square" lIns="0" tIns="0" rIns="0" bIns="0" anchor="ctr"/>
          <a:lstStyle/>
          <a:p>
            <a:pPr marL="0" indent="0" algn="ctr">
              <a:buNone/>
            </a:pPr>
            <a:r>
              <a:rPr sz="4000" b="1" i="0">
                <a:solidFill>
                  <a:srgbClr val="065CAB"/>
                </a:solidFill>
                <a:latin typeface="Arial" panose="020B0604020202020204" pitchFamily="34" charset="0"/>
                <a:cs typeface="Arial"/>
              </a:rPr>
              <a:t>2</a:t>
            </a:r>
          </a:p>
        </p:txBody>
      </p:sp>
      <p:sp>
        <p:nvSpPr>
          <p:cNvPr id="81" name="TextBox 80"/>
          <p:cNvSpPr txBox="1"/>
          <p:nvPr/>
        </p:nvSpPr>
        <p:spPr>
          <a:xfrm>
            <a:off x="4626864" y="2651760"/>
            <a:ext cx="1554480" cy="548640"/>
          </a:xfrm>
          <a:prstGeom prst="rect">
            <a:avLst/>
          </a:prstGeom>
          <a:noFill/>
        </p:spPr>
        <p:txBody>
          <a:bodyPr wrap="square" lIns="0" tIns="0" rIns="0" bIns="0" anchor="t"/>
          <a:lstStyle/>
          <a:p>
            <a:pPr marL="0" indent="0" algn="ctr">
              <a:lnSpc>
                <a:spcPct val="100000"/>
              </a:lnSpc>
              <a:buNone/>
            </a:pPr>
            <a:r>
              <a:rPr sz="1600" b="0" i="0">
                <a:solidFill>
                  <a:srgbClr val="262626"/>
                </a:solidFill>
                <a:latin typeface="Arial" panose="020B0604020202020204" pitchFamily="34" charset="0"/>
                <a:cs typeface="Arial"/>
              </a:rPr>
              <a:t>прогноза</a:t>
            </a:r>
          </a:p>
        </p:txBody>
      </p:sp>
      <p:sp>
        <p:nvSpPr>
          <p:cNvPr id="82" name="TextBox 81"/>
          <p:cNvSpPr txBox="1"/>
          <p:nvPr/>
        </p:nvSpPr>
        <p:spPr>
          <a:xfrm>
            <a:off x="557784" y="3429000"/>
            <a:ext cx="5760720" cy="914400"/>
          </a:xfrm>
          <a:prstGeom prst="rect">
            <a:avLst/>
          </a:prstGeom>
          <a:noFill/>
        </p:spPr>
        <p:txBody>
          <a:bodyPr wrap="square" lIns="0" tIns="0" rIns="0" bIns="0" anchor="t"/>
          <a:lstStyle/>
          <a:p>
            <a:pPr marL="0" indent="0" algn="l">
              <a:lnSpc>
                <a:spcPct val="105000"/>
              </a:lnSpc>
              <a:buNone/>
            </a:pPr>
            <a:r>
              <a:rPr lang="ru-RU" sz="1600" i="0">
                <a:solidFill>
                  <a:srgbClr val="262626"/>
                </a:solidFill>
                <a:latin typeface="Arial" panose="020B0604020202020204" pitchFamily="34" charset="0"/>
                <a:cs typeface="Arial"/>
              </a:rPr>
              <a:t>Модуль упругости при растяжении – прогноз среднего
Прочность при растяжении – градиентный бустинг</a:t>
            </a:r>
            <a:endParaRPr sz="1600" i="0">
              <a:solidFill>
                <a:srgbClr val="595959"/>
              </a:solidFill>
              <a:latin typeface="Arial" panose="020B0604020202020204" pitchFamily="34" charset="0"/>
              <a:cs typeface="Arial"/>
            </a:endParaRPr>
          </a:p>
        </p:txBody>
      </p:sp>
      <p:cxnSp>
        <p:nvCxnSpPr>
          <p:cNvPr id="83" name="Connector 82"/>
          <p:cNvCxnSpPr/>
          <p:nvPr/>
        </p:nvCxnSpPr>
        <p:spPr>
          <a:xfrm>
            <a:off x="557784" y="4480560"/>
            <a:ext cx="0" cy="777240"/>
          </a:xfrm>
          <a:prstGeom prst="line">
            <a:avLst/>
          </a:prstGeom>
          <a:ln w="25400">
            <a:solidFill>
              <a:srgbClr val="065CAB"/>
            </a:solidFill>
          </a:ln>
        </p:spPr>
      </p:cxnSp>
      <p:cxnSp>
        <p:nvCxnSpPr>
          <p:cNvPr id="84" name="Connector 83"/>
          <p:cNvCxnSpPr/>
          <p:nvPr/>
        </p:nvCxnSpPr>
        <p:spPr>
          <a:xfrm>
            <a:off x="557784" y="4480560"/>
            <a:ext cx="457199" cy="0"/>
          </a:xfrm>
          <a:prstGeom prst="line">
            <a:avLst/>
          </a:prstGeom>
          <a:ln w="25400">
            <a:solidFill>
              <a:srgbClr val="065CAB"/>
            </a:solidFill>
          </a:ln>
        </p:spPr>
      </p:cxnSp>
      <p:cxnSp>
        <p:nvCxnSpPr>
          <p:cNvPr id="85" name="Connector 84"/>
          <p:cNvCxnSpPr/>
          <p:nvPr/>
        </p:nvCxnSpPr>
        <p:spPr>
          <a:xfrm>
            <a:off x="557784" y="5257800"/>
            <a:ext cx="457199" cy="0"/>
          </a:xfrm>
          <a:prstGeom prst="line">
            <a:avLst/>
          </a:prstGeom>
          <a:ln w="25400">
            <a:solidFill>
              <a:srgbClr val="065CAB"/>
            </a:solidFill>
          </a:ln>
        </p:spPr>
      </p:cxnSp>
      <p:sp>
        <p:nvSpPr>
          <p:cNvPr id="86" name="TextBox 85"/>
          <p:cNvSpPr txBox="1"/>
          <p:nvPr/>
        </p:nvSpPr>
        <p:spPr>
          <a:xfrm>
            <a:off x="813816" y="4553712"/>
            <a:ext cx="5504688" cy="630936"/>
          </a:xfrm>
          <a:prstGeom prst="rect">
            <a:avLst/>
          </a:prstGeom>
          <a:noFill/>
        </p:spPr>
        <p:txBody>
          <a:bodyPr wrap="square" lIns="0" tIns="0" rIns="0" bIns="0" anchor="ctr"/>
          <a:lstStyle/>
          <a:p>
            <a:pPr marL="0" indent="0" algn="l">
              <a:buNone/>
            </a:pPr>
            <a:r>
              <a:rPr lang="ru-RU" i="0">
                <a:solidFill>
                  <a:srgbClr val="262626"/>
                </a:solidFill>
                <a:latin typeface="Arial" panose="020B0604020202020204" pitchFamily="34" charset="0"/>
                <a:cs typeface="Arial"/>
              </a:rPr>
              <a:t>Демо: медианные входы и угол 90° дают 73,2073 ГПа и 2502,06 МПа</a:t>
            </a:r>
            <a:endParaRPr i="0">
              <a:solidFill>
                <a:srgbClr val="262626"/>
              </a:solidFill>
              <a:latin typeface="Arial" panose="020B0604020202020204" pitchFamily="34" charset="0"/>
              <a:cs typeface="Arial"/>
            </a:endParaRPr>
          </a:p>
        </p:txBody>
      </p:sp>
      <p:sp>
        <p:nvSpPr>
          <p:cNvPr id="87" name="TextBox 86"/>
          <p:cNvSpPr txBox="1"/>
          <p:nvPr/>
        </p:nvSpPr>
        <p:spPr>
          <a:xfrm>
            <a:off x="557784" y="5440680"/>
            <a:ext cx="5760720" cy="731520"/>
          </a:xfrm>
          <a:prstGeom prst="rect">
            <a:avLst/>
          </a:prstGeom>
          <a:noFill/>
        </p:spPr>
        <p:txBody>
          <a:bodyPr wrap="square" lIns="0" tIns="0" rIns="0" bIns="0" anchor="t"/>
          <a:lstStyle/>
          <a:p>
            <a:pPr marL="0" indent="0" algn="l">
              <a:lnSpc>
                <a:spcPct val="100000"/>
              </a:lnSpc>
              <a:buNone/>
            </a:pPr>
            <a:r>
              <a:rPr lang="ru-RU" b="1" i="0">
                <a:solidFill>
                  <a:srgbClr val="595959"/>
                </a:solidFill>
                <a:latin typeface="Arial" panose="020B0604020202020204" pitchFamily="34" charset="0"/>
                <a:cs typeface="Arial"/>
              </a:rPr>
              <a:t>Это расчёт для демонстрационного профиля, а не испытание нового образца</a:t>
            </a:r>
            <a:endParaRPr b="1" i="0">
              <a:solidFill>
                <a:srgbClr val="595959"/>
              </a:solidFill>
              <a:latin typeface="Arial" panose="020B0604020202020204" pitchFamily="34" charset="0"/>
              <a:cs typeface="Arial"/>
            </a:endParaRPr>
          </a:p>
        </p:txBody>
      </p:sp>
      <p:sp>
        <p:nvSpPr>
          <p:cNvPr id="88" name="Rectangle 87"/>
          <p:cNvSpPr/>
          <p:nvPr/>
        </p:nvSpPr>
        <p:spPr>
          <a:xfrm>
            <a:off x="6903720" y="1828800"/>
            <a:ext cx="4864608" cy="2743200"/>
          </a:xfrm>
          <a:prstGeom prst="rect">
            <a:avLst/>
          </a:prstGeom>
          <a:solidFill>
            <a:srgbClr val="F1BE29"/>
          </a:solidFill>
          <a:ln>
            <a:noFill/>
          </a:ln>
        </p:spPr>
        <p:txBody>
          <a:bodyPr rtlCol="0" anchor="ctr"/>
          <a:lstStyle/>
          <a:p>
            <a:pPr algn="ctr"/>
            <a:endParaRPr/>
          </a:p>
        </p:txBody>
      </p:sp>
      <p:sp>
        <p:nvSpPr>
          <p:cNvPr id="89" name="TextBox 88"/>
          <p:cNvSpPr txBox="1"/>
          <p:nvPr/>
        </p:nvSpPr>
        <p:spPr>
          <a:xfrm>
            <a:off x="7132320" y="1920240"/>
            <a:ext cx="4480560" cy="2560320"/>
          </a:xfrm>
          <a:prstGeom prst="rect">
            <a:avLst/>
          </a:prstGeom>
          <a:noFill/>
        </p:spPr>
        <p:txBody>
          <a:bodyPr wrap="square" lIns="0" tIns="0" rIns="0" bIns="0" anchor="ctr"/>
          <a:lstStyle/>
          <a:p>
            <a:pPr marL="0" indent="0" algn="l">
              <a:lnSpc>
                <a:spcPct val="105000"/>
              </a:lnSpc>
              <a:buNone/>
            </a:pPr>
            <a:r>
              <a:rPr lang="ru-RU" sz="1600" i="0">
                <a:solidFill>
                  <a:srgbClr val="262626"/>
                </a:solidFill>
                <a:latin typeface="Arial" panose="020B0604020202020204" pitchFamily="34" charset="0"/>
                <a:cs typeface="Arial"/>
              </a:rPr>
              <a:t>Репозиторий фиксирует
данные, разбиение, модели, отчёты и notebook</a:t>
            </a:r>
            <a:endParaRPr sz="1600" i="0">
              <a:solidFill>
                <a:srgbClr val="262626"/>
              </a:solidFill>
              <a:latin typeface="Arial" panose="020B0604020202020204" pitchFamily="34" charset="0"/>
              <a:cs typeface="Arial"/>
            </a:endParaRPr>
          </a:p>
        </p:txBody>
      </p:sp>
      <p:sp>
        <p:nvSpPr>
          <p:cNvPr id="90" name="TextBox 89"/>
          <p:cNvSpPr txBox="1"/>
          <p:nvPr/>
        </p:nvSpPr>
        <p:spPr>
          <a:xfrm>
            <a:off x="6903720" y="4754880"/>
            <a:ext cx="4864608" cy="1097280"/>
          </a:xfrm>
          <a:prstGeom prst="rect">
            <a:avLst/>
          </a:prstGeom>
          <a:noFill/>
        </p:spPr>
        <p:txBody>
          <a:bodyPr wrap="square" lIns="0" tIns="0" rIns="0" bIns="0" anchor="t"/>
          <a:lstStyle/>
          <a:p>
            <a:pPr marL="0" indent="0" algn="l">
              <a:lnSpc>
                <a:spcPct val="105000"/>
              </a:lnSpc>
              <a:buNone/>
            </a:pPr>
            <a:r>
              <a:rPr sz="2000" b="0" i="0">
                <a:solidFill>
                  <a:srgbClr val="065CAB"/>
                </a:solidFill>
                <a:latin typeface="Arial" panose="020B0604020202020204" pitchFamily="34" charset="0"/>
                <a:cs typeface="Arial"/>
              </a:rPr>
              <a:t>github.com/fpvcstep/</a:t>
            </a:r>
          </a:p>
          <a:p>
            <a:pPr marL="0" indent="0" algn="l">
              <a:lnSpc>
                <a:spcPct val="105000"/>
              </a:lnSpc>
              <a:buNone/>
            </a:pPr>
            <a:r>
              <a:rPr sz="2000" b="1" i="0">
                <a:solidFill>
                  <a:srgbClr val="065CAB"/>
                </a:solidFill>
                <a:latin typeface="Arial" panose="020B0604020202020204" pitchFamily="34" charset="0"/>
                <a:cs typeface="Arial"/>
              </a:rPr>
              <a:t>composites-property-prediction</a:t>
            </a:r>
          </a:p>
        </p:txBody>
      </p:sp>
      <p:sp>
        <p:nvSpPr>
          <p:cNvPr id="91"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lang="ru-RU" sz="1600" b="0" i="0">
                <a:solidFill>
                  <a:srgbClr val="595959"/>
                </a:solidFill>
                <a:latin typeface="Arial" panose="020B0604020202020204" pitchFamily="34" charset="0"/>
                <a:cs typeface="Arial"/>
              </a:rPr>
              <a:t>Источник: РПЗ, разд. 2.5; </a:t>
            </a:r>
            <a:r>
              <a:rPr lang="en-US" sz="1600" b="0" i="0">
                <a:solidFill>
                  <a:srgbClr val="595959"/>
                </a:solidFill>
                <a:latin typeface="Arial" panose="020B0604020202020204" pitchFamily="34" charset="0"/>
                <a:cs typeface="Arial"/>
              </a:rPr>
              <a:t>docs/application.md</a:t>
            </a:r>
            <a:endParaRPr sz="1600" b="0" i="0">
              <a:solidFill>
                <a:srgbClr val="595959"/>
              </a:solidFill>
              <a:latin typeface="Arial" panose="020B0604020202020204" pitchFamily="34" charset="0"/>
              <a:cs typeface="Arial"/>
            </a:endParaRPr>
          </a:p>
        </p:txBody>
      </p:sp>
      <p:sp>
        <p:nvSpPr>
          <p:cNvPr id="2"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14</a:t>
            </a:fld>
            <a:endParaRPr lang="ru-RU" dirty="0">
              <a:latin typeface="Arial" panose="020B0604020202020204" pitchFamily="34" charset="0"/>
              <a:cs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idx="2"/>
          </p:nvPr>
        </p:nvSpPr>
        <p:spPr>
          <a:xfrm>
            <a:off x="557784" y="1325880"/>
            <a:ext cx="7498079" cy="457200"/>
          </a:xfrm>
        </p:spPr>
        <p:txBody>
          <a:bodyPr wrap="none">
            <a:normAutofit/>
          </a:bodyPr>
          <a:lstStyle/>
          <a:p>
            <a:pPr marL="0" indent="0" algn="l">
              <a:buNone/>
            </a:pPr>
            <a:r>
              <a:rPr lang="ru-RU" sz="1800" b="1" i="0">
                <a:solidFill>
                  <a:srgbClr val="F1BE29"/>
                </a:solidFill>
                <a:latin typeface="Arial" panose="020B0604020202020204" pitchFamily="34" charset="0"/>
                <a:cs typeface="Arial"/>
              </a:rPr>
              <a:t>Итог: воспроизводимый процесс и честная оценка качества</a:t>
            </a:r>
            <a:endParaRPr sz="1800" b="1" i="0">
              <a:solidFill>
                <a:srgbClr val="F1BE29"/>
              </a:solidFill>
              <a:latin typeface="Arial" panose="020B0604020202020204" pitchFamily="34" charset="0"/>
              <a:cs typeface="Arial"/>
            </a:endParaRPr>
          </a:p>
        </p:txBody>
      </p:sp>
      <p:grpSp>
        <p:nvGrpSpPr>
          <p:cNvPr id="65" name="Заголовок слайда">
            <a:extLst>
              <a:ext uri="{FF2B5EF4-FFF2-40B4-BE49-F238E27FC236}">
                <a16:creationId xmlns:a16="http://schemas.microsoft.com/office/drawing/2014/main" id="{9280711C-2262-4089-92EE-9BEACCC60C4C}"/>
              </a:ext>
            </a:extLst>
          </p:cNvPr>
          <p:cNvGrpSpPr/>
          <p:nvPr/>
        </p:nvGrpSpPr>
        <p:grpSpPr>
          <a:xfrm>
            <a:off x="3167880" y="469293"/>
            <a:ext cx="2584513" cy="666000"/>
            <a:chOff x="0" y="0"/>
            <a:chExt cx="2584513" cy="666000"/>
          </a:xfrm>
        </p:grpSpPr>
        <p:sp>
          <p:nvSpPr>
            <p:cNvPr id="68" name="Прямоугольник 67">
              <a:extLst>
                <a:ext uri="{FF2B5EF4-FFF2-40B4-BE49-F238E27FC236}">
                  <a16:creationId xmlns:a16="http://schemas.microsoft.com/office/drawing/2014/main" id="{E2535886-3476-4B40-9706-6797B77905C0}"/>
                </a:ext>
              </a:extLst>
            </p:cNvPr>
            <p:cNvSpPr/>
            <p:nvPr/>
          </p:nvSpPr>
          <p:spPr>
            <a:xfrm>
              <a:off x="0" y="0"/>
              <a:ext cx="2584513" cy="66600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square" lIns="201168" tIns="0" rIns="201168" bIns="0" rtlCol="0" anchor="ctr"/>
            <a:lstStyle/>
            <a:p>
              <a:pPr algn="l"/>
              <a:r>
                <a:rPr lang="ru-RU" sz="2600" b="1" spc="0">
                  <a:solidFill>
                    <a:srgbClr val="065CAB"/>
                  </a:solidFill>
                  <a:latin typeface="Arial" panose="020B0604020202020204" pitchFamily="34" charset="0"/>
                  <a:cs typeface="Arial" pitchFamily="2" charset="0"/>
                </a:rPr>
                <a:t>Выводы</a:t>
              </a:r>
              <a:endParaRPr lang="ru-RU" sz="2600" b="1" spc="0" dirty="0">
                <a:solidFill>
                  <a:srgbClr val="065CAB"/>
                </a:solidFill>
                <a:latin typeface="Arial" panose="020B0604020202020204" pitchFamily="34" charset="0"/>
                <a:cs typeface="Arial" pitchFamily="2" charset="0"/>
              </a:endParaRPr>
            </a:p>
          </p:txBody>
        </p:sp>
        <p:sp>
          <p:nvSpPr>
            <p:cNvPr id="69" name="Прямоугольник 58">
              <a:extLst>
                <a:ext uri="{FF2B5EF4-FFF2-40B4-BE49-F238E27FC236}">
                  <a16:creationId xmlns:a16="http://schemas.microsoft.com/office/drawing/2014/main" id="{96789138-2397-49AA-BF3A-A6B5B90E8840}"/>
                </a:ext>
              </a:extLst>
            </p:cNvPr>
            <p:cNvSpPr/>
            <p:nvPr/>
          </p:nvSpPr>
          <p:spPr>
            <a:xfrm rot="10800000" flipH="1">
              <a:off x="0" y="0"/>
              <a:ext cx="7657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65CAB"/>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latin typeface="Arial" pitchFamily="2" charset="0"/>
              </a:endParaRPr>
            </a:p>
          </p:txBody>
        </p:sp>
        <p:sp>
          <p:nvSpPr>
            <p:cNvPr id="70" name="Прямоугольник 58">
              <a:extLst>
                <a:ext uri="{FF2B5EF4-FFF2-40B4-BE49-F238E27FC236}">
                  <a16:creationId xmlns:a16="http://schemas.microsoft.com/office/drawing/2014/main" id="{DA239952-60E1-45EB-BDF0-422CC4CF7E42}"/>
                </a:ext>
              </a:extLst>
            </p:cNvPr>
            <p:cNvSpPr/>
            <p:nvPr/>
          </p:nvSpPr>
          <p:spPr>
            <a:xfrm flipH="1">
              <a:off x="2494464" y="0"/>
              <a:ext cx="90049" cy="666000"/>
            </a:xfrm>
            <a:custGeom>
              <a:avLst/>
              <a:gdLst>
                <a:gd name="connsiteX0" fmla="*/ 0 w 424732"/>
                <a:gd name="connsiteY0" fmla="*/ 0 h 424732"/>
                <a:gd name="connsiteX1" fmla="*/ 424732 w 424732"/>
                <a:gd name="connsiteY1" fmla="*/ 0 h 424732"/>
                <a:gd name="connsiteX2" fmla="*/ 424732 w 424732"/>
                <a:gd name="connsiteY2" fmla="*/ 424732 h 424732"/>
                <a:gd name="connsiteX3" fmla="*/ 0 w 424732"/>
                <a:gd name="connsiteY3" fmla="*/ 424732 h 424732"/>
                <a:gd name="connsiteX4" fmla="*/ 0 w 424732"/>
                <a:gd name="connsiteY4" fmla="*/ 0 h 424732"/>
                <a:gd name="connsiteX0" fmla="*/ 0 w 425450"/>
                <a:gd name="connsiteY0" fmla="*/ 0 h 424732"/>
                <a:gd name="connsiteX1" fmla="*/ 424732 w 425450"/>
                <a:gd name="connsiteY1" fmla="*/ 0 h 424732"/>
                <a:gd name="connsiteX2" fmla="*/ 425450 w 425450"/>
                <a:gd name="connsiteY2" fmla="*/ 238890 h 424732"/>
                <a:gd name="connsiteX3" fmla="*/ 424732 w 425450"/>
                <a:gd name="connsiteY3" fmla="*/ 424732 h 424732"/>
                <a:gd name="connsiteX4" fmla="*/ 0 w 425450"/>
                <a:gd name="connsiteY4" fmla="*/ 424732 h 424732"/>
                <a:gd name="connsiteX5" fmla="*/ 0 w 425450"/>
                <a:gd name="connsiteY5" fmla="*/ 0 h 424732"/>
                <a:gd name="connsiteX0" fmla="*/ 425450 w 516890"/>
                <a:gd name="connsiteY0" fmla="*/ 238890 h 424732"/>
                <a:gd name="connsiteX1" fmla="*/ 424732 w 516890"/>
                <a:gd name="connsiteY1" fmla="*/ 424732 h 424732"/>
                <a:gd name="connsiteX2" fmla="*/ 0 w 516890"/>
                <a:gd name="connsiteY2" fmla="*/ 424732 h 424732"/>
                <a:gd name="connsiteX3" fmla="*/ 0 w 516890"/>
                <a:gd name="connsiteY3" fmla="*/ 0 h 424732"/>
                <a:gd name="connsiteX4" fmla="*/ 424732 w 516890"/>
                <a:gd name="connsiteY4" fmla="*/ 0 h 424732"/>
                <a:gd name="connsiteX5" fmla="*/ 516890 w 516890"/>
                <a:gd name="connsiteY5" fmla="*/ 330330 h 424732"/>
                <a:gd name="connsiteX0" fmla="*/ 424732 w 516890"/>
                <a:gd name="connsiteY0" fmla="*/ 424732 h 424732"/>
                <a:gd name="connsiteX1" fmla="*/ 0 w 516890"/>
                <a:gd name="connsiteY1" fmla="*/ 424732 h 424732"/>
                <a:gd name="connsiteX2" fmla="*/ 0 w 516890"/>
                <a:gd name="connsiteY2" fmla="*/ 0 h 424732"/>
                <a:gd name="connsiteX3" fmla="*/ 424732 w 516890"/>
                <a:gd name="connsiteY3" fmla="*/ 0 h 424732"/>
                <a:gd name="connsiteX4" fmla="*/ 516890 w 516890"/>
                <a:gd name="connsiteY4" fmla="*/ 330330 h 424732"/>
                <a:gd name="connsiteX0" fmla="*/ 424732 w 424732"/>
                <a:gd name="connsiteY0" fmla="*/ 424732 h 424732"/>
                <a:gd name="connsiteX1" fmla="*/ 0 w 424732"/>
                <a:gd name="connsiteY1" fmla="*/ 424732 h 424732"/>
                <a:gd name="connsiteX2" fmla="*/ 0 w 424732"/>
                <a:gd name="connsiteY2" fmla="*/ 0 h 424732"/>
                <a:gd name="connsiteX3" fmla="*/ 424732 w 424732"/>
                <a:gd name="connsiteY3" fmla="*/ 0 h 424732"/>
              </a:gdLst>
              <a:ahLst/>
              <a:cxnLst>
                <a:cxn ang="0">
                  <a:pos x="connsiteX0" y="connsiteY0"/>
                </a:cxn>
                <a:cxn ang="0">
                  <a:pos x="connsiteX1" y="connsiteY1"/>
                </a:cxn>
                <a:cxn ang="0">
                  <a:pos x="connsiteX2" y="connsiteY2"/>
                </a:cxn>
                <a:cxn ang="0">
                  <a:pos x="connsiteX3" y="connsiteY3"/>
                </a:cxn>
              </a:cxnLst>
              <a:rect l="l" t="t" r="r" b="b"/>
              <a:pathLst>
                <a:path w="424732" h="424732">
                  <a:moveTo>
                    <a:pt x="424732" y="424732"/>
                  </a:moveTo>
                  <a:lnTo>
                    <a:pt x="0" y="424732"/>
                  </a:lnTo>
                  <a:lnTo>
                    <a:pt x="0" y="0"/>
                  </a:lnTo>
                  <a:lnTo>
                    <a:pt x="424732" y="0"/>
                  </a:lnTo>
                </a:path>
              </a:pathLst>
            </a:custGeom>
            <a:ln w="16510">
              <a:solidFill>
                <a:srgbClr val="0046A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ru-RU" dirty="0">
                <a:solidFill>
                  <a:srgbClr val="065CAB"/>
                </a:solidFill>
                <a:latin typeface="Arial" pitchFamily="2" charset="0"/>
              </a:endParaRPr>
            </a:p>
          </p:txBody>
        </p:sp>
      </p:grpSp>
      <p:sp>
        <p:nvSpPr>
          <p:cNvPr id="71" name="TextBox 70"/>
          <p:cNvSpPr txBox="1"/>
          <p:nvPr/>
        </p:nvSpPr>
        <p:spPr>
          <a:xfrm>
            <a:off x="6309360" y="1874519"/>
            <a:ext cx="1600200" cy="365760"/>
          </a:xfrm>
          <a:prstGeom prst="rect">
            <a:avLst/>
          </a:prstGeom>
          <a:noFill/>
        </p:spPr>
        <p:txBody>
          <a:bodyPr wrap="square" lIns="0" tIns="0" rIns="0" bIns="0" anchor="t"/>
          <a:lstStyle/>
          <a:p>
            <a:pPr marL="0" indent="0" algn="r">
              <a:buNone/>
            </a:pPr>
            <a:r>
              <a:rPr sz="1600" b="0" i="0">
                <a:solidFill>
                  <a:srgbClr val="595959"/>
                </a:solidFill>
                <a:latin typeface="Arial" panose="020B0604020202020204" pitchFamily="34" charset="0"/>
                <a:cs typeface="Arial"/>
              </a:rPr>
              <a:t>test R²</a:t>
            </a:r>
          </a:p>
        </p:txBody>
      </p:sp>
      <p:cxnSp>
        <p:nvCxnSpPr>
          <p:cNvPr id="72" name="Connector 71"/>
          <p:cNvCxnSpPr/>
          <p:nvPr/>
        </p:nvCxnSpPr>
        <p:spPr>
          <a:xfrm>
            <a:off x="557784" y="2240280"/>
            <a:ext cx="0" cy="868680"/>
          </a:xfrm>
          <a:prstGeom prst="line">
            <a:avLst/>
          </a:prstGeom>
          <a:ln w="28575">
            <a:solidFill>
              <a:srgbClr val="065CAB"/>
            </a:solidFill>
          </a:ln>
        </p:spPr>
      </p:cxnSp>
      <p:cxnSp>
        <p:nvCxnSpPr>
          <p:cNvPr id="73" name="Connector 72"/>
          <p:cNvCxnSpPr/>
          <p:nvPr/>
        </p:nvCxnSpPr>
        <p:spPr>
          <a:xfrm>
            <a:off x="557784" y="2240280"/>
            <a:ext cx="384048" cy="0"/>
          </a:xfrm>
          <a:prstGeom prst="line">
            <a:avLst/>
          </a:prstGeom>
          <a:ln w="28575">
            <a:solidFill>
              <a:srgbClr val="065CAB"/>
            </a:solidFill>
          </a:ln>
        </p:spPr>
      </p:cxnSp>
      <p:cxnSp>
        <p:nvCxnSpPr>
          <p:cNvPr id="74" name="Connector 73"/>
          <p:cNvCxnSpPr/>
          <p:nvPr/>
        </p:nvCxnSpPr>
        <p:spPr>
          <a:xfrm>
            <a:off x="557784" y="3108960"/>
            <a:ext cx="384048" cy="0"/>
          </a:xfrm>
          <a:prstGeom prst="line">
            <a:avLst/>
          </a:prstGeom>
          <a:ln w="28575">
            <a:solidFill>
              <a:srgbClr val="065CAB"/>
            </a:solidFill>
          </a:ln>
        </p:spPr>
      </p:cxnSp>
      <p:sp>
        <p:nvSpPr>
          <p:cNvPr id="75" name="TextBox 74"/>
          <p:cNvSpPr txBox="1"/>
          <p:nvPr/>
        </p:nvSpPr>
        <p:spPr>
          <a:xfrm>
            <a:off x="713232" y="225856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1</a:t>
            </a:r>
          </a:p>
        </p:txBody>
      </p:sp>
      <p:sp>
        <p:nvSpPr>
          <p:cNvPr id="76" name="TextBox 75"/>
          <p:cNvSpPr txBox="1"/>
          <p:nvPr/>
        </p:nvSpPr>
        <p:spPr>
          <a:xfrm>
            <a:off x="1417320" y="2258568"/>
            <a:ext cx="4754880" cy="868680"/>
          </a:xfrm>
          <a:prstGeom prst="rect">
            <a:avLst/>
          </a:prstGeom>
          <a:noFill/>
        </p:spPr>
        <p:txBody>
          <a:bodyPr wrap="square" lIns="0" tIns="0" rIns="0" bIns="0" anchor="t"/>
          <a:lstStyle/>
          <a:p>
            <a:pPr marL="0" indent="0" algn="l">
              <a:lnSpc>
                <a:spcPct val="100000"/>
              </a:lnSpc>
              <a:buNone/>
            </a:pPr>
            <a:r>
              <a:rPr lang="ru-RU" sz="1700" i="0">
                <a:solidFill>
                  <a:srgbClr val="262626"/>
                </a:solidFill>
                <a:latin typeface="Arial" panose="020B0604020202020204" pitchFamily="34" charset="0"/>
                <a:cs typeface="Arial"/>
              </a:rPr>
              <a:t>Модуль упругости при растяжении
лучше оказался прогноз среднего</a:t>
            </a:r>
            <a:endParaRPr sz="1700" i="0">
              <a:solidFill>
                <a:srgbClr val="595959"/>
              </a:solidFill>
              <a:latin typeface="Arial" panose="020B0604020202020204" pitchFamily="34" charset="0"/>
              <a:cs typeface="Arial"/>
            </a:endParaRPr>
          </a:p>
        </p:txBody>
      </p:sp>
      <p:sp>
        <p:nvSpPr>
          <p:cNvPr id="77" name="TextBox 76"/>
          <p:cNvSpPr txBox="1"/>
          <p:nvPr/>
        </p:nvSpPr>
        <p:spPr>
          <a:xfrm>
            <a:off x="6126480" y="224028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−0,016</a:t>
            </a:r>
          </a:p>
        </p:txBody>
      </p:sp>
      <p:cxnSp>
        <p:nvCxnSpPr>
          <p:cNvPr id="78" name="Connector 77"/>
          <p:cNvCxnSpPr/>
          <p:nvPr/>
        </p:nvCxnSpPr>
        <p:spPr>
          <a:xfrm>
            <a:off x="557784" y="3429000"/>
            <a:ext cx="0" cy="868680"/>
          </a:xfrm>
          <a:prstGeom prst="line">
            <a:avLst/>
          </a:prstGeom>
          <a:ln w="28575">
            <a:solidFill>
              <a:srgbClr val="065CAB"/>
            </a:solidFill>
          </a:ln>
        </p:spPr>
      </p:cxnSp>
      <p:cxnSp>
        <p:nvCxnSpPr>
          <p:cNvPr id="79" name="Connector 78"/>
          <p:cNvCxnSpPr/>
          <p:nvPr/>
        </p:nvCxnSpPr>
        <p:spPr>
          <a:xfrm>
            <a:off x="557784" y="3429000"/>
            <a:ext cx="384048" cy="0"/>
          </a:xfrm>
          <a:prstGeom prst="line">
            <a:avLst/>
          </a:prstGeom>
          <a:ln w="28575">
            <a:solidFill>
              <a:srgbClr val="065CAB"/>
            </a:solidFill>
          </a:ln>
        </p:spPr>
      </p:cxnSp>
      <p:cxnSp>
        <p:nvCxnSpPr>
          <p:cNvPr id="80" name="Connector 79"/>
          <p:cNvCxnSpPr/>
          <p:nvPr/>
        </p:nvCxnSpPr>
        <p:spPr>
          <a:xfrm>
            <a:off x="557784" y="4297680"/>
            <a:ext cx="384048" cy="0"/>
          </a:xfrm>
          <a:prstGeom prst="line">
            <a:avLst/>
          </a:prstGeom>
          <a:ln w="28575">
            <a:solidFill>
              <a:srgbClr val="065CAB"/>
            </a:solidFill>
          </a:ln>
        </p:spPr>
      </p:cxnSp>
      <p:sp>
        <p:nvSpPr>
          <p:cNvPr id="81" name="TextBox 80"/>
          <p:cNvSpPr txBox="1"/>
          <p:nvPr/>
        </p:nvSpPr>
        <p:spPr>
          <a:xfrm>
            <a:off x="713232" y="344728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2</a:t>
            </a:r>
          </a:p>
        </p:txBody>
      </p:sp>
      <p:sp>
        <p:nvSpPr>
          <p:cNvPr id="82" name="TextBox 81"/>
          <p:cNvSpPr txBox="1"/>
          <p:nvPr/>
        </p:nvSpPr>
        <p:spPr>
          <a:xfrm>
            <a:off x="1417320" y="3447288"/>
            <a:ext cx="4754880" cy="868680"/>
          </a:xfrm>
          <a:prstGeom prst="rect">
            <a:avLst/>
          </a:prstGeom>
          <a:noFill/>
        </p:spPr>
        <p:txBody>
          <a:bodyPr wrap="square" lIns="0" tIns="0" rIns="0" bIns="0" anchor="t"/>
          <a:lstStyle/>
          <a:p>
            <a:pPr marL="0" indent="0" algn="l">
              <a:lnSpc>
                <a:spcPct val="100000"/>
              </a:lnSpc>
              <a:buNone/>
            </a:pPr>
            <a:r>
              <a:rPr lang="ru-RU" sz="1600" i="0">
                <a:solidFill>
                  <a:srgbClr val="262626"/>
                </a:solidFill>
                <a:latin typeface="Arial" panose="020B0604020202020204" pitchFamily="34" charset="0"/>
                <a:cs typeface="Arial"/>
              </a:rPr>
              <a:t>Прочность при растяжении
качество бустинга близко к качеству прогноза среднего</a:t>
            </a:r>
            <a:endParaRPr sz="1600" i="0">
              <a:solidFill>
                <a:srgbClr val="595959"/>
              </a:solidFill>
              <a:latin typeface="Arial" panose="020B0604020202020204" pitchFamily="34" charset="0"/>
              <a:cs typeface="Arial"/>
            </a:endParaRPr>
          </a:p>
        </p:txBody>
      </p:sp>
      <p:sp>
        <p:nvSpPr>
          <p:cNvPr id="83" name="TextBox 82"/>
          <p:cNvSpPr txBox="1"/>
          <p:nvPr/>
        </p:nvSpPr>
        <p:spPr>
          <a:xfrm>
            <a:off x="6126480" y="342900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0,008</a:t>
            </a:r>
          </a:p>
        </p:txBody>
      </p:sp>
      <p:cxnSp>
        <p:nvCxnSpPr>
          <p:cNvPr id="84" name="Connector 83"/>
          <p:cNvCxnSpPr/>
          <p:nvPr/>
        </p:nvCxnSpPr>
        <p:spPr>
          <a:xfrm>
            <a:off x="557784" y="4617720"/>
            <a:ext cx="0" cy="868680"/>
          </a:xfrm>
          <a:prstGeom prst="line">
            <a:avLst/>
          </a:prstGeom>
          <a:ln w="28575">
            <a:solidFill>
              <a:srgbClr val="065CAB"/>
            </a:solidFill>
          </a:ln>
        </p:spPr>
      </p:cxnSp>
      <p:cxnSp>
        <p:nvCxnSpPr>
          <p:cNvPr id="85" name="Connector 84"/>
          <p:cNvCxnSpPr/>
          <p:nvPr/>
        </p:nvCxnSpPr>
        <p:spPr>
          <a:xfrm>
            <a:off x="557784" y="4617720"/>
            <a:ext cx="384048" cy="0"/>
          </a:xfrm>
          <a:prstGeom prst="line">
            <a:avLst/>
          </a:prstGeom>
          <a:ln w="28575">
            <a:solidFill>
              <a:srgbClr val="065CAB"/>
            </a:solidFill>
          </a:ln>
        </p:spPr>
      </p:cxnSp>
      <p:cxnSp>
        <p:nvCxnSpPr>
          <p:cNvPr id="86" name="Connector 85"/>
          <p:cNvCxnSpPr/>
          <p:nvPr/>
        </p:nvCxnSpPr>
        <p:spPr>
          <a:xfrm>
            <a:off x="557784" y="5486400"/>
            <a:ext cx="384048" cy="0"/>
          </a:xfrm>
          <a:prstGeom prst="line">
            <a:avLst/>
          </a:prstGeom>
          <a:ln w="28575">
            <a:solidFill>
              <a:srgbClr val="065CAB"/>
            </a:solidFill>
          </a:ln>
        </p:spPr>
      </p:cxnSp>
      <p:sp>
        <p:nvSpPr>
          <p:cNvPr id="87" name="TextBox 86"/>
          <p:cNvSpPr txBox="1"/>
          <p:nvPr/>
        </p:nvSpPr>
        <p:spPr>
          <a:xfrm>
            <a:off x="713232" y="4636008"/>
            <a:ext cx="548640" cy="731520"/>
          </a:xfrm>
          <a:prstGeom prst="rect">
            <a:avLst/>
          </a:prstGeom>
          <a:noFill/>
        </p:spPr>
        <p:txBody>
          <a:bodyPr wrap="square" lIns="0" tIns="0" rIns="0" bIns="0" anchor="t"/>
          <a:lstStyle/>
          <a:p>
            <a:pPr marL="0" indent="0" algn="l">
              <a:buNone/>
            </a:pPr>
            <a:r>
              <a:rPr sz="3600" b="1" i="0">
                <a:solidFill>
                  <a:srgbClr val="065CAB"/>
                </a:solidFill>
                <a:latin typeface="Arial" panose="020B0604020202020204" pitchFamily="34" charset="0"/>
                <a:cs typeface="Arial"/>
              </a:rPr>
              <a:t>3</a:t>
            </a:r>
          </a:p>
        </p:txBody>
      </p:sp>
      <p:sp>
        <p:nvSpPr>
          <p:cNvPr id="88" name="TextBox 87"/>
          <p:cNvSpPr txBox="1"/>
          <p:nvPr/>
        </p:nvSpPr>
        <p:spPr>
          <a:xfrm>
            <a:off x="1417320" y="4636008"/>
            <a:ext cx="4754880" cy="868680"/>
          </a:xfrm>
          <a:prstGeom prst="rect">
            <a:avLst/>
          </a:prstGeom>
          <a:noFill/>
        </p:spPr>
        <p:txBody>
          <a:bodyPr wrap="square" lIns="0" tIns="0" rIns="0" bIns="0" anchor="t"/>
          <a:lstStyle/>
          <a:p>
            <a:pPr marL="0" indent="0" algn="l">
              <a:lnSpc>
                <a:spcPct val="100000"/>
              </a:lnSpc>
              <a:buNone/>
            </a:pPr>
            <a:r>
              <a:rPr lang="ru-RU" sz="1700" i="0">
                <a:solidFill>
                  <a:srgbClr val="262626"/>
                </a:solidFill>
                <a:latin typeface="Arial" panose="020B0604020202020204" pitchFamily="34" charset="0"/>
                <a:cs typeface="Arial"/>
              </a:rPr>
              <a:t>Соотношение матрица–наполнитель
нейросеть хуже прогноза среднего</a:t>
            </a:r>
            <a:endParaRPr sz="1700" i="0">
              <a:solidFill>
                <a:srgbClr val="595959"/>
              </a:solidFill>
              <a:latin typeface="Arial" panose="020B0604020202020204" pitchFamily="34" charset="0"/>
              <a:cs typeface="Arial"/>
            </a:endParaRPr>
          </a:p>
        </p:txBody>
      </p:sp>
      <p:sp>
        <p:nvSpPr>
          <p:cNvPr id="89" name="TextBox 88"/>
          <p:cNvSpPr txBox="1"/>
          <p:nvPr/>
        </p:nvSpPr>
        <p:spPr>
          <a:xfrm>
            <a:off x="6126480" y="4617720"/>
            <a:ext cx="1783080" cy="868680"/>
          </a:xfrm>
          <a:prstGeom prst="rect">
            <a:avLst/>
          </a:prstGeom>
          <a:noFill/>
        </p:spPr>
        <p:txBody>
          <a:bodyPr wrap="square" lIns="0" tIns="0" rIns="0" bIns="0" anchor="ctr"/>
          <a:lstStyle/>
          <a:p>
            <a:pPr marL="0" indent="0" algn="r">
              <a:buNone/>
            </a:pPr>
            <a:r>
              <a:rPr sz="3400" b="1" i="0">
                <a:solidFill>
                  <a:srgbClr val="065CAB"/>
                </a:solidFill>
                <a:latin typeface="Arial" panose="020B0604020202020204" pitchFamily="34" charset="0"/>
                <a:cs typeface="Arial"/>
              </a:rPr>
              <a:t>−0,040</a:t>
            </a:r>
          </a:p>
        </p:txBody>
      </p:sp>
      <p:sp>
        <p:nvSpPr>
          <p:cNvPr id="90" name="Rectangle 89"/>
          <p:cNvSpPr/>
          <p:nvPr/>
        </p:nvSpPr>
        <p:spPr>
          <a:xfrm>
            <a:off x="8183879" y="1417320"/>
            <a:ext cx="3584448" cy="4663440"/>
          </a:xfrm>
          <a:prstGeom prst="rect">
            <a:avLst/>
          </a:prstGeom>
          <a:solidFill>
            <a:srgbClr val="F1BE29"/>
          </a:solidFill>
          <a:ln>
            <a:noFill/>
          </a:ln>
        </p:spPr>
        <p:txBody>
          <a:bodyPr rtlCol="0" anchor="ctr"/>
          <a:lstStyle/>
          <a:p>
            <a:pPr algn="ctr"/>
            <a:endParaRPr/>
          </a:p>
        </p:txBody>
      </p:sp>
      <p:sp>
        <p:nvSpPr>
          <p:cNvPr id="91" name="TextBox 90"/>
          <p:cNvSpPr txBox="1"/>
          <p:nvPr/>
        </p:nvSpPr>
        <p:spPr>
          <a:xfrm>
            <a:off x="8412480" y="1645920"/>
            <a:ext cx="3154680" cy="4297680"/>
          </a:xfrm>
          <a:prstGeom prst="rect">
            <a:avLst/>
          </a:prstGeom>
          <a:noFill/>
        </p:spPr>
        <p:txBody>
          <a:bodyPr wrap="square" lIns="0" tIns="0" rIns="0" bIns="0" anchor="t"/>
          <a:lstStyle/>
          <a:p>
            <a:pPr marL="0" indent="0" algn="l">
              <a:lnSpc>
                <a:spcPct val="105000"/>
              </a:lnSpc>
              <a:buNone/>
            </a:pPr>
            <a:r>
              <a:rPr lang="ru-RU" sz="1700" i="0">
                <a:solidFill>
                  <a:srgbClr val="262626"/>
                </a:solidFill>
                <a:latin typeface="Arial" panose="020B0604020202020204" pitchFamily="34" charset="0"/>
                <a:cs typeface="Arial"/>
              </a:rPr>
              <a:t>Что нужно дальше
описать происхождение данных
проверить на новой выборке
сверить с лабораторными испытаниями
Текущие модели не предназначены для подбора рецептуры</a:t>
            </a:r>
            <a:endParaRPr sz="1700" i="0">
              <a:solidFill>
                <a:srgbClr val="262626"/>
              </a:solidFill>
              <a:latin typeface="Arial" panose="020B0604020202020204" pitchFamily="34" charset="0"/>
              <a:cs typeface="Arial"/>
            </a:endParaRPr>
          </a:p>
        </p:txBody>
      </p:sp>
      <p:sp>
        <p:nvSpPr>
          <p:cNvPr id="92" name="Источник"/>
          <p:cNvSpPr txBox="1"/>
          <p:nvPr/>
        </p:nvSpPr>
        <p:spPr>
          <a:xfrm>
            <a:off x="960120" y="6336792"/>
            <a:ext cx="10808208" cy="365760"/>
          </a:xfrm>
          <a:prstGeom prst="rect">
            <a:avLst/>
          </a:prstGeom>
          <a:noFill/>
        </p:spPr>
        <p:txBody>
          <a:bodyPr wrap="square" lIns="0" tIns="0" rIns="0" bIns="0" anchor="ctr"/>
          <a:lstStyle/>
          <a:p>
            <a:pPr marL="0" indent="0" algn="l">
              <a:buNone/>
            </a:pPr>
            <a:r>
              <a:rPr sz="1600" b="0" i="0">
                <a:solidFill>
                  <a:srgbClr val="595959"/>
                </a:solidFill>
                <a:latin typeface="Arial" panose="020B0604020202020204" pitchFamily="34" charset="0"/>
                <a:cs typeface="Arial"/>
              </a:rPr>
              <a:t>Источник: reports/evaluation/metrics.csv; РПЗ, заключение</a:t>
            </a:r>
          </a:p>
        </p:txBody>
      </p:sp>
      <p:sp>
        <p:nvSpPr>
          <p:cNvPr id="4" name="Номер слайда 3">
            <a:extLst>
              <a:ext uri="{FF2B5EF4-FFF2-40B4-BE49-F238E27FC236}">
                <a16:creationId xmlns:a16="http://schemas.microsoft.com/office/drawing/2014/main" id="{06555008-558A-4705-ADA6-A99A535D9A16}"/>
              </a:ext>
            </a:extLst>
          </p:cNvPr>
          <p:cNvSpPr>
            <a:spLocks noGrp="1"/>
          </p:cNvSpPr>
          <p:nvPr>
            <p:ph type="sldNum" idx="12"/>
          </p:nvPr>
        </p:nvSpPr>
        <p:spPr/>
        <p:txBody>
          <a:bodyPr/>
          <a:lstStyle/>
          <a:p>
            <a:pPr marL="0" lvl="0" indent="0" algn="l" rtl="0">
              <a:spcBef>
                <a:spcPts val="0"/>
              </a:spcBef>
              <a:spcAft>
                <a:spcPts val="0"/>
              </a:spcAft>
              <a:buNone/>
            </a:pPr>
            <a:fld id="{00000000-1234-1234-1234-123412341234}" type="slidenum">
              <a:rPr lang="ru-RU" smtClean="0">
                <a:latin typeface="Arial" panose="020B0604020202020204" pitchFamily="34" charset="0"/>
                <a:cs typeface="Arial"/>
              </a:rPr>
              <a:t>15</a:t>
            </a:fld>
            <a:endParaRPr lang="ru-RU" dirty="0">
              <a:latin typeface="Arial" panose="020B0604020202020204" pitchFamily="34" charset="0"/>
              <a:cs typeface="Arial"/>
            </a:endParaRPr>
          </a:p>
        </p:txBody>
      </p:sp>
    </p:spTree>
  </p:cSld>
  <p:clrMapOvr>
    <a:masterClrMapping/>
  </p:clrMapOvr>
</p:sld>
</file>

<file path=ppt/theme/theme1.xml><?xml version="1.0" encoding="utf-8"?>
<a:theme xmlns:a="http://schemas.openxmlformats.org/drawingml/2006/main" name="МГТУ">
  <a:themeElements>
    <a:clrScheme name="МГТУ10128">
      <a:dk1>
        <a:srgbClr val="000000"/>
      </a:dk1>
      <a:lt1>
        <a:srgbClr val="FFFFFF"/>
      </a:lt1>
      <a:dk2>
        <a:srgbClr val="062646"/>
      </a:dk2>
      <a:lt2>
        <a:srgbClr val="E3F0FD"/>
      </a:lt2>
      <a:accent1>
        <a:srgbClr val="0E5DAB"/>
      </a:accent1>
      <a:accent2>
        <a:srgbClr val="7BC6DF"/>
      </a:accent2>
      <a:accent3>
        <a:srgbClr val="F99D27"/>
      </a:accent3>
      <a:accent4>
        <a:srgbClr val="BDD7EE"/>
      </a:accent4>
      <a:accent5>
        <a:srgbClr val="FFC000"/>
      </a:accent5>
      <a:accent6>
        <a:srgbClr val="A5A5A5"/>
      </a:accent6>
      <a:hlink>
        <a:srgbClr val="1F75E2"/>
      </a:hlink>
      <a:folHlink>
        <a:srgbClr val="FA34DE"/>
      </a:folHlink>
    </a:clrScheme>
    <a:fontScheme name="Основная">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noFill/>
      </a:spPr>
      <a:bodyPr wrap="square" rtlCol="0">
        <a:spAutoFit/>
      </a:bodyPr>
      <a:lstStyle>
        <a:defPPr algn="l">
          <a:defRPr sz="2300" dirty="0">
            <a:latin typeface="+mn-lt"/>
          </a:defRPr>
        </a:defPPr>
      </a:lstStyle>
    </a:txDef>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2802</Words>
  <Application>Microsoft Office PowerPoint</Application>
  <PresentationFormat>Широкоэкранный</PresentationFormat>
  <Paragraphs>264</Paragraphs>
  <Slides>15</Slides>
  <Notes>15</Notes>
  <HiddenSlides>0</HiddenSlides>
  <MMClips>0</MMClips>
  <ScaleCrop>false</ScaleCrop>
  <HeadingPairs>
    <vt:vector size="6" baseType="variant">
      <vt:variant>
        <vt:lpstr>Использованные шрифты</vt:lpstr>
      </vt:variant>
      <vt:variant>
        <vt:i4>1</vt:i4>
      </vt:variant>
      <vt:variant>
        <vt:lpstr>Тема</vt:lpstr>
      </vt:variant>
      <vt:variant>
        <vt:i4>1</vt:i4>
      </vt:variant>
      <vt:variant>
        <vt:lpstr>Заголовки слайдов</vt:lpstr>
      </vt:variant>
      <vt:variant>
        <vt:i4>15</vt:i4>
      </vt:variant>
    </vt:vector>
  </HeadingPairs>
  <TitlesOfParts>
    <vt:vector size="17" baseType="lpstr">
      <vt:lpstr>Arial</vt:lpstr>
      <vt:lpstr>МГТУ</vt:lpstr>
      <vt:lpstr>Прогнозирование конечных свойств новых материалов (композиционных материалов)</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lpstr>Презентация PowerPoint</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Прогнозирование конечных свойств новых материалов (композиционных материалов)</dc:title>
  <dc:subject>Защита ВКР: регрессионные модели свойств композиционных материалов</dc:subject>
  <dc:creator/>
  <cp:keywords/>
  <dc:description/>
  <cp:lastModifiedBy/>
  <cp:revision>103</cp:revision>
  <dcterms:created xsi:type="dcterms:W3CDTF">2021-02-24T09:03:25Z</dcterms:created>
  <dcterms:modified xsi:type="dcterms:W3CDTF">2026-09-30T16:26:49Z</dcterms:modified>
</cp:coreProperties>
</file>