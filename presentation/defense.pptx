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38b697b16a493f" /><Relationship Type="http://schemas.openxmlformats.org/officeDocument/2006/relationships/extended-properties" Target="/docProps/app.xml" Id="R3625dded820446b1" /><Relationship Type="http://schemas.openxmlformats.org/officeDocument/2006/relationships/officeDocument" Target="/ppt/presentation.xml" Id="R0e1053c1a2274bba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29eb8ab093594375"/>
  </p:sldMasterIdLst>
  <p:notesMasterIdLst>
    <p:notesMasterId xmlns:r="http://schemas.openxmlformats.org/officeDocument/2006/relationships" r:id="R1688011a48094975"/>
  </p:notesMasterIdLst>
  <p:sldIdLst>
    <p:sldId xmlns:r="http://schemas.openxmlformats.org/officeDocument/2006/relationships" id="256" r:id="Rb135a04dc8c94468"/>
    <p:sldId xmlns:r="http://schemas.openxmlformats.org/officeDocument/2006/relationships" id="257" r:id="Rf6e3161573de4b83"/>
    <p:sldId xmlns:r="http://schemas.openxmlformats.org/officeDocument/2006/relationships" id="258" r:id="Reb85f06ae7f1448d"/>
    <p:sldId xmlns:r="http://schemas.openxmlformats.org/officeDocument/2006/relationships" id="259" r:id="R2120be0c06c24b33"/>
    <p:sldId xmlns:r="http://schemas.openxmlformats.org/officeDocument/2006/relationships" id="260" r:id="R4b5a02de3a1147a8"/>
    <p:sldId xmlns:r="http://schemas.openxmlformats.org/officeDocument/2006/relationships" id="261" r:id="Ra7c5e7f504864146"/>
    <p:sldId xmlns:r="http://schemas.openxmlformats.org/officeDocument/2006/relationships" id="262" r:id="Ra6720e46b53c4694"/>
    <p:sldId xmlns:r="http://schemas.openxmlformats.org/officeDocument/2006/relationships" id="263" r:id="Rbbd20f9a44134c85"/>
    <p:sldId xmlns:r="http://schemas.openxmlformats.org/officeDocument/2006/relationships" id="264" r:id="Re567ed2cd0fe4927"/>
    <p:sldId xmlns:r="http://schemas.openxmlformats.org/officeDocument/2006/relationships" id="265" r:id="R4648617846974d80"/>
    <p:sldId xmlns:r="http://schemas.openxmlformats.org/officeDocument/2006/relationships" id="266" r:id="Rd1ed6fce7e7040b2"/>
    <p:sldId xmlns:r="http://schemas.openxmlformats.org/officeDocument/2006/relationships" id="267" r:id="Rd23742d30eca4c03"/>
    <p:sldId xmlns:r="http://schemas.openxmlformats.org/officeDocument/2006/relationships" id="268" r:id="R71aa97c8c75d4adb"/>
    <p:sldId xmlns:r="http://schemas.openxmlformats.org/officeDocument/2006/relationships" id="269" r:id="Ref24fa2ad1104ae7"/>
  </p:sldIdLst>
  <p:sldSz cx="12192000" cy="6858000"/>
  <p:notesSz cx="6858000" cy="9144000"/>
  <p:embeddedFontLst>
    <p:embeddedFont>
      <p:font typeface="ALS Sector Bold"/>
      <p:bold xmlns:r="http://schemas.openxmlformats.org/officeDocument/2006/relationships" r:id="R1e43be1bab224ccf"/>
    </p:embeddedFont>
    <p:embeddedFont>
      <p:font typeface="ALS Sector Regular"/>
      <p:regular xmlns:r="http://schemas.openxmlformats.org/officeDocument/2006/relationships" r:id="Rb601c0c0b3c64140"/>
    </p:embeddedFont>
    <p:embeddedFont>
      <p:font typeface="Open Sans"/>
      <p:regular xmlns:r="http://schemas.openxmlformats.org/officeDocument/2006/relationships" r:id="R818f20a33ef04572"/>
      <p:bold xmlns:r="http://schemas.openxmlformats.org/officeDocument/2006/relationships" r:id="R6fc1082e019640a7"/>
      <p:italic xmlns:r="http://schemas.openxmlformats.org/officeDocument/2006/relationships" r:id="R3bc575c438a74236"/>
      <p:boldItalic xmlns:r="http://schemas.openxmlformats.org/officeDocument/2006/relationships" r:id="R45ed50016a77451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5b5ace39f0478d" /><Relationship Type="http://schemas.openxmlformats.org/officeDocument/2006/relationships/slideMaster" Target="/ppt/slideMasters/slideMaster1.xml" Id="R29eb8ab093594375" /><Relationship Type="http://schemas.openxmlformats.org/officeDocument/2006/relationships/notesMaster" Target="/ppt/notesMasters/notesMaster1.xml" Id="R1688011a48094975" /><Relationship Type="http://schemas.openxmlformats.org/officeDocument/2006/relationships/presProps" Target="/ppt/presProps.xml" Id="Re31f5872ce1240cf" /><Relationship Type="http://schemas.openxmlformats.org/officeDocument/2006/relationships/viewProps" Target="/ppt/viewProps.xml" Id="R78fdef3cb7a44720" /><Relationship Type="http://schemas.openxmlformats.org/officeDocument/2006/relationships/tableStyles" Target="/ppt/tableStyles.xml" Id="Rfdc43e07a758427a" /><Relationship Type="http://schemas.openxmlformats.org/officeDocument/2006/relationships/font" Target="/ppt/fonts/font.dat" Id="R1e43be1bab224ccf" /><Relationship Type="http://schemas.openxmlformats.org/officeDocument/2006/relationships/font" Target="/ppt/fonts/font2.dat" Id="Rb601c0c0b3c64140" /><Relationship Type="http://schemas.openxmlformats.org/officeDocument/2006/relationships/font" Target="/ppt/fonts/font3.dat" Id="R818f20a33ef04572" /><Relationship Type="http://schemas.openxmlformats.org/officeDocument/2006/relationships/font" Target="/ppt/fonts/font4.dat" Id="R6fc1082e019640a7" /><Relationship Type="http://schemas.openxmlformats.org/officeDocument/2006/relationships/font" Target="/ppt/fonts/font5.dat" Id="R3bc575c438a74236" /><Relationship Type="http://schemas.openxmlformats.org/officeDocument/2006/relationships/font" Target="/ppt/fonts/font6.dat" Id="R45ed50016a77451d" /><Relationship Type="http://schemas.openxmlformats.org/officeDocument/2006/relationships/slide" Target="/ppt/slides/slide1.xml" Id="Rb135a04dc8c94468" /><Relationship Type="http://schemas.openxmlformats.org/officeDocument/2006/relationships/slide" Target="/ppt/slides/slide2.xml" Id="Rf6e3161573de4b83" /><Relationship Type="http://schemas.openxmlformats.org/officeDocument/2006/relationships/slide" Target="/ppt/slides/slide3.xml" Id="Reb85f06ae7f1448d" /><Relationship Type="http://schemas.openxmlformats.org/officeDocument/2006/relationships/slide" Target="/ppt/slides/slide4.xml" Id="R2120be0c06c24b33" /><Relationship Type="http://schemas.openxmlformats.org/officeDocument/2006/relationships/slide" Target="/ppt/slides/slide5.xml" Id="R4b5a02de3a1147a8" /><Relationship Type="http://schemas.openxmlformats.org/officeDocument/2006/relationships/slide" Target="/ppt/slides/slide6.xml" Id="Ra7c5e7f504864146" /><Relationship Type="http://schemas.openxmlformats.org/officeDocument/2006/relationships/slide" Target="/ppt/slides/slide7.xml" Id="Ra6720e46b53c4694" /><Relationship Type="http://schemas.openxmlformats.org/officeDocument/2006/relationships/slide" Target="/ppt/slides/slide8.xml" Id="Rbbd20f9a44134c85" /><Relationship Type="http://schemas.openxmlformats.org/officeDocument/2006/relationships/slide" Target="/ppt/slides/slide9.xml" Id="Re567ed2cd0fe4927" /><Relationship Type="http://schemas.openxmlformats.org/officeDocument/2006/relationships/slide" Target="/ppt/slides/slide10.xml" Id="R4648617846974d80" /><Relationship Type="http://schemas.openxmlformats.org/officeDocument/2006/relationships/slide" Target="/ppt/slides/slide11.xml" Id="Rd1ed6fce7e7040b2" /><Relationship Type="http://schemas.openxmlformats.org/officeDocument/2006/relationships/slide" Target="/ppt/slides/slide12.xml" Id="Rd23742d30eca4c03" /><Relationship Type="http://schemas.openxmlformats.org/officeDocument/2006/relationships/slide" Target="/ppt/slides/slide13.xml" Id="R71aa97c8c75d4adb" /><Relationship Type="http://schemas.openxmlformats.org/officeDocument/2006/relationships/slide" Target="/ppt/slides/slide14.xml" Id="Ref24fa2ad1104a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94768e421e45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МГТУ10128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d6323d7d3d4f48" /><Relationship Type="http://schemas.openxmlformats.org/officeDocument/2006/relationships/notesMaster" Target="/ppt/notesMasters/notesMaster1.xml" Id="R227dce1b928a4a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359497378a4806" /><Relationship Type="http://schemas.openxmlformats.org/officeDocument/2006/relationships/notesMaster" Target="/ppt/notesMasters/notesMaster1.xml" Id="R6e99d657a5094a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685978a0114af3" /><Relationship Type="http://schemas.openxmlformats.org/officeDocument/2006/relationships/notesMaster" Target="/ppt/notesMasters/notesMaster1.xml" Id="Rb10518113ce348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2557a2d7514747" /><Relationship Type="http://schemas.openxmlformats.org/officeDocument/2006/relationships/notesMaster" Target="/ppt/notesMasters/notesMaster1.xml" Id="R10d1a7a2bd4c4a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97a4ec64b54e9c" /><Relationship Type="http://schemas.openxmlformats.org/officeDocument/2006/relationships/notesMaster" Target="/ppt/notesMasters/notesMaster1.xml" Id="R9e6b40004a5f4b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17c22d44bb49cd" /><Relationship Type="http://schemas.openxmlformats.org/officeDocument/2006/relationships/notesMaster" Target="/ppt/notesMasters/notesMaster1.xml" Id="R1cc8f835969046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81e306d9504666" /><Relationship Type="http://schemas.openxmlformats.org/officeDocument/2006/relationships/notesMaster" Target="/ppt/notesMasters/notesMaster1.xml" Id="R20b1c60d054b4b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9a7fbcddef4dbf" /><Relationship Type="http://schemas.openxmlformats.org/officeDocument/2006/relationships/notesMaster" Target="/ppt/notesMasters/notesMaster1.xml" Id="Rf792b503e1b443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00ec45fa5046f4" /><Relationship Type="http://schemas.openxmlformats.org/officeDocument/2006/relationships/notesMaster" Target="/ppt/notesMasters/notesMaster1.xml" Id="R5f393b83df3b4d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a07ec7aa494f75" /><Relationship Type="http://schemas.openxmlformats.org/officeDocument/2006/relationships/notesMaster" Target="/ppt/notesMasters/notesMaster1.xml" Id="Rec369f67a6ec4f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39eb20fcc4a4dd2" /><Relationship Type="http://schemas.openxmlformats.org/officeDocument/2006/relationships/notesMaster" Target="/ppt/notesMasters/notesMaster1.xml" Id="R125d1178ff3f408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1dbff57183240cb" /><Relationship Type="http://schemas.openxmlformats.org/officeDocument/2006/relationships/notesMaster" Target="/ppt/notesMasters/notesMaster1.xml" Id="R9dea014a3f1f4ba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5deaebb0a074caa" /><Relationship Type="http://schemas.openxmlformats.org/officeDocument/2006/relationships/notesMaster" Target="/ppt/notesMasters/notesMaster1.xml" Id="R67a4dc758dd6412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b35027febd34c27" /><Relationship Type="http://schemas.openxmlformats.org/officeDocument/2006/relationships/notesMaster" Target="/ppt/notesMasters/notesMaster1.xml" Id="Rc726b6ff046645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544259544d40cc" /><Relationship Type="http://schemas.openxmlformats.org/officeDocument/2006/relationships/image" Target="/ppt/media/image.jpeg" Id="Rfc0d1589c51b4345" /><Relationship Type="http://schemas.openxmlformats.org/officeDocument/2006/relationships/image" Target="/ppt/media/image2.png" Id="R835f7e1c0894479c" /><Relationship Type="http://schemas.openxmlformats.org/officeDocument/2006/relationships/image" Target="/ppt/media/image3.png" Id="R6dffbd057dbe4b6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baf9a4a344430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d301e8e4bb4ca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86c787eab543c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efa0c2a590438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17d7e26cc44ff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78a90680b34ec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93601c962d44d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59961962174d09" /><Relationship Type="http://schemas.openxmlformats.org/officeDocument/2006/relationships/image" Target="/ppt/media/image.jpeg" Id="Rf950aa5dea944c18" /><Relationship Type="http://schemas.openxmlformats.org/officeDocument/2006/relationships/image" Target="/ppt/media/image4.png" Id="Rfef6035aebaf4dc2" /><Relationship Type="http://schemas.openxmlformats.org/officeDocument/2006/relationships/image" Target="/ppt/media/image3.png" Id="R413706504207405f" /></Relationships>
</file>

<file path=ppt/slideLayouts/slideLayout1.xml><?xml version="1.0" encoding="utf-8"?>
<p:sldLayout xmlns:p="http://schemas.openxmlformats.org/presentationml/2006/main" showMasterSp="0" matchingName="Титульный слайд" userDrawn="1">
  <p:cSld name="TITLE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Google Shape;88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0d1589c51b4345">
            <a:alphaModFix/>
          </a:blip>
          <a:srcRect xmlns:a="http://schemas.openxmlformats.org/drawingml/2006/main" l="0" t="16270" r="0" b="884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" name="Google Shape;13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35f7e1c0894479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694481" y="633067"/>
            <a:ext cx="9502813" cy="470674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8967D30A-87B4-4421-A52A-46DC79DD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4478" y="5306991"/>
            <a:ext cx="9502813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7E7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17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fbd057dbe4b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57539" y="611835"/>
            <a:ext cx="2361600" cy="721959"/>
          </a:xfrm>
          <a:prstGeom xmlns:a="http://schemas.openxmlformats.org/drawingml/2006/main" prst="rect">
            <a:avLst/>
          </a:prstGeom>
        </p:spPr>
      </p:pic>
      <p:sp>
        <p:nvSpPr>
          <p:cNvPr id="4" name="Google Shape;11;p5">
            <a:extLst xmlns:a="http://schemas.openxmlformats.org/drawingml/2006/main"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1078287" y="831273"/>
            <a:ext cx="9119010" cy="34166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+mj-lt"/>
                <a:cs typeface="+mj-lt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Заголовок слайда</a:t>
            </a:r>
            <a:endParaRPr/>
          </a:p>
        </p:txBody>
      </p:sp>
      <p:sp>
        <p:nvSpPr>
          <p:cNvPr id="5" name="Google Shape;12;p5">
            <a:extLst xmlns:a="http://schemas.openxmlformats.org/drawingml/2006/main"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078286" y="4363657"/>
            <a:ext cx="9119010" cy="968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1pPr>
            <a:lvl2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 xmlns:a="http://schemas.openxmlformats.org/drawingml/2006/main">
            <a:r>
              <a:t>Подзаголовок слайда</a:t>
            </a:r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8">
            <a:extLst xmlns:a="http://schemas.openxmlformats.org/drawingml/2006/main">
              <a:ext uri="{FF2B5EF4-FFF2-40B4-BE49-F238E27FC236}">
                <a16:creationId xmlns:a16="http://schemas.microsoft.com/office/drawing/2014/main" id="{486F36CF-D04B-4916-92E4-285CB5A0AAE1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558782" y="1778092"/>
            <a:ext cx="11196533" cy="44732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/>
                <a:ea typeface="ALS Sector Regular"/>
                <a:cs typeface="ALS Sector Regular"/>
              </a:defRPr>
            </a:lvl1pPr>
            <a:lvl2pPr marL="914400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</a:defRPr>
            </a:lvl2pPr>
            <a:lvl3pPr marL="1371600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</a:defRPr>
            </a:lvl3pPr>
            <a:lvl4pPr marL="18288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</a:defRPr>
            </a:lvl4pPr>
            <a:lvl5pPr marL="22860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</a:defRPr>
            </a:lvl5pPr>
            <a:lvl6pPr marL="27432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30" name="Google Shape;30;p8">
            <a:extLst xmlns:a="http://schemas.openxmlformats.org/drawingml/2006/main">
              <a:ext uri="{FF2B5EF4-FFF2-40B4-BE49-F238E27FC236}">
                <a16:creationId xmlns:a16="http://schemas.microsoft.com/office/drawing/2014/main" id="{4A80622C-1D6C-437B-AF74-2F79046A3F33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558782" y="1185979"/>
            <a:ext cx="11196533" cy="584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/>
                <a:ea typeface="ALS Sector Regular"/>
                <a:cs typeface="ALS Sector Regular"/>
              </a:defRPr>
            </a:lvl1pPr>
            <a:lvl2pPr marL="9144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r>
              <a:t>Текст слайда</a:t>
            </a:r>
          </a:p>
          <a:p xmlns:a="http://schemas.openxmlformats.org/drawingml/2006/main">
            <a:endParaRPr/>
          </a:p>
        </p:txBody>
      </p:sp>
      <p:sp>
        <p:nvSpPr>
          <p:cNvPr id="6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57030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Подзаголовок и Сравнение" userDrawn="1">
  <p:cSld name="Подзаголовок и 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63245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8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558781" y="1770664"/>
            <a:ext cx="5508000" cy="4507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7620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/>
                <a:ea typeface="ALS Sector Regular"/>
                <a:cs typeface="ALS Sector Regular"/>
              </a:defRPr>
            </a:lvl1pPr>
            <a:lvl2pPr marL="914400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</a:defRPr>
            </a:lvl2pPr>
            <a:lvl3pPr marL="1371600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</a:defRPr>
            </a:lvl3pPr>
            <a:lvl4pPr marL="18288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</a:defRPr>
            </a:lvl4pPr>
            <a:lvl5pPr marL="22860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</a:defRPr>
            </a:lvl5pPr>
            <a:lvl6pPr marL="27432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9" name="Google Shape;48;p11">
            <a:extLst xmlns:a="http://schemas.openxmlformats.org/drawingml/2006/main"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6241899" y="1770664"/>
            <a:ext cx="5508000" cy="4507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7620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/>
                <a:ea typeface="ALS Sector Regular"/>
                <a:cs typeface="ALS Sector Regular"/>
              </a:defRPr>
            </a:lvl1pPr>
            <a:lvl2pPr marL="914400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</a:defRPr>
            </a:lvl2pPr>
            <a:lvl3pPr marL="1371600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</a:defRPr>
            </a:lvl3pPr>
            <a:lvl4pPr marL="18288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</a:defRPr>
            </a:lvl4pPr>
            <a:lvl5pPr marL="22860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</a:defRPr>
            </a:lvl5pPr>
            <a:lvl6pPr marL="27432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6" name="Google Shape;30;p8">
            <a:extLst xmlns:a="http://schemas.openxmlformats.org/drawingml/2006/main"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558782" y="1185979"/>
            <a:ext cx="11196533" cy="584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/>
                <a:ea typeface="ALS Sector Regular"/>
                <a:cs typeface="ALS Sector Regular"/>
              </a:defRPr>
            </a:lvl1pPr>
            <a:lvl2pPr marL="9144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r>
              <a:t>Подзаголовок слайда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Только заголовок" userDrawn="1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57030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Пустой слайд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57030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Заголовок, текст и объект" userDrawn="1">
  <p:cSld name="Заголовок, текст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Google Shape;81;p17">
            <a:extLst xmlns:a="http://schemas.openxmlformats.org/drawingml/2006/main">
              <a:ext uri="{FF2B5EF4-FFF2-40B4-BE49-F238E27FC236}">
                <a16:creationId xmlns:a16="http://schemas.microsoft.com/office/drawing/2014/main" id="{629BA0FE-54DA-4294-B0EB-77983DC9FCDF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5183187" y="1301263"/>
            <a:ext cx="6735185" cy="49083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/>
                <a:ea typeface="ALS Sector Regular"/>
                <a:cs typeface="ALS Sector Regular"/>
              </a:defRPr>
            </a:lvl1pPr>
            <a:lvl2pPr marL="914400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</a:defRPr>
            </a:lvl2pPr>
            <a:lvl3pPr marL="1371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</a:defRPr>
            </a:lvl3pPr>
            <a:lvl4pPr marL="18288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</a:defRPr>
            </a:lvl4pPr>
            <a:lvl5pPr marL="22860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</a:defRPr>
            </a:lvl5pPr>
            <a:lvl6pPr marL="27432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82" name="Google Shape;82;p17">
            <a:extLst xmlns:a="http://schemas.openxmlformats.org/drawingml/2006/main">
              <a:ext uri="{FF2B5EF4-FFF2-40B4-BE49-F238E27FC236}">
                <a16:creationId xmlns:a16="http://schemas.microsoft.com/office/drawing/2014/main" id="{413456E9-1B36-4019-B4AA-19153DAA8DAF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273628" y="1301263"/>
            <a:ext cx="4784147" cy="49083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/>
                <a:ea typeface="ALS Sector Regular"/>
                <a:cs typeface="ALS Sector Regular"/>
              </a:defRPr>
            </a:lvl1pPr>
            <a:lvl2pPr marL="914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</a:defRPr>
            </a:lvl2pPr>
            <a:lvl3pPr marL="13716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</a:defRPr>
            </a:lvl3pPr>
            <a:lvl4pPr marL="1828800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</a:defRPr>
            </a:lvl4pPr>
            <a:lvl5pPr marL="2286000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</a:defRPr>
            </a:lvl5pPr>
            <a:lvl6pPr marL="27432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83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B010F907-7B6F-42A8-A236-EBEB2BCDEA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57030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Объект с подписью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6">
            <a:extLst xmlns:a="http://schemas.openxmlformats.org/drawingml/2006/main">
              <a:ext uri="{FF2B5EF4-FFF2-40B4-BE49-F238E27FC236}">
                <a16:creationId xmlns:a16="http://schemas.microsoft.com/office/drawing/2014/main" id="{101564C5-6336-4004-A9DD-34AE686B295D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273628" y="1213658"/>
            <a:ext cx="4702029" cy="8437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/>
                <a:ea typeface="ALS Sector Bold"/>
                <a:cs typeface="ALS Sector Bold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rPr sz="2700"/>
              <a:t>Заголовок слайда</a:t>
            </a:r>
            <a:endParaRPr/>
          </a:p>
        </p:txBody>
      </p:sp>
      <p:sp>
        <p:nvSp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31AEF09C-BF8F-40C8-9975-121629853398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5183187" y="311727"/>
            <a:ext cx="6735185" cy="55493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/>
                <a:ea typeface="ALS Sector Regular"/>
                <a:cs typeface="ALS Sector Regular"/>
              </a:defRPr>
            </a:lvl1pPr>
            <a:lvl2pPr marL="914400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9F3D10BB-BDB8-4C25-88C7-4AC232863D01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273628" y="2057400"/>
            <a:ext cx="4702029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/>
                <a:ea typeface="ALS Sector Regular"/>
                <a:cs typeface="ALS Sector Regular"/>
              </a:defRPr>
            </a:lvl1pPr>
            <a:lvl2pPr marL="914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</a:defRPr>
            </a:lvl2pPr>
            <a:lvl3pPr marL="13716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</a:defRPr>
            </a:lvl3pPr>
            <a:lvl4pPr marL="1828800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</a:defRPr>
            </a:lvl4pPr>
            <a:lvl5pPr marL="2286000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</a:defRPr>
            </a:lvl5pPr>
            <a:lvl6pPr marL="27432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6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57030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Рисунок с подписью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5" name="Google Shape;85;p18">
            <a:extLst xmlns:a="http://schemas.openxmlformats.org/drawingml/2006/main">
              <a:ext uri="{FF2B5EF4-FFF2-40B4-BE49-F238E27FC236}">
                <a16:creationId xmlns:a16="http://schemas.microsoft.com/office/drawing/2014/main" id="{44836EB0-11E5-4320-A5D2-A1E50DFD7B42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22118" y="1197033"/>
            <a:ext cx="4449907" cy="8603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/>
                <a:ea typeface="ALS Sector Bold"/>
                <a:cs typeface="ALS Sector Bold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rPr sz="2700"/>
              <a:t>Заголовок слайда</a:t>
            </a:r>
            <a:endParaRPr/>
          </a:p>
        </p:txBody>
      </p:sp>
      <p:sp>
        <p:nvSpPr>
          <p:cNvPr id="86" name="Google Shape;86;p18">
            <a:extLst xmlns:a="http://schemas.openxmlformats.org/drawingml/2006/main">
              <a:ext uri="{FF2B5EF4-FFF2-40B4-BE49-F238E27FC236}">
                <a16:creationId xmlns:a16="http://schemas.microsoft.com/office/drawing/2014/main" id="{F39F9092-2118-4A2F-8CDE-54DFBCCC12CD}"/>
              </a:ext>
            </a:extLst>
          </p:cNvPr>
          <p:cNvSpPr>
            <a:spLocks xmlns:a="http://schemas.openxmlformats.org/drawingml/2006/main" noGrp="1"/>
          </p:cNvSpPr>
          <p:nvPr>
            <p:ph type="pic" idx="2" hasCustomPrompt="1"/>
          </p:nvPr>
        </p:nvSpPr>
        <p:spPr>
          <a:xfrm xmlns:a="http://schemas.openxmlformats.org/drawingml/2006/main">
            <a:off x="5287096" y="238509"/>
            <a:ext cx="6582785" cy="5627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  <a:effectLst xmlns:a="http://schemas.openxmlformats.org/drawingml/2006/main"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300"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r>
              <a:t>Рисунок</a:t>
            </a:r>
          </a:p>
        </p:txBody>
      </p:sp>
      <p:sp>
        <p:nvSpPr>
          <p:cNvPr id="87" name="Google Shape;87;p18">
            <a:extLst xmlns:a="http://schemas.openxmlformats.org/drawingml/2006/main">
              <a:ext uri="{FF2B5EF4-FFF2-40B4-BE49-F238E27FC236}">
                <a16:creationId xmlns:a16="http://schemas.microsoft.com/office/drawing/2014/main" id="{C6E81324-F34E-41ED-BC9D-03CD52252BD8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322118" y="2057400"/>
            <a:ext cx="444990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7620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/>
                <a:ea typeface="ALS Sector Regular"/>
                <a:cs typeface="ALS Sector Regular"/>
              </a:defRPr>
            </a:lvl1pPr>
            <a:lvl2pPr marL="914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</a:defRPr>
            </a:lvl2pPr>
            <a:lvl3pPr marL="13716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</a:defRPr>
            </a:lvl3pPr>
            <a:lvl4pPr marL="1828800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</a:defRPr>
            </a:lvl4pPr>
            <a:lvl5pPr marL="2286000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</a:defRPr>
            </a:lvl5pPr>
            <a:lvl6pPr marL="27432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6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57030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Закрывающий слайд пустой" userDrawn="1">
  <p:cSld name="Закрывающий слайд пустой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6" name="Google Shape;88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50aa5dea944c18">
            <a:alphaModFix/>
          </a:blip>
          <a:srcRect xmlns:a="http://schemas.openxmlformats.org/drawingml/2006/main" l="0" t="16270" r="0" b="8845"/>
          <a:stretch xmlns:a="http://schemas.openxmlformats.org/drawingml/2006/main"/>
        </p:blipFill>
        <p:spPr>
          <a:xfrm xmlns:a="http://schemas.openxmlformats.org/drawingml/2006/main">
            <a:off x="1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7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f6035aebaf4d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5410" y="2096584"/>
            <a:ext cx="1332000" cy="1332000"/>
          </a:xfrm>
          <a:prstGeom xmlns:a="http://schemas.openxmlformats.org/drawingml/2006/main" prst="rect">
            <a:avLst/>
          </a:prstGeom>
        </p:spPr>
      </p:pic>
      <p:pic>
        <p:nvPicPr>
          <p:cNvPr id="38" name="Рисунок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370650420740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78526" y="2042584"/>
            <a:ext cx="4710383" cy="1440000"/>
          </a:xfrm>
          <a:prstGeom xmlns:a="http://schemas.openxmlformats.org/drawingml/2006/main" prst="rect">
            <a:avLst/>
          </a:prstGeom>
        </p:spPr>
      </p:pic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9902" y="2522519"/>
            <a:ext cx="3048512" cy="4801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</a:pPr>
            <a:r>
              <a:rPr sz="2800">
                <a:solidFill>
                  <a:schemeClr val="bg1"/>
                </a:solidFill>
                <a:latin typeface="ALS Sector Bold"/>
                <a:ea typeface="ALS Sector Bold"/>
                <a:cs typeface="ALS Sector Bold"/>
              </a:rPr>
              <a:t>do.bmstu.ru</a:t>
            </a:r>
            <a:endParaRPr sz="2800">
              <a:solidFill>
                <a:schemeClr val="bg1"/>
              </a:solidFill>
              <a:latin typeface="ALS Sector Bold"/>
              <a:ea typeface="ALS Sector Bold"/>
              <a:cs typeface="ALS Sector Bold"/>
            </a:endParaRPr>
          </a:p>
        </p:txBody>
      </p:sp>
      <p:sp>
        <p:nvSpPr>
          <p:cNvPr id="32" name="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0711835" y="2096584"/>
            <a:ext cx="130790" cy="1332000"/>
          </a:xfrm>
          <a:custGeom xmlns:a="http://schemas.openxmlformats.org/drawingml/2006/main"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ALS Sector Regular"/>
              <a:ea typeface="ALS Sector Regular"/>
              <a:cs typeface="ALS Sector Regular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6f91d0b4fba14300" /><Relationship Type="http://schemas.openxmlformats.org/officeDocument/2006/relationships/theme" Target="/ppt/slideMasters/theme/theme2.xml" Id="Rd52e991a63ba4b39" /><Relationship Type="http://schemas.openxmlformats.org/officeDocument/2006/relationships/slideLayout" Target="/ppt/slideLayouts/slideLayout1.xml" Id="R1af83a1cfd6448af" /><Relationship Type="http://schemas.openxmlformats.org/officeDocument/2006/relationships/slideLayout" Target="/ppt/slideLayouts/slideLayout2.xml" Id="Rc9cb4d37a5344a1c" /><Relationship Type="http://schemas.openxmlformats.org/officeDocument/2006/relationships/slideLayout" Target="/ppt/slideLayouts/slideLayout3.xml" Id="Re9b6849528f24a32" /><Relationship Type="http://schemas.openxmlformats.org/officeDocument/2006/relationships/slideLayout" Target="/ppt/slideLayouts/slideLayout4.xml" Id="R5803ebd195c847a3" /><Relationship Type="http://schemas.openxmlformats.org/officeDocument/2006/relationships/slideLayout" Target="/ppt/slideLayouts/slideLayout5.xml" Id="R9f09bb46ca7d4840" /><Relationship Type="http://schemas.openxmlformats.org/officeDocument/2006/relationships/slideLayout" Target="/ppt/slideLayouts/slideLayout6.xml" Id="Rfa052786a9274351" /><Relationship Type="http://schemas.openxmlformats.org/officeDocument/2006/relationships/slideLayout" Target="/ppt/slideLayouts/slideLayout7.xml" Id="R0f0a8d9241af490e" /><Relationship Type="http://schemas.openxmlformats.org/officeDocument/2006/relationships/slideLayout" Target="/ppt/slideLayouts/slideLayout8.xml" Id="Rf16a402e6e454600" /><Relationship Type="http://schemas.openxmlformats.org/officeDocument/2006/relationships/slideLayout" Target="/ppt/slideLayouts/slideLayout9.xml" Id="Rd34919630dae4b0d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91d0b4fba143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0566" y="446017"/>
            <a:ext cx="2361600" cy="722882"/>
          </a:xfrm>
          <a:prstGeom xmlns:a="http://schemas.openxmlformats.org/drawingml/2006/main" prst="rect">
            <a:avLst/>
          </a:prstGeom>
        </p:spPr>
      </p:pic>
      <p:sp>
        <p:nvSpPr>
          <p:cNvPr id="7" name="Google Shape;7;p4">
            <a:extLst xmlns:a="http://schemas.openxmlformats.org/drawingml/2006/main">
              <a:ext uri="{FF2B5EF4-FFF2-40B4-BE49-F238E27FC236}">
                <a16:creationId xmlns:a16="http://schemas.microsoft.com/office/drawing/2014/main" id="{A131C054-64D5-43E6-BEB9-84198D4B45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0566" y="1301777"/>
            <a:ext cx="11350868" cy="49247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cap="none">
                <a:solidFill>
                  <a:srgbClr val="262626"/>
                </a:solidFill>
                <a:latin typeface="Open Sans"/>
                <a:ea typeface="Open Sans"/>
                <a:cs typeface="Open Sans"/>
              </a:defRPr>
            </a:lvl1pPr>
            <a:lvl2pPr marL="914400" marR="0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cap="none">
                <a:solidFill>
                  <a:srgbClr val="262626"/>
                </a:solidFill>
                <a:latin typeface="Open Sans"/>
                <a:ea typeface="Open Sans"/>
                <a:cs typeface="Open Sans"/>
              </a:defRPr>
            </a:lvl2pPr>
            <a:lvl3pPr marL="1371600" marR="0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cap="none">
                <a:solidFill>
                  <a:srgbClr val="262626"/>
                </a:solidFill>
                <a:latin typeface="Open Sans"/>
                <a:ea typeface="Open Sans"/>
                <a:cs typeface="Open Sans"/>
              </a:defRPr>
            </a:lvl3pPr>
            <a:lvl4pPr marL="1828800" marR="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cap="none">
                <a:solidFill>
                  <a:srgbClr val="262626"/>
                </a:solidFill>
                <a:latin typeface="Open Sans"/>
                <a:ea typeface="Open Sans"/>
                <a:cs typeface="Open Sans"/>
              </a:defRPr>
            </a:lvl4pPr>
            <a:lvl5pPr marL="2286000" marR="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cap="none">
                <a:solidFill>
                  <a:srgbClr val="262626"/>
                </a:solidFill>
                <a:latin typeface="Open Sans"/>
                <a:ea typeface="Open Sans"/>
                <a:cs typeface="Open Sans"/>
              </a:defRPr>
            </a:lvl5pPr>
            <a:lvl6pPr marL="2743200" marR="0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cap="none">
                <a:solidFill>
                  <a:schemeClr val="dk1"/>
                </a:solidFill>
                <a:latin typeface="Open Sans"/>
                <a:ea typeface="Open Sans"/>
                <a:cs typeface="Open Sans"/>
              </a:defRPr>
            </a:lvl6pPr>
            <a:lvl7pPr marL="3200400" marR="0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cap="none">
                <a:solidFill>
                  <a:schemeClr val="dk1"/>
                </a:solidFill>
                <a:latin typeface="Open Sans"/>
                <a:ea typeface="Open Sans"/>
                <a:cs typeface="Open Sans"/>
              </a:defRPr>
            </a:lvl7pPr>
            <a:lvl8pPr marL="3657600" marR="0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cap="none">
                <a:solidFill>
                  <a:schemeClr val="dk1"/>
                </a:solidFill>
                <a:latin typeface="Open Sans"/>
                <a:ea typeface="Open Sans"/>
                <a:cs typeface="Open Sans"/>
              </a:defRPr>
            </a:lvl8pPr>
            <a:lvl9pPr marL="4114800" marR="0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cap="none">
                <a:solidFill>
                  <a:schemeClr val="dk1"/>
                </a:solidFill>
                <a:latin typeface="Open Sans"/>
                <a:ea typeface="Open Sans"/>
                <a:cs typeface="Open Sans"/>
              </a:defRPr>
            </a:lvl9pPr>
          </a:lstStyle>
          <a:p xmlns:a="http://schemas.openxmlformats.org/drawingml/2006/main">
            <a:r>
              <a:t>Текст слайда</a:t>
            </a:r>
            <a:endParaRPr sz="2300"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endParaRPr/>
          </a:p>
        </p:txBody>
      </p:sp>
      <p:sp>
        <p:nvSpPr>
          <p:cNvPr id="8" name="Google Shape;8;p4">
            <a:extLst xmlns:a="http://schemas.openxmlformats.org/drawingml/2006/main">
              <a:ext uri="{FF2B5EF4-FFF2-40B4-BE49-F238E27FC236}">
                <a16:creationId xmlns:a16="http://schemas.microsoft.com/office/drawing/2014/main" id="{A2DA34F2-2F02-45E9-9E9B-E9F729B670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68287" y="6360806"/>
            <a:ext cx="838198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+mj-lt"/>
                <a:ea typeface="+mj-lt"/>
                <a:cs typeface="+mj-lt"/>
              </a:defRPr>
            </a:lvl1pPr>
            <a:lvl2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2pPr>
            <a:lvl3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3pPr>
            <a:lvl4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4pPr>
            <a:lvl5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5pPr>
            <a:lvl6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6pPr>
            <a:lvl7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7pPr>
            <a:lvl8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8pPr>
            <a:lvl9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9pPr>
          </a:lstStyle>
          <a:p xmlns:a="http://schemas.openxmlformats.org/drawingml/2006/main"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f83a1cfd6448af"/>
    <p:sldLayoutId xmlns:r="http://schemas.openxmlformats.org/officeDocument/2006/relationships" id="2147483650" r:id="Rc9cb4d37a5344a1c"/>
    <p:sldLayoutId xmlns:r="http://schemas.openxmlformats.org/officeDocument/2006/relationships" id="2147483651" r:id="Re9b6849528f24a32"/>
    <p:sldLayoutId xmlns:r="http://schemas.openxmlformats.org/officeDocument/2006/relationships" id="2147483652" r:id="R5803ebd195c847a3"/>
    <p:sldLayoutId xmlns:r="http://schemas.openxmlformats.org/officeDocument/2006/relationships" id="2147483653" r:id="R9f09bb46ca7d4840"/>
    <p:sldLayoutId xmlns:r="http://schemas.openxmlformats.org/officeDocument/2006/relationships" id="2147483654" r:id="Rfa052786a9274351"/>
    <p:sldLayoutId xmlns:r="http://schemas.openxmlformats.org/officeDocument/2006/relationships" id="2147483655" r:id="R0f0a8d9241af490e"/>
    <p:sldLayoutId xmlns:r="http://schemas.openxmlformats.org/officeDocument/2006/relationships" id="2147483656" r:id="Rf16a402e6e454600"/>
    <p:sldLayoutId xmlns:r="http://schemas.openxmlformats.org/officeDocument/2006/relationships" id="2147483657" r:id="Rd34919630dae4b0d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L="76200" marR="0" indent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cap="none" baseline="0">
          <a:solidFill>
            <a:srgbClr val="000000"/>
          </a:solidFill>
          <a:latin typeface="+mn-lt"/>
          <a:ea typeface="+mn-lt"/>
          <a:cs typeface="+mn-lt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МГТУ10128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aac8c81944bb8" /><Relationship Type="http://schemas.openxmlformats.org/officeDocument/2006/relationships/notesSlide" Target="/ppt/notesSlides/notesSlide1.xml" Id="Rd8f78a179bba47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474c84b0894d48d1" /><Relationship Type="http://schemas.openxmlformats.org/officeDocument/2006/relationships/notesSlide" Target="/ppt/notesSlides/notesSlide2.xml" Id="R5f18e8ef25e040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cfa2827b403f4204" /><Relationship Type="http://schemas.openxmlformats.org/officeDocument/2006/relationships/notesSlide" Target="/ppt/notesSlides/notesSlide3.xml" Id="Rb3d9eedb59fa4b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d5b22b21f46e4dce" /><Relationship Type="http://schemas.openxmlformats.org/officeDocument/2006/relationships/image" Target="/ppt/media/image5.png" Id="R57c5b1695c5c40e4" /><Relationship Type="http://schemas.openxmlformats.org/officeDocument/2006/relationships/notesSlide" Target="/ppt/notesSlides/notesSlide4.xml" Id="R1cc896abd4434c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05477ed97081480f" /><Relationship Type="http://schemas.openxmlformats.org/officeDocument/2006/relationships/image" Target="/ppt/media/image6.png" Id="R6bd4e0c0b72d4d9c" /><Relationship Type="http://schemas.openxmlformats.org/officeDocument/2006/relationships/notesSlide" Target="/ppt/notesSlides/notesSlide5.xml" Id="R53533f2d921b4b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74862d4fbb204705" /><Relationship Type="http://schemas.openxmlformats.org/officeDocument/2006/relationships/notesSlide" Target="/ppt/notesSlides/notesSlide6.xml" Id="Rc91b9f10479e43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ee571d6e767d46a9" /><Relationship Type="http://schemas.openxmlformats.org/officeDocument/2006/relationships/notesSlide" Target="/ppt/notesSlides/notesSlide7.xml" Id="R553ae52a83a34de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688a5dcc77e44f10" /><Relationship Type="http://schemas.openxmlformats.org/officeDocument/2006/relationships/notesSlide" Target="/ppt/notesSlides/notesSlide8.xml" Id="Rd75e203ce7864b4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706bcdedfda34da8" /><Relationship Type="http://schemas.openxmlformats.org/officeDocument/2006/relationships/image" Target="/ppt/media/image7.png" Id="Rfd78d8a1971e4e4a" /><Relationship Type="http://schemas.openxmlformats.org/officeDocument/2006/relationships/notesSlide" Target="/ppt/notesSlides/notesSlide9.xml" Id="R6ce8249201914b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a6bff49750b340c1" /><Relationship Type="http://schemas.openxmlformats.org/officeDocument/2006/relationships/image" Target="/ppt/media/image8.png" Id="R3b37c88684d94df6" /><Relationship Type="http://schemas.openxmlformats.org/officeDocument/2006/relationships/notesSlide" Target="/ppt/notesSlides/notesSlide10.xml" Id="Rc01b1b6c91684b9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55b158f5fd42441f" /><Relationship Type="http://schemas.openxmlformats.org/officeDocument/2006/relationships/image" Target="/ppt/media/image9.png" Id="R7cb2959184a24a0c" /><Relationship Type="http://schemas.openxmlformats.org/officeDocument/2006/relationships/notesSlide" Target="/ppt/notesSlides/notesSlide11.xml" Id="R315dc430fe4c402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f2411cb960554050" /><Relationship Type="http://schemas.openxmlformats.org/officeDocument/2006/relationships/image" Target="/ppt/media/image10.png" Id="Re90489457748442c" /><Relationship Type="http://schemas.openxmlformats.org/officeDocument/2006/relationships/notesSlide" Target="/ppt/notesSlides/notesSlide12.xml" Id="R4558538e92f64c4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c73dd7758af842e1" /><Relationship Type="http://schemas.openxmlformats.org/officeDocument/2006/relationships/notesSlide" Target="/ppt/notesSlides/notesSlide13.xml" Id="Rca44cad0d7524bb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7395a8d90fe842b2" /><Relationship Type="http://schemas.openxmlformats.org/officeDocument/2006/relationships/notesSlide" Target="/ppt/notesSlides/notesSlide14.xml" Id="R8f378a255653478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j-lt"/>
                <a:ea typeface="+mj-lt"/>
                <a:cs typeface="+mj-lt"/>
              </a:rPr>
              <a:t>Прогнозирование конечных свойств композиционных материалов</a:t>
            </a:r>
          </a:p>
        </p:txBody>
      </p:sp>
      <p:sp>
        <p:nvSpPr>
          <p:cNvPr id="3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078286" y="4363658"/>
            <a:ext cx="9119010" cy="8741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Слушатель: ____________________</a:t>
            </a:r>
            <a:endParaRPr>
              <a:latin typeface="+mn-lt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26806680"/>
      </p:ext>
    </p:extLst>
  </p:cSld>
</p:sld>
</file>

<file path=ppt/slides/slide2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B61526-E7D5-41CB-8966-400E2976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982DE6-77CB-4A0B-8D17-3CF40571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Цель и задачи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702D63-D867-4D0B-BA4D-12BC1380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Прогноз двух конечных характеристик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Учебная оценка отношения матрица–наполнитель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Честная валидация без утечки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Воспроизводимое приложение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27CAEC-3489-4B0F-BBDC-438F42DA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7634554"/>
      </p:ext>
    </p:extLst>
  </p:cSld>
</p:sld>
</file>

<file path=ppt/slides/slide3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3F922-F296-462A-858E-B56F4898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D6044-C2EC-4730-AE67-725C8A6B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Исходные данные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5BEB57-170D-4FD1-881C-92EDEDDA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Две таблицы XLSX, INNER JOIN по индексу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1023 наблюдения, 13 содержательных полей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17 строк X_nup не вошли после JOIN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Физическая семантика части полей не документирована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FE5C2-3A44-4992-90F8-A2FBFE6A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7634554"/>
      </p:ext>
    </p:extLst>
  </p:cSld>
</p:sld>
</file>

<file path=ppt/slides/slide4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A159B-C28C-4E84-B0D8-DFE5510F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7449F8-57DE-4C23-9C7D-31E833B3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Протокол оценки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CEDFE2-58B8-4C6F-B47B-0E03E573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86125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Train 716; test 307; random_state=42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GridSearchCV, 10 фолдов, только train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Fit StandardScaler внутри CV для Ridge, SVR, MLP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Test открыт после фиксации моделей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c5b1695c5c40e4"/>
          <a:stretch xmlns:a="http://schemas.openxmlformats.org/drawingml/2006/main"/>
        </p:blipFill>
        <p:spPr>
          <a:xfrm xmlns:a="http://schemas.openxmlformats.org/drawingml/2006/main">
            <a:off x="4000500" y="1418167"/>
            <a:ext cx="7620000" cy="440266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DE3127-329C-4B7F-813E-1409395F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17634554"/>
      </p:ext>
    </p:extLst>
  </p:cSld>
</p:sld>
</file>

<file path=ppt/slides/slide5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681DA-E72B-4778-B2FD-1A1CE0FC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645B3D-8476-4FCD-923E-A9C983098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Разведочный анализ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DC120A-4F51-4FFB-9801-37EDE9F0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86125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Пропусков нет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IQR отмечает кандидатов, строки не удалены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Максимум |Pearson| = 0,1191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Низкая парная связь не исключает нелинейность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d4e0c0b72d4d9c"/>
          <a:stretch xmlns:a="http://schemas.openxmlformats.org/drawingml/2006/main"/>
        </p:blipFill>
        <p:spPr>
          <a:xfrm xmlns:a="http://schemas.openxmlformats.org/drawingml/2006/main">
            <a:off x="4000500" y="1502833"/>
            <a:ext cx="7620000" cy="423333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842674-CCFE-4D67-BA07-D996CD6E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7634554"/>
      </p:ext>
    </p:extLst>
  </p:cSld>
</p:sld>
</file>

<file path=ppt/slides/slide6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454C28-4906-4E3B-965D-8AF027AA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F10B3-8D42-49CF-B577-B25EA4A7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Предобработка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6A8DA-95A0-4A1C-A51F-DFB1D804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Индекс исключён из признаков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MinMax — только иллюстрация 13 распределений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StandardScaler X/y — внутри CV pipeline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Деревья работают в исходном масштабе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Отношение не объявляется массовым или объёмным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A50F4-87A0-4309-A52C-7F057B76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17634554"/>
      </p:ext>
    </p:extLst>
  </p:cSld>
</p:sld>
</file>

<file path=ppt/slides/slide7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AA1FBF-941A-47DC-BD3C-942C664C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F46DF-04DC-4775-BC5C-BA17AF6B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Сравниваемые модели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E8A735-2B52-4267-AE58-F7FABDC1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Baseline и Ridge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Random Forest и Gradient Boosting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SVR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MLPRegressor (32, 16), alpha=0,01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RMSE — критерий выбора; MAE и R² — контроль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683090-9C6E-409D-89D5-0C5CE7E9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17634554"/>
      </p:ext>
    </p:extLst>
  </p:cSld>
</p:sld>
</file>

<file path=ppt/slides/slide8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A47B00-599E-4948-9A2B-49DF2BC8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8A6414-E3BE-4125-AB15-FB4B181E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Выбор по перекрёстной проверке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A205D5-7FD9-41E6-AE58-C636A748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Модуль: baseline, RMSE 3,087 ± 0,257 ГПа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Прочность: GBR 490,209 ± 23,852 МПа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Преимущество GBR над baseline лишь 0,291 МПа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MLP 0,935 хуже baseline 0,906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629CBB-0138-4101-99A0-6025CFD6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7634554"/>
      </p:ext>
    </p:extLst>
  </p:cSld>
</p:sld>
</file>

<file path=ppt/slides/slide9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E2BB3C-A01C-4AFD-87CD-227F4BB6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67DB47-27A9-4B01-8DD8-26C42A4F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Test: модуль упругости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5B4B7A-B477-4BBD-962D-47DF4799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86125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Выбран baseline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RMSE 3,178 ГПа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MAE 2,556 ГПа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R² −0,016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Сложные модели не улучшили baseline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78d8a1971e4e4a"/>
          <a:stretch xmlns:a="http://schemas.openxmlformats.org/drawingml/2006/main"/>
        </p:blipFill>
        <p:spPr>
          <a:xfrm xmlns:a="http://schemas.openxmlformats.org/drawingml/2006/main">
            <a:off x="5015911" y="1238250"/>
            <a:ext cx="5589178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D835F6-4DAD-45FC-B7F4-082EBAA6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7634554"/>
      </p:ext>
    </p:extLst>
  </p:cSld>
</p:sld>
</file>

<file path=ppt/slides/slide10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97FC97-A2F9-4A00-8EEB-1C31C8BF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2D03F-6A5C-4426-B433-C6F92966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Test: прочность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7BA7CB-4651-4CA4-90FD-C344469A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86125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Выбран Gradient Boosting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RMSE 471,410 МПа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MAE 380,152 МПа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R² 0,008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Практическое преимущество не подтверждено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37c88684d94df6"/>
          <a:stretch xmlns:a="http://schemas.openxmlformats.org/drawingml/2006/main"/>
        </p:blipFill>
        <p:spPr>
          <a:xfrm xmlns:a="http://schemas.openxmlformats.org/drawingml/2006/main">
            <a:off x="4963918" y="1238250"/>
            <a:ext cx="5693163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7EEFE5-B93D-4FBB-B8FE-DDBCB51E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17634554"/>
      </p:ext>
    </p:extLst>
  </p:cSld>
</p:sld>
</file>

<file path=ppt/slides/slide11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7802F8-16B1-4828-ADD4-16547A70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51787B-07AA-4470-982D-85EF0A2C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Нейронная сеть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221725-A743-4295-B094-7A6EC4D3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86125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MLP (32,16), early stopping: 76 итераций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Test RMSE 0,944; MAE 0,777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Test R² −0,040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Хуже baseline; не оптимизация состава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Потери: ½MSE + L2, стандартизованная цель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b2959184a24a0c"/>
          <a:stretch xmlns:a="http://schemas.openxmlformats.org/drawingml/2006/main"/>
        </p:blipFill>
        <p:spPr>
          <a:xfrm xmlns:a="http://schemas.openxmlformats.org/drawingml/2006/main">
            <a:off x="4000500" y="2132671"/>
            <a:ext cx="7620000" cy="297365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694C6D-49B8-4727-99E4-D5729143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7634554"/>
      </p:ext>
    </p:extLst>
  </p:cSld>
</p:sld>
</file>

<file path=ppt/slides/slide12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624D8B-27F2-41A7-956E-D1C8E068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2D7766-7590-468D-959D-708739C9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Интерпретация и ограничения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50113F-56E7-4338-B3FC-786D9AA1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86125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Permutation importance: test, 10 повторов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Ноль baseline не означает физическую незначимость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Важность не равна причинному эффекту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Неизвестны группы опытов и происхождение наблюдений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0489457748442c"/>
          <a:stretch xmlns:a="http://schemas.openxmlformats.org/drawingml/2006/main"/>
        </p:blipFill>
        <p:spPr>
          <a:xfrm xmlns:a="http://schemas.openxmlformats.org/drawingml/2006/main">
            <a:off x="4367236" y="1238250"/>
            <a:ext cx="6886528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76D8E1-E378-4764-8DDA-CDC663FE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7634554"/>
      </p:ext>
    </p:extLst>
  </p:cSld>
</p:sld>
</file>

<file path=ppt/slides/slide13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9F52E-3DBE-4132-9D60-0207EF0F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58FFE-DCF4-416D-9359-D3A72ADE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Приложение и воспроизводимость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D4A114-5D48-4EB4-8D35-E99EB6C0F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11 входов → проверка → два сохранённых pipeline → модуль и прочность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Демо: 73,2073 ГПа; 2502,06 МПа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Не измеренный образец.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Чистый прогон: 35 tests; 24 метрики и 12 276 прогнозов, max Δ=0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github.com/fpvcstep/composites-property-prediction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7E8B3-05EA-4C99-8299-9F20D793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7634554"/>
      </p:ext>
    </p:extLst>
  </p:cSld>
</p:sld>
</file>

<file path=ppt/slides/slide14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103DAB-9DC6-4F6D-896D-43D1838D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3EE52E-CF78-46FF-B80C-AC2EDF00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Выводы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E5D530-2861-4BE3-8F51-316A515C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00125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262626"/>
                </a:solidFill>
              </a:defRPr>
            </a:pPr>
            <a:r>
              <a:rPr sz="2175">
                <a:solidFill>
                  <a:srgbClr val="262626"/>
                </a:solidFill>
              </a:rPr>
              <a:t>• Сложные модели не дали устойчивого выигрыша</a:t>
            </a:r>
          </a:p>
          <a:p xmlns:a="http://schemas.openxmlformats.org/drawingml/2006/main">
            <a:pPr>
              <a:defRPr sz="2175">
                <a:solidFill>
                  <a:srgbClr val="262626"/>
                </a:solidFill>
              </a:defRPr>
            </a:pPr>
            <a:r>
              <a:rPr sz="2175">
                <a:solidFill>
                  <a:srgbClr val="262626"/>
                </a:solidFill>
              </a:rPr>
              <a:t>• Test R²: −0,016; 0,008; −0,040</a:t>
            </a:r>
          </a:p>
          <a:p xmlns:a="http://schemas.openxmlformats.org/drawingml/2006/main">
            <a:pPr>
              <a:defRPr sz="2175">
                <a:solidFill>
                  <a:srgbClr val="262626"/>
                </a:solidFill>
              </a:defRPr>
            </a:pPr>
            <a:r>
              <a:rPr sz="2175">
                <a:solidFill>
                  <a:srgbClr val="262626"/>
                </a:solidFill>
              </a:rPr>
              <a:t>• Результаты ограничены учебным набором</a:t>
            </a:r>
          </a:p>
          <a:p xmlns:a="http://schemas.openxmlformats.org/drawingml/2006/main">
            <a:pPr>
              <a:defRPr sz="2175">
                <a:solidFill>
                  <a:srgbClr val="262626"/>
                </a:solidFill>
              </a:defRPr>
            </a:pPr>
            <a:r>
              <a:rPr sz="2175">
                <a:solidFill>
                  <a:srgbClr val="262626"/>
                </a:solidFill>
              </a:rPr>
              <a:t>• Прогнозы не заменяют испытания и не определяют оптимальный состав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>
                <a:solidFill>
                  <a:srgbClr val="262626"/>
                </a:solidFill>
              </a:defRPr>
            </a:pPr>
            <a:r>
              <a:rPr sz="2175">
                <a:solidFill>
                  <a:srgbClr val="262626"/>
                </a:solidFill>
              </a:rPr>
              <a:t>Спасибо за внимание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3492B0-2A0B-4A56-9C89-6AF3868B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7634554"/>
      </p:ext>
    </p:extLst>
  </p:cSld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МГТУ10128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2026-09-24T00:15:13.1700000Z</dcterms:created>
  <dcterms:modified xsi:type="dcterms:W3CDTF">2026-09-24T00:15:13.1700000Z</dcterms:modified>
</coreProperties>
</file>