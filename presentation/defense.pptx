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ca4757b3a495f" /><Relationship Type="http://schemas.openxmlformats.org/officeDocument/2006/relationships/extended-properties" Target="/docProps/app.xml" Id="R51b139f2db484038" /><Relationship Type="http://schemas.openxmlformats.org/officeDocument/2006/relationships/officeDocument" Target="/ppt/presentation.xml" Id="Rccaaad16acc8488a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ff4d0298f2b4ae4"/>
  </p:sldMasterIdLst>
  <p:notesMasterIdLst>
    <p:notesMasterId xmlns:r="http://schemas.openxmlformats.org/officeDocument/2006/relationships" r:id="R1bec61b3359e4bcf"/>
  </p:notesMasterIdLst>
  <p:sldIdLst>
    <p:sldId xmlns:r="http://schemas.openxmlformats.org/officeDocument/2006/relationships" id="256" r:id="R7ccc777832b44015"/>
    <p:sldId xmlns:r="http://schemas.openxmlformats.org/officeDocument/2006/relationships" id="257" r:id="R9d186c5a62e448b0"/>
    <p:sldId xmlns:r="http://schemas.openxmlformats.org/officeDocument/2006/relationships" id="258" r:id="R68c6fa1ea3aa4ce3"/>
    <p:sldId xmlns:r="http://schemas.openxmlformats.org/officeDocument/2006/relationships" id="259" r:id="R62433fd84b7949a7"/>
    <p:sldId xmlns:r="http://schemas.openxmlformats.org/officeDocument/2006/relationships" id="260" r:id="R6b547299a0af4dee"/>
    <p:sldId xmlns:r="http://schemas.openxmlformats.org/officeDocument/2006/relationships" id="261" r:id="Rfa45d302d5fc4fec"/>
    <p:sldId xmlns:r="http://schemas.openxmlformats.org/officeDocument/2006/relationships" id="262" r:id="Ra912db8b65574a62"/>
    <p:sldId xmlns:r="http://schemas.openxmlformats.org/officeDocument/2006/relationships" id="263" r:id="Raac2a8d5562d4b2f"/>
    <p:sldId xmlns:r="http://schemas.openxmlformats.org/officeDocument/2006/relationships" id="264" r:id="R8948cfd60e5c4365"/>
    <p:sldId xmlns:r="http://schemas.openxmlformats.org/officeDocument/2006/relationships" id="265" r:id="Rd082aec9079743b6"/>
    <p:sldId xmlns:r="http://schemas.openxmlformats.org/officeDocument/2006/relationships" id="266" r:id="Ra7f6dae11ba847c2"/>
    <p:sldId xmlns:r="http://schemas.openxmlformats.org/officeDocument/2006/relationships" id="267" r:id="Rb1c29da8f1344b07"/>
    <p:sldId xmlns:r="http://schemas.openxmlformats.org/officeDocument/2006/relationships" id="268" r:id="R6ec660b8c7fd405c"/>
    <p:sldId xmlns:r="http://schemas.openxmlformats.org/officeDocument/2006/relationships" id="269" r:id="R0f9aab90aaaa455e"/>
  </p:sldIdLst>
  <p:sldSz cx="12192000" cy="6858000"/>
  <p:notesSz cx="6858000" cy="9144000"/>
  <p:embeddedFontLst>
    <p:embeddedFont>
      <p:font typeface="ALS Sector Bold"/>
      <p:bold xmlns:r="http://schemas.openxmlformats.org/officeDocument/2006/relationships" r:id="R4e96a50fc63441a5"/>
    </p:embeddedFont>
    <p:embeddedFont>
      <p:font typeface="ALS Sector Regular"/>
      <p:regular xmlns:r="http://schemas.openxmlformats.org/officeDocument/2006/relationships" r:id="R679288ff7b0f4f54"/>
    </p:embeddedFont>
    <p:embeddedFont>
      <p:font typeface="Open Sans"/>
      <p:regular xmlns:r="http://schemas.openxmlformats.org/officeDocument/2006/relationships" r:id="Rd03f28e2982e4c16"/>
      <p:bold xmlns:r="http://schemas.openxmlformats.org/officeDocument/2006/relationships" r:id="R20aef2a743bd4347"/>
      <p:italic xmlns:r="http://schemas.openxmlformats.org/officeDocument/2006/relationships" r:id="R6c8e33d450d541c5"/>
      <p:boldItalic xmlns:r="http://schemas.openxmlformats.org/officeDocument/2006/relationships" r:id="R8c6b02192bd243d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edd112ab604ff1" /><Relationship Type="http://schemas.openxmlformats.org/officeDocument/2006/relationships/slideMaster" Target="/ppt/slideMasters/slideMaster1.xml" Id="R1ff4d0298f2b4ae4" /><Relationship Type="http://schemas.openxmlformats.org/officeDocument/2006/relationships/notesMaster" Target="/ppt/notesMasters/notesMaster1.xml" Id="R1bec61b3359e4bcf" /><Relationship Type="http://schemas.openxmlformats.org/officeDocument/2006/relationships/presProps" Target="/ppt/presProps.xml" Id="R26c96420bdac40b1" /><Relationship Type="http://schemas.openxmlformats.org/officeDocument/2006/relationships/viewProps" Target="/ppt/viewProps.xml" Id="R95f7bdefc6a146b9" /><Relationship Type="http://schemas.openxmlformats.org/officeDocument/2006/relationships/tableStyles" Target="/ppt/tableStyles.xml" Id="R5b8aa78a078a4af3" /><Relationship Type="http://schemas.openxmlformats.org/officeDocument/2006/relationships/font" Target="/ppt/fonts/font.dat" Id="R4e96a50fc63441a5" /><Relationship Type="http://schemas.openxmlformats.org/officeDocument/2006/relationships/font" Target="/ppt/fonts/font2.dat" Id="R679288ff7b0f4f54" /><Relationship Type="http://schemas.openxmlformats.org/officeDocument/2006/relationships/font" Target="/ppt/fonts/font3.dat" Id="Rd03f28e2982e4c16" /><Relationship Type="http://schemas.openxmlformats.org/officeDocument/2006/relationships/font" Target="/ppt/fonts/font4.dat" Id="R20aef2a743bd4347" /><Relationship Type="http://schemas.openxmlformats.org/officeDocument/2006/relationships/font" Target="/ppt/fonts/font5.dat" Id="R6c8e33d450d541c5" /><Relationship Type="http://schemas.openxmlformats.org/officeDocument/2006/relationships/font" Target="/ppt/fonts/font6.dat" Id="R8c6b02192bd243d5" /><Relationship Type="http://schemas.openxmlformats.org/officeDocument/2006/relationships/slide" Target="/ppt/slides/slide1.xml" Id="R7ccc777832b44015" /><Relationship Type="http://schemas.openxmlformats.org/officeDocument/2006/relationships/slide" Target="/ppt/slides/slide2.xml" Id="R9d186c5a62e448b0" /><Relationship Type="http://schemas.openxmlformats.org/officeDocument/2006/relationships/slide" Target="/ppt/slides/slide3.xml" Id="R68c6fa1ea3aa4ce3" /><Relationship Type="http://schemas.openxmlformats.org/officeDocument/2006/relationships/slide" Target="/ppt/slides/slide4.xml" Id="R62433fd84b7949a7" /><Relationship Type="http://schemas.openxmlformats.org/officeDocument/2006/relationships/slide" Target="/ppt/slides/slide5.xml" Id="R6b547299a0af4dee" /><Relationship Type="http://schemas.openxmlformats.org/officeDocument/2006/relationships/slide" Target="/ppt/slides/slide6.xml" Id="Rfa45d302d5fc4fec" /><Relationship Type="http://schemas.openxmlformats.org/officeDocument/2006/relationships/slide" Target="/ppt/slides/slide7.xml" Id="Ra912db8b65574a62" /><Relationship Type="http://schemas.openxmlformats.org/officeDocument/2006/relationships/slide" Target="/ppt/slides/slide8.xml" Id="Raac2a8d5562d4b2f" /><Relationship Type="http://schemas.openxmlformats.org/officeDocument/2006/relationships/slide" Target="/ppt/slides/slide9.xml" Id="R8948cfd60e5c4365" /><Relationship Type="http://schemas.openxmlformats.org/officeDocument/2006/relationships/slide" Target="/ppt/slides/slide10.xml" Id="Rd082aec9079743b6" /><Relationship Type="http://schemas.openxmlformats.org/officeDocument/2006/relationships/slide" Target="/ppt/slides/slide11.xml" Id="Ra7f6dae11ba847c2" /><Relationship Type="http://schemas.openxmlformats.org/officeDocument/2006/relationships/slide" Target="/ppt/slides/slide12.xml" Id="Rb1c29da8f1344b07" /><Relationship Type="http://schemas.openxmlformats.org/officeDocument/2006/relationships/slide" Target="/ppt/slides/slide13.xml" Id="R6ec660b8c7fd405c" /><Relationship Type="http://schemas.openxmlformats.org/officeDocument/2006/relationships/slide" Target="/ppt/slides/slide14.xml" Id="R0f9aab90aaaa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dd058bc26d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МГТУ101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afd5164e9246c2" /><Relationship Type="http://schemas.openxmlformats.org/officeDocument/2006/relationships/notesMaster" Target="/ppt/notesMasters/notesMaster1.xml" Id="Rb840aaf839e841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fb0eb59e24693" /><Relationship Type="http://schemas.openxmlformats.org/officeDocument/2006/relationships/notesMaster" Target="/ppt/notesMasters/notesMaster1.xml" Id="R0c2446ac9e114e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3e79cfbb943ac" /><Relationship Type="http://schemas.openxmlformats.org/officeDocument/2006/relationships/notesMaster" Target="/ppt/notesMasters/notesMaster1.xml" Id="R3dab00004f6a43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360351ebd0402d" /><Relationship Type="http://schemas.openxmlformats.org/officeDocument/2006/relationships/notesMaster" Target="/ppt/notesMasters/notesMaster1.xml" Id="R6e749bcab1e942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8f530fdfb4a4e" /><Relationship Type="http://schemas.openxmlformats.org/officeDocument/2006/relationships/notesMaster" Target="/ppt/notesMasters/notesMaster1.xml" Id="R28db4a9c7c8a47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432a2c56344c4" /><Relationship Type="http://schemas.openxmlformats.org/officeDocument/2006/relationships/notesMaster" Target="/ppt/notesMasters/notesMaster1.xml" Id="R4d016885f2e140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cecb30f2d3487e" /><Relationship Type="http://schemas.openxmlformats.org/officeDocument/2006/relationships/notesMaster" Target="/ppt/notesMasters/notesMaster1.xml" Id="Rb7acd71a34ef43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9ab80b9ab4032" /><Relationship Type="http://schemas.openxmlformats.org/officeDocument/2006/relationships/notesMaster" Target="/ppt/notesMasters/notesMaster1.xml" Id="Rcf5a166b109243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d9bd5e71b94dec" /><Relationship Type="http://schemas.openxmlformats.org/officeDocument/2006/relationships/notesMaster" Target="/ppt/notesMasters/notesMaster1.xml" Id="Rf884e06dc61e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e95c43426c4f3f" /><Relationship Type="http://schemas.openxmlformats.org/officeDocument/2006/relationships/notesMaster" Target="/ppt/notesMasters/notesMaster1.xml" Id="R023ab8a0da364c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324f3f32e044d7" /><Relationship Type="http://schemas.openxmlformats.org/officeDocument/2006/relationships/notesMaster" Target="/ppt/notesMasters/notesMaster1.xml" Id="Rdcf4328d3ffc42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a0d67a948e486a" /><Relationship Type="http://schemas.openxmlformats.org/officeDocument/2006/relationships/notesMaster" Target="/ppt/notesMasters/notesMaster1.xml" Id="R815b82053a3c4e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da5b5b658642a2" /><Relationship Type="http://schemas.openxmlformats.org/officeDocument/2006/relationships/notesMaster" Target="/ppt/notesMasters/notesMaster1.xml" Id="R09613efbccbf4e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4d2e52d1de484d" /><Relationship Type="http://schemas.openxmlformats.org/officeDocument/2006/relationships/notesMaster" Target="/ppt/notesMasters/notesMaster1.xml" Id="R7ebe9d72b784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a55aa31b94a7f" /><Relationship Type="http://schemas.openxmlformats.org/officeDocument/2006/relationships/image" Target="/ppt/media/image.jpeg" Id="R1ce8bbd502fe4bf7" /><Relationship Type="http://schemas.openxmlformats.org/officeDocument/2006/relationships/image" Target="/ppt/media/image2.png" Id="Rdb9dba23ca094db2" /><Relationship Type="http://schemas.openxmlformats.org/officeDocument/2006/relationships/image" Target="/ppt/media/image3.png" Id="R470e211e6a1544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1717e737841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0d556aa924d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0f5670bd142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cc560f9e344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97d13428b4c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b86cbb5b740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8fe77bbca4c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6da72ba1947cf" /><Relationship Type="http://schemas.openxmlformats.org/officeDocument/2006/relationships/image" Target="/ppt/media/image.jpeg" Id="Rc3483a88cd2b43c1" /><Relationship Type="http://schemas.openxmlformats.org/officeDocument/2006/relationships/image" Target="/ppt/media/image4.png" Id="R5f61474938a84e9e" /><Relationship Type="http://schemas.openxmlformats.org/officeDocument/2006/relationships/image" Target="/ppt/media/image3.png" Id="R4d6b771c29d34e1e" /></Relationships>
</file>

<file path=ppt/slideLayouts/slideLayout1.xml><?xml version="1.0" encoding="utf-8"?>
<p:sldLayout xmlns:p="http://schemas.openxmlformats.org/presentationml/2006/main" showMasterSp="0" matchingName="Титульный слайд" userDrawn="1">
  <p:cSld name="TIT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Google Shape;8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e8bbd502fe4bf7">
            <a:alphaModFix/>
          </a:blip>
          <a:srcRect xmlns:a="http://schemas.openxmlformats.org/drawingml/2006/main" l="0" t="16270" r="0" b="884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9dba23ca094d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94481" y="633067"/>
            <a:ext cx="9502813" cy="470674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967D30A-87B4-4421-A52A-46DC79DD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478" y="5306991"/>
            <a:ext cx="9502813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e211e6a1544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57539" y="611835"/>
            <a:ext cx="2361600" cy="721959"/>
          </a:xfrm>
          <a:prstGeom xmlns:a="http://schemas.openxmlformats.org/drawingml/2006/main" prst="rect">
            <a:avLst/>
          </a:prstGeom>
        </p:spPr>
      </p:pic>
      <p:sp>
        <p:nvSpPr>
          <p:cNvPr id="4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E3BFA7FB-261D-418C-AB36-0AE52A4CC41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78287" y="831273"/>
            <a:ext cx="9119010" cy="341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Заголовок слайда</a:t>
            </a:r>
            <a:endParaRPr/>
          </a:p>
        </p:txBody>
      </p:sp>
      <p:sp>
        <p:nvSpPr>
          <p:cNvPr id="5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84D6A78E-BD41-4E16-8DD7-8CD3958FF54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78286" y="4363657"/>
            <a:ext cx="9119010" cy="968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>
            <a:r>
              <a:t>Подзаголовок слайда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21017031-ACA1-45E7-82CA-9E4E1531945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58782" y="1778092"/>
            <a:ext cx="11196533" cy="4473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/>
                <a:ea typeface="ALS Sector Regular"/>
                <a:cs typeface="ALS Sector Regular"/>
              </a:defRPr>
            </a:lvl1pPr>
            <a:lvl2pPr marL="914400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</a:defRPr>
            </a:lvl2pPr>
            <a:lvl3pPr marL="1371600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</a:defRPr>
            </a:lvl3pPr>
            <a:lvl4pPr marL="18288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4pPr>
            <a:lvl5pPr marL="22860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5pPr>
            <a:lvl6pPr marL="27432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30" name="Google Shape;30;p8">
            <a:extLst xmlns:a="http://schemas.openxmlformats.org/drawingml/2006/main">
              <a:ext uri="{FF2B5EF4-FFF2-40B4-BE49-F238E27FC236}">
                <a16:creationId xmlns:a16="http://schemas.microsoft.com/office/drawing/2014/main" id="{D2F62B0E-E026-4263-931B-98373134FF66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558782" y="1185979"/>
            <a:ext cx="11196533" cy="584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/>
                <a:ea typeface="ALS Sector Regular"/>
                <a:cs typeface="ALS Sector Regular"/>
              </a:defRPr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Текст слайда</a:t>
            </a:r>
          </a:p>
          <a:p xmlns:a="http://schemas.openxmlformats.org/drawingml/2006/main">
            <a:endParaRPr/>
          </a:p>
        </p:txBody>
      </p:sp>
      <p:sp>
        <p:nvSpPr>
          <p:cNvPr id="6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464BD804-D61C-41D4-836A-3F0D56207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57030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Подзаголовок и Сравнение" userDrawn="1">
  <p:cSld name="Подзаголовок и 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A3BCCEBD-8EA8-458F-9BC3-430C03DA2D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63245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BE73FDE2-AD6D-4536-979A-DFD5A5A120F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58781" y="1770664"/>
            <a:ext cx="5508000" cy="450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7620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/>
                <a:ea typeface="ALS Sector Regular"/>
                <a:cs typeface="ALS Sector Regular"/>
              </a:defRPr>
            </a:lvl1pPr>
            <a:lvl2pPr marL="914400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</a:defRPr>
            </a:lvl2pPr>
            <a:lvl3pPr marL="1371600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</a:defRPr>
            </a:lvl3pPr>
            <a:lvl4pPr marL="18288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4pPr>
            <a:lvl5pPr marL="22860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5pPr>
            <a:lvl6pPr marL="27432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9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CDC7DB9F-D126-4C0F-900F-3ED455B7D4B6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6241899" y="1770664"/>
            <a:ext cx="5508000" cy="450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7620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/>
                <a:ea typeface="ALS Sector Regular"/>
                <a:cs typeface="ALS Sector Regular"/>
              </a:defRPr>
            </a:lvl1pPr>
            <a:lvl2pPr marL="914400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</a:defRPr>
            </a:lvl2pPr>
            <a:lvl3pPr marL="1371600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</a:defRPr>
            </a:lvl3pPr>
            <a:lvl4pPr marL="18288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4pPr>
            <a:lvl5pPr marL="22860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5pPr>
            <a:lvl6pPr marL="27432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6" name="Google Shape;30;p8">
            <a:extLst xmlns:a="http://schemas.openxmlformats.org/drawingml/2006/main">
              <a:ext uri="{FF2B5EF4-FFF2-40B4-BE49-F238E27FC236}">
                <a16:creationId xmlns:a16="http://schemas.microsoft.com/office/drawing/2014/main" id="{0A0C615F-D144-44C1-91C6-0FB98026FAD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58782" y="1185979"/>
            <a:ext cx="11196533" cy="584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/>
                <a:ea typeface="ALS Sector Regular"/>
                <a:cs typeface="ALS Sector Regular"/>
              </a:defRPr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Подзаголовок слайда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Только заголовок" userDrawn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3C33CCE7-3AA5-4E4A-9FB4-1EE49FE9D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57030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Пустой слайд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0CA1A5D0-6F6B-4B83-84EB-024B06E2BB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57030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Заголовок, текст и объект" userDrawn="1">
  <p:cSld name="Заголовок, текст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3D8DCB02-3047-4876-BE1E-88A14BD4323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183187" y="1301263"/>
            <a:ext cx="6735185" cy="4908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/>
                <a:ea typeface="ALS Sector Regular"/>
                <a:cs typeface="ALS Sector Regular"/>
              </a:defRPr>
            </a:lvl1pPr>
            <a:lvl2pPr marL="914400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</a:defRPr>
            </a:lvl2pPr>
            <a:lvl3pPr marL="1371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</a:defRPr>
            </a:lvl3pPr>
            <a:lvl4pPr marL="18288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</a:defRPr>
            </a:lvl4pPr>
            <a:lvl5pPr marL="22860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</a:defRPr>
            </a:lvl5pPr>
            <a:lvl6pPr marL="27432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5FBFF319-9DEF-4539-A786-BCB682D40299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273628" y="1301263"/>
            <a:ext cx="4784147" cy="4908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/>
                <a:ea typeface="ALS Sector Regular"/>
                <a:cs typeface="ALS Sector Regular"/>
              </a:defRPr>
            </a:lvl1pPr>
            <a:lvl2pPr marL="914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</a:defRPr>
            </a:lvl2pPr>
            <a:lvl3pPr marL="13716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</a:defRPr>
            </a:lvl3pPr>
            <a:lvl4pPr marL="1828800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4pPr>
            <a:lvl5pPr marL="2286000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C8DB72E5-DEC2-4461-96D5-8BDE2E148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57030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Объект с подписью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77AC5F5A-89EF-4F1F-A09C-B37D2F15FE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73628" y="1213658"/>
            <a:ext cx="4702029" cy="843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/>
                <a:ea typeface="ALS Sector Bold"/>
                <a:cs typeface="ALS Sector 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rPr sz="2700"/>
              <a:t>Заголовок слайда</a:t>
            </a:r>
            <a:endParaRPr/>
          </a:p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B508D498-D12C-4572-922B-EE0FB305D73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183187" y="311727"/>
            <a:ext cx="6735185" cy="5549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/>
                <a:ea typeface="ALS Sector Regular"/>
                <a:cs typeface="ALS Sector Regular"/>
              </a:defRPr>
            </a:lvl1pPr>
            <a:lvl2pPr marL="914400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15668112-AD50-4C2A-AD70-0712A66BDF4D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273628" y="2057400"/>
            <a:ext cx="4702029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/>
                <a:ea typeface="ALS Sector Regular"/>
                <a:cs typeface="ALS Sector Regular"/>
              </a:defRPr>
            </a:lvl1pPr>
            <a:lvl2pPr marL="914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</a:defRPr>
            </a:lvl2pPr>
            <a:lvl3pPr marL="13716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</a:defRPr>
            </a:lvl3pPr>
            <a:lvl4pPr marL="1828800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4pPr>
            <a:lvl5pPr marL="2286000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6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375ED264-9BE6-45D1-BEF5-3485B756C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57030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Рисунок с подписью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8">
            <a:extLst xmlns:a="http://schemas.openxmlformats.org/drawingml/2006/main">
              <a:ext uri="{FF2B5EF4-FFF2-40B4-BE49-F238E27FC236}">
                <a16:creationId xmlns:a16="http://schemas.microsoft.com/office/drawing/2014/main" id="{0EBF7065-4526-41C3-901D-B14C3DFF053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2118" y="1197033"/>
            <a:ext cx="4449907" cy="860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/>
                <a:ea typeface="ALS Sector Bold"/>
                <a:cs typeface="ALS Sector 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rPr sz="2700"/>
              <a:t>Заголовок слайда</a:t>
            </a:r>
            <a:endParaRPr/>
          </a:p>
        </p:txBody>
      </p:sp>
      <p:sp>
        <p:nvSpPr>
          <p:cNvPr id="86" name="Google Shape;86;p18">
            <a:extLst xmlns:a="http://schemas.openxmlformats.org/drawingml/2006/main">
              <a:ext uri="{FF2B5EF4-FFF2-40B4-BE49-F238E27FC236}">
                <a16:creationId xmlns:a16="http://schemas.microsoft.com/office/drawing/2014/main" id="{4EFD207F-A49B-4EC8-8619-5C62E36BEDAA}"/>
              </a:ext>
            </a:extLst>
          </p:cNvPr>
          <p:cNvSpPr>
            <a:spLocks xmlns:a="http://schemas.openxmlformats.org/drawingml/2006/main" noGrp="1"/>
          </p:cNvSpPr>
          <p:nvPr>
            <p:ph type="pic" idx="2" hasCustomPrompt="1"/>
          </p:nvPr>
        </p:nvSpPr>
        <p:spPr>
          <a:xfrm xmlns:a="http://schemas.openxmlformats.org/drawingml/2006/main">
            <a:off x="5287096" y="238509"/>
            <a:ext cx="6582785" cy="5627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300">
                <a:latin typeface="ALS Sector Regular"/>
                <a:ea typeface="ALS Sector Regular"/>
                <a:cs typeface="ALS Sector Regular"/>
              </a:defRPr>
            </a:lvl1pPr>
          </a:lstStyle>
          <a:p xmlns:a="http://schemas.openxmlformats.org/drawingml/2006/main">
            <a:r>
              <a:t>Рисунок</a:t>
            </a:r>
          </a:p>
        </p:txBody>
      </p:sp>
      <p:sp>
        <p:nvSpPr>
          <p:cNvPr id="87" name="Google Shape;87;p18">
            <a:extLst xmlns:a="http://schemas.openxmlformats.org/drawingml/2006/main">
              <a:ext uri="{FF2B5EF4-FFF2-40B4-BE49-F238E27FC236}">
                <a16:creationId xmlns:a16="http://schemas.microsoft.com/office/drawing/2014/main" id="{ED2CEF75-B079-4092-A0F3-4044263E5D8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2118" y="2057400"/>
            <a:ext cx="444990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7620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/>
                <a:ea typeface="ALS Sector Regular"/>
                <a:cs typeface="ALS Sector Regular"/>
              </a:defRPr>
            </a:lvl1pPr>
            <a:lvl2pPr marL="9144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</a:defRPr>
            </a:lvl2pPr>
            <a:lvl3pPr marL="137160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</a:defRPr>
            </a:lvl3pPr>
            <a:lvl4pPr marL="1828800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4pPr>
            <a:lvl5pPr marL="2286000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 xmlns:a="http://schemas.openxmlformats.org/drawingml/2006/main">
            <a:r>
              <a:t>Текст слайда</a:t>
            </a:r>
            <a:endParaRPr/>
          </a:p>
        </p:txBody>
      </p:sp>
      <p:sp>
        <p:nvSpPr>
          <p:cNvPr id="6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BB71C74F-A570-498D-A002-6D7C372C65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73628" y="6434051"/>
            <a:ext cx="570309" cy="27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Закрывающий слайд пустой" userDrawn="1">
  <p:cSld name="Закрывающий слайд пусто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Google Shape;8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483a88cd2b43c1">
            <a:alphaModFix/>
          </a:blip>
          <a:srcRect xmlns:a="http://schemas.openxmlformats.org/drawingml/2006/main" l="0" t="16270" r="0" b="8845"/>
          <a:stretch xmlns:a="http://schemas.openxmlformats.org/drawingml/2006/main"/>
        </p:blipFill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1474938a8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5410" y="2096584"/>
            <a:ext cx="1332000" cy="1332000"/>
          </a:xfrm>
          <a:prstGeom xmlns:a="http://schemas.openxmlformats.org/drawingml/2006/main" prst="rect">
            <a:avLst/>
          </a:prstGeom>
        </p:spPr>
      </p:pic>
      <p:pic>
        <p:nvPicPr>
          <p:cNvPr id="38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b771c29d3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8526" y="2042584"/>
            <a:ext cx="4710383" cy="144000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5D1BD65-59E0-46AC-BC24-1B28D1FA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902" y="2522519"/>
            <a:ext cx="3048512" cy="4801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2800">
                <a:solidFill>
                  <a:schemeClr val="bg1"/>
                </a:solidFill>
                <a:latin typeface="ALS Sector Bold"/>
                <a:ea typeface="ALS Sector Bold"/>
                <a:cs typeface="ALS Sector Bold"/>
              </a:rPr>
              <a:t>do.bmstu.ru</a:t>
            </a:r>
            <a:endParaRPr sz="2800">
              <a:solidFill>
                <a:schemeClr val="bg1"/>
              </a:solidFill>
              <a:latin typeface="ALS Sector Bold"/>
              <a:ea typeface="ALS Sector Bold"/>
              <a:cs typeface="ALS Sector Bold"/>
            </a:endParaRPr>
          </a:p>
        </p:txBody>
      </p:sp>
      <p:sp>
        <p:nvSpPr>
          <p:cNvPr id="32" name="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46CF162-1BBC-4CF7-9474-D6A32C6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11835" y="2096584"/>
            <a:ext cx="130790" cy="1332000"/>
          </a:xfrm>
          <a:custGeom xmlns:a="http://schemas.openxmlformats.org/drawingml/2006/main"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LS Sector Regular"/>
              <a:ea typeface="ALS Sector Regular"/>
              <a:cs typeface="ALS Sector Regular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59627b02f854cb2" /><Relationship Type="http://schemas.openxmlformats.org/officeDocument/2006/relationships/theme" Target="/ppt/slideMasters/theme/theme2.xml" Id="R8b69259a8fd14885" /><Relationship Type="http://schemas.openxmlformats.org/officeDocument/2006/relationships/slideLayout" Target="/ppt/slideLayouts/slideLayout1.xml" Id="R02aeb8bdc1774acb" /><Relationship Type="http://schemas.openxmlformats.org/officeDocument/2006/relationships/slideLayout" Target="/ppt/slideLayouts/slideLayout2.xml" Id="R9a46be0eb78c4361" /><Relationship Type="http://schemas.openxmlformats.org/officeDocument/2006/relationships/slideLayout" Target="/ppt/slideLayouts/slideLayout3.xml" Id="Rafc2f95c219d495d" /><Relationship Type="http://schemas.openxmlformats.org/officeDocument/2006/relationships/slideLayout" Target="/ppt/slideLayouts/slideLayout4.xml" Id="Ref4b7e4ab8a74d09" /><Relationship Type="http://schemas.openxmlformats.org/officeDocument/2006/relationships/slideLayout" Target="/ppt/slideLayouts/slideLayout5.xml" Id="Rdee3622811bd4d6c" /><Relationship Type="http://schemas.openxmlformats.org/officeDocument/2006/relationships/slideLayout" Target="/ppt/slideLayouts/slideLayout6.xml" Id="Re9ddf53d1dd14a2c" /><Relationship Type="http://schemas.openxmlformats.org/officeDocument/2006/relationships/slideLayout" Target="/ppt/slideLayouts/slideLayout7.xml" Id="R1f72abe75e934852" /><Relationship Type="http://schemas.openxmlformats.org/officeDocument/2006/relationships/slideLayout" Target="/ppt/slideLayouts/slideLayout8.xml" Id="R7d6277374cbc4028" /><Relationship Type="http://schemas.openxmlformats.org/officeDocument/2006/relationships/slideLayout" Target="/ppt/slideLayouts/slideLayout9.xml" Id="R49945d89e64948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627b02f85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566" y="446017"/>
            <a:ext cx="2361600" cy="722882"/>
          </a:xfrm>
          <a:prstGeom xmlns:a="http://schemas.openxmlformats.org/drawingml/2006/main" prst="rect">
            <a:avLst/>
          </a:prstGeom>
        </p:spPr>
      </p:pic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7DC10A39-E55E-42A3-84DF-AD748E379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0566" y="1301777"/>
            <a:ext cx="11350868" cy="4924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r>
              <a:t>Текст слайда</a:t>
            </a:r>
            <a:endParaRPr sz="2300"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endParaRPr/>
          </a:p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F2ED3865-3D69-4003-A9D8-FAB452F1A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8287" y="6360806"/>
            <a:ext cx="838198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+mj-lt"/>
                <a:ea typeface="+mj-lt"/>
                <a:cs typeface="+mj-lt"/>
              </a:defRPr>
            </a:lvl1pPr>
            <a:lvl2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2pPr>
            <a:lvl3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3pPr>
            <a:lvl4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4pPr>
            <a:lvl5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5pPr>
            <a:lvl6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6pPr>
            <a:lvl7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7pPr>
            <a:lvl8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8pPr>
            <a:lvl9pPr marL="0" marR="0" indent="0" algn="l">
              <a:spcBef>
                <a:spcPts val="0"/>
              </a:spcBef>
              <a:buNone/>
              <a:defRPr sz="2400" b="0" i="0" u="non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eb8bdc1774acb"/>
    <p:sldLayoutId xmlns:r="http://schemas.openxmlformats.org/officeDocument/2006/relationships" id="2147483650" r:id="R9a46be0eb78c4361"/>
    <p:sldLayoutId xmlns:r="http://schemas.openxmlformats.org/officeDocument/2006/relationships" id="2147483651" r:id="Rafc2f95c219d495d"/>
    <p:sldLayoutId xmlns:r="http://schemas.openxmlformats.org/officeDocument/2006/relationships" id="2147483652" r:id="Ref4b7e4ab8a74d09"/>
    <p:sldLayoutId xmlns:r="http://schemas.openxmlformats.org/officeDocument/2006/relationships" id="2147483653" r:id="Rdee3622811bd4d6c"/>
    <p:sldLayoutId xmlns:r="http://schemas.openxmlformats.org/officeDocument/2006/relationships" id="2147483654" r:id="Re9ddf53d1dd14a2c"/>
    <p:sldLayoutId xmlns:r="http://schemas.openxmlformats.org/officeDocument/2006/relationships" id="2147483655" r:id="R1f72abe75e934852"/>
    <p:sldLayoutId xmlns:r="http://schemas.openxmlformats.org/officeDocument/2006/relationships" id="2147483656" r:id="R7d6277374cbc4028"/>
    <p:sldLayoutId xmlns:r="http://schemas.openxmlformats.org/officeDocument/2006/relationships" id="2147483657" r:id="R49945d89e649487e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76200" marR="0" indent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cap="none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МГТУ101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1e236d8d04129" /><Relationship Type="http://schemas.openxmlformats.org/officeDocument/2006/relationships/notesSlide" Target="/ppt/notesSlides/notesSlide1.xml" Id="R0846e065dc27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a2c62330ce244bf" /><Relationship Type="http://schemas.openxmlformats.org/officeDocument/2006/relationships/notesSlide" Target="/ppt/notesSlides/notesSlide2.xml" Id="Rc32da4d61ac14f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d8bf921e8214f7a" /><Relationship Type="http://schemas.openxmlformats.org/officeDocument/2006/relationships/notesSlide" Target="/ppt/notesSlides/notesSlide3.xml" Id="Rae5dc5fe6bdb4a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afc757338994599" /><Relationship Type="http://schemas.openxmlformats.org/officeDocument/2006/relationships/image" Target="/ppt/media/image5.png" Id="Rf847f11d666846fd" /><Relationship Type="http://schemas.openxmlformats.org/officeDocument/2006/relationships/notesSlide" Target="/ppt/notesSlides/notesSlide4.xml" Id="Re8af5c6806a04f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7060cc733d6477b" /><Relationship Type="http://schemas.openxmlformats.org/officeDocument/2006/relationships/image" Target="/ppt/media/image6.png" Id="R3dc8877e48614bbd" /><Relationship Type="http://schemas.openxmlformats.org/officeDocument/2006/relationships/notesSlide" Target="/ppt/notesSlides/notesSlide5.xml" Id="R02e7df23f0f444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d8e6afbfe8548f6" /><Relationship Type="http://schemas.openxmlformats.org/officeDocument/2006/relationships/notesSlide" Target="/ppt/notesSlides/notesSlide6.xml" Id="R40917c033ec948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f4ba71fd6464929" /><Relationship Type="http://schemas.openxmlformats.org/officeDocument/2006/relationships/notesSlide" Target="/ppt/notesSlides/notesSlide7.xml" Id="R9ea0e3624f9145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34a8da0c2924df3" /><Relationship Type="http://schemas.openxmlformats.org/officeDocument/2006/relationships/notesSlide" Target="/ppt/notesSlides/notesSlide8.xml" Id="Rd2a9623b3f1745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eb2d9e472b548e6" /><Relationship Type="http://schemas.openxmlformats.org/officeDocument/2006/relationships/image" Target="/ppt/media/image7.png" Id="R2444a844dcbb46ba" /><Relationship Type="http://schemas.openxmlformats.org/officeDocument/2006/relationships/notesSlide" Target="/ppt/notesSlides/notesSlide9.xml" Id="Race043c7865644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5164f7e29b448c3" /><Relationship Type="http://schemas.openxmlformats.org/officeDocument/2006/relationships/image" Target="/ppt/media/image8.png" Id="R657cec2be4944453" /><Relationship Type="http://schemas.openxmlformats.org/officeDocument/2006/relationships/notesSlide" Target="/ppt/notesSlides/notesSlide10.xml" Id="R0ec2dd5d4e8940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d285457be744775" /><Relationship Type="http://schemas.openxmlformats.org/officeDocument/2006/relationships/image" Target="/ppt/media/image9.png" Id="R44856e8e88104bb5" /><Relationship Type="http://schemas.openxmlformats.org/officeDocument/2006/relationships/notesSlide" Target="/ppt/notesSlides/notesSlide11.xml" Id="R8c523e6841af48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d5e90491402453a" /><Relationship Type="http://schemas.openxmlformats.org/officeDocument/2006/relationships/image" Target="/ppt/media/image10.png" Id="Rbedd264b4c9e4b0e" /><Relationship Type="http://schemas.openxmlformats.org/officeDocument/2006/relationships/notesSlide" Target="/ppt/notesSlides/notesSlide12.xml" Id="Rc0ee4192728d4b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e22a1211bcd42ba" /><Relationship Type="http://schemas.openxmlformats.org/officeDocument/2006/relationships/notesSlide" Target="/ppt/notesSlides/notesSlide13.xml" Id="Re8524f2da17c4f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5e0837c67f5445f" /><Relationship Type="http://schemas.openxmlformats.org/officeDocument/2006/relationships/notesSlide" Target="/ppt/notesSlides/notesSlide14.xml" Id="R03ce052ffb5d4d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74598A-8D69-4EDC-8A16-7BF4EA8474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j-lt"/>
                <a:ea typeface="+mj-lt"/>
                <a:cs typeface="+mj-lt"/>
              </a:rPr>
              <a:t>Прогнозирование конечных свойств новых материалов (композиционных материалов)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30C45695-17CA-4F1C-9AC0-19290977FA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8286" y="4363658"/>
            <a:ext cx="9119010" cy="8741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Слушатель: ____________________</a:t>
            </a:r>
            <a:endParaRPr>
              <a:latin typeface="+mn-l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01731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058B2-7348-4729-8AA3-D6B476E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15C3-8FFD-4A85-96AB-E8346960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Цель и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D9648-0F64-43B8-B15C-883117A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Прогноз двух конечных характеристик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Обратная регрессия отношения матрица–наполнитель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Оценка без утечки информации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Воспроизводимое приложение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74786-BC23-4DEB-8E3F-F7A92BD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45AAD-7C6B-4D77-AD35-2CDCCCDB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2C1AC-BE07-434A-9176-B539B65E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Исходные 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B64CE-3399-4EA4-9F9D-0E3D8900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Две таблицы XLSX, INNER JOIN по индексу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1023 наблюдения, 13 содержательных полей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17 строк X_nup не вошли после JOIN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Физическая семантика части полей не документирована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194E3-9155-47EA-B991-60A8CB03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940E0-8878-4ECC-BEB8-3328B242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42D9C-1789-4463-9297-12EDFF5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Протокол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79F45-E6CC-4F86-A8AC-A7C8FB4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Обучение: 716; отложенная оценка: 307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GridSearchCV: 10 фолдов обучающей части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StandardScaler оценивается внутри каждого фолда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Итоговая оценка после фиксации моделей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7f11d666846fd"/>
          <a:stretch xmlns:a="http://schemas.openxmlformats.org/drawingml/2006/main"/>
        </p:blipFill>
        <p:spPr>
          <a:xfrm xmlns:a="http://schemas.openxmlformats.org/drawingml/2006/main">
            <a:off x="4000500" y="1418167"/>
            <a:ext cx="7620000" cy="44026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EEF8F-29D6-4752-88C6-71CC6FFA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73BFB-B6D0-4DA6-B49E-F280B97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6A850-F96E-4E22-9712-94439CE0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Разведочный анализ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F28D5-A6CC-486F-BCA5-3592600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Пропусков нет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IQR отмечает кандидатов, строки не удалены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Максимум |Pearson| = 0,1191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Низкая парная связь не исключает нелинейность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8877e48614bbd"/>
          <a:stretch xmlns:a="http://schemas.openxmlformats.org/drawingml/2006/main"/>
        </p:blipFill>
        <p:spPr>
          <a:xfrm xmlns:a="http://schemas.openxmlformats.org/drawingml/2006/main">
            <a:off x="4000500" y="1502833"/>
            <a:ext cx="7620000" cy="42333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9505D-909D-4A9A-B592-BCDF7390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AD552-C743-431E-AEF5-0217131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B2D18-3CD2-4891-9456-3F271648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Предобработка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86501-6FB5-45AE-A677-3BE5DB2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Индекс исключён из признаков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IQR: прямые задачи 716 → 663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IQR: отношение 716 → 655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Границы оцениваются внутри обучающей части фолда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Выбран вариант без удаления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68F95-D909-40FE-A584-296B4D02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4945-B7DF-4D33-B90A-C1A40293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FAEBC-C065-4746-9562-997316E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Сравниваемые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334E6-BA53-45A2-B43C-6E85EC34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Константная модель и Ridge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Random Forest и Gradient Boosting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SVR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MLPRegressor 12–32–16–1, alpha=0,01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RMSE — критерий выбора; MAE и R² — контроль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61F16-9743-47C4-9EB5-B67D14B4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98595-E840-4ED0-9ACD-F936D2CD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A4A5F-4761-4D15-8518-73F8E7DA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Выбор по перекрёстной проверке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37991-BB39-453D-9463-2316FBD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Модуль: константная модель, 3,087 ± 0,257 ГПа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Прочность: Gradient Boosting, 490,209 ± 23,852 МПа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Gradient Boosting лучше в 4 из 10 фолдов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Парная разность +0,291 ± 8,345 МПа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• MLP 0,935 хуже константной модели 0,906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06CB8-5F07-44F9-814C-830026E6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8AAC8-94F1-4F53-B7F9-9357469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3E352-3E16-4859-9F7A-EA366055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Отложенная оценка: модуль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4249F-0171-4761-940A-4A53459D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Выбрана константная модель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RMSE 3,178 ГПа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MAE 2,556 ГПа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R² −0,016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Испытанные модели не снизили среднюю CV RMSE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4a844dcbb46ba"/>
          <a:stretch xmlns:a="http://schemas.openxmlformats.org/drawingml/2006/main"/>
        </p:blipFill>
        <p:spPr>
          <a:xfrm xmlns:a="http://schemas.openxmlformats.org/drawingml/2006/main">
            <a:off x="5015911" y="1238250"/>
            <a:ext cx="5589178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2DC4B-2291-4ACA-B0A5-1D185D1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BBED3-F9CB-4DD8-B28B-155762D0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4DA86-F6C6-41F0-A9ED-45E7C417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Отложенная оценка: прочность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E3CF5-CBEC-46A2-A13D-6F70DB2C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Выбран Gradient Boosting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RMSE 471,410 МПа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MAE 380,152 МПа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R² 0,008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Значимое и устойчивое преимущество не установлено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cec2be4944453"/>
          <a:stretch xmlns:a="http://schemas.openxmlformats.org/drawingml/2006/main"/>
        </p:blipFill>
        <p:spPr>
          <a:xfrm xmlns:a="http://schemas.openxmlformats.org/drawingml/2006/main">
            <a:off x="4963918" y="1238250"/>
            <a:ext cx="569316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A87B4-1BAB-4116-9ED3-13CB483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EA1-ED48-4B70-BC43-E8207742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01D91-4FE3-415C-96D1-4D80C86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Нейронная сеть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3BC2B-3221-4DB3-99E5-0040975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MLP 12–32–16–1; 76 эпох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Восстановлены веса эпохи 35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RMSE 0,944; MAE 0,777; R² −0,040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Хуже константной модели 0,926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L2-штраф применяется к весам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56e8e88104bb5"/>
          <a:stretch xmlns:a="http://schemas.openxmlformats.org/drawingml/2006/main"/>
        </p:blipFill>
        <p:spPr>
          <a:xfrm xmlns:a="http://schemas.openxmlformats.org/drawingml/2006/main">
            <a:off x="4000500" y="2131147"/>
            <a:ext cx="7620000" cy="297670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4CB21-4B2F-4DD4-9585-6025417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D9617-5297-4165-9752-52BE974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0C6E5-22C0-48B2-8401-A3722C3D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Интерпретация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946C1-E643-4E9C-B4A0-C901D51C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Пермутационная важность: 10 повторов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Ноль константной модели не означает физическую незначимость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Важность не равна причинному эффекту</a:t>
            </a:r>
          </a:p>
          <a:p xmlns:a="http://schemas.openxmlformats.org/drawingml/2006/main">
            <a:pPr>
              <a:defRPr sz="1425">
                <a:solidFill>
                  <a:srgbClr val="262626"/>
                </a:solidFill>
              </a:defRPr>
            </a:pPr>
            <a:r>
              <a:rPr sz="1425">
                <a:solidFill>
                  <a:srgbClr val="262626"/>
                </a:solidFill>
              </a:rPr>
              <a:t>• Перенос на новые материалы не проверен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d264b4c9e4b0e"/>
          <a:stretch xmlns:a="http://schemas.openxmlformats.org/drawingml/2006/main"/>
        </p:blipFill>
        <p:spPr>
          <a:xfrm xmlns:a="http://schemas.openxmlformats.org/drawingml/2006/main">
            <a:off x="4367236" y="1238250"/>
            <a:ext cx="6886528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34728-CA4C-4ED9-BF2D-BC2D944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070E0-09A7-4B8E-BF41-53E0C4B8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870F5-A4A7-4295-A7D5-30082CC3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Приложение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BB730-94F3-491C-84C6-153625E7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11 входов → проверка → два сохранённых pipeline → модуль и прочность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Медианы в форме — демонстрационный профиль, а не измеренный образец.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Фиксированы данные, разбиение, зависимости, команды, модели и отчёты.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github.com/fpvcstep</a:t>
            </a:r>
          </a:p>
          <a:p xmlns:a="http://schemas.openxmlformats.org/drawingml/2006/main">
            <a:pPr>
              <a:defRPr sz="2100">
                <a:solidFill>
                  <a:srgbClr val="262626"/>
                </a:solidFill>
              </a:defRPr>
            </a:pPr>
            <a:r>
              <a:rPr sz="2100">
                <a:solidFill>
                  <a:srgbClr val="262626"/>
                </a:solidFill>
              </a:rPr>
              <a:t>…/composites-property-prediction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64B0E-1897-4F87-9F78-63B253C2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8F925-B586-46FF-B517-2D06688A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1F57D-D5FB-4055-9101-84917F3B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5CAB"/>
                </a:solidFill>
              </a:defRPr>
            </a:pPr>
            <a:r>
              <a:rPr sz="2400" b="1">
                <a:solidFill>
                  <a:srgbClr val="065CAB"/>
                </a:solidFill>
              </a:rPr>
              <a:t>Выводы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BEC37-106D-4D14-AD46-9697EA1D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10001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2626"/>
                </a:solidFill>
              </a:defRPr>
            </a:pPr>
            <a:r>
              <a:rPr sz="2025">
                <a:solidFill>
                  <a:srgbClr val="262626"/>
                </a:solidFill>
              </a:rPr>
              <a:t>• Модуль: константная модель, R² −0,016</a:t>
            </a:r>
          </a:p>
          <a:p xmlns:a="http://schemas.openxmlformats.org/drawingml/2006/main">
            <a:pPr>
              <a:defRPr sz="2025">
                <a:solidFill>
                  <a:srgbClr val="262626"/>
                </a:solidFill>
              </a:defRPr>
            </a:pPr>
            <a:r>
              <a:rPr sz="2025">
                <a:solidFill>
                  <a:srgbClr val="262626"/>
                </a:solidFill>
              </a:rPr>
              <a:t>• Прочность: Gradient Boosting, R² 0,008</a:t>
            </a:r>
          </a:p>
          <a:p xmlns:a="http://schemas.openxmlformats.org/drawingml/2006/main">
            <a:pPr>
              <a:defRPr sz="2025">
                <a:solidFill>
                  <a:srgbClr val="262626"/>
                </a:solidFill>
              </a:defRPr>
            </a:pPr>
            <a:r>
              <a:rPr sz="2025">
                <a:solidFill>
                  <a:srgbClr val="262626"/>
                </a:solidFill>
              </a:rPr>
              <a:t>• Обратная регрессия отношения ненадёжна: R² −0,040</a:t>
            </a:r>
          </a:p>
          <a:p xmlns:a="http://schemas.openxmlformats.org/drawingml/2006/main">
            <a:pPr>
              <a:defRPr sz="2025">
                <a:solidFill>
                  <a:srgbClr val="262626"/>
                </a:solidFill>
              </a:defRPr>
            </a:pPr>
            <a:r>
              <a:rPr sz="2025">
                <a:solidFill>
                  <a:srgbClr val="262626"/>
                </a:solidFill>
              </a:rPr>
              <a:t>• Перенос на новые материалы не проверен</a:t>
            </a:r>
          </a:p>
          <a:p xmlns:a="http://schemas.openxmlformats.org/drawingml/2006/main">
            <a:pPr>
              <a:defRPr sz="2025">
                <a:solidFill>
                  <a:srgbClr val="262626"/>
                </a:solidFill>
              </a:defRPr>
            </a:pPr>
            <a:r>
              <a:rPr sz="2025">
                <a:solidFill>
                  <a:srgbClr val="262626"/>
                </a:solidFill>
              </a:rPr>
              <a:t>• Требуются паспорт данных и внешние испытания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2626"/>
                </a:solidFill>
              </a:defRPr>
            </a:pPr>
            <a:r>
              <a:rPr sz="2025">
                <a:solidFill>
                  <a:srgbClr val="262626"/>
                </a:solidFill>
              </a:rPr>
              <a:t>Спасибо за внимание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4CCC4-6FD1-4586-9BF9-5FDCF51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8989"/>
                </a:solidFill>
              </a:defRPr>
            </a:pPr>
            <a:r>
              <a:rPr sz="1125">
                <a:solidFill>
                  <a:srgbClr val="898989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3507043"/>
      </p:ext>
    </p:extLst>
  </p:cSld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МГТУ101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14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/>
  <cp:lastModifiedBy/>
  <dc:title>Прогнозирование конечных свойств новых материалов (композиционных материалов)</dc:title>
  <dcterms:created xsi:type="dcterms:W3CDTF">2026-09-25T22:09:48.4570000Z</dcterms:created>
  <dcterms:modified xsi:type="dcterms:W3CDTF">2026-09-25T22:09:48.4570000Z</dcterms:modified>
  <dc:subject>Презентация к защите выпускной квалификационной работы</dc:subject>
</cp:coreProperties>
</file>